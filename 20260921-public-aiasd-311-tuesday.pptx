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99"/>
  </p:notesMasterIdLst>
  <p:sldIdLst>
    <p:sldId id="256" r:id="rId2"/>
    <p:sldId id="257" r:id="rId3"/>
    <p:sldId id="259" r:id="rId4"/>
    <p:sldId id="372" r:id="rId5"/>
    <p:sldId id="359" r:id="rId6"/>
    <p:sldId id="360" r:id="rId7"/>
    <p:sldId id="361" r:id="rId8"/>
    <p:sldId id="362" r:id="rId9"/>
    <p:sldId id="363" r:id="rId10"/>
    <p:sldId id="364" r:id="rId11"/>
    <p:sldId id="260" r:id="rId12"/>
    <p:sldId id="261" r:id="rId13"/>
    <p:sldId id="262" r:id="rId14"/>
    <p:sldId id="263" r:id="rId15"/>
    <p:sldId id="264" r:id="rId16"/>
    <p:sldId id="265" r:id="rId17"/>
    <p:sldId id="266" r:id="rId18"/>
    <p:sldId id="267" r:id="rId19"/>
    <p:sldId id="268" r:id="rId20"/>
    <p:sldId id="269" r:id="rId21"/>
    <p:sldId id="270" r:id="rId22"/>
    <p:sldId id="272" r:id="rId23"/>
    <p:sldId id="275" r:id="rId24"/>
    <p:sldId id="276" r:id="rId25"/>
    <p:sldId id="277" r:id="rId26"/>
    <p:sldId id="278" r:id="rId27"/>
    <p:sldId id="279" r:id="rId28"/>
    <p:sldId id="280" r:id="rId29"/>
    <p:sldId id="281" r:id="rId30"/>
    <p:sldId id="282" r:id="rId31"/>
    <p:sldId id="283" r:id="rId32"/>
    <p:sldId id="284" r:id="rId33"/>
    <p:sldId id="286" r:id="rId34"/>
    <p:sldId id="287" r:id="rId35"/>
    <p:sldId id="288" r:id="rId36"/>
    <p:sldId id="289" r:id="rId37"/>
    <p:sldId id="290" r:id="rId38"/>
    <p:sldId id="291" r:id="rId39"/>
    <p:sldId id="292"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10" r:id="rId54"/>
    <p:sldId id="311" r:id="rId55"/>
    <p:sldId id="312" r:id="rId56"/>
    <p:sldId id="314"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341" r:id="rId83"/>
    <p:sldId id="342" r:id="rId84"/>
    <p:sldId id="343" r:id="rId85"/>
    <p:sldId id="344" r:id="rId86"/>
    <p:sldId id="345" r:id="rId87"/>
    <p:sldId id="346" r:id="rId88"/>
    <p:sldId id="348" r:id="rId89"/>
    <p:sldId id="350" r:id="rId90"/>
    <p:sldId id="351" r:id="rId91"/>
    <p:sldId id="352" r:id="rId92"/>
    <p:sldId id="353" r:id="rId93"/>
    <p:sldId id="354" r:id="rId94"/>
    <p:sldId id="355" r:id="rId95"/>
    <p:sldId id="356" r:id="rId96"/>
    <p:sldId id="357" r:id="rId97"/>
    <p:sldId id="358" r:id="rId9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1196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opener to re-center the room and restart with energy.</a:t>
            </a:r>
          </a:p>
          <a:p>
            <a:r>
              <a:t>Invite everyone to settle back in, then move to the welcome slide and set expectations for active participation.</a:t>
            </a:r>
          </a:p>
          <a:p>
            <a:endParaRPr/>
          </a:p>
          <a:p>
            <a:r>
              <a:t>---</a:t>
            </a:r>
          </a:p>
          <a:p>
            <a:endParaRPr/>
          </a:p>
          <a:p>
            <a:r>
              <a:t>Source: slides\marp\welcome-back-tuesday.deck.md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attendees back and re-establish the pace for the day. Briefly reconnect to prior material so everyone sees continuity. Reinforce that the room is interactive and questions are part of the flow, not interruptions. Transition by previewing the first topic you will cover next.</a:t>
            </a:r>
          </a:p>
          <a:p>
            <a:endParaRPr/>
          </a:p>
          <a:p>
            <a:r>
              <a:t>---</a:t>
            </a:r>
          </a:p>
          <a:p>
            <a:endParaRPr/>
          </a:p>
          <a:p>
            <a:r>
              <a:t>Source: slides\marp\welcome-back-tuesday.deck.md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week-long course structure. This overview helps participants understand the progression and big-picture organization of the training.</a:t>
            </a:r>
          </a:p>
          <a:p>
            <a:endParaRPr/>
          </a:p>
          <a:p>
            <a:r>
              <a:t>Key talking points:</a:t>
            </a:r>
          </a:p>
          <a:p>
            <a:endParaRPr/>
          </a:p>
          <a:p>
            <a:r>
              <a:t>- Days 1-3 focus on building AI guardrails through instructions, prompts, and agents</a:t>
            </a:r>
          </a:p>
          <a:p>
            <a:r>
              <a:t>- Thursday shifts to brownfield (existing codebases) scenarios</a:t>
            </a:r>
          </a:p>
          <a:p>
            <a:r>
              <a:t>- Friday covers greenfield (new projects) development</a:t>
            </a:r>
          </a:p>
          <a:p>
            <a:r>
              <a:t>- Each day builds on previous concepts</a:t>
            </a:r>
          </a:p>
          <a:p>
            <a:r>
              <a:t>- The progression moves from foundational controls to practical application</a:t>
            </a:r>
          </a:p>
          <a:p>
            <a:endParaRPr/>
          </a:p>
          <a:p>
            <a:r>
              <a:t>Emphasize that guardrails come first because they're essential for safe, effective AI-assisted development. The brownfield/greenfield split acknowledges that these scenarios have different challenges and considerations.</a:t>
            </a:r>
          </a:p>
          <a:p>
            <a:endParaRPr/>
          </a:p>
          <a:p>
            <a:r>
              <a:t>Transition: "Today we'll start with the foundation..."</a:t>
            </a:r>
          </a:p>
          <a:p>
            <a:endParaRPr/>
          </a:p>
          <a:p>
            <a:r>
              <a:t>---</a:t>
            </a:r>
          </a:p>
          <a:p>
            <a:endParaRPr/>
          </a:p>
          <a:p>
            <a:r>
              <a:t>Source: slides\marp\daily-themes-tuesday.deck.md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slides\marp\core-instruction-files.deck.md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core instruction files that govern AI-assisted development in this repository. These files are the foundation of the guardrails system.</a:t>
            </a:r>
          </a:p>
          <a:p>
            <a:endParaRPr/>
          </a:p>
          <a:p>
            <a:r>
              <a:t>Explain each file's purpose:</a:t>
            </a:r>
          </a:p>
          <a:p>
            <a:endParaRPr/>
          </a:p>
          <a:p>
            <a:r>
              <a:t>- ai-assisted-output.instructions.md: The master policy for ALL AI-generated content, covering provenance, logging, and compliance</a:t>
            </a:r>
          </a:p>
          <a:p>
            <a:r>
              <a:t>- agent-file.instructions.md: Defines how to create custom agents for specific development workflows</a:t>
            </a:r>
          </a:p>
          <a:p>
            <a:r>
              <a:t>- instruction-files.instructions.md: Meta-instructions for creating new instruction files</a:t>
            </a:r>
          </a:p>
          <a:p>
            <a:r>
              <a:t>- prompt-file.instructions.md: Guidelines for creating reusable prompt files</a:t>
            </a:r>
          </a:p>
          <a:p>
            <a:r>
              <a:t>- instruction-prompt-files.instructions.md: Meta-prompts that generate instruction files</a:t>
            </a:r>
          </a:p>
          <a:p>
            <a:endParaRPr/>
          </a:p>
          <a:p>
            <a:r>
              <a:t>Emphasize the hierarchical nature: ai-assisted-output is the root policy that all others reference.</a:t>
            </a:r>
          </a:p>
          <a:p>
            <a:endParaRPr/>
          </a:p>
          <a:p>
            <a:r>
              <a:t>Transition: "Let's dive into how to use these..."</a:t>
            </a:r>
          </a:p>
          <a:p>
            <a:endParaRPr/>
          </a:p>
          <a:p>
            <a:r>
              <a:t>---</a:t>
            </a:r>
          </a:p>
          <a:p>
            <a:endParaRPr/>
          </a:p>
          <a:p>
            <a:r>
              <a:t>Source: slides\marp\core-instruction-files.deck.md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layering strategy, not an either-or choice. The audience should leave with a practical model for deciding what belongs at enterprise scope versus repository scope. Keep this opening to about 60-90 seconds.</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usually fail by over-centralizing or over-fragmenting. Centralize non-negotiables, decentralize implementation guidance. Emphasize this prevents policy drift while keeping day-to-day delivery fast.</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that enterprise-tier files should be stable and short. They should define constraints, not feature behavior. Give examples: required metadata fields, approved hosts, restricted operations, and mandatory security checks.</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slides\marp\copilot-usage-based-billing.deck.md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This is the most important conceptual slide. Many developers expect LLMs to behave like search engines or databases — they don't.</a:t>
            </a:r>
          </a:p>
          <a:p>
            <a:endParaRPr/>
          </a:p>
          <a:p>
            <a:r>
              <a:t>Key talking points:</a:t>
            </a:r>
          </a:p>
          <a:p>
            <a:endParaRPr/>
          </a:p>
          <a:p>
            <a:r>
              <a:t>- "Next token prediction" sounds simple but at scale it forces the model to learn grammar, logic, context, and even reasoning</a:t>
            </a:r>
          </a:p>
          <a:p>
            <a:r>
              <a:t>- "Weights" are just numbers — billions of floating point values that encode everything the model learned</a:t>
            </a:r>
          </a:p>
          <a:p>
            <a:r>
              <a:t>- Probabilistic output means the same prompt can produce different answers — this is by design, controlled by "temperature"</a:t>
            </a:r>
          </a:p>
          <a:p>
            <a:r>
              <a:t>- Analogy: autocomplete on your phone, but trained on all of human writing</a:t>
            </a:r>
          </a:p>
          <a:p>
            <a:endParaRPr/>
          </a:p>
          <a:p>
            <a:r>
              <a:t>Common misconception to address: "Does Copilot look up my code in a database?" — No. It generates completions based on learned patterns.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Tokenization is often overlooked but explains many "weird" LLM behaviors.</a:t>
            </a:r>
          </a:p>
          <a:p>
            <a:endParaRPr/>
          </a:p>
          <a:p>
            <a:r>
              <a:t>Key talking points:</a:t>
            </a:r>
          </a:p>
          <a:p>
            <a:endParaRPr/>
          </a:p>
          <a:p>
            <a:r>
              <a:t>- GPT-4 uses ~100,000 tokens in its vocabulary (tiktoken)</a:t>
            </a:r>
          </a:p>
          <a:p>
            <a:r>
              <a:t>- Context window limits (e.g., "128k tokens") are token limits, not character limits</a:t>
            </a:r>
          </a:p>
          <a:p>
            <a:r>
              <a:t>- Why does Copilot sometimes mishandle unusual variable names? Tokenization — rare strings get split awkwardly</a:t>
            </a:r>
          </a:p>
          <a:p>
            <a:r>
              <a:t>- Code tokenization differs from prose — identifiers often split at underscores, camelCase boundaries</a:t>
            </a:r>
          </a:p>
          <a:p>
            <a:endParaRPr/>
          </a:p>
          <a:p>
            <a:r>
              <a:t>Practical implication for developers:</a:t>
            </a:r>
          </a:p>
          <a:p>
            <a:endParaRPr/>
          </a:p>
          <a:p>
            <a:r>
              <a:t>- Long variable names consume more tokens than short ones</a:t>
            </a:r>
          </a:p>
          <a:p>
            <a:r>
              <a:t>- Copy-pasting large files into chat uses tokens fast</a:t>
            </a:r>
          </a:p>
          <a:p>
            <a:r>
              <a:t>- Understanding tokens helps estimate cost when using API</a:t>
            </a:r>
          </a:p>
          <a:p>
            <a:endParaRPr/>
          </a:p>
          <a:p>
            <a:r>
              <a:t>Interactive moment: Ask "How many tokens do you think this slide is?" — good engagement exercise.</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You don't need to explain the math — focus on the intuition of attention.</a:t>
            </a:r>
          </a:p>
          <a:p>
            <a:endParaRPr/>
          </a:p>
          <a:p>
            <a:r>
              <a:t>Key talking points:</a:t>
            </a:r>
          </a:p>
          <a:p>
            <a:endParaRPr/>
          </a:p>
          <a:p>
            <a:r>
              <a:t>- Before Transformers: RNNs processed text sequentially (slow, forgot early context)</a:t>
            </a:r>
          </a:p>
          <a:p>
            <a:r>
              <a:t>- Transformers process everything in parallel — that's why they scale so well on GPUs</a:t>
            </a:r>
          </a:p>
          <a:p>
            <a:r>
              <a:t>- Self-attention intuition: "When I see the word 'it' in a sentence, which earlier word does 'it' refer to?" Attention figures this out</a:t>
            </a:r>
          </a:p>
          <a:p>
            <a:r>
              <a:t>- Layers build up from syntax → semantics → reasoning as you go deeper</a:t>
            </a:r>
          </a:p>
          <a:p>
            <a:endParaRPr/>
          </a:p>
          <a:p>
            <a:r>
              <a:t>Analogy for attention: Imagine reading a legal contract. When you hit a pronoun like "the aforementioned party," your brain jumps back to find who that is. That's attention.</a:t>
            </a:r>
          </a:p>
          <a:p>
            <a:endParaRPr/>
          </a:p>
          <a:p>
            <a:r>
              <a:t>Why this matters for developers: Larger context windows (more tokens processed at once) = Copilot can see more of your codebase at once = better suggestions.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the trophy/suitcase example — it's a classic from the research literature and immediately intuitive.</a:t>
            </a:r>
          </a:p>
          <a:p>
            <a:endParaRPr/>
          </a:p>
          <a:p>
            <a:r>
              <a:t>Key talking points:</a:t>
            </a:r>
          </a:p>
          <a:p>
            <a:endParaRPr/>
          </a:p>
          <a:p>
            <a:r>
              <a:t>- Q/K/V is just a learned lookup mechanism — don't get lost in the math</a:t>
            </a:r>
          </a:p>
          <a:p>
            <a:r>
              <a:t>- Multiple heads: one head might learn syntax relationships, another semantic, another positional</a:t>
            </a:r>
          </a:p>
          <a:p>
            <a:r>
              <a:t>- This is why LLMs understand that a closing brace `}` should match an opening one several lines earlier</a:t>
            </a:r>
          </a:p>
          <a:p>
            <a:r>
              <a:t>- Attention is also why very long prompts can "distract" the model — it has finite attention capacity</a:t>
            </a:r>
          </a:p>
          <a:p>
            <a:endParaRPr/>
          </a:p>
          <a:p>
            <a:r>
              <a:t>Practical tip: When using Copilot, relevant context near your cursor gets higher attention weight. Keep related code nearby when you want better completions.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Pre-training is where the model learns language, code, and world knowledge.</a:t>
            </a:r>
          </a:p>
          <a:p>
            <a:endParaRPr/>
          </a:p>
          <a:p>
            <a:r>
              <a:t>Key talking points:</a:t>
            </a:r>
          </a:p>
          <a:p>
            <a:endParaRPr/>
          </a:p>
          <a:p>
            <a:r>
              <a:t>- The objective is deceptively simple: predict the next token. But at scale it forces the model to learn everything</a:t>
            </a:r>
          </a:p>
          <a:p>
            <a:r>
              <a:t>- Training data quality matters enormously — garbage in, garbage out</a:t>
            </a:r>
          </a:p>
          <a:p>
            <a:r>
              <a:t>- GitHub Copilot's base model was trained on public GitHub repos (billions of lines of code)</a:t>
            </a:r>
          </a:p>
          <a:p>
            <a:r>
              <a:t>- A "base model" after pre-training will complete text but may write offensive content, refuse nothing, and ramble — it needs the next phase</a:t>
            </a:r>
          </a:p>
          <a:p>
            <a:endParaRPr/>
          </a:p>
          <a:p>
            <a:r>
              <a:t>Scale reference: GPT-3 used 45TB of text data. Training ran on ~10,000 A100 GPUs.</a:t>
            </a:r>
          </a:p>
          <a:p>
            <a:endParaRPr/>
          </a:p>
          <a:p>
            <a:r>
              <a:t>Why developers care: The pre-training corpus determines what languages, frameworks, and patterns the model knows well. Copilot knows React better than a niche internal framework.</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phase is what separates "a model that generates text" from "an assistant you can actually use."</a:t>
            </a:r>
          </a:p>
          <a:p>
            <a:endParaRPr/>
          </a:p>
          <a:p>
            <a:r>
              <a:t>Key talking points:</a:t>
            </a:r>
          </a:p>
          <a:p>
            <a:endParaRPr/>
          </a:p>
          <a:p>
            <a:r>
              <a:t>- SFT teaches format and helpfulness; RLHF teaches judgment</a:t>
            </a:r>
          </a:p>
          <a:p>
            <a:r>
              <a:t>- "Hallucinations" happen when the model optimizes for sounding helpful over being accurate</a:t>
            </a:r>
          </a:p>
          <a:p>
            <a:r>
              <a:t>- Safety guardrails (content filters) are also applied at this stage</a:t>
            </a:r>
          </a:p>
          <a:p>
            <a:r>
              <a:t>- GitHub Copilot has additional fine-tuning on high-quality code and developer feedback</a:t>
            </a:r>
          </a:p>
          <a:p>
            <a:endParaRPr/>
          </a:p>
          <a:p>
            <a:r>
              <a:t>Why alignment matters for developers: It's why Copilot suggests reasonable code instead of technically-valid-but-insane solutions. It's also why it refuses to help with malicious code.</a:t>
            </a:r>
          </a:p>
          <a:p>
            <a:endParaRPr/>
          </a:p>
          <a:p>
            <a:r>
              <a:t>Common question: "Can I fine-tune Copilot on my codebase?" — GitHub Enterprise Copilot offers custom fine-tuning on private repos.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Context window is one of the most practically important LLM concepts for developers using Copilot.</a:t>
            </a:r>
          </a:p>
          <a:p>
            <a:endParaRPr/>
          </a:p>
          <a:p>
            <a:r>
              <a:t>Key talking points:</a:t>
            </a:r>
          </a:p>
          <a:p>
            <a:endParaRPr/>
          </a:p>
          <a:p>
            <a:r>
              <a:t>- The context window is not persistent memory — every new conversation starts fresh</a:t>
            </a:r>
          </a:p>
          <a:p>
            <a:r>
              <a:t>- Copilot automatically fills the context window with relevant code from open tabs and recent edits</a:t>
            </a:r>
          </a:p>
          <a:p>
            <a:r>
              <a:t>- This is why opening related files improves Copilot suggestions — they get included in context</a:t>
            </a:r>
          </a:p>
          <a:p>
            <a:r>
              <a:t>- Instruction files (`.github/instructions/`) consume some of the context window — keep them concise</a:t>
            </a:r>
          </a:p>
          <a:p>
            <a:endParaRPr/>
          </a:p>
          <a:p>
            <a:r>
              <a:t>Practical tip: If Copilot seems to "forget" something you told it, it likely scrolled out of the context window. Repeat the key constraints.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Temperature demystifies why LLMs give different answers to the same question.</a:t>
            </a:r>
          </a:p>
          <a:p>
            <a:endParaRPr/>
          </a:p>
          <a:p>
            <a:r>
              <a:t>Key talking points:</a:t>
            </a:r>
          </a:p>
          <a:p>
            <a:endParaRPr/>
          </a:p>
          <a:p>
            <a:r>
              <a:t>- Temperature = how "flat" or "peaked" the probability distribution is before sampling</a:t>
            </a:r>
          </a:p>
          <a:p>
            <a:r>
              <a:t>- Copilot uses a low temperature (~0.2-0.4) for code — you want predictable, correct completions</a:t>
            </a:r>
          </a:p>
          <a:p>
            <a:r>
              <a:t>- ChatGPT uses higher temperature for conversational responses — feels more natural</a:t>
            </a:r>
          </a:p>
          <a:p>
            <a:r>
              <a:t>- When Copilot gives you alternates (Alt+] to cycle), it's sampling different tokens</a:t>
            </a:r>
          </a:p>
          <a:p>
            <a:endParaRPr/>
          </a:p>
          <a:p>
            <a:r>
              <a:t>Developer implication: If you're using the Copilot API or OpenAI API directly, lower temperature for code generation tasks, higher for creative tasks like writing test descriptions.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Outline governance, admin controls, and adoption factors (training, policy, developer onboarding).</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IP leakage, code quality risks, and developer overreliance; suggest mitigations for each.</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regulatory impacts, auditability, and how to enforce coding policies with automated checks.</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data flows, model retraining policy for enterprise plans, and recommended org controls to protect IP.</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risks of suggested code resembling public repos and recommend legal review and filter settings.</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Open this module by framing safety as the price of speed in AI-assisted development. The point is not to slow teams down, but to make sure faster code generation does not also mean faster mistakes reaching production. Transition by introducing the mindset shift: AI is helpful, but it is never self-approving.</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the "eager knowledgeable junior developer" analogy because it is memorable and accurate. AI often produces plausible work at high speed, but plausibility is not the same thing as correctness, so every change still needs human review for domain fit, architectural consistency, and unintended side effects. Transition by explaining that tests are one of the main ways we convert suspicion into confidence.</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Position small change sets as a safety mechanism, not just a style preference. When AI can generate large amounts of code quickly, the danger is not only bad code but unreviewable code, because reviewers cannot build enough understanding to catch mistakes hidden inside a massive diff. Transition by showing how automation can support review without replacing human judgment.</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automation is most valuable when it reduces reviewer fatigue and helps humans spend attention where judgment matters most. Mention Azure DevOps MCP here as an example of tooling that can support pull-request workflows by pulling context, surfacing work-item links, and assisting review automation around the PR, while still leaving final approval to accountable humans. Transition to a closing checklist that teams can apply immediately.</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with an operational checklist the audience can adopt the same day. Reiterate that the most important habits are review discipline, meaningful tests, small diffs, and intentional use of automation to make humans more effective rather than less necessary. End by connecting this section back to the larger course theme: safe acceleration beats reckless acceleration every time.</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the idea that AI quality is directly tied to context quality.</a:t>
            </a:r>
          </a:p>
          <a:p>
            <a:endParaRPr/>
          </a:p>
          <a:p>
            <a:r>
              <a:t>Models don't “understand” your repo – they interpret whatever you give them.</a:t>
            </a:r>
          </a:p>
          <a:p>
            <a:endParaRPr/>
          </a:p>
          <a:p>
            <a:r>
              <a:t>Advanced context techniques let you control what the model sees and how reliably it stays aligned with your architecture.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 syntax is one of the most powerful ways to anchor Copilot.</a:t>
            </a:r>
          </a:p>
          <a:p>
            <a:endParaRPr/>
          </a:p>
          <a:p>
            <a:r>
              <a:t>It forces the model to load specific files or directories into its working memory.</a:t>
            </a:r>
          </a:p>
          <a:p>
            <a:endParaRPr/>
          </a:p>
          <a:p>
            <a:r>
              <a:t>This is essential when you want the model to follow existing patterns or avoid hallucinating APIs.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Premium models are incredible, but they're not free.</a:t>
            </a:r>
          </a:p>
          <a:p>
            <a:endParaRPr/>
          </a:p>
          <a:p>
            <a:r>
              <a:t>Monitoring usage helps teams understand where they're over-relying on heavyweight models.</a:t>
            </a:r>
          </a:p>
          <a:p>
            <a:endParaRPr/>
          </a:p>
          <a:p>
            <a:r>
              <a:t>A tiered strategy ensures the right model is used for the right task, keeping costs predictable and output quality high.</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Token limits are a hard boundary.</a:t>
            </a:r>
          </a:p>
          <a:p>
            <a:endParaRPr/>
          </a:p>
          <a:p>
            <a:r>
              <a:t>Everything the model reads – your prompt, code snippets, examples, and even its own reasoning – counts toward the limit.</a:t>
            </a:r>
          </a:p>
          <a:p>
            <a:endParaRPr/>
          </a:p>
          <a:p>
            <a:r>
              <a:t>When the limit is exceeded, the model truncates the earliest content, which often contains critical instructions or architectural rules.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Summaries are your first line of defense.</a:t>
            </a:r>
          </a:p>
          <a:p>
            <a:endParaRPr/>
          </a:p>
          <a:p>
            <a:r>
              <a:t>Instead of pasting entire files, summarize their purpose, interfaces, and constraints.</a:t>
            </a:r>
          </a:p>
          <a:p>
            <a:endParaRPr/>
          </a:p>
          <a:p>
            <a:r>
              <a:t>Summaries dramatically reduce token usage while keeping the model aligned with the system's intent.</a:t>
            </a:r>
          </a:p>
          <a:p>
            <a:endParaRPr/>
          </a:p>
          <a:p>
            <a:r>
              <a:t>They also become reusable context anchors for future prompts.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Chunking keeps prompts small and manageable.</a:t>
            </a:r>
          </a:p>
          <a:p>
            <a:endParaRPr/>
          </a:p>
          <a:p>
            <a:r>
              <a:t>Instead of asking the model to refactor a huge file, break the task into sections.</a:t>
            </a:r>
          </a:p>
          <a:p>
            <a:endParaRPr/>
          </a:p>
          <a:p>
            <a:r>
              <a:t>This keeps each prompt within safe token limits and makes the output easier to review, test, and roll back if needed.</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Scoped prompts are about intentionality.</a:t>
            </a:r>
          </a:p>
          <a:p>
            <a:endParaRPr/>
          </a:p>
          <a:p>
            <a:r>
              <a:t>Tell the model exactly what part of the system to focus on.</a:t>
            </a:r>
          </a:p>
          <a:p>
            <a:endParaRPr/>
          </a:p>
          <a:p>
            <a:r>
              <a:t>This reduces token usage and improves reliability because the model isn't trying to reason about the entire codebase at once.</a:t>
            </a:r>
          </a:p>
          <a:p>
            <a:endParaRPr/>
          </a:p>
          <a:p>
            <a:r>
              <a:t>It also reduces hallucinations by narrowing the reasoning space.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Instruction files are a powerful way to reduce token load.</a:t>
            </a:r>
          </a:p>
          <a:p>
            <a:endParaRPr/>
          </a:p>
          <a:p>
            <a:r>
              <a:t>Instead of repeating architectural rules or coding standards in every prompt, store them in a persistent instruction file.</a:t>
            </a:r>
          </a:p>
          <a:p>
            <a:endParaRPr/>
          </a:p>
          <a:p>
            <a:r>
              <a:t>This frees up space for task-specific context and keeps the model aligned with your evergreen architecture.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Introduce prompt files as a key guardrail mechanism for AI-assisted development. This slide sets the stage for understanding how prompt files differ from instruction files and chat modes.</a:t>
            </a:r>
          </a:p>
          <a:p>
            <a:endParaRPr/>
          </a:p>
          <a:p>
            <a:r>
              <a:t>Key points:</a:t>
            </a:r>
          </a:p>
          <a:p>
            <a:endParaRPr/>
          </a:p>
          <a:p>
            <a:r>
              <a:t>- Prompt files are task-specific templates</a:t>
            </a:r>
          </a:p>
          <a:p>
            <a:r>
              <a:t>- They're executable and reusable</a:t>
            </a:r>
          </a:p>
          <a:p>
            <a:r>
              <a:t>- Different from instruction files (which provide continuous guidance)</a:t>
            </a:r>
          </a:p>
          <a:p>
            <a:r>
              <a:t>- Part of the "prompt-first" development approach</a:t>
            </a:r>
          </a:p>
          <a:p>
            <a:endParaRPr/>
          </a:p>
          <a:p>
            <a:r>
              <a:t>Define prompt files as "executable task templates." This framing helps participants understand their purpose and usage.</a:t>
            </a:r>
          </a:p>
          <a:p>
            <a:endParaRPr/>
          </a:p>
          <a:p>
            <a:r>
              <a:t>Key concept: Prompt files are like functions—they take inputs (context, requirements) and produce outputs (code, docs, artifacts).</a:t>
            </a:r>
          </a:p>
          <a:p>
            <a:endParaRPr/>
          </a:p>
          <a:p>
            <a:r>
              <a:t>Draw parallels to:</a:t>
            </a:r>
          </a:p>
          <a:p>
            <a:endParaRPr/>
          </a:p>
          <a:p>
            <a:r>
              <a:t>- Shell scripts (automation)</a:t>
            </a:r>
          </a:p>
          <a:p>
            <a:r>
              <a:t>- GitHub Actions workflows (CI/CD)</a:t>
            </a:r>
          </a:p>
          <a:p>
            <a:r>
              <a:t>- Makefiles (build automation)</a:t>
            </a:r>
          </a:p>
          <a:p>
            <a:endParaRPr/>
          </a:p>
          <a:p>
            <a:r>
              <a:t>Prompt files bring the same benefits: repeatability, standardization, knowledge capture.</a:t>
            </a:r>
          </a:p>
          <a:p>
            <a:endParaRPr/>
          </a:p>
          <a:p>
            <a:r>
              <a:t>Transition: "So what exactly makes a prompt file?"</a:t>
            </a:r>
          </a:p>
          <a:p>
            <a:endParaRPr/>
          </a:p>
          <a:p>
            <a:r>
              <a:t>---</a:t>
            </a:r>
          </a:p>
          <a:p>
            <a:endParaRPr/>
          </a:p>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Provide a formal definition and key characteristics of prompt files.</a:t>
            </a:r>
          </a:p>
          <a:p>
            <a:endParaRPr/>
          </a:p>
          <a:p>
            <a:r>
              <a:t>Definition breakdown:</a:t>
            </a:r>
          </a:p>
          <a:p>
            <a:endParaRPr/>
          </a:p>
          <a:p>
            <a:r>
              <a:t>- Structured templates: Follow a consistent format with metadata</a:t>
            </a:r>
          </a:p>
          <a:p>
            <a:r>
              <a:t>- Specific, repeatable tasks: Not general guidance—concrete objectives</a:t>
            </a:r>
          </a:p>
          <a:p>
            <a:r>
              <a:t>- Designed for execution: Meant to be run, not just read</a:t>
            </a:r>
          </a:p>
          <a:p>
            <a:endParaRPr/>
          </a:p>
          <a:p>
            <a:r>
              <a:t>Key characteristics:</a:t>
            </a:r>
          </a:p>
          <a:p>
            <a:endParaRPr/>
          </a:p>
          <a:p>
            <a:r>
              <a:t>1. Scope: Single task focus (generate tests, create docs, refactor module)</a:t>
            </a:r>
          </a:p>
          <a:p>
            <a:r>
              <a:t>2. Execution: On-demand—you invoke them when needed</a:t>
            </a:r>
          </a:p>
          <a:p>
            <a:r>
              <a:t>3. Purpose: Define deliverables clearly</a:t>
            </a:r>
          </a:p>
          <a:p>
            <a:endParaRPr/>
          </a:p>
          <a:p>
            <a:r>
              <a:t>Contrast with instruction files:</a:t>
            </a:r>
          </a:p>
          <a:p>
            <a:endParaRPr/>
          </a:p>
          <a:p>
            <a:r>
              <a:t>- Instruction files: Continuous guidance (always active)</a:t>
            </a:r>
          </a:p>
          <a:p>
            <a:r>
              <a:t>- Prompt files: One-time execution (run and done)</a:t>
            </a:r>
          </a:p>
          <a:p>
            <a:endParaRPr/>
          </a:p>
          <a:p>
            <a:r>
              <a:t>Transition: "Let's look at the structure..."</a:t>
            </a:r>
          </a:p>
          <a:p>
            <a:endParaRPr/>
          </a:p>
          <a:p>
            <a:r>
              <a:t>---</a:t>
            </a:r>
          </a:p>
          <a:p>
            <a:endParaRPr/>
          </a:p>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slides\marp\exercise\exercise-creating-prompt-files.deck.md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~00:22</a:t>
            </a:r>
          </a:p>
          <a:p>
            <a:endParaRPr/>
          </a:p>
          <a:p>
            <a:r>
              <a:t>**Prerequisites:** Git access to repository, GitHub Copilot enabled, ability to open multiple chat windows</a:t>
            </a:r>
          </a:p>
          <a:p>
            <a:endParaRPr/>
          </a:p>
          <a:p>
            <a:r>
              <a:t>**Goal**: Experience the difference instruction files make in AI output quality through a three-phase controlled experiment measuring consistency, completeness, and reproducibility.</a:t>
            </a:r>
          </a:p>
          <a:p>
            <a:endParaRPr/>
          </a:p>
          <a:p>
            <a:r>
              <a:t>### Objectives</a:t>
            </a:r>
          </a:p>
          <a:p>
            <a:endParaRPr/>
          </a:p>
          <a:p>
            <a:r>
              <a:t>1. **Understand prompt structure**: Learn to recognize components of effective prompts, identify required vs. optional elements, and apply best practices for clarity and specificity when generating instruction files.</a:t>
            </a:r>
          </a:p>
          <a:p>
            <a:endParaRPr/>
          </a:p>
          <a:p>
            <a:r>
              <a:t>2. **Practice prompt engineering**: Write a prompt that generates a complete instruction file for Evergreen software development, iterate on quality based on output, and refine prompts to achieve desired results.</a:t>
            </a:r>
          </a:p>
          <a:p>
            <a:endParaRPr/>
          </a:p>
          <a:p>
            <a:r>
              <a:t>3. **Observe instruction file impact**: Compare outputs generated with and without instruction files, quantify measurable quality improvements in structure and metadata, and understand how instruction files enable reproducibility across team members and time.</a:t>
            </a:r>
          </a:p>
          <a:p>
            <a:endParaRPr/>
          </a:p>
          <a:p>
            <a:r>
              <a:t>---</a:t>
            </a:r>
          </a:p>
          <a:p>
            <a:endParaRPr/>
          </a:p>
          <a:p>
            <a:r>
              <a:t>Source: slides\marp\exercise\exercise-creating-prompt-files.deck.md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this as the payoff to the earlier prompt-authoring exercise. The class is no longer discussing prompts in the abstract; they are now executing them and examining the generated instruction files as real artifacts. Emphasize that the goal is not just to get output, but to understand why the output is surprisingly rich and how to improve it without losing reproducibility.</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Walk through the workflow from left to right and make the source-versus-artifact distinction explicit. The prompt file captures intent, structure, and constraints in a reusable form, while the generated instruction file is the output that gets inspected and possibly refined. Highlight that review still matters because inference is powerful but not infallible. Use about one minute here and transition by asking what exactly the model is contributing beyond the literal text of the prompt.</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This slide is about using the model's built-in knowledge deliberately instead of fighting it. Explain that a strong prompt does not need to spell out every sentence if the model already knows common structures like metadata blocks, validation sections, architecture guidance, and examples. The opportunity is speed: the model drafts broadly, and the human constrains the result to the team's true requirements.</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This slide balances the prior enthusiasm with healthy skepticism. Inference is powerful but not infallible. The model may confidently suggest structures, patterns, or details that sound plausible but do not match your actual requirements or constraints. Emphasize that comprehensive AI-generated content is a starting point, not a finished product. Teams must review, validate, and test to ensure the inferred details align with their standards and domain knowledge.</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why this approach feels faster in practice. Many teams stall at the beginning because writing a complete instruction file from zero requires structure, terminology, examples, and compliance details all at once. The prompt-first approach shifts the hard part from creation to refinement, which is usually easier and faster.</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tradeoff concrete. Direct edits are sometimes fine for quick cleanup, but they create drift between the reusable source and the artifact. Updating the prompt file keeps the real logic of the artifact in version control, which matters for auditability, reuse, and future regeneration. Use about one minute here and emphasize that this is the operational discipline behind reproducible AI-assisted work.</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Contrast a one-line directive with a prompt file that captures the real contract for the work. A simple request may work once, but it does not explain what sections are required, what metadata must exist, or which constraints the model must honor. A detailed prompt becomes documentation of intent as well as an execution mechanism.</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practical demonstration of how AI can accelerate documentation, analysis, and modernization in brownfield systems. Emphasize that documentation is not a side activity — it is a core guardrail for safe AI-assisted development.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can maintain documentation continuously, reducing drift between code and docs.</a:t>
            </a:r>
          </a:p>
          <a:p>
            <a:endParaRPr/>
          </a:p>
          <a:p>
            <a:r>
              <a:t>This is especially valuable in brownfield systems where documentation is often outdated or missing.</a:t>
            </a:r>
          </a:p>
          <a:p>
            <a:endParaRPr/>
          </a:p>
          <a:p>
            <a:r>
              <a:t>Prompts:</a:t>
            </a:r>
          </a:p>
          <a:p>
            <a:endParaRPr/>
          </a:p>
          <a:p>
            <a:r>
              <a:t>Update the README file with the current state of the project</a:t>
            </a:r>
          </a:p>
          <a:p>
            <a:endParaRPr/>
          </a:p>
          <a:p>
            <a:r>
              <a:t>Update the documentation for CalculatorService.cs</a:t>
            </a:r>
          </a:p>
          <a:p>
            <a:endParaRPr/>
          </a:p>
          <a:p>
            <a:r>
              <a:t>Create a README for the Services component web-calculator\Services</a:t>
            </a:r>
          </a:p>
          <a:p>
            <a:endParaRPr/>
          </a:p>
          <a:p>
            <a:r>
              <a:t>Create a prompt file that creates an instruction file for documenting the project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Encourage participants to treat diagrams as drafts – AI can generate the structure, but humans refine accuracy.</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infer architecture from code structure, configuration files, and naming conventions.</a:t>
            </a:r>
          </a:p>
          <a:p>
            <a:endParaRPr/>
          </a:p>
          <a:p>
            <a:r>
              <a:t>These diagrams help teams understand legacy systems quickly and safely.</a:t>
            </a:r>
          </a:p>
          <a:p>
            <a:endParaRPr/>
          </a:p>
          <a:p>
            <a:r>
              <a:t>Prompts:</a:t>
            </a:r>
          </a:p>
          <a:p>
            <a:endParaRPr/>
          </a:p>
          <a:p>
            <a:r>
              <a:t>Create mermaid C4 diagrams for the project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powerful uses of AI in brownfield modernization.</a:t>
            </a:r>
          </a:p>
          <a:p>
            <a:endParaRPr/>
          </a:p>
          <a:p>
            <a:r>
              <a:t>It reduces onboarding time and helps engineers understand risky areas before making changes.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scan large codebases and surface hotspots that deserve attention.</a:t>
            </a:r>
          </a:p>
          <a:p>
            <a:endParaRPr/>
          </a:p>
          <a:p>
            <a:r>
              <a:t>This helps teams prioritize modernization work and avoid guesswork.</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guides reduce onboarding time and ensure consistent workflows across teams.</a:t>
            </a:r>
          </a:p>
          <a:p>
            <a:endParaRPr/>
          </a:p>
          <a:p>
            <a:r>
              <a:t>They also help prevent tribal knowledge loss.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helps keep documentation evergreen by updating it alongside code changes.</a:t>
            </a:r>
          </a:p>
          <a:p>
            <a:endParaRPr/>
          </a:p>
          <a:p>
            <a:r>
              <a:t>This reduces drift and improves maintainability.</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models have different strengths.</a:t>
            </a:r>
          </a:p>
          <a:p>
            <a:endParaRPr/>
          </a:p>
          <a:p>
            <a:r>
              <a:t>Cross-validation is a powerful guardrail for correctness, especially in brownfield systems.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This exercise helps participants build confidence in using AI to document unfamiliar code safely and quickly.</a:t>
            </a:r>
          </a:p>
          <a:p>
            <a:endParaRPr/>
          </a:p>
          <a:p>
            <a:r>
              <a:t>---</a:t>
            </a:r>
          </a:p>
          <a:p>
            <a:endParaRPr/>
          </a:p>
          <a:p>
            <a:r>
              <a:t>Source: slides\marp\exercise\exercise-brownfield-code-documentation.deck.md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builds foundational prompt-writing skills. Encourage participants to choose a real task to make the exercise concrete.</a:t>
            </a:r>
          </a:p>
          <a:p>
            <a:endParaRPr/>
          </a:p>
          <a:p>
            <a:r>
              <a:t>Prompt: Create a prompt file that creates an instruction file for evergreen software development</a:t>
            </a:r>
          </a:p>
          <a:p>
            <a:endParaRPr/>
          </a:p>
          <a:p>
            <a:r>
              <a:t>---</a:t>
            </a:r>
          </a:p>
          <a:p>
            <a:endParaRPr/>
          </a:p>
          <a:p>
            <a:r>
              <a:t>Source: slides\marp\exercise\exercise-create-a-prompt-file.deck.md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Section 10: Code Explanation and Analysis. This section covers approximately 9 minutes of content from the AI-Assisted Software Development course.</a:t>
            </a:r>
          </a:p>
          <a:p>
            <a:endParaRPr/>
          </a:p>
          <a:p>
            <a:r>
              <a:t>**Key Points**:</a:t>
            </a:r>
          </a:p>
          <a:p>
            <a:endParaRPr/>
          </a:p>
          <a:p>
            <a:r>
              <a:t>- This section focuses on two practical workflows: explaining unfamiliar code and analyzing test coverage gaps</a:t>
            </a:r>
          </a:p>
          <a:p>
            <a:r>
              <a:t>- GitHub Copilot acts as an on-demand code reviewer and documentation expert</a:t>
            </a:r>
          </a:p>
          <a:p>
            <a:r>
              <a:t>- These techniques are especially valuable when onboarding to an existing codebase</a:t>
            </a:r>
          </a:p>
          <a:p>
            <a:endParaRPr/>
          </a:p>
          <a:p>
            <a:r>
              <a:t>**Delivery**: Open with a relatable scenario — "Have you ever inherited a codebase with no documentation and had to figure out what it does?" This frames the value of AI-assisted code explanation.</a:t>
            </a:r>
          </a:p>
          <a:p>
            <a:endParaRPr/>
          </a:p>
          <a:p>
            <a:r>
              <a:t>**Transition**: "Let's look at what we'll cover in this section."</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**Demo Instructions**:</a:t>
            </a:r>
          </a:p>
          <a:p>
            <a:endParaRPr/>
          </a:p>
          <a:p>
            <a:r>
              <a:t>- Open a moderately complex function (e.g., one with multiple conditionals or loops)</a:t>
            </a:r>
          </a:p>
          <a:p>
            <a:r>
              <a:t>- Demonstrate both methods — keyboard shortcut first, then right-click</a:t>
            </a:r>
          </a:p>
          <a:p>
            <a:r>
              <a:t>- Show how the explanation appears in different panels for each method</a:t>
            </a:r>
          </a:p>
          <a:p>
            <a:endParaRPr/>
          </a:p>
          <a:p>
            <a:r>
              <a:t>**Key Teaching Points**:</a:t>
            </a:r>
          </a:p>
          <a:p>
            <a:endParaRPr/>
          </a:p>
          <a:p>
            <a:r>
              <a:t>1. **Inline Chat (Ctrl+I)**: Results appear inline, great for quick questions. Can ask follow-up questions immediately.</a:t>
            </a:r>
          </a:p>
          <a:p>
            <a:r>
              <a:t>2. **Right-Click Explain**: Opens the Chat panel with a full explanation. Better for complex code that needs a longer response.</a:t>
            </a:r>
          </a:p>
          <a:p>
            <a:endParaRPr/>
          </a:p>
          <a:p>
            <a:r>
              <a:t>**When to Use Each**:</a:t>
            </a:r>
          </a:p>
          <a:p>
            <a:endParaRPr/>
          </a:p>
          <a:p>
            <a:r>
              <a:t>- Use Ctrl+I for quick, targeted questions ("What does this regex do?")</a:t>
            </a:r>
          </a:p>
          <a:p>
            <a:r>
              <a:t>- Use Right-click Explain for comprehensive understanding ("What is this entire function doing?")</a:t>
            </a:r>
          </a:p>
          <a:p>
            <a:endParaRPr/>
          </a:p>
          <a:p>
            <a:r>
              <a:t>**Common Student Question**: "Does it explain external library calls?"</a:t>
            </a:r>
          </a:p>
          <a:p>
            <a:r>
              <a:t>**Answer**: Yes! Copilot knows common libraries and can explain what third-party methods do.</a:t>
            </a:r>
          </a:p>
          <a:p>
            <a:endParaRPr/>
          </a:p>
          <a:p>
            <a:r>
              <a:t>**Transition**: "Now let's look at a specific use case where code explanation is extremely valuable — understanding test code."</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**Core Insight to Deliver**: Test code is often more complex than production code. Developers new to a codebase frequently skip reading tests because they're hard to understand — but tests are the best documentation of intended behavior.</a:t>
            </a:r>
          </a:p>
          <a:p>
            <a:endParaRPr/>
          </a:p>
          <a:p>
            <a:r>
              <a:t>**Real-World Scenario**: "Imagine you're asked to add a feature. The first thing you should do is read the existing tests to understand what behavior is expected. Copilot can explain those tests in plain English."</a:t>
            </a:r>
          </a:p>
          <a:p>
            <a:endParaRPr/>
          </a:p>
          <a:p>
            <a:r>
              <a:t>**Live Demo Suggestion**:</a:t>
            </a:r>
          </a:p>
          <a:p>
            <a:endParaRPr/>
          </a:p>
          <a:p>
            <a:r>
              <a:t>- Open a test file with mocking/stubbing</a:t>
            </a:r>
          </a:p>
          <a:p>
            <a:r>
              <a:t>- Select a complex test setup and use Ctrl+I</a:t>
            </a:r>
          </a:p>
          <a:p>
            <a:r>
              <a:t>- Ask: "What is this test verifying? What would cause it to fail?"</a:t>
            </a:r>
          </a:p>
          <a:p>
            <a:r>
              <a:t>- Show how the explanation reveals the implicit contract of the code</a:t>
            </a:r>
          </a:p>
          <a:p>
            <a:endParaRPr/>
          </a:p>
          <a:p>
            <a:r>
              <a:t>**Key Benefit**: "Understanding test code helps you identify coverage gaps before you write a single line of code."</a:t>
            </a:r>
          </a:p>
          <a:p>
            <a:endParaRPr/>
          </a:p>
          <a:p>
            <a:r>
              <a:t>**Audience Interaction**: "Has anyone ever broken a test they didn't understand? This is how you prevent that."</a:t>
            </a:r>
          </a:p>
          <a:p>
            <a:endParaRPr/>
          </a:p>
          <a:p>
            <a:r>
              <a:t>**Transition**: "Understanding what IS tested naturally leads us to finding what ISN'T tested — which brings us to coverage gap analysis."</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**Why This Matters**: Code coverage tools tell you _what percentage_ is covered, but they don't tell you _whether the right things_ are covered. A line can be executed by a test without that test actually verifying the behavior.</a:t>
            </a:r>
          </a:p>
          <a:p>
            <a:endParaRPr/>
          </a:p>
          <a:p>
            <a:r>
              <a:t>**Two Types of Coverage Gaps**:</a:t>
            </a:r>
          </a:p>
          <a:p>
            <a:endParaRPr/>
          </a:p>
          <a:p>
            <a:r>
              <a:t>1. **Quantity gaps**: Code paths not reached by any test</a:t>
            </a:r>
          </a:p>
          <a:p>
            <a:r>
              <a:t>2. **Quality gaps**: Code paths reached but not meaningfully verified</a:t>
            </a:r>
          </a:p>
          <a:p>
            <a:endParaRPr/>
          </a:p>
          <a:p>
            <a:r>
              <a:t>**Copilot's Advantage**: It understands the _intent_ of the code and can identify gaps that line-coverage metrics would miss.</a:t>
            </a:r>
          </a:p>
          <a:p>
            <a:endParaRPr/>
          </a:p>
          <a:p>
            <a:r>
              <a:t>**Example**: "You might have 95% line coverage but still be missing all error-path tests, all boundary conditions, and all integration scenarios."</a:t>
            </a:r>
          </a:p>
          <a:p>
            <a:endParaRPr/>
          </a:p>
          <a:p>
            <a:r>
              <a:t>**Transition**: "Let's see this in action with a real example — a calculator service."</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**Live Demo Instructions**:</a:t>
            </a:r>
          </a:p>
          <a:p>
            <a:endParaRPr/>
          </a:p>
          <a:p>
            <a:r>
              <a:t>1. Open a calculator service with its test file</a:t>
            </a:r>
          </a:p>
          <a:p>
            <a:r>
              <a:t>2. Select the entire test file</a:t>
            </a:r>
          </a:p>
          <a:p>
            <a:r>
              <a:t>3. Run the prompt shown on slide</a:t>
            </a:r>
          </a:p>
          <a:p>
            <a:r>
              <a:t>4. Walk through the generated report</a:t>
            </a:r>
          </a:p>
          <a:p>
            <a:endParaRPr/>
          </a:p>
          <a:p>
            <a:r>
              <a:t>**Expected Output to Highlight**:</a:t>
            </a:r>
          </a:p>
          <a:p>
            <a:endParaRPr/>
          </a:p>
          <a:p>
            <a:r>
              <a:t>- Copilot will categorize tests by operation/feature</a:t>
            </a:r>
          </a:p>
          <a:p>
            <a:r>
              <a:t>- Will note if error conditions are tested (e.g., division by zero)</a:t>
            </a:r>
          </a:p>
          <a:p>
            <a:r>
              <a:t>- Will identify if edge cases like floating point, negative numbers, or overflow are tested</a:t>
            </a:r>
          </a:p>
          <a:p>
            <a:r>
              <a:t>- Will give a qualitative coverage assessment</a:t>
            </a:r>
          </a:p>
          <a:p>
            <a:endParaRPr/>
          </a:p>
          <a:p>
            <a:r>
              <a:t>**The 95% Example**: This is a realistic scenario — a service appears well-tested but is missing critical edge cases. The remaining 5% often contains the most important behavior (error handling, boundary conditions).</a:t>
            </a:r>
          </a:p>
          <a:p>
            <a:endParaRPr/>
          </a:p>
          <a:p>
            <a:r>
              <a:t>**Key Teaching Point**: "Copilot doesn't just count lines — it understands the domain. It knows that a calculator should handle division by zero, and it will flag that as a gap even if the coverage tools show 95%."</a:t>
            </a:r>
          </a:p>
          <a:p>
            <a:endParaRPr/>
          </a:p>
          <a:p>
            <a:r>
              <a:t>**Transition**: "Let's look at what those missing coverage areas typically look like."</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**Why These Categories Matter**:</a:t>
            </a:r>
          </a:p>
          <a:p>
            <a:endParaRPr/>
          </a:p>
          <a:p>
            <a:r>
              <a:t>1. **Error conditions**: Most production bugs occur on the error path, not the happy path</a:t>
            </a:r>
          </a:p>
          <a:p>
            <a:r>
              <a:t>2. **Boundary values**: Classic source of off-by-one errors and overflow bugs</a:t>
            </a:r>
          </a:p>
          <a:p>
            <a:r>
              <a:t>3. **Integration paths**: Individual unit tests pass but composition fails</a:t>
            </a:r>
          </a:p>
          <a:p>
            <a:r>
              <a:t>4. **Edge cases**: Domain-specific scenarios that business logic must handle</a:t>
            </a:r>
          </a:p>
          <a:p>
            <a:endParaRPr/>
          </a:p>
          <a:p>
            <a:r>
              <a:t>**Delivery Tip**: Ask "Which of these categories do you think is most commonly skipped in your codebase?" — this sparks discussion and makes the content personally relevant.</a:t>
            </a:r>
          </a:p>
          <a:p>
            <a:endParaRPr/>
          </a:p>
          <a:p>
            <a:r>
              <a:t>**Common Excuse**: "We have 90%+ coverage!" Counter: "Code coverage measures whether code was executed, not whether it was verified. Copilot goes deeper."</a:t>
            </a:r>
          </a:p>
          <a:p>
            <a:endParaRPr/>
          </a:p>
          <a:p>
            <a:r>
              <a:t>**Important Nuance**: Copilot identifies _semantic_ gaps, not just syntactic ones. It knows that a `divide` function without a zero-divisor test is semantically incomplete.</a:t>
            </a:r>
          </a:p>
          <a:p>
            <a:endParaRPr/>
          </a:p>
          <a:p>
            <a:r>
              <a:t>**Transition**: "Identifying gaps is only half the job. Copilot can also help you close them."</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**Why Prioritization Matters**: Teams can't add all missing tests at once. Copilot helps prioritize by:</a:t>
            </a:r>
          </a:p>
          <a:p>
            <a:endParaRPr/>
          </a:p>
          <a:p>
            <a:r>
              <a:t>- Risk: What's most likely to cause a production incident?</a:t>
            </a:r>
          </a:p>
          <a:p>
            <a:r>
              <a:t>- Value: What behavior is most critical to the business?</a:t>
            </a:r>
          </a:p>
          <a:p>
            <a:r>
              <a:t>- Effort: What tests are quickest to write and maintain?</a:t>
            </a:r>
          </a:p>
          <a:p>
            <a:endParaRPr/>
          </a:p>
          <a:p>
            <a:r>
              <a:t>**How to Read the Priority Levels**:</a:t>
            </a:r>
          </a:p>
          <a:p>
            <a:endParaRPr/>
          </a:p>
          <a:p>
            <a:r>
              <a:t>- 🔴 Red: Production risk — these should be done in the current sprint</a:t>
            </a:r>
          </a:p>
          <a:p>
            <a:r>
              <a:t>- 🟡 Yellow: Technical debt — schedule for next sprint</a:t>
            </a:r>
          </a:p>
          <a:p>
            <a:r>
              <a:t>- 🟢 Green: Nice to have — add when time permits</a:t>
            </a:r>
          </a:p>
          <a:p>
            <a:endParaRPr/>
          </a:p>
          <a:p>
            <a:r>
              <a:t>**Audience Engagement**: "How does your team currently prioritize which tests to write? Do you have a systematic approach?" — This positions Copilot as an improvement over gut-feeling prioritization.</a:t>
            </a:r>
          </a:p>
          <a:p>
            <a:endParaRPr/>
          </a:p>
          <a:p>
            <a:r>
              <a:t>**Key Differentiator**: "This isn't just a list of things to do. Copilot explains _why_ each test is important, giving you the context to defend the work to stakeholders."</a:t>
            </a:r>
          </a:p>
          <a:p>
            <a:endParaRPr/>
          </a:p>
          <a:p>
            <a:r>
              <a:t>**Transition**: "And here's where it gets really powerful — Copilot doesn't just plan, it can implement the tests for you."</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**Live Demo Instructions**:</a:t>
            </a:r>
          </a:p>
          <a:p>
            <a:endParaRPr/>
          </a:p>
          <a:p>
            <a:r>
              <a:t>1. With the coverage plan from the previous step visible</a:t>
            </a:r>
          </a:p>
          <a:p>
            <a:r>
              <a:t>2. Ask Copilot to implement the top 2-3 high-priority tests</a:t>
            </a:r>
          </a:p>
          <a:p>
            <a:r>
              <a:t>3. Show how it picks up on the existing test style (naming, assertion patterns, setup/teardown)</a:t>
            </a:r>
          </a:p>
          <a:p>
            <a:r>
              <a:t>4. Run the tests to show they pass (or fail for the right reasons)</a:t>
            </a:r>
          </a:p>
          <a:p>
            <a:endParaRPr/>
          </a:p>
          <a:p>
            <a:r>
              <a:t>**Important Teaching Point**: "Copilot doesn't create tests in a vacuum — it learns from your existing test patterns. If you use `describe`/`it` blocks, it will too. If you use `[Test]` attributes, it matches that."</a:t>
            </a:r>
          </a:p>
          <a:p>
            <a:endParaRPr/>
          </a:p>
          <a:p>
            <a:r>
              <a:t>**Quality Review**: Emphasize that AI-generated tests should always be reviewed:</a:t>
            </a:r>
          </a:p>
          <a:p>
            <a:endParaRPr/>
          </a:p>
          <a:p>
            <a:r>
              <a:t>- Does the assertion actually verify the behavior?</a:t>
            </a:r>
          </a:p>
          <a:p>
            <a:r>
              <a:t>- Is the test isolated (no shared state)?</a:t>
            </a:r>
          </a:p>
          <a:p>
            <a:r>
              <a:t>- Will the test fail for the right reason if the code breaks?</a:t>
            </a:r>
          </a:p>
          <a:p>
            <a:endParaRPr/>
          </a:p>
          <a:p>
            <a:r>
              <a:t>**Common Issue**: Students sometimes accept generated tests without running them. Stress: "Always run the tests. A test that doesn't fail when it should is worse than no test."</a:t>
            </a:r>
          </a:p>
          <a:p>
            <a:endParaRPr/>
          </a:p>
          <a:p>
            <a:r>
              <a:t>**Time Savings**: "Writing these tests manually would take 30-60 minutes. With Copilot, 5 minutes. That time savings compounds across every feature in your codebase."</a:t>
            </a:r>
          </a:p>
          <a:p>
            <a:endParaRPr/>
          </a:p>
          <a:p>
            <a:r>
              <a:t>**Transition**: "Let's wrap up with a summary of what we've covered and the key takeaways."</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The Return of the Prompter</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Great to be back together and moving forward</a:t>
            </a:r>
            <a:endParaRPr sz="2800" b="0" i="0">
              <a:latin typeface="Arial"/>
            </a:endParaRPr>
          </a:p>
          <a:p>
            <a:r>
              <a:rPr sz="2800" b="0" i="0" u="none"/>
              <a:t>Today we will extend the foundations we already built</a:t>
            </a:r>
            <a:endParaRPr sz="2800" b="0" i="0">
              <a:latin typeface="Arial"/>
            </a:endParaRPr>
          </a:p>
          <a:p>
            <a:r>
              <a:rPr sz="2800" b="0" i="0" u="none"/>
              <a:t>Your ideas and examples help make this session stronger</a:t>
            </a:r>
            <a:endParaRPr sz="2800" b="0" i="0">
              <a:latin typeface="Arial"/>
            </a:endParaRPr>
          </a:p>
          <a:p>
            <a:r>
              <a:rPr sz="2800" b="1" i="0" u="none"/>
              <a:t>If anything is unclear, jump in with questions anytime!</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Daily Themes</a:t>
            </a:r>
          </a:p>
        </p:txBody>
      </p:sp>
      <p:graphicFrame>
        <p:nvGraphicFramePr>
          <p:cNvPr id="3" name="Table 2"/>
          <p:cNvGraphicFramePr>
            <a:graphicFrameLocks noGrp="1"/>
          </p:cNvGraphicFramePr>
          <p:nvPr/>
        </p:nvGraphicFramePr>
        <p:xfrm>
          <a:off x="1219200" y="1828800"/>
          <a:ext cx="9753600" cy="469392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Day</a:t>
                      </a:r>
                    </a:p>
                  </a:txBody>
                  <a:tcPr>
                    <a:solidFill>
                      <a:schemeClr val="accent4"/>
                    </a:solidFill>
                  </a:tcPr>
                </a:tc>
                <a:tc>
                  <a:txBody>
                    <a:bodyPr/>
                    <a:lstStyle/>
                    <a:p>
                      <a:pPr>
                        <a:buNone/>
                        <a:defRPr sz="1600" b="1">
                          <a:solidFill>
                            <a:schemeClr val="bg1"/>
                          </a:solidFill>
                        </a:defRPr>
                      </a:pPr>
                      <a:r>
                        <a:rPr sz="1600" b="0" i="0" u="none"/>
                        <a:t>Theme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Monday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Instructions, Copilot UI</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Tuesday</a:t>
                      </a:r>
                    </a:p>
                  </a:txBody>
                  <a:tcPr>
                    <a:solidFill>
                      <a:schemeClr val="accent4">
                        <a:lumMod val="8000"/>
                        <a:lumOff val="92000"/>
                      </a:schemeClr>
                    </a:solidFill>
                  </a:tcPr>
                </a:tc>
                <a:tc>
                  <a:txBody>
                    <a:bodyPr/>
                    <a:lstStyle/>
                    <a:p>
                      <a:pPr>
                        <a:buNone/>
                        <a:defRPr sz="1600" b="0">
                          <a:solidFill>
                            <a:schemeClr val="tx1"/>
                          </a:solidFill>
                        </a:defRPr>
                      </a:pPr>
                      <a:r>
                        <a:rPr sz="1600" b="1" i="0" u="none"/>
                        <a:t>AI Guardrails: Prompts, Copilot for Teams, Models and Context, LLMs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Wednesday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Agents, Skills, Managing Context, Instructions vs Prompts vs Agents, Test Automation and Code Quality, MCP</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Thursday</a:t>
                      </a:r>
                    </a:p>
                  </a:txBody>
                  <a:tcPr>
                    <a:solidFill>
                      <a:schemeClr val="accent4">
                        <a:lumMod val="8000"/>
                        <a:lumOff val="92000"/>
                      </a:schemeClr>
                    </a:solidFill>
                  </a:tcPr>
                </a:tc>
                <a:tc>
                  <a:txBody>
                    <a:bodyPr/>
                    <a:lstStyle/>
                    <a:p>
                      <a:pPr>
                        <a:buNone/>
                        <a:defRPr sz="1600" b="0">
                          <a:solidFill>
                            <a:schemeClr val="tx1"/>
                          </a:solidFill>
                        </a:defRPr>
                      </a:pPr>
                      <a:r>
                        <a:rPr sz="1600" b="0" i="0" u="none"/>
                        <a:t>AI Assisted Brownfield SD: AI Implementation Workflow, Addressing Technical Debt, Building a Backlog, Multi-Implementation Comparison, AI Practitioner Resources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Friday</a:t>
                      </a:r>
                    </a:p>
                  </a:txBody>
                  <a:tcPr>
                    <a:solidFill>
                      <a:schemeClr val="accent4">
                        <a:lumMod val="20000"/>
                        <a:lumOff val="80000"/>
                      </a:schemeClr>
                    </a:solidFill>
                  </a:tcPr>
                </a:tc>
                <a:tc>
                  <a:txBody>
                    <a:bodyPr/>
                    <a:lstStyle/>
                    <a:p>
                      <a:pPr>
                        <a:buNone/>
                        <a:defRPr sz="1600" b="0">
                          <a:solidFill>
                            <a:schemeClr val="tx1"/>
                          </a:solidFill>
                        </a:defRPr>
                      </a:pPr>
                      <a:r>
                        <a:rPr sz="1600" b="0" i="0" u="none"/>
                        <a:t>AI Assisted Greenfield SD: Specification Driven Software Development, Architecture Specification, Technology Specification, Implementation Specification, Implementation Planning, Implementation Prompts, Vertical Slice Implementation, Code Review with GitHub Copilot</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C7601-8D58-EDE0-C439-02BA323FC949}"/>
              </a:ext>
            </a:extLst>
          </p:cNvPr>
          <p:cNvSpPr>
            <a:spLocks noGrp="1"/>
          </p:cNvSpPr>
          <p:nvPr>
            <p:ph type="title"/>
          </p:nvPr>
        </p:nvSpPr>
        <p:spPr/>
        <p:txBody>
          <a:bodyPr/>
          <a:lstStyle/>
          <a:p>
            <a:r>
              <a:rPr lang="en-US" dirty="0"/>
              <a:t>But first…</a:t>
            </a:r>
          </a:p>
        </p:txBody>
      </p:sp>
      <p:sp>
        <p:nvSpPr>
          <p:cNvPr id="3" name="Content Placeholder 2">
            <a:extLst>
              <a:ext uri="{FF2B5EF4-FFF2-40B4-BE49-F238E27FC236}">
                <a16:creationId xmlns:a16="http://schemas.microsoft.com/office/drawing/2014/main" id="{618BE05F-657C-5365-80FF-53A60A25F070}"/>
              </a:ext>
            </a:extLst>
          </p:cNvPr>
          <p:cNvSpPr>
            <a:spLocks noGrp="1"/>
          </p:cNvSpPr>
          <p:nvPr>
            <p:ph idx="1"/>
          </p:nvPr>
        </p:nvSpPr>
        <p:spPr/>
        <p:txBody>
          <a:bodyPr/>
          <a:lstStyle/>
          <a:p>
            <a:r>
              <a:rPr lang="en-US" dirty="0"/>
              <a:t>Core Instructions</a:t>
            </a:r>
          </a:p>
          <a:p>
            <a:r>
              <a:rPr lang="en-US" dirty="0"/>
              <a:t>Org vs Repo Instructions</a:t>
            </a:r>
          </a:p>
          <a:p>
            <a:r>
              <a:rPr lang="en-US" dirty="0"/>
              <a:t>Business/Enterprise subscriptions</a:t>
            </a:r>
          </a:p>
        </p:txBody>
      </p:sp>
    </p:spTree>
    <p:extLst>
      <p:ext uri="{BB962C8B-B14F-4D97-AF65-F5344CB8AC3E}">
        <p14:creationId xmlns:p14="http://schemas.microsoft.com/office/powerpoint/2010/main" val="408094975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Instruction Files</a:t>
            </a:r>
          </a:p>
        </p:txBody>
      </p:sp>
      <p:sp>
        <p:nvSpPr>
          <p:cNvPr id="3" name="Subtitle 2"/>
          <p:cNvSpPr>
            <a:spLocks noGrp="1"/>
          </p:cNvSpPr>
          <p:nvPr>
            <p:ph type="subTitle" idx="1"/>
          </p:nvPr>
        </p:nvSpPr>
        <p:spPr/>
        <p:txBody>
          <a:bodyPr wrap="square">
            <a:normAutofit/>
          </a:bodyPr>
          <a:lstStyle/>
          <a:p>
            <a:pPr>
              <a:buNone/>
            </a:pPr>
            <a:r>
              <a:rPr b="0" i="0" u="none"/>
              <a:t>The Constitution of Your AI Republic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Instructions</a:t>
            </a:r>
          </a:p>
        </p:txBody>
      </p:sp>
      <p:sp>
        <p:nvSpPr>
          <p:cNvPr id="3" name="Content Placeholder 2"/>
          <p:cNvSpPr>
            <a:spLocks noGrp="1"/>
          </p:cNvSpPr>
          <p:nvPr>
            <p:ph sz="half" idx="1"/>
          </p:nvPr>
        </p:nvSpPr>
        <p:spPr/>
        <p:txBody>
          <a:bodyPr wrap="square">
            <a:normAutofit/>
          </a:bodyPr>
          <a:lstStyle/>
          <a:p>
            <a:pPr>
              <a:buNone/>
            </a:pPr>
            <a:r>
              <a:rPr sz="1400" b="1" i="0" u="none"/>
              <a:t>Artifact and workflow rules</a:t>
            </a:r>
            <a:endParaRPr sz="1800" b="0" i="0">
              <a:latin typeface="Consolas"/>
            </a:endParaRPr>
          </a:p>
          <a:p>
            <a:pPr>
              <a:buNone/>
            </a:pPr>
            <a:endParaRPr sz="1800" b="0" i="0">
              <a:latin typeface="Consolas"/>
            </a:endParaRPr>
          </a:p>
          <a:p>
            <a:pPr>
              <a:buNone/>
            </a:pPr>
            <a:r>
              <a:rPr sz="1400" b="0" i="0" u="none">
                <a:latin typeface="Consolas"/>
              </a:rPr>
              <a:t>ai-assisted-output.instructions.md</a:t>
            </a:r>
            <a:endParaRPr sz="1800" b="0" i="0">
              <a:latin typeface="Consolas"/>
            </a:endParaRPr>
          </a:p>
          <a:p>
            <a:pPr lvl="1"/>
            <a:r>
              <a:rPr sz="1400" b="0" i="0" u="none"/>
              <a:t>Guidance for AI-generated artifacts</a:t>
            </a:r>
            <a:endParaRPr sz="1800" b="0" i="0">
              <a:latin typeface="Consolas"/>
            </a:endParaRPr>
          </a:p>
          <a:p>
            <a:pPr>
              <a:buNone/>
            </a:pPr>
            <a:endParaRPr sz="1800" b="0" i="0">
              <a:latin typeface="Consolas"/>
            </a:endParaRPr>
          </a:p>
          <a:p>
            <a:pPr>
              <a:buNone/>
            </a:pPr>
            <a:r>
              <a:rPr sz="1400" b="0" i="0" u="none">
                <a:latin typeface="Consolas"/>
              </a:rPr>
              <a:t>agent-file.instructions.md</a:t>
            </a:r>
            <a:endParaRPr sz="1800" b="0" i="0">
              <a:latin typeface="Consolas"/>
            </a:endParaRPr>
          </a:p>
          <a:p>
            <a:pPr lvl="1"/>
            <a:r>
              <a:rPr sz="1400" b="0" i="0" u="none"/>
              <a:t>Guidance for generating agents</a:t>
            </a:r>
            <a:endParaRPr sz="1800" b="0" i="0">
              <a:latin typeface="Consolas"/>
            </a:endParaRPr>
          </a:p>
          <a:p>
            <a:pPr>
              <a:buNone/>
            </a:pPr>
            <a:endParaRPr sz="1800" b="0" i="0">
              <a:latin typeface="Consolas"/>
            </a:endParaRPr>
          </a:p>
          <a:p>
            <a:pPr>
              <a:buNone/>
            </a:pPr>
            <a:r>
              <a:rPr sz="1400" b="0" i="0" u="none">
                <a:latin typeface="Consolas"/>
              </a:rPr>
              <a:t>instruction-files.instructions.md</a:t>
            </a:r>
            <a:endParaRPr sz="1800" b="0" i="0">
              <a:latin typeface="Consolas"/>
            </a:endParaRPr>
          </a:p>
          <a:p>
            <a:pPr lvl="1"/>
            <a:r>
              <a:rPr sz="1400" b="0" i="0" u="none"/>
              <a:t>Guidance for generating instruction files</a:t>
            </a:r>
            <a:endParaRPr sz="18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Prompt-related rules</a:t>
            </a:r>
          </a:p>
          <a:p>
            <a:pPr>
              <a:buNone/>
            </a:pPr>
            <a:endParaRPr sz="1400" b="1" i="0" u="none"/>
          </a:p>
          <a:p>
            <a:pPr>
              <a:buNone/>
            </a:pPr>
            <a:r>
              <a:rPr sz="1400" b="0" i="0" u="none">
                <a:latin typeface="Consolas"/>
              </a:rPr>
              <a:t>prompt-file.instructions.md</a:t>
            </a:r>
          </a:p>
          <a:p>
            <a:pPr lvl="1"/>
            <a:r>
              <a:rPr sz="1400" b="0" i="0" u="none"/>
              <a:t>Guidance for generating prompt files</a:t>
            </a:r>
          </a:p>
          <a:p>
            <a:pPr>
              <a:buNone/>
            </a:pPr>
            <a:r>
              <a:rPr sz="1400" b="0" i="0" u="none">
                <a:latin typeface="Consolas"/>
              </a:rPr>
              <a:t>instruction-prompt-files.instructions.md</a:t>
            </a:r>
          </a:p>
          <a:p>
            <a:pPr lvl="1"/>
            <a:r>
              <a:rPr sz="1400" b="0" i="0" u="none"/>
              <a:t>Guidance for prompts that generate instruction files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Organizational vs. Repository Instruction Files</a:t>
            </a:r>
          </a:p>
        </p:txBody>
      </p:sp>
      <p:sp>
        <p:nvSpPr>
          <p:cNvPr id="3" name="Subtitle 2"/>
          <p:cNvSpPr>
            <a:spLocks noGrp="1"/>
          </p:cNvSpPr>
          <p:nvPr>
            <p:ph type="subTitle" idx="1"/>
          </p:nvPr>
        </p:nvSpPr>
        <p:spPr/>
        <p:txBody>
          <a:bodyPr wrap="square">
            <a:normAutofit/>
          </a:bodyPr>
          <a:lstStyle/>
          <a:p>
            <a:pPr>
              <a:buNone/>
            </a:pPr>
            <a:r>
              <a:rPr b="0" i="0" u="none"/>
              <a:t>Corporate Rules vs. Your Team's Rules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Organizational vs. Repository Instruction Files</a:t>
            </a:r>
          </a:p>
        </p:txBody>
      </p:sp>
      <p:sp>
        <p:nvSpPr>
          <p:cNvPr id="3" name="Content Placeholder 2"/>
          <p:cNvSpPr>
            <a:spLocks noGrp="1"/>
          </p:cNvSpPr>
          <p:nvPr>
            <p:ph idx="1"/>
          </p:nvPr>
        </p:nvSpPr>
        <p:spPr/>
        <p:txBody>
          <a:bodyPr wrap="square">
            <a:normAutofit/>
          </a:bodyPr>
          <a:lstStyle/>
          <a:p>
            <a:r>
              <a:rPr sz="2800" b="0" i="0" u="none"/>
              <a:t>Business/Enterprise tier capabilities</a:t>
            </a:r>
            <a:endParaRPr sz="2800" b="0" i="0">
              <a:latin typeface="Arial"/>
            </a:endParaRPr>
          </a:p>
          <a:p>
            <a:r>
              <a:rPr sz="2800" b="0" i="0" u="none"/>
              <a:t>Path-scoped instruction files</a:t>
            </a:r>
            <a:endParaRPr sz="2800" b="0" i="0">
              <a:latin typeface="Arial"/>
            </a:endParaRPr>
          </a:p>
          <a:p>
            <a:r>
              <a:rPr sz="2800" b="0" i="0" u="none"/>
              <a:t>Folder-level technology-specific rules</a:t>
            </a:r>
            <a:endParaRPr sz="28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Two Instruction Layers Exist</a:t>
            </a:r>
          </a:p>
        </p:txBody>
      </p:sp>
      <p:sp>
        <p:nvSpPr>
          <p:cNvPr id="3" name="Content Placeholder 2"/>
          <p:cNvSpPr>
            <a:spLocks noGrp="1"/>
          </p:cNvSpPr>
          <p:nvPr>
            <p:ph idx="1"/>
          </p:nvPr>
        </p:nvSpPr>
        <p:spPr/>
        <p:txBody>
          <a:bodyPr wrap="square">
            <a:normAutofit/>
          </a:bodyPr>
          <a:lstStyle/>
          <a:p>
            <a:r>
              <a:rPr sz="2550" b="0" i="0" u="none"/>
              <a:t>Enterprise instructions enforce baseline policy and governance</a:t>
            </a:r>
            <a:endParaRPr sz="2550" b="0" i="0">
              <a:latin typeface="Arial"/>
            </a:endParaRPr>
          </a:p>
          <a:p>
            <a:r>
              <a:rPr sz="2550" b="0" i="0" u="none"/>
              <a:t>Repository instructions optimize for project context and implementation detail</a:t>
            </a:r>
            <a:endParaRPr sz="2550" b="0" i="0">
              <a:latin typeface="Arial"/>
            </a:endParaRPr>
          </a:p>
          <a:p>
            <a:r>
              <a:rPr sz="2550" b="0" i="0" u="none"/>
              <a:t>Together they balance consistency and local autonomy</a:t>
            </a:r>
            <a:endParaRPr sz="2550" b="0" i="0">
              <a:latin typeface="Arial"/>
            </a:endParaRPr>
          </a:p>
          <a:p>
            <a:pPr>
              <a:buNone/>
            </a:pPr>
            <a:endParaRPr sz="2550" b="0" i="0">
              <a:latin typeface="Arial"/>
            </a:endParaRPr>
          </a:p>
          <a:p>
            <a:pPr>
              <a:buNone/>
            </a:pPr>
            <a:r>
              <a:rPr sz="2550" b="1" i="0" u="none"/>
              <a:t>Key Idea</a:t>
            </a:r>
            <a:endParaRPr sz="2550" b="0" i="0">
              <a:latin typeface="Arial"/>
            </a:endParaRPr>
          </a:p>
          <a:p>
            <a:pPr>
              <a:buNone/>
            </a:pPr>
            <a:endParaRPr sz="2550" b="0" i="0">
              <a:latin typeface="Arial"/>
            </a:endParaRPr>
          </a:p>
          <a:p>
            <a:pPr>
              <a:buNone/>
            </a:pPr>
            <a:r>
              <a:rPr sz="2550" b="0" i="0" u="none"/>
              <a:t>Define global guardrails once, then narrow behavior where code lives.</a:t>
            </a:r>
            <a:endParaRPr sz="255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Business/Enterprise Tier Capabilities</a:t>
            </a:r>
          </a:p>
        </p:txBody>
      </p:sp>
      <p:sp>
        <p:nvSpPr>
          <p:cNvPr id="3" name="Content Placeholder 2"/>
          <p:cNvSpPr>
            <a:spLocks noGrp="1"/>
          </p:cNvSpPr>
          <p:nvPr>
            <p:ph idx="1"/>
          </p:nvPr>
        </p:nvSpPr>
        <p:spPr/>
        <p:txBody>
          <a:bodyPr wrap="square">
            <a:normAutofit/>
          </a:bodyPr>
          <a:lstStyle/>
          <a:p>
            <a:r>
              <a:rPr sz="2350" b="0" i="0" u="none"/>
              <a:t>Organization-wide safety and compliance standards</a:t>
            </a:r>
            <a:endParaRPr sz="2350" b="0" i="0">
              <a:latin typeface="Arial"/>
            </a:endParaRPr>
          </a:p>
          <a:p>
            <a:r>
              <a:rPr sz="2350" b="0" i="0" u="none"/>
              <a:t>Approved model and tool usage policy</a:t>
            </a:r>
            <a:endParaRPr sz="2350" b="0" i="0">
              <a:latin typeface="Arial"/>
            </a:endParaRPr>
          </a:p>
          <a:p>
            <a:r>
              <a:rPr sz="2350" b="0" i="0" u="none"/>
              <a:t>Mandatory provenance and audit requirements</a:t>
            </a:r>
            <a:endParaRPr sz="2350" b="0" i="0">
              <a:latin typeface="Arial"/>
            </a:endParaRPr>
          </a:p>
          <a:p>
            <a:r>
              <a:rPr sz="2350" b="0" i="0" u="none"/>
              <a:t>Security and legal baselines (secret handling, license constraints)</a:t>
            </a:r>
            <a:endParaRPr sz="2350" b="0" i="0">
              <a:latin typeface="Arial"/>
            </a:endParaRPr>
          </a:p>
          <a:p>
            <a:r>
              <a:rPr sz="2350" b="0" i="0" u="none"/>
              <a:t>Shared quality gates for CI/CD</a:t>
            </a:r>
            <a:endParaRPr sz="2350" b="0" i="0">
              <a:latin typeface="Arial"/>
            </a:endParaRPr>
          </a:p>
          <a:p>
            <a:pPr>
              <a:buNone/>
            </a:pPr>
            <a:endParaRPr sz="2350" b="0" i="0">
              <a:latin typeface="Arial"/>
            </a:endParaRPr>
          </a:p>
          <a:p>
            <a:pPr>
              <a:buNone/>
            </a:pPr>
            <a:r>
              <a:rPr sz="2350" b="1" i="0" u="none"/>
              <a:t>Typical Scope</a:t>
            </a:r>
            <a:endParaRPr sz="2350" b="0" i="0">
              <a:latin typeface="Arial"/>
            </a:endParaRPr>
          </a:p>
          <a:p>
            <a:pPr>
              <a:buNone/>
            </a:pPr>
            <a:endParaRPr sz="2350" b="0" i="0">
              <a:latin typeface="Arial"/>
            </a:endParaRPr>
          </a:p>
          <a:p>
            <a:pPr>
              <a:buNone/>
            </a:pPr>
            <a:r>
              <a:rPr sz="2350" b="0" i="0" u="none"/>
              <a:t>All repositories, all teams, all environments.</a:t>
            </a:r>
            <a:endParaRPr sz="235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lang="en-US" b="0" i="0" u="none" dirty="0"/>
              <a:t>Token Scarcity </a:t>
            </a:r>
            <a:endParaRPr b="0" i="0" u="none" dirty="0"/>
          </a:p>
        </p:txBody>
      </p:sp>
      <p:sp>
        <p:nvSpPr>
          <p:cNvPr id="3" name="Content Placeholder 2"/>
          <p:cNvSpPr>
            <a:spLocks noGrp="1"/>
          </p:cNvSpPr>
          <p:nvPr>
            <p:ph idx="1"/>
          </p:nvPr>
        </p:nvSpPr>
        <p:spPr/>
        <p:txBody>
          <a:bodyPr wrap="square">
            <a:normAutofit/>
          </a:bodyPr>
          <a:lstStyle/>
          <a:p>
            <a:pPr>
              <a:buNone/>
            </a:pPr>
            <a:r>
              <a:rPr sz="2800" b="1" i="0" u="none"/>
              <a:t>Effective June 1, 2026</a:t>
            </a:r>
            <a:endParaRPr sz="280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Overview</a:t>
            </a:r>
          </a:p>
        </p:txBody>
      </p:sp>
      <p:sp>
        <p:nvSpPr>
          <p:cNvPr id="3" name="Content Placeholder 2"/>
          <p:cNvSpPr>
            <a:spLocks noGrp="1"/>
          </p:cNvSpPr>
          <p:nvPr>
            <p:ph idx="1"/>
          </p:nvPr>
        </p:nvSpPr>
        <p:spPr/>
        <p:txBody>
          <a:bodyPr wrap="square">
            <a:normAutofit/>
          </a:bodyPr>
          <a:lstStyle/>
          <a:p>
            <a:pPr>
              <a:buNone/>
            </a:pPr>
            <a:r>
              <a:rPr sz="2800" b="1" i="0" u="none"/>
              <a:t>What's Changing?</a:t>
            </a:r>
            <a:endParaRPr sz="2800" b="0" i="0">
              <a:latin typeface="Arial"/>
            </a:endParaRPr>
          </a:p>
          <a:p>
            <a:pPr>
              <a:buNone/>
            </a:pPr>
            <a:endParaRPr sz="2800" b="0" i="0">
              <a:latin typeface="Arial"/>
            </a:endParaRPr>
          </a:p>
          <a:p>
            <a:r>
              <a:rPr sz="2800" b="1" i="0" u="none"/>
              <a:t>From</a:t>
            </a:r>
            <a:r>
              <a:rPr sz="2800" b="0" i="0" u="none"/>
              <a:t>: Fixed monthly seat-based pricing</a:t>
            </a:r>
            <a:endParaRPr sz="2800" b="0" i="0">
              <a:latin typeface="Arial"/>
            </a:endParaRPr>
          </a:p>
          <a:p>
            <a:r>
              <a:rPr sz="2800" b="1" i="0" u="none"/>
              <a:t>To</a:t>
            </a:r>
            <a:r>
              <a:rPr sz="2800" b="0" i="0" u="none"/>
              <a:t>: Usage-based billing with monthly AI credit allowances</a:t>
            </a:r>
            <a:endParaRPr sz="2800" b="0" i="0">
              <a:latin typeface="Arial"/>
            </a:endParaRPr>
          </a:p>
          <a:p>
            <a:r>
              <a:rPr sz="2800" b="1" i="0" u="none"/>
              <a:t>Billing Unit</a:t>
            </a:r>
            <a:r>
              <a:rPr sz="2800" b="0" i="0" u="none"/>
              <a:t>: GitHub AI Credits (1 credit = $0.01 USD)</a:t>
            </a:r>
            <a:endParaRPr sz="2800" b="0" i="0">
              <a:latin typeface="Arial"/>
            </a:endParaRPr>
          </a:p>
          <a:p>
            <a:r>
              <a:rPr sz="2800" b="1" i="0" u="none"/>
              <a:t>Applies To</a:t>
            </a:r>
            <a:r>
              <a:rPr sz="2800" b="0" i="0" u="none"/>
              <a:t>: All Copilot plans (Free, Pro, Pro+, Max, Business, Enterprise)</a:t>
            </a:r>
            <a:endParaRPr sz="280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GitHub AI Credits?</a:t>
            </a:r>
          </a:p>
        </p:txBody>
      </p:sp>
      <p:sp>
        <p:nvSpPr>
          <p:cNvPr id="3" name="Content Placeholder 2"/>
          <p:cNvSpPr>
            <a:spLocks noGrp="1"/>
          </p:cNvSpPr>
          <p:nvPr>
            <p:ph idx="1"/>
          </p:nvPr>
        </p:nvSpPr>
        <p:spPr/>
        <p:txBody>
          <a:bodyPr wrap="square">
            <a:normAutofit/>
          </a:bodyPr>
          <a:lstStyle/>
          <a:p>
            <a:pPr>
              <a:buNone/>
            </a:pPr>
            <a:r>
              <a:rPr sz="1750" b="1" i="0" u="none"/>
              <a:t>The New Billing Unit</a:t>
            </a:r>
            <a:endParaRPr sz="1750" b="0" i="0">
              <a:latin typeface="Consolas"/>
            </a:endParaRPr>
          </a:p>
          <a:p>
            <a:pPr>
              <a:buNone/>
            </a:pPr>
            <a:endParaRPr sz="1750" b="0" i="0">
              <a:latin typeface="Consolas"/>
            </a:endParaRPr>
          </a:p>
          <a:p>
            <a:r>
              <a:rPr sz="1750" b="1" i="0" u="none"/>
              <a:t>1 AI Credit = $0.01 USD</a:t>
            </a:r>
            <a:endParaRPr sz="1750" b="0" i="0">
              <a:latin typeface="Consolas"/>
            </a:endParaRPr>
          </a:p>
          <a:p>
            <a:r>
              <a:rPr sz="1750" b="0" i="0" u="none"/>
              <a:t>Calculated from tokens consumed by your interactions</a:t>
            </a:r>
            <a:endParaRPr sz="1750" b="0" i="0">
              <a:latin typeface="Consolas"/>
            </a:endParaRPr>
          </a:p>
          <a:p>
            <a:r>
              <a:rPr sz="1750" b="0" i="0" u="none"/>
              <a:t>Includes: Input tokens + Output tokens + Cached tokens</a:t>
            </a:r>
            <a:endParaRPr sz="1750" b="0" i="0">
              <a:latin typeface="Consolas"/>
            </a:endParaRPr>
          </a:p>
          <a:p>
            <a:r>
              <a:rPr sz="1750" b="0" i="0" u="none"/>
              <a:t>Charged based on the AI model used</a:t>
            </a:r>
            <a:endParaRPr sz="1750" b="0" i="0">
              <a:latin typeface="Consolas"/>
            </a:endParaRPr>
          </a:p>
          <a:p>
            <a:pPr>
              <a:buNone/>
            </a:pPr>
            <a:endParaRPr sz="1750" b="0" i="0">
              <a:latin typeface="Consolas"/>
            </a:endParaRPr>
          </a:p>
          <a:p>
            <a:pPr>
              <a:buNone/>
            </a:pPr>
            <a:r>
              <a:rPr sz="1750" b="1" i="0" u="none"/>
              <a:t>Token-Based Calculation</a:t>
            </a:r>
            <a:endParaRPr sz="1750" b="0" i="0">
              <a:latin typeface="Consolas"/>
            </a:endParaRPr>
          </a:p>
          <a:p>
            <a:pPr>
              <a:buNone/>
            </a:pPr>
            <a:endParaRPr sz="1750" b="0" i="0">
              <a:latin typeface="Consolas"/>
            </a:endParaRPr>
          </a:p>
          <a:p>
            <a:pPr>
              <a:buNone/>
            </a:pPr>
            <a:r>
              <a:rPr sz="1750">
                <a:latin typeface="Consolas"/>
              </a:rPr>
              <a:t>Cost = (Input tokens + Output tokens + Cached tokens) × Model rate</a:t>
            </a:r>
            <a:endParaRPr sz="1750" b="0" i="0">
              <a:latin typeface="Consolas"/>
            </a:endParaRPr>
          </a:p>
          <a:p>
            <a:pPr>
              <a:buNone/>
            </a:pPr>
            <a:r>
              <a:rPr sz="1750">
                <a:latin typeface="Consolas"/>
              </a:rPr>
              <a:t>      = AI Credits</a:t>
            </a:r>
            <a:endParaRPr sz="1750" b="0" i="0">
              <a:latin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Consumes AI Credits?</a:t>
            </a:r>
          </a:p>
        </p:txBody>
      </p:sp>
      <p:sp>
        <p:nvSpPr>
          <p:cNvPr id="3" name="Content Placeholder 2"/>
          <p:cNvSpPr>
            <a:spLocks noGrp="1"/>
          </p:cNvSpPr>
          <p:nvPr>
            <p:ph idx="1"/>
          </p:nvPr>
        </p:nvSpPr>
        <p:spPr/>
        <p:txBody>
          <a:bodyPr wrap="square">
            <a:normAutofit/>
          </a:bodyPr>
          <a:lstStyle/>
          <a:p>
            <a:pPr>
              <a:buNone/>
            </a:pPr>
            <a:r>
              <a:rPr sz="1350" b="1" i="0" u="none"/>
              <a:t>Billable Features</a:t>
            </a:r>
            <a:endParaRPr sz="1350" b="0" i="0">
              <a:latin typeface="Arial"/>
            </a:endParaRPr>
          </a:p>
          <a:p>
            <a:pPr>
              <a:buNone/>
            </a:pPr>
            <a:endParaRPr sz="1350" b="0" i="0">
              <a:latin typeface="Arial"/>
            </a:endParaRPr>
          </a:p>
          <a:p>
            <a:r>
              <a:rPr sz="1350" b="0" i="0" u="none"/>
              <a:t>✅ Copilot Chat</a:t>
            </a:r>
            <a:endParaRPr sz="1350" b="0" i="0">
              <a:latin typeface="Arial"/>
            </a:endParaRPr>
          </a:p>
          <a:p>
            <a:r>
              <a:rPr sz="1350" b="0" i="0" u="none"/>
              <a:t>✅ Copilot CLI</a:t>
            </a:r>
            <a:endParaRPr sz="1350" b="0" i="0">
              <a:latin typeface="Arial"/>
            </a:endParaRPr>
          </a:p>
          <a:p>
            <a:r>
              <a:rPr sz="1350" b="0" i="0" u="none"/>
              <a:t>✅ Copilot Cloud Agent</a:t>
            </a:r>
            <a:endParaRPr sz="1350" b="0" i="0">
              <a:latin typeface="Arial"/>
            </a:endParaRPr>
          </a:p>
          <a:p>
            <a:r>
              <a:rPr sz="1350" b="0" i="0" u="none"/>
              <a:t>✅ Copilot Spaces</a:t>
            </a:r>
            <a:endParaRPr sz="1350" b="0" i="0">
              <a:latin typeface="Arial"/>
            </a:endParaRPr>
          </a:p>
          <a:p>
            <a:r>
              <a:rPr sz="1350" b="0" i="0" u="none"/>
              <a:t>✅ Spark</a:t>
            </a:r>
            <a:endParaRPr sz="1350" b="0" i="0">
              <a:latin typeface="Arial"/>
            </a:endParaRPr>
          </a:p>
          <a:p>
            <a:r>
              <a:rPr sz="1350" b="0" i="0" u="none"/>
              <a:t>✅ Third-party coding agents</a:t>
            </a:r>
            <a:endParaRPr sz="1350" b="0" i="0">
              <a:latin typeface="Arial"/>
            </a:endParaRPr>
          </a:p>
          <a:p>
            <a:pPr>
              <a:buNone/>
            </a:pPr>
            <a:endParaRPr sz="1350" b="0" i="0">
              <a:latin typeface="Arial"/>
            </a:endParaRPr>
          </a:p>
          <a:p>
            <a:pPr>
              <a:buNone/>
            </a:pPr>
            <a:r>
              <a:rPr sz="1350" b="1" i="0" u="none"/>
              <a:t>NOT Billed</a:t>
            </a:r>
            <a:endParaRPr sz="1350" b="0" i="0">
              <a:latin typeface="Arial"/>
            </a:endParaRPr>
          </a:p>
          <a:p>
            <a:pPr>
              <a:buNone/>
            </a:pPr>
            <a:endParaRPr sz="1350" b="0" i="0">
              <a:latin typeface="Arial"/>
            </a:endParaRPr>
          </a:p>
          <a:p>
            <a:r>
              <a:rPr sz="1350" b="0" i="0" u="none"/>
              <a:t>✅ Code completions (unlimited)</a:t>
            </a:r>
            <a:endParaRPr sz="1350" b="0" i="0">
              <a:latin typeface="Arial"/>
            </a:endParaRPr>
          </a:p>
          <a:p>
            <a:r>
              <a:rPr sz="1350" b="0" i="0" u="none"/>
              <a:t>✅ Next edit suggestions (unlimited)</a:t>
            </a:r>
            <a:endParaRPr sz="135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Factors Affecting Your Usage</a:t>
            </a:r>
          </a:p>
        </p:txBody>
      </p:sp>
      <p:sp>
        <p:nvSpPr>
          <p:cNvPr id="3" name="Content Placeholder 2"/>
          <p:cNvSpPr>
            <a:spLocks noGrp="1"/>
          </p:cNvSpPr>
          <p:nvPr>
            <p:ph idx="1"/>
          </p:nvPr>
        </p:nvSpPr>
        <p:spPr/>
        <p:txBody>
          <a:bodyPr wrap="square">
            <a:normAutofit/>
          </a:bodyPr>
          <a:lstStyle/>
          <a:p>
            <a:pPr>
              <a:buNone/>
            </a:pPr>
            <a:r>
              <a:rPr sz="1400" b="1" i="0" u="none"/>
              <a:t>What Determines Credit Consumption?</a:t>
            </a:r>
            <a:endParaRPr sz="1400" b="0" i="0">
              <a:latin typeface="Arial"/>
            </a:endParaRPr>
          </a:p>
          <a:p>
            <a:pPr>
              <a:buNone/>
            </a:pPr>
            <a:endParaRPr sz="1400" b="0" i="0">
              <a:latin typeface="Arial"/>
            </a:endParaRPr>
          </a:p>
          <a:p>
            <a:pPr>
              <a:buNone/>
            </a:pPr>
            <a:r>
              <a:rPr sz="1400" b="0" i="0" u="none"/>
              <a:t>1. </a:t>
            </a:r>
            <a:r>
              <a:rPr sz="1400" b="1" i="0" u="none"/>
              <a:t>Conversation Complexity</a:t>
            </a:r>
            <a:endParaRPr sz="1400" b="0" i="0">
              <a:latin typeface="Arial"/>
            </a:endParaRPr>
          </a:p>
          <a:p>
            <a:pPr lvl="1"/>
            <a:r>
              <a:rPr sz="1400" b="0" i="0" u="none"/>
              <a:t>Longer conversations = more tokens</a:t>
            </a:r>
            <a:endParaRPr sz="1400" b="0" i="0">
              <a:latin typeface="Arial"/>
            </a:endParaRPr>
          </a:p>
          <a:p>
            <a:pPr lvl="1"/>
            <a:r>
              <a:rPr sz="1400" b="0" i="0" u="none"/>
              <a:t>More elaborate tasks = more back-and-forth</a:t>
            </a:r>
            <a:endParaRPr sz="1400" b="0" i="0">
              <a:latin typeface="Arial"/>
            </a:endParaRPr>
          </a:p>
          <a:p>
            <a:pPr>
              <a:buNone/>
            </a:pPr>
            <a:endParaRPr sz="1400" b="0" i="0">
              <a:latin typeface="Arial"/>
            </a:endParaRPr>
          </a:p>
          <a:p>
            <a:pPr>
              <a:buNone/>
            </a:pPr>
            <a:r>
              <a:rPr sz="1400" b="0" i="0" u="none"/>
              <a:t>2. </a:t>
            </a:r>
            <a:r>
              <a:rPr sz="1400" b="1" i="0" u="none"/>
              <a:t>Agentic Features</a:t>
            </a:r>
            <a:endParaRPr sz="1400" b="0" i="0">
              <a:latin typeface="Arial"/>
            </a:endParaRPr>
          </a:p>
          <a:p>
            <a:pPr lvl="1"/>
            <a:r>
              <a:rPr sz="1400" b="0" i="0" u="none"/>
              <a:t>Agent mode involves multiple model calls</a:t>
            </a:r>
            <a:endParaRPr sz="1400" b="0" i="0">
              <a:latin typeface="Arial"/>
            </a:endParaRPr>
          </a:p>
          <a:p>
            <a:pPr lvl="1"/>
            <a:r>
              <a:rPr sz="1400" b="0" i="0" u="none"/>
              <a:t>Complex sessions across large codebases consume more</a:t>
            </a:r>
            <a:endParaRPr sz="1400" b="0" i="0">
              <a:latin typeface="Arial"/>
            </a:endParaRPr>
          </a:p>
          <a:p>
            <a:pPr>
              <a:buNone/>
            </a:pPr>
            <a:endParaRPr sz="1400" b="0" i="0">
              <a:latin typeface="Arial"/>
            </a:endParaRPr>
          </a:p>
          <a:p>
            <a:pPr>
              <a:buNone/>
            </a:pPr>
            <a:r>
              <a:rPr sz="1400" b="0" i="0" u="none"/>
              <a:t>3. </a:t>
            </a:r>
            <a:r>
              <a:rPr sz="1400" b="1" i="0" u="none"/>
              <a:t>Model Choice</a:t>
            </a:r>
            <a:endParaRPr sz="1400" b="0" i="0">
              <a:latin typeface="Arial"/>
            </a:endParaRPr>
          </a:p>
          <a:p>
            <a:pPr lvl="1"/>
            <a:r>
              <a:rPr sz="1400" b="0" i="0" u="none"/>
              <a:t>Lightweight models = lower cost per token</a:t>
            </a:r>
            <a:endParaRPr sz="1400" b="0" i="0">
              <a:latin typeface="Arial"/>
            </a:endParaRPr>
          </a:p>
          <a:p>
            <a:pPr lvl="1"/>
            <a:r>
              <a:rPr sz="1400" b="0" i="0" u="none"/>
              <a:t>Frontier models (advanced reasoning) = higher cost</a:t>
            </a:r>
            <a:endParaRPr sz="1400" b="0" i="0">
              <a:latin typeface="Arial"/>
            </a:endParaRPr>
          </a:p>
          <a:p>
            <a:pPr lvl="1"/>
            <a:r>
              <a:rPr sz="1400" b="0" i="0" u="none"/>
              <a:t>Different models = different pricing</a:t>
            </a:r>
            <a:endParaRPr sz="14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Individual Plans: Credit Allowances</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195072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1950720">
                  <a:extLst>
                    <a:ext uri="{9D8B030D-6E8A-4147-A177-3AD203B41FA5}">
                      <a16:colId xmlns:a16="http://schemas.microsoft.com/office/drawing/2014/main" val="20003"/>
                    </a:ext>
                  </a:extLst>
                </a:gridCol>
                <a:gridCol w="1950720">
                  <a:extLst>
                    <a:ext uri="{9D8B030D-6E8A-4147-A177-3AD203B41FA5}">
                      <a16:colId xmlns:a16="http://schemas.microsoft.com/office/drawing/2014/main" val="20004"/>
                    </a:ext>
                  </a:extLst>
                </a:gridCol>
              </a:tblGrid>
              <a:tr h="457200">
                <a:tc>
                  <a:txBody>
                    <a:bodyPr/>
                    <a:lstStyle/>
                    <a:p>
                      <a:pPr>
                        <a:buNone/>
                        <a:defRPr sz="1600" b="1">
                          <a:solidFill>
                            <a:schemeClr val="bg1"/>
                          </a:solidFill>
                        </a:defRPr>
                      </a:pPr>
                      <a:r>
                        <a:rPr sz="1600" b="0" i="0" u="none"/>
                        <a:t>Plan</a:t>
                      </a:r>
                    </a:p>
                  </a:txBody>
                  <a:tcPr>
                    <a:solidFill>
                      <a:schemeClr val="accent4"/>
                    </a:solidFill>
                  </a:tcPr>
                </a:tc>
                <a:tc>
                  <a:txBody>
                    <a:bodyPr/>
                    <a:lstStyle/>
                    <a:p>
                      <a:pPr>
                        <a:buNone/>
                        <a:defRPr sz="1600" b="1">
                          <a:solidFill>
                            <a:schemeClr val="bg1"/>
                          </a:solidFill>
                        </a:defRPr>
                      </a:pPr>
                      <a:r>
                        <a:rPr sz="1600" b="0" i="0" u="none"/>
                        <a:t>Price</a:t>
                      </a:r>
                    </a:p>
                  </a:txBody>
                  <a:tcPr>
                    <a:solidFill>
                      <a:schemeClr val="accent4"/>
                    </a:solidFill>
                  </a:tcPr>
                </a:tc>
                <a:tc>
                  <a:txBody>
                    <a:bodyPr/>
                    <a:lstStyle/>
                    <a:p>
                      <a:pPr>
                        <a:buNone/>
                        <a:defRPr sz="1600" b="1">
                          <a:solidFill>
                            <a:schemeClr val="bg1"/>
                          </a:solidFill>
                        </a:defRPr>
                      </a:pPr>
                      <a:r>
                        <a:rPr sz="1600" b="0" i="0" u="none"/>
                        <a:t>Base</a:t>
                      </a:r>
                    </a:p>
                  </a:txBody>
                  <a:tcPr>
                    <a:solidFill>
                      <a:schemeClr val="accent4"/>
                    </a:solidFill>
                  </a:tcPr>
                </a:tc>
                <a:tc>
                  <a:txBody>
                    <a:bodyPr/>
                    <a:lstStyle/>
                    <a:p>
                      <a:pPr>
                        <a:buNone/>
                        <a:defRPr sz="1600" b="1">
                          <a:solidFill>
                            <a:schemeClr val="bg1"/>
                          </a:solidFill>
                        </a:defRPr>
                      </a:pPr>
                      <a:r>
                        <a:rPr sz="1600" b="0" i="0" u="none"/>
                        <a:t>Flex</a:t>
                      </a:r>
                    </a:p>
                  </a:txBody>
                  <a:tcPr>
                    <a:solidFill>
                      <a:schemeClr val="accent4"/>
                    </a:solidFill>
                  </a:tcPr>
                </a:tc>
                <a:tc>
                  <a:txBody>
                    <a:bodyPr/>
                    <a:lstStyle/>
                    <a:p>
                      <a:pPr>
                        <a:buNone/>
                        <a:defRPr sz="1600" b="1">
                          <a:solidFill>
                            <a:schemeClr val="bg1"/>
                          </a:solidFill>
                        </a:defRPr>
                      </a:pPr>
                      <a:r>
                        <a:rPr sz="1600" b="0" i="0" u="none"/>
                        <a:t>Total</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Free</a:t>
                      </a:r>
                    </a:p>
                  </a:txBody>
                  <a:tcPr>
                    <a:solidFill>
                      <a:schemeClr val="accent4">
                        <a:lumMod val="20000"/>
                        <a:lumOff val="80000"/>
                      </a:schemeClr>
                    </a:solidFill>
                  </a:tcPr>
                </a:tc>
                <a:tc>
                  <a:txBody>
                    <a:bodyPr/>
                    <a:lstStyle/>
                    <a:p>
                      <a:pPr>
                        <a:buNone/>
                        <a:defRPr sz="1600" b="0">
                          <a:solidFill>
                            <a:schemeClr val="tx1"/>
                          </a:solidFill>
                        </a:defRPr>
                      </a:pPr>
                      <a:r>
                        <a:rPr sz="1600" b="0" i="0" u="none"/>
                        <a:t>Free</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2000 completions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Pro</a:t>
                      </a:r>
                    </a:p>
                  </a:txBody>
                  <a:tcPr>
                    <a:solidFill>
                      <a:schemeClr val="accent4">
                        <a:lumMod val="8000"/>
                        <a:lumOff val="92000"/>
                      </a:schemeClr>
                    </a:solidFill>
                  </a:tcPr>
                </a:tc>
                <a:tc>
                  <a:txBody>
                    <a:bodyPr/>
                    <a:lstStyle/>
                    <a:p>
                      <a:pPr>
                        <a:buNone/>
                        <a:defRPr sz="1600" b="0">
                          <a:solidFill>
                            <a:schemeClr val="tx1"/>
                          </a:solidFill>
                        </a:defRPr>
                      </a:pPr>
                      <a:r>
                        <a:rPr sz="1600" b="0" i="0" u="none"/>
                        <a:t>$10/mo</a:t>
                      </a:r>
                    </a:p>
                  </a:txBody>
                  <a:tcPr>
                    <a:solidFill>
                      <a:schemeClr val="accent4">
                        <a:lumMod val="8000"/>
                        <a:lumOff val="92000"/>
                      </a:schemeClr>
                    </a:solidFill>
                  </a:tcPr>
                </a:tc>
                <a:tc>
                  <a:txBody>
                    <a:bodyPr/>
                    <a:lstStyle/>
                    <a:p>
                      <a:pPr>
                        <a:buNone/>
                        <a:defRPr sz="1600" b="0">
                          <a:solidFill>
                            <a:schemeClr val="tx1"/>
                          </a:solidFill>
                        </a:defRPr>
                      </a:pPr>
                      <a:r>
                        <a:rPr sz="1600" b="0" i="0" u="none"/>
                        <a:t>1,000</a:t>
                      </a:r>
                    </a:p>
                  </a:txBody>
                  <a:tcPr>
                    <a:solidFill>
                      <a:schemeClr val="accent4">
                        <a:lumMod val="8000"/>
                        <a:lumOff val="92000"/>
                      </a:schemeClr>
                    </a:solidFill>
                  </a:tcPr>
                </a:tc>
                <a:tc>
                  <a:txBody>
                    <a:bodyPr/>
                    <a:lstStyle/>
                    <a:p>
                      <a:pPr>
                        <a:buNone/>
                        <a:defRPr sz="1600" b="0">
                          <a:solidFill>
                            <a:schemeClr val="tx1"/>
                          </a:solidFill>
                        </a:defRPr>
                      </a:pPr>
                      <a:r>
                        <a:rPr sz="1600" b="0" i="0" u="none"/>
                        <a:t>500</a:t>
                      </a:r>
                    </a:p>
                  </a:txBody>
                  <a:tcPr>
                    <a:solidFill>
                      <a:schemeClr val="accent4">
                        <a:lumMod val="8000"/>
                        <a:lumOff val="92000"/>
                      </a:schemeClr>
                    </a:solidFill>
                  </a:tcPr>
                </a:tc>
                <a:tc>
                  <a:txBody>
                    <a:bodyPr/>
                    <a:lstStyle/>
                    <a:p>
                      <a:pPr>
                        <a:buNone/>
                        <a:defRPr sz="1600" b="0">
                          <a:solidFill>
                            <a:schemeClr val="tx1"/>
                          </a:solidFill>
                        </a:defRPr>
                      </a:pPr>
                      <a:r>
                        <a:rPr sz="1600" b="0" i="0" u="none"/>
                        <a:t>1,500</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Pro+</a:t>
                      </a:r>
                    </a:p>
                  </a:txBody>
                  <a:tcPr>
                    <a:solidFill>
                      <a:schemeClr val="accent4">
                        <a:lumMod val="20000"/>
                        <a:lumOff val="80000"/>
                      </a:schemeClr>
                    </a:solidFill>
                  </a:tcPr>
                </a:tc>
                <a:tc>
                  <a:txBody>
                    <a:bodyPr/>
                    <a:lstStyle/>
                    <a:p>
                      <a:pPr>
                        <a:buNone/>
                        <a:defRPr sz="1600" b="0">
                          <a:solidFill>
                            <a:schemeClr val="tx1"/>
                          </a:solidFill>
                        </a:defRPr>
                      </a:pPr>
                      <a:r>
                        <a:rPr sz="1600" b="0" i="0" u="none"/>
                        <a:t>$39/mo</a:t>
                      </a:r>
                    </a:p>
                  </a:txBody>
                  <a:tcPr>
                    <a:solidFill>
                      <a:schemeClr val="accent4">
                        <a:lumMod val="20000"/>
                        <a:lumOff val="80000"/>
                      </a:schemeClr>
                    </a:solidFill>
                  </a:tcPr>
                </a:tc>
                <a:tc>
                  <a:txBody>
                    <a:bodyPr/>
                    <a:lstStyle/>
                    <a:p>
                      <a:pPr>
                        <a:buNone/>
                        <a:defRPr sz="1600" b="0">
                          <a:solidFill>
                            <a:schemeClr val="tx1"/>
                          </a:solidFill>
                        </a:defRPr>
                      </a:pPr>
                      <a:r>
                        <a:rPr sz="1600" b="0" i="0" u="none"/>
                        <a:t>3,900</a:t>
                      </a:r>
                    </a:p>
                  </a:txBody>
                  <a:tcPr>
                    <a:solidFill>
                      <a:schemeClr val="accent4">
                        <a:lumMod val="20000"/>
                        <a:lumOff val="80000"/>
                      </a:schemeClr>
                    </a:solidFill>
                  </a:tcPr>
                </a:tc>
                <a:tc>
                  <a:txBody>
                    <a:bodyPr/>
                    <a:lstStyle/>
                    <a:p>
                      <a:pPr>
                        <a:buNone/>
                        <a:defRPr sz="1600" b="0">
                          <a:solidFill>
                            <a:schemeClr val="tx1"/>
                          </a:solidFill>
                        </a:defRPr>
                      </a:pPr>
                      <a:r>
                        <a:rPr sz="1600" b="0" i="0" u="none"/>
                        <a:t>3,100</a:t>
                      </a:r>
                    </a:p>
                  </a:txBody>
                  <a:tcPr>
                    <a:solidFill>
                      <a:schemeClr val="accent4">
                        <a:lumMod val="20000"/>
                        <a:lumOff val="80000"/>
                      </a:schemeClr>
                    </a:solidFill>
                  </a:tcPr>
                </a:tc>
                <a:tc>
                  <a:txBody>
                    <a:bodyPr/>
                    <a:lstStyle/>
                    <a:p>
                      <a:pPr>
                        <a:buNone/>
                        <a:defRPr sz="1600" b="0">
                          <a:solidFill>
                            <a:schemeClr val="tx1"/>
                          </a:solidFill>
                        </a:defRPr>
                      </a:pPr>
                      <a:r>
                        <a:rPr sz="1600" b="0" i="0" u="none"/>
                        <a:t>7,000</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Max</a:t>
                      </a:r>
                    </a:p>
                  </a:txBody>
                  <a:tcPr>
                    <a:solidFill>
                      <a:schemeClr val="accent4">
                        <a:lumMod val="8000"/>
                        <a:lumOff val="92000"/>
                      </a:schemeClr>
                    </a:solidFill>
                  </a:tcPr>
                </a:tc>
                <a:tc>
                  <a:txBody>
                    <a:bodyPr/>
                    <a:lstStyle/>
                    <a:p>
                      <a:pPr>
                        <a:buNone/>
                        <a:defRPr sz="1600" b="0">
                          <a:solidFill>
                            <a:schemeClr val="tx1"/>
                          </a:solidFill>
                        </a:defRPr>
                      </a:pPr>
                      <a:r>
                        <a:rPr sz="1600" b="0" i="0" u="none"/>
                        <a:t>$100/mo</a:t>
                      </a:r>
                    </a:p>
                  </a:txBody>
                  <a:tcPr>
                    <a:solidFill>
                      <a:schemeClr val="accent4">
                        <a:lumMod val="8000"/>
                        <a:lumOff val="92000"/>
                      </a:schemeClr>
                    </a:solidFill>
                  </a:tcPr>
                </a:tc>
                <a:tc>
                  <a:txBody>
                    <a:bodyPr/>
                    <a:lstStyle/>
                    <a:p>
                      <a:pPr>
                        <a:buNone/>
                        <a:defRPr sz="1600" b="0">
                          <a:solidFill>
                            <a:schemeClr val="tx1"/>
                          </a:solidFill>
                        </a:defRPr>
                      </a:pPr>
                      <a:r>
                        <a:rPr sz="1600" b="0" i="0" u="none"/>
                        <a:t>10,000</a:t>
                      </a:r>
                    </a:p>
                  </a:txBody>
                  <a:tcPr>
                    <a:solidFill>
                      <a:schemeClr val="accent4">
                        <a:lumMod val="8000"/>
                        <a:lumOff val="92000"/>
                      </a:schemeClr>
                    </a:solidFill>
                  </a:tcPr>
                </a:tc>
                <a:tc>
                  <a:txBody>
                    <a:bodyPr/>
                    <a:lstStyle/>
                    <a:p>
                      <a:pPr>
                        <a:buNone/>
                        <a:defRPr sz="1600" b="0">
                          <a:solidFill>
                            <a:schemeClr val="tx1"/>
                          </a:solidFill>
                        </a:defRPr>
                      </a:pPr>
                      <a:r>
                        <a:rPr sz="1600" b="0" i="0" u="none"/>
                        <a:t>10,000</a:t>
                      </a:r>
                    </a:p>
                  </a:txBody>
                  <a:tcPr>
                    <a:solidFill>
                      <a:schemeClr val="accent4">
                        <a:lumMod val="8000"/>
                        <a:lumOff val="92000"/>
                      </a:schemeClr>
                    </a:solidFill>
                  </a:tcPr>
                </a:tc>
                <a:tc>
                  <a:txBody>
                    <a:bodyPr/>
                    <a:lstStyle/>
                    <a:p>
                      <a:pPr>
                        <a:buNone/>
                        <a:defRPr sz="1600" b="0">
                          <a:solidFill>
                            <a:schemeClr val="tx1"/>
                          </a:solidFill>
                        </a:defRPr>
                      </a:pPr>
                      <a:r>
                        <a:rPr sz="1600" b="0" i="0" u="none"/>
                        <a:t>20,000</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Credits Work (Individuals)</a:t>
            </a:r>
          </a:p>
        </p:txBody>
      </p:sp>
      <p:graphicFrame>
        <p:nvGraphicFramePr>
          <p:cNvPr id="3" name="Table 2"/>
          <p:cNvGraphicFramePr>
            <a:graphicFrameLocks noGrp="1"/>
          </p:cNvGraphicFramePr>
          <p:nvPr/>
        </p:nvGraphicFramePr>
        <p:xfrm>
          <a:off x="1219200" y="1828800"/>
          <a:ext cx="9753600" cy="240792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Step</a:t>
                      </a:r>
                    </a:p>
                  </a:txBody>
                  <a:tcPr>
                    <a:solidFill>
                      <a:schemeClr val="accent4"/>
                    </a:solidFill>
                  </a:tcPr>
                </a:tc>
                <a:tc>
                  <a:txBody>
                    <a:bodyPr/>
                    <a:lstStyle/>
                    <a:p>
                      <a:pPr>
                        <a:buNone/>
                        <a:defRPr sz="1600" b="1">
                          <a:solidFill>
                            <a:schemeClr val="bg1"/>
                          </a:solidFill>
                        </a:defRPr>
                      </a:pPr>
                      <a:r>
                        <a:rPr sz="1600" b="0" i="0" u="none"/>
                        <a:t>Action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1</a:t>
                      </a:r>
                    </a:p>
                  </a:txBody>
                  <a:tcPr>
                    <a:solidFill>
                      <a:schemeClr val="accent4">
                        <a:lumMod val="20000"/>
                        <a:lumOff val="80000"/>
                      </a:schemeClr>
                    </a:solidFill>
                  </a:tcPr>
                </a:tc>
                <a:tc>
                  <a:txBody>
                    <a:bodyPr/>
                    <a:lstStyle/>
                    <a:p>
                      <a:pPr>
                        <a:buNone/>
                        <a:defRPr sz="1600" b="0">
                          <a:solidFill>
                            <a:schemeClr val="tx1"/>
                          </a:solidFill>
                        </a:defRPr>
                      </a:pPr>
                      <a:r>
                        <a:rPr sz="1600" b="0" i="0" u="none"/>
                        <a:t>Monthly Subscription Starts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2</a:t>
                      </a:r>
                    </a:p>
                  </a:txBody>
                  <a:tcPr>
                    <a:solidFill>
                      <a:schemeClr val="accent4">
                        <a:lumMod val="8000"/>
                        <a:lumOff val="92000"/>
                      </a:schemeClr>
                    </a:solidFill>
                  </a:tcPr>
                </a:tc>
                <a:tc>
                  <a:txBody>
                    <a:bodyPr/>
                    <a:lstStyle/>
                    <a:p>
                      <a:pPr>
                        <a:buNone/>
                        <a:defRPr sz="1600" b="0">
                          <a:solidFill>
                            <a:schemeClr val="tx1"/>
                          </a:solidFill>
                        </a:defRPr>
                      </a:pPr>
                      <a:r>
                        <a:rPr sz="1600" b="0" i="0" u="none"/>
                        <a:t>Base Credits Allocated + Flex Allowance = Total Available Credits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3</a:t>
                      </a:r>
                    </a:p>
                  </a:txBody>
                  <a:tcPr>
                    <a:solidFill>
                      <a:schemeClr val="accent4">
                        <a:lumMod val="20000"/>
                        <a:lumOff val="80000"/>
                      </a:schemeClr>
                    </a:solidFill>
                  </a:tcPr>
                </a:tc>
                <a:tc>
                  <a:txBody>
                    <a:bodyPr/>
                    <a:lstStyle/>
                    <a:p>
                      <a:pPr>
                        <a:buNone/>
                        <a:defRPr sz="1600" b="0">
                          <a:solidFill>
                            <a:schemeClr val="tx1"/>
                          </a:solidFill>
                        </a:defRPr>
                      </a:pPr>
                      <a:r>
                        <a:rPr sz="1600" b="0" i="0" u="none"/>
                        <a:t>Use Features That Consume Credits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4</a:t>
                      </a:r>
                    </a:p>
                  </a:txBody>
                  <a:tcPr>
                    <a:solidFill>
                      <a:schemeClr val="accent4">
                        <a:lumMod val="8000"/>
                        <a:lumOff val="92000"/>
                      </a:schemeClr>
                    </a:solidFill>
                  </a:tcPr>
                </a:tc>
                <a:tc>
                  <a:txBody>
                    <a:bodyPr/>
                    <a:lstStyle/>
                    <a:p>
                      <a:pPr>
                        <a:buNone/>
                        <a:defRPr sz="1600" b="0">
                          <a:solidFill>
                            <a:schemeClr val="tx1"/>
                          </a:solidFill>
                        </a:defRPr>
                      </a:pPr>
                      <a:r>
                        <a:rPr sz="1600" b="0" i="0" u="none"/>
                        <a:t>Month Ends → Unused Credits Reset</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Enterprise &amp; Business Plans</a:t>
            </a:r>
          </a:p>
        </p:txBody>
      </p:sp>
      <p:graphicFrame>
        <p:nvGraphicFramePr>
          <p:cNvPr id="3" name="Table 2"/>
          <p:cNvGraphicFramePr>
            <a:graphicFrameLocks noGrp="1"/>
          </p:cNvGraphicFramePr>
          <p:nvPr/>
        </p:nvGraphicFramePr>
        <p:xfrm>
          <a:off x="1219200" y="1828800"/>
          <a:ext cx="9753600" cy="13716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Plan</a:t>
                      </a:r>
                    </a:p>
                  </a:txBody>
                  <a:tcPr>
                    <a:solidFill>
                      <a:schemeClr val="accent4"/>
                    </a:solidFill>
                  </a:tcPr>
                </a:tc>
                <a:tc>
                  <a:txBody>
                    <a:bodyPr/>
                    <a:lstStyle/>
                    <a:p>
                      <a:pPr>
                        <a:buNone/>
                        <a:defRPr sz="1600" b="1">
                          <a:solidFill>
                            <a:schemeClr val="bg1"/>
                          </a:solidFill>
                        </a:defRPr>
                      </a:pPr>
                      <a:r>
                        <a:rPr sz="1600" b="0" i="0" u="none"/>
                        <a:t>Standard</a:t>
                      </a:r>
                    </a:p>
                  </a:txBody>
                  <a:tcPr>
                    <a:solidFill>
                      <a:schemeClr val="accent4"/>
                    </a:solidFill>
                  </a:tcPr>
                </a:tc>
                <a:tc>
                  <a:txBody>
                    <a:bodyPr/>
                    <a:lstStyle/>
                    <a:p>
                      <a:pPr>
                        <a:buNone/>
                        <a:defRPr sz="1600" b="1">
                          <a:solidFill>
                            <a:schemeClr val="bg1"/>
                          </a:solidFill>
                        </a:defRPr>
                      </a:pPr>
                      <a:r>
                        <a:rPr sz="1600" b="0" i="0" u="none"/>
                        <a:t>Promotional\*</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Copilot Business</a:t>
                      </a:r>
                    </a:p>
                  </a:txBody>
                  <a:tcPr>
                    <a:solidFill>
                      <a:schemeClr val="accent4">
                        <a:lumMod val="20000"/>
                        <a:lumOff val="80000"/>
                      </a:schemeClr>
                    </a:solidFill>
                  </a:tcPr>
                </a:tc>
                <a:tc>
                  <a:txBody>
                    <a:bodyPr/>
                    <a:lstStyle/>
                    <a:p>
                      <a:pPr>
                        <a:buNone/>
                        <a:defRPr sz="1600" b="0">
                          <a:solidFill>
                            <a:schemeClr val="tx1"/>
                          </a:solidFill>
                        </a:defRPr>
                      </a:pPr>
                      <a:r>
                        <a:rPr sz="1600" b="0" i="0" u="none"/>
                        <a:t>1,900</a:t>
                      </a:r>
                    </a:p>
                  </a:txBody>
                  <a:tcPr>
                    <a:solidFill>
                      <a:schemeClr val="accent4">
                        <a:lumMod val="20000"/>
                        <a:lumOff val="80000"/>
                      </a:schemeClr>
                    </a:solidFill>
                  </a:tcPr>
                </a:tc>
                <a:tc>
                  <a:txBody>
                    <a:bodyPr/>
                    <a:lstStyle/>
                    <a:p>
                      <a:pPr>
                        <a:buNone/>
                        <a:defRPr sz="1600" b="0">
                          <a:solidFill>
                            <a:schemeClr val="tx1"/>
                          </a:solidFill>
                        </a:defRPr>
                      </a:pPr>
                      <a:r>
                        <a:rPr sz="1600" b="0" i="0" u="none"/>
                        <a:t>3,000</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Copilot Enterprise</a:t>
                      </a:r>
                    </a:p>
                  </a:txBody>
                  <a:tcPr>
                    <a:solidFill>
                      <a:schemeClr val="accent4">
                        <a:lumMod val="8000"/>
                        <a:lumOff val="92000"/>
                      </a:schemeClr>
                    </a:solidFill>
                  </a:tcPr>
                </a:tc>
                <a:tc>
                  <a:txBody>
                    <a:bodyPr/>
                    <a:lstStyle/>
                    <a:p>
                      <a:pPr>
                        <a:buNone/>
                        <a:defRPr sz="1600" b="0">
                          <a:solidFill>
                            <a:schemeClr val="tx1"/>
                          </a:solidFill>
                        </a:defRPr>
                      </a:pPr>
                      <a:r>
                        <a:rPr sz="1600" b="0" i="0" u="none"/>
                        <a:t>3,900</a:t>
                      </a:r>
                    </a:p>
                  </a:txBody>
                  <a:tcPr>
                    <a:solidFill>
                      <a:schemeClr val="accent4">
                        <a:lumMod val="8000"/>
                        <a:lumOff val="92000"/>
                      </a:schemeClr>
                    </a:solidFill>
                  </a:tcPr>
                </a:tc>
                <a:tc>
                  <a:txBody>
                    <a:bodyPr/>
                    <a:lstStyle/>
                    <a:p>
                      <a:pPr>
                        <a:buNone/>
                        <a:defRPr sz="1600" b="0">
                          <a:solidFill>
                            <a:schemeClr val="tx1"/>
                          </a:solidFill>
                        </a:defRPr>
                      </a:pPr>
                      <a:r>
                        <a:rPr sz="1600" b="0" i="0" u="none"/>
                        <a:t>7,000</a:t>
                      </a:r>
                    </a:p>
                  </a:txBody>
                  <a:tcPr>
                    <a:solidFill>
                      <a:schemeClr val="accent4">
                        <a:lumMod val="8000"/>
                        <a:lumOff val="92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Enterprise &amp; Business: Pool Model</a:t>
            </a:r>
          </a:p>
        </p:txBody>
      </p:sp>
      <p:sp>
        <p:nvSpPr>
          <p:cNvPr id="3" name="Content Placeholder 2"/>
          <p:cNvSpPr>
            <a:spLocks noGrp="1"/>
          </p:cNvSpPr>
          <p:nvPr>
            <p:ph idx="1"/>
          </p:nvPr>
        </p:nvSpPr>
        <p:spPr/>
        <p:txBody>
          <a:bodyPr wrap="square">
            <a:normAutofit/>
          </a:bodyPr>
          <a:lstStyle/>
          <a:p>
            <a:pPr>
              <a:buNone/>
            </a:pPr>
            <a:r>
              <a:rPr sz="1650" b="1" i="0" u="none"/>
              <a:t>Shared Credit Pool</a:t>
            </a:r>
            <a:endParaRPr sz="1650" b="0" i="0">
              <a:latin typeface="Arial"/>
            </a:endParaRPr>
          </a:p>
          <a:p>
            <a:pPr>
              <a:buNone/>
            </a:pPr>
            <a:endParaRPr sz="1650" b="0" i="0">
              <a:latin typeface="Arial"/>
            </a:endParaRPr>
          </a:p>
          <a:p>
            <a:r>
              <a:rPr sz="1650" b="0" i="0" u="none"/>
              <a:t>Credits are </a:t>
            </a:r>
            <a:r>
              <a:rPr sz="1650" b="1" i="0" u="none"/>
              <a:t>pooled at the billing entity level</a:t>
            </a:r>
            <a:endParaRPr sz="1650" b="0" i="0">
              <a:latin typeface="Arial"/>
            </a:endParaRPr>
          </a:p>
          <a:p>
            <a:r>
              <a:rPr sz="1650" b="0" i="0" u="none"/>
              <a:t>Example: 100 Copilot Business licenses = 190,000 shared credits</a:t>
            </a:r>
            <a:endParaRPr sz="1650" b="0" i="0">
              <a:latin typeface="Arial"/>
            </a:endParaRPr>
          </a:p>
          <a:p>
            <a:pPr lvl="1"/>
            <a:r>
              <a:rPr sz="1650" b="0" i="0" u="none"/>
              <a:t>NOT 100 individual buckets</a:t>
            </a:r>
            <a:endParaRPr sz="1650" b="0" i="0">
              <a:latin typeface="Arial"/>
            </a:endParaRPr>
          </a:p>
          <a:p>
            <a:pPr lvl="1"/>
            <a:r>
              <a:rPr sz="1650" b="0" i="0" u="none"/>
              <a:t>Power users can draw more when needed</a:t>
            </a:r>
            <a:endParaRPr sz="1650" b="0" i="0">
              <a:latin typeface="Arial"/>
            </a:endParaRPr>
          </a:p>
          <a:p>
            <a:pPr lvl="1"/>
            <a:r>
              <a:rPr sz="1650" b="0" i="0" u="none"/>
              <a:t>Lighter users offset power user consumption</a:t>
            </a:r>
            <a:endParaRPr sz="1650" b="0" i="0">
              <a:latin typeface="Arial"/>
            </a:endParaRPr>
          </a:p>
          <a:p>
            <a:pPr>
              <a:buNone/>
            </a:pPr>
            <a:endParaRPr sz="1650" b="0" i="0">
              <a:latin typeface="Arial"/>
            </a:endParaRPr>
          </a:p>
          <a:p>
            <a:pPr>
              <a:buNone/>
            </a:pPr>
            <a:r>
              <a:rPr sz="1650" b="1" i="0" u="none"/>
              <a:t>License Changes</a:t>
            </a:r>
            <a:endParaRPr sz="1650" b="0" i="0">
              <a:latin typeface="Arial"/>
            </a:endParaRPr>
          </a:p>
          <a:p>
            <a:pPr>
              <a:buNone/>
            </a:pPr>
            <a:endParaRPr sz="1650" b="0" i="0">
              <a:latin typeface="Arial"/>
            </a:endParaRPr>
          </a:p>
          <a:p>
            <a:r>
              <a:rPr sz="1650" b="0" i="0" u="none"/>
              <a:t>✅ Add licenses mid-cycle → Pool increases immediately</a:t>
            </a:r>
            <a:endParaRPr sz="1650" b="0" i="0">
              <a:latin typeface="Arial"/>
            </a:endParaRPr>
          </a:p>
          <a:p>
            <a:r>
              <a:rPr sz="1650" b="0" i="0" u="none"/>
              <a:t>⚠️ Remove licenses mid-cycle → Decrease reflected at next cycle</a:t>
            </a:r>
            <a:endParaRPr sz="165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Cost Control: Budgets</a:t>
            </a:r>
          </a:p>
        </p:txBody>
      </p:sp>
      <p:sp>
        <p:nvSpPr>
          <p:cNvPr id="3" name="Content Placeholder 2"/>
          <p:cNvSpPr>
            <a:spLocks noGrp="1"/>
          </p:cNvSpPr>
          <p:nvPr>
            <p:ph idx="1"/>
          </p:nvPr>
        </p:nvSpPr>
        <p:spPr/>
        <p:txBody>
          <a:bodyPr wrap="square">
            <a:normAutofit/>
          </a:bodyPr>
          <a:lstStyle/>
          <a:p>
            <a:pPr>
              <a:buNone/>
            </a:pPr>
            <a:r>
              <a:rPr sz="1350" b="1" i="0" u="none"/>
              <a:t>Budget Levels (Organizations &amp; Enterprises)</a:t>
            </a:r>
            <a:endParaRPr sz="1350" b="0" i="0">
              <a:latin typeface="Arial"/>
            </a:endParaRPr>
          </a:p>
          <a:p>
            <a:pPr>
              <a:buNone/>
            </a:pPr>
            <a:endParaRPr sz="1350" b="0" i="0">
              <a:latin typeface="Arial"/>
            </a:endParaRPr>
          </a:p>
          <a:p>
            <a:pPr>
              <a:buNone/>
            </a:pPr>
            <a:r>
              <a:rPr sz="1350" b="0" i="0" u="none"/>
              <a:t>1. </a:t>
            </a:r>
            <a:r>
              <a:rPr sz="1350" b="1" i="0" u="none"/>
              <a:t>Enterprise-Level Budget</a:t>
            </a:r>
            <a:endParaRPr sz="1350" b="0" i="0">
              <a:latin typeface="Arial"/>
            </a:endParaRPr>
          </a:p>
          <a:p>
            <a:pPr lvl="1"/>
            <a:r>
              <a:rPr sz="1350" b="0" i="0" u="none"/>
              <a:t>Tracks all orgs, repos, cost centers</a:t>
            </a:r>
            <a:endParaRPr sz="1350" b="0" i="0">
              <a:latin typeface="Arial"/>
            </a:endParaRPr>
          </a:p>
          <a:p>
            <a:pPr>
              <a:buNone/>
            </a:pPr>
            <a:endParaRPr sz="1350" b="0" i="0">
              <a:latin typeface="Arial"/>
            </a:endParaRPr>
          </a:p>
          <a:p>
            <a:pPr>
              <a:buNone/>
            </a:pPr>
            <a:r>
              <a:rPr sz="1350" b="0" i="0" u="none"/>
              <a:t>2. </a:t>
            </a:r>
            <a:r>
              <a:rPr sz="1350" b="1" i="0" u="none"/>
              <a:t>Organization-Level Budget</a:t>
            </a:r>
            <a:endParaRPr sz="1350" b="0" i="0">
              <a:latin typeface="Arial"/>
            </a:endParaRPr>
          </a:p>
          <a:p>
            <a:pPr lvl="1"/>
            <a:r>
              <a:rPr sz="1350" b="0" i="0" u="none"/>
              <a:t>Tracks all repos in organization</a:t>
            </a:r>
            <a:endParaRPr sz="1350" b="0" i="0">
              <a:latin typeface="Arial"/>
            </a:endParaRPr>
          </a:p>
          <a:p>
            <a:pPr>
              <a:buNone/>
            </a:pPr>
            <a:endParaRPr sz="1350" b="0" i="0">
              <a:latin typeface="Arial"/>
            </a:endParaRPr>
          </a:p>
          <a:p>
            <a:pPr>
              <a:buNone/>
            </a:pPr>
            <a:r>
              <a:rPr sz="1350" b="0" i="0" u="none"/>
              <a:t>3. </a:t>
            </a:r>
            <a:r>
              <a:rPr sz="1350" b="1" i="0" u="none"/>
              <a:t>Cost-Center-Level Budget</a:t>
            </a:r>
            <a:endParaRPr sz="1350" b="0" i="0">
              <a:latin typeface="Arial"/>
            </a:endParaRPr>
          </a:p>
          <a:p>
            <a:pPr lvl="1"/>
            <a:r>
              <a:rPr sz="1350" b="0" i="0" u="none"/>
              <a:t>Tracks single cost center</a:t>
            </a:r>
            <a:endParaRPr sz="1350" b="0" i="0">
              <a:latin typeface="Arial"/>
            </a:endParaRPr>
          </a:p>
          <a:p>
            <a:pPr>
              <a:buNone/>
            </a:pPr>
            <a:endParaRPr sz="1350" b="0" i="0">
              <a:latin typeface="Arial"/>
            </a:endParaRPr>
          </a:p>
          <a:p>
            <a:pPr>
              <a:buNone/>
            </a:pPr>
            <a:r>
              <a:rPr sz="1350" b="0" i="0" u="none"/>
              <a:t>4. </a:t>
            </a:r>
            <a:r>
              <a:rPr sz="1350" b="1" i="0" u="none"/>
              <a:t>User-Level Budget</a:t>
            </a:r>
            <a:endParaRPr sz="1350" b="0" i="0">
              <a:latin typeface="Arial"/>
            </a:endParaRPr>
          </a:p>
          <a:p>
            <a:pPr lvl="1"/>
            <a:r>
              <a:rPr sz="1350" b="0" i="0" u="none"/>
              <a:t>Tracks individual users</a:t>
            </a:r>
            <a:endParaRPr sz="1350" b="0" i="0">
              <a:latin typeface="Arial"/>
            </a:endParaRPr>
          </a:p>
          <a:p>
            <a:pPr lvl="1"/>
            <a:r>
              <a:rPr sz="1350" b="0" i="0" u="none"/>
              <a:t>$0 budget = no access to Copilot</a:t>
            </a:r>
            <a:endParaRPr sz="135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Exceeding Your Allowance</a:t>
            </a:r>
          </a:p>
        </p:txBody>
      </p:sp>
      <p:sp>
        <p:nvSpPr>
          <p:cNvPr id="3" name="Content Placeholder 2"/>
          <p:cNvSpPr>
            <a:spLocks noGrp="1"/>
          </p:cNvSpPr>
          <p:nvPr>
            <p:ph idx="1"/>
          </p:nvPr>
        </p:nvSpPr>
        <p:spPr/>
        <p:txBody>
          <a:bodyPr wrap="square">
            <a:normAutofit/>
          </a:bodyPr>
          <a:lstStyle/>
          <a:p>
            <a:pPr>
              <a:buNone/>
            </a:pPr>
            <a:r>
              <a:rPr sz="1700" b="1" i="0" u="none"/>
              <a:t>Individual Plans</a:t>
            </a:r>
            <a:endParaRPr sz="1700" b="0" i="0">
              <a:latin typeface="Arial"/>
            </a:endParaRPr>
          </a:p>
          <a:p>
            <a:pPr>
              <a:buNone/>
            </a:pPr>
            <a:endParaRPr sz="1700" b="0" i="0">
              <a:latin typeface="Arial"/>
            </a:endParaRPr>
          </a:p>
          <a:p>
            <a:pPr>
              <a:buNone/>
            </a:pPr>
            <a:r>
              <a:rPr sz="1700" b="1" i="0" u="none"/>
              <a:t>When credits are exhausted, you can:</a:t>
            </a:r>
            <a:endParaRPr sz="1700" b="0" i="0">
              <a:latin typeface="Arial"/>
            </a:endParaRPr>
          </a:p>
          <a:p>
            <a:pPr>
              <a:buNone/>
            </a:pPr>
            <a:endParaRPr sz="1700" b="0" i="0">
              <a:latin typeface="Arial"/>
            </a:endParaRPr>
          </a:p>
          <a:p>
            <a:pPr>
              <a:buNone/>
            </a:pPr>
            <a:r>
              <a:rPr sz="1700" b="0" i="0" u="none"/>
              <a:t>1. </a:t>
            </a:r>
            <a:r>
              <a:rPr sz="1700" b="1" i="0" u="none"/>
              <a:t>Set an Additional Budget</a:t>
            </a:r>
            <a:endParaRPr sz="1700" b="0" i="0">
              <a:latin typeface="Arial"/>
            </a:endParaRPr>
          </a:p>
          <a:p>
            <a:pPr lvl="1"/>
            <a:r>
              <a:rPr sz="1700" b="0" i="0" u="none"/>
              <a:t>Choose a $ amount (e.g., $10)</a:t>
            </a:r>
            <a:endParaRPr sz="1700" b="0" i="0">
              <a:latin typeface="Arial"/>
            </a:endParaRPr>
          </a:p>
          <a:p>
            <a:pPr lvl="1"/>
            <a:r>
              <a:rPr sz="1700" b="0" i="0" u="none"/>
              <a:t>Continue using Copilot</a:t>
            </a:r>
            <a:endParaRPr sz="1700" b="0" i="0">
              <a:latin typeface="Arial"/>
            </a:endParaRPr>
          </a:p>
          <a:p>
            <a:pPr lvl="1"/>
            <a:r>
              <a:rPr sz="1700" b="0" i="0" u="none"/>
              <a:t>Charged at 1 credit = $0.01</a:t>
            </a:r>
            <a:endParaRPr sz="1700" b="0" i="0">
              <a:latin typeface="Arial"/>
            </a:endParaRPr>
          </a:p>
          <a:p>
            <a:pPr>
              <a:buNone/>
            </a:pPr>
            <a:endParaRPr sz="1700" b="0" i="0">
              <a:latin typeface="Arial"/>
            </a:endParaRPr>
          </a:p>
          <a:p>
            <a:pPr>
              <a:buNone/>
            </a:pPr>
            <a:r>
              <a:rPr sz="1700" b="0" i="0" u="none"/>
              <a:t>2. </a:t>
            </a:r>
            <a:r>
              <a:rPr sz="1700" b="1" i="0" u="none"/>
              <a:t>Wait for Reset</a:t>
            </a:r>
            <a:endParaRPr sz="1700" b="0" i="0">
              <a:latin typeface="Arial"/>
            </a:endParaRPr>
          </a:p>
          <a:p>
            <a:pPr lvl="1"/>
            <a:r>
              <a:rPr sz="1700" b="0" i="0" u="none"/>
              <a:t>Month ends → Credits refresh</a:t>
            </a:r>
            <a:endParaRPr sz="1700" b="0" i="0">
              <a:latin typeface="Arial"/>
            </a:endParaRPr>
          </a:p>
          <a:p>
            <a:pPr lvl="1"/>
            <a:r>
              <a:rPr sz="1700" b="0" i="0" u="none"/>
              <a:t>No additional charges</a:t>
            </a:r>
            <a:endParaRPr sz="17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Cost Management Tips</a:t>
            </a:r>
          </a:p>
        </p:txBody>
      </p:sp>
      <p:sp>
        <p:nvSpPr>
          <p:cNvPr id="3" name="Content Placeholder 2"/>
          <p:cNvSpPr>
            <a:spLocks noGrp="1"/>
          </p:cNvSpPr>
          <p:nvPr>
            <p:ph idx="1"/>
          </p:nvPr>
        </p:nvSpPr>
        <p:spPr/>
        <p:txBody>
          <a:bodyPr wrap="square">
            <a:normAutofit/>
          </a:bodyPr>
          <a:lstStyle/>
          <a:p>
            <a:pPr>
              <a:buNone/>
            </a:pPr>
            <a:r>
              <a:rPr sz="1200" b="1" i="0" u="none"/>
              <a:t>For Individuals</a:t>
            </a:r>
            <a:endParaRPr sz="1200" b="0" i="0">
              <a:latin typeface="Arial"/>
            </a:endParaRPr>
          </a:p>
          <a:p>
            <a:pPr>
              <a:buNone/>
            </a:pPr>
            <a:endParaRPr sz="1200" b="0" i="0">
              <a:latin typeface="Arial"/>
            </a:endParaRPr>
          </a:p>
          <a:p>
            <a:pPr>
              <a:buNone/>
            </a:pPr>
            <a:r>
              <a:rPr sz="1200" b="0" i="0" u="none"/>
              <a:t>1. Monitor your usage dashboard</a:t>
            </a:r>
            <a:endParaRPr sz="1200" b="0" i="0">
              <a:latin typeface="Arial"/>
            </a:endParaRPr>
          </a:p>
          <a:p>
            <a:pPr>
              <a:buNone/>
            </a:pPr>
            <a:r>
              <a:rPr sz="1200" b="0" i="0" u="none"/>
              <a:t>2. Set additional budgets to control overspend</a:t>
            </a:r>
            <a:endParaRPr sz="1200" b="0" i="0">
              <a:latin typeface="Arial"/>
            </a:endParaRPr>
          </a:p>
          <a:p>
            <a:pPr>
              <a:buNone/>
            </a:pPr>
            <a:r>
              <a:rPr sz="1200" b="0" i="0" u="none"/>
              <a:t>3. Consider switching to lighter models for routine tasks</a:t>
            </a:r>
            <a:endParaRPr sz="1200" b="0" i="0">
              <a:latin typeface="Arial"/>
            </a:endParaRPr>
          </a:p>
          <a:p>
            <a:pPr>
              <a:buNone/>
            </a:pPr>
            <a:r>
              <a:rPr sz="1200" b="0" i="0" u="none"/>
              <a:t>4. Use code completions (unlimited) for simple suggestions</a:t>
            </a:r>
            <a:endParaRPr sz="1200" b="0" i="0">
              <a:latin typeface="Arial"/>
            </a:endParaRPr>
          </a:p>
          <a:p>
            <a:pPr>
              <a:buNone/>
            </a:pPr>
            <a:endParaRPr sz="1200" b="0" i="0">
              <a:latin typeface="Arial"/>
            </a:endParaRPr>
          </a:p>
          <a:p>
            <a:pPr>
              <a:buNone/>
            </a:pPr>
            <a:r>
              <a:rPr sz="1200" b="1" i="0" u="none"/>
              <a:t>For Organizations</a:t>
            </a:r>
            <a:endParaRPr sz="1200" b="0" i="0">
              <a:latin typeface="Arial"/>
            </a:endParaRPr>
          </a:p>
          <a:p>
            <a:pPr>
              <a:buNone/>
            </a:pPr>
            <a:endParaRPr sz="1200" b="0" i="0">
              <a:latin typeface="Arial"/>
            </a:endParaRPr>
          </a:p>
          <a:p>
            <a:pPr>
              <a:buNone/>
            </a:pPr>
            <a:r>
              <a:rPr sz="1200" b="0" i="0" u="none"/>
              <a:t>1. Set enterprise/org-level budgets</a:t>
            </a:r>
            <a:endParaRPr sz="1200" b="0" i="0">
              <a:latin typeface="Arial"/>
            </a:endParaRPr>
          </a:p>
          <a:p>
            <a:pPr>
              <a:buNone/>
            </a:pPr>
            <a:r>
              <a:rPr sz="1200" b="0" i="0" u="none"/>
              <a:t>2. Implement cost-center budgets for chargeback</a:t>
            </a:r>
            <a:endParaRPr sz="1200" b="0" i="0">
              <a:latin typeface="Arial"/>
            </a:endParaRPr>
          </a:p>
          <a:p>
            <a:pPr>
              <a:buNone/>
            </a:pPr>
            <a:r>
              <a:rPr sz="1200" b="0" i="0" u="none"/>
              <a:t>3. Set user-level budgets for expense control</a:t>
            </a:r>
            <a:endParaRPr sz="1200" b="0" i="0">
              <a:latin typeface="Arial"/>
            </a:endParaRPr>
          </a:p>
          <a:p>
            <a:pPr>
              <a:buNone/>
            </a:pPr>
            <a:r>
              <a:rPr sz="1200" b="0" i="0" u="none"/>
              <a:t>4. Review model choices with teams</a:t>
            </a:r>
            <a:endParaRPr sz="1200" b="0" i="0">
              <a:latin typeface="Arial"/>
            </a:endParaRPr>
          </a:p>
          <a:p>
            <a:pPr>
              <a:buNone/>
            </a:pPr>
            <a:r>
              <a:rPr sz="1200" b="0" i="0" u="none"/>
              <a:t>5. Use pooled credit strategy effectively</a:t>
            </a:r>
            <a:endParaRPr sz="12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LLM</a:t>
            </a:r>
          </a:p>
          <a:p>
            <a:r>
              <a:rPr b="0" i="0" u="none"/>
              <a:t>Copilot for Teams</a:t>
            </a:r>
          </a:p>
          <a:p>
            <a:r>
              <a:rPr b="0" i="0" u="none"/>
              <a:t>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Large Language Models</a:t>
            </a:r>
          </a:p>
        </p:txBody>
      </p:sp>
      <p:sp>
        <p:nvSpPr>
          <p:cNvPr id="3" name="Subtitle 2"/>
          <p:cNvSpPr>
            <a:spLocks noGrp="1"/>
          </p:cNvSpPr>
          <p:nvPr>
            <p:ph type="subTitle" idx="1"/>
          </p:nvPr>
        </p:nvSpPr>
        <p:spPr/>
        <p:txBody>
          <a:bodyPr wrap="square">
            <a:normAutofit/>
          </a:bodyPr>
          <a:lstStyle/>
          <a:p>
            <a:pPr>
              <a:buNone/>
            </a:pPr>
            <a:r>
              <a:rPr b="0" i="0" u="none"/>
              <a:t>It's Not Magic. It's Calculus.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What Is a Large Language Model?</a:t>
            </a:r>
          </a:p>
        </p:txBody>
      </p:sp>
      <p:sp>
        <p:nvSpPr>
          <p:cNvPr id="3" name="Content Placeholder 2"/>
          <p:cNvSpPr>
            <a:spLocks noGrp="1"/>
          </p:cNvSpPr>
          <p:nvPr>
            <p:ph idx="1"/>
          </p:nvPr>
        </p:nvSpPr>
        <p:spPr/>
        <p:txBody>
          <a:bodyPr wrap="square">
            <a:normAutofit/>
          </a:bodyPr>
          <a:lstStyle/>
          <a:p>
            <a:pPr>
              <a:buNone/>
            </a:pPr>
            <a:r>
              <a:rPr sz="2250" b="0" i="1" u="none"/>
              <a:t>A statistical model trained to </a:t>
            </a:r>
            <a:r>
              <a:rPr sz="2250" b="1" i="1" u="none"/>
              <a:t>predict the next token</a:t>
            </a:r>
            <a:r>
              <a:rPr sz="2250" b="0" i="1" u="none"/>
              <a:t> given all preceding tokens.</a:t>
            </a:r>
            <a:endParaRPr sz="2250" b="0" i="0">
              <a:latin typeface="Arial"/>
            </a:endParaRPr>
          </a:p>
          <a:p>
            <a:pPr>
              <a:buNone/>
            </a:pPr>
            <a:endParaRPr sz="2250" b="0" i="0">
              <a:latin typeface="Arial"/>
            </a:endParaRPr>
          </a:p>
          <a:p>
            <a:r>
              <a:rPr sz="2250" b="0" i="0" u="none"/>
              <a:t>Trained on </a:t>
            </a:r>
            <a:r>
              <a:rPr sz="2250" b="1" i="0" u="none"/>
              <a:t>trillions of tokens</a:t>
            </a:r>
            <a:r>
              <a:rPr sz="2250" b="0" i="0" u="none"/>
              <a:t> of text (code, books, web pages)</a:t>
            </a:r>
            <a:endParaRPr sz="2250" b="0" i="0">
              <a:latin typeface="Arial"/>
            </a:endParaRPr>
          </a:p>
          <a:p>
            <a:r>
              <a:rPr sz="2250" b="0" i="0" u="none"/>
              <a:t>Learns </a:t>
            </a:r>
            <a:r>
              <a:rPr sz="2250" b="1" i="0" u="none"/>
              <a:t>patterns, relationships, and structure</a:t>
            </a:r>
            <a:r>
              <a:rPr sz="2250" b="0" i="0" u="none"/>
              <a:t> in language</a:t>
            </a:r>
            <a:endParaRPr sz="2250" b="0" i="0">
              <a:latin typeface="Arial"/>
            </a:endParaRPr>
          </a:p>
          <a:p>
            <a:r>
              <a:rPr sz="2250" b="0" i="0" u="none"/>
              <a:t>Not a database — it doesn't store facts, it learns </a:t>
            </a:r>
            <a:r>
              <a:rPr sz="2250" b="1" i="0" u="none"/>
              <a:t>weights</a:t>
            </a:r>
            <a:endParaRPr sz="2250" b="0" i="0">
              <a:latin typeface="Arial"/>
            </a:endParaRPr>
          </a:p>
          <a:p>
            <a:r>
              <a:rPr sz="2250" b="0" i="0" u="none"/>
              <a:t>Generates output one token at a time, probabilistically</a:t>
            </a:r>
            <a:endParaRPr sz="2250" b="0" i="0">
              <a:latin typeface="Arial"/>
            </a:endParaRPr>
          </a:p>
          <a:p>
            <a:pPr>
              <a:buNone/>
            </a:pPr>
            <a:endParaRPr sz="2250" b="0" i="0">
              <a:latin typeface="Arial"/>
            </a:endParaRPr>
          </a:p>
          <a:p>
            <a:pPr>
              <a:buNone/>
            </a:pPr>
            <a:r>
              <a:rPr sz="2250" b="1" i="0" u="none"/>
              <a:t>Key insight</a:t>
            </a:r>
            <a:endParaRPr sz="2250" b="0" i="0">
              <a:latin typeface="Arial"/>
            </a:endParaRPr>
          </a:p>
          <a:p>
            <a:pPr>
              <a:buNone/>
            </a:pPr>
            <a:r>
              <a:rPr sz="2250" b="0" i="1" u="none"/>
              <a:t>LLMs don't "know" things — they learn what text tends to follow other text.</a:t>
            </a:r>
            <a:endParaRPr sz="225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Tokenization — Breaking Text Apart</a:t>
            </a:r>
          </a:p>
        </p:txBody>
      </p:sp>
      <p:sp>
        <p:nvSpPr>
          <p:cNvPr id="3" name="Content Placeholder 2"/>
          <p:cNvSpPr>
            <a:spLocks noGrp="1"/>
          </p:cNvSpPr>
          <p:nvPr>
            <p:ph idx="1"/>
          </p:nvPr>
        </p:nvSpPr>
        <p:spPr/>
        <p:txBody>
          <a:bodyPr wrap="square">
            <a:normAutofit/>
          </a:bodyPr>
          <a:lstStyle/>
          <a:p>
            <a:pPr>
              <a:buNone/>
            </a:pPr>
            <a:r>
              <a:rPr sz="1350" b="0" i="0" u="none"/>
              <a:t>Text → Numbers (before the model sees anything)</a:t>
            </a:r>
            <a:endParaRPr sz="1350" b="0" i="0">
              <a:latin typeface="Consolas"/>
            </a:endParaRPr>
          </a:p>
          <a:p>
            <a:pPr>
              <a:buNone/>
            </a:pPr>
            <a:endParaRPr sz="1350" b="0" i="0">
              <a:latin typeface="Consolas"/>
            </a:endParaRPr>
          </a:p>
          <a:p>
            <a:pPr>
              <a:buNone/>
            </a:pPr>
            <a:r>
              <a:rPr sz="1350">
                <a:latin typeface="Consolas"/>
              </a:rPr>
              <a:t>Input:  "Hello, world!"</a:t>
            </a:r>
            <a:endParaRPr sz="1350" b="0" i="0">
              <a:latin typeface="Consolas"/>
            </a:endParaRPr>
          </a:p>
          <a:p>
            <a:pPr>
              <a:buNone/>
            </a:pPr>
            <a:r>
              <a:rPr sz="1350">
                <a:latin typeface="Consolas"/>
              </a:rPr>
              <a:t>Tokens: ["Hello", ",", " world", "!"]</a:t>
            </a:r>
            <a:endParaRPr sz="1350" b="0" i="0">
              <a:latin typeface="Consolas"/>
            </a:endParaRPr>
          </a:p>
          <a:p>
            <a:pPr>
              <a:buNone/>
            </a:pPr>
            <a:r>
              <a:rPr sz="1350">
                <a:latin typeface="Consolas"/>
              </a:rPr>
              <a:t>IDs:    [15496, 11, 995, 0]</a:t>
            </a:r>
            <a:endParaRPr sz="1350" b="0" i="0">
              <a:latin typeface="Consolas"/>
            </a:endParaRPr>
          </a:p>
          <a:p>
            <a:pPr>
              <a:buNone/>
            </a:pPr>
            <a:endParaRPr sz="1350" b="0" i="0">
              <a:latin typeface="Consolas"/>
            </a:endParaRPr>
          </a:p>
          <a:p>
            <a:pPr>
              <a:buNone/>
            </a:pPr>
            <a:r>
              <a:rPr sz="1350">
                <a:latin typeface="Consolas"/>
              </a:rPr>
              <a:t>Input:  "def calculate_tax(income):"</a:t>
            </a:r>
            <a:endParaRPr sz="1350" b="0" i="0">
              <a:latin typeface="Consolas"/>
            </a:endParaRPr>
          </a:p>
          <a:p>
            <a:pPr>
              <a:buNone/>
            </a:pPr>
            <a:r>
              <a:rPr sz="1350">
                <a:latin typeface="Consolas"/>
              </a:rPr>
              <a:t>Tokens: ["def", " calculate", "_tax", "(", "income", "):"]</a:t>
            </a:r>
            <a:endParaRPr sz="1350" b="0" i="0">
              <a:latin typeface="Consolas"/>
            </a:endParaRPr>
          </a:p>
          <a:p>
            <a:pPr>
              <a:buNone/>
            </a:pPr>
            <a:endParaRPr sz="1350" b="0" i="0">
              <a:latin typeface="Consolas"/>
            </a:endParaRPr>
          </a:p>
          <a:p>
            <a:r>
              <a:rPr sz="1350" b="0" i="0" u="none"/>
              <a:t>A </a:t>
            </a:r>
            <a:r>
              <a:rPr sz="1350" b="1" i="0" u="none"/>
              <a:t>token</a:t>
            </a:r>
            <a:r>
              <a:rPr sz="1350" b="0" i="0" u="none"/>
              <a:t> ≈ ~4 characters or ¾ of a word on average</a:t>
            </a:r>
            <a:endParaRPr sz="1350" b="0" i="0">
              <a:latin typeface="Consolas"/>
            </a:endParaRPr>
          </a:p>
          <a:p>
            <a:r>
              <a:rPr sz="1350" b="0" i="0" u="none"/>
              <a:t>The model only ever sees </a:t>
            </a:r>
            <a:r>
              <a:rPr sz="1350" b="1" i="0" u="none"/>
              <a:t>token IDs</a:t>
            </a:r>
            <a:r>
              <a:rPr sz="1350" b="0" i="0" u="none"/>
              <a:t>, never raw text</a:t>
            </a:r>
            <a:endParaRPr sz="1350" b="0" i="0">
              <a:latin typeface="Consolas"/>
            </a:endParaRPr>
          </a:p>
          <a:p>
            <a:r>
              <a:rPr sz="1350" b="0" i="0" u="none"/>
              <a:t>Tokenization affects </a:t>
            </a:r>
            <a:r>
              <a:rPr sz="1350" b="1" i="0" u="none"/>
              <a:t>cost</a:t>
            </a:r>
            <a:r>
              <a:rPr sz="1350" b="0" i="0" u="none"/>
              <a:t>, </a:t>
            </a:r>
            <a:r>
              <a:rPr sz="1350" b="1" i="0" u="none"/>
              <a:t>context limits</a:t>
            </a:r>
            <a:r>
              <a:rPr sz="1350" b="0" i="0" u="none"/>
              <a:t>, and </a:t>
            </a:r>
            <a:r>
              <a:rPr sz="1350" b="1" i="0" u="none"/>
              <a:t>model behavior</a:t>
            </a:r>
            <a:endParaRPr sz="1350" b="0" i="0">
              <a:latin typeface="Consolas"/>
            </a:endParaRPr>
          </a:p>
          <a:p>
            <a:r>
              <a:rPr sz="1350" b="0" i="0" u="none"/>
              <a:t>Rare words split into multiple tokens → less efficient</a:t>
            </a:r>
            <a:endParaRPr sz="1350" b="0" i="0">
              <a:latin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Transformer Architecture</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pPr>
              <a:buNone/>
            </a:pPr>
            <a:r>
              <a:rPr sz="1400" b="0" i="1" u="none"/>
              <a:t>The breakthrough that made modern LLMs possible (2017)</a:t>
            </a:r>
            <a:endParaRPr sz="2800" b="0" i="0">
              <a:latin typeface="Arial"/>
            </a:endParaRPr>
          </a:p>
          <a:p>
            <a:pPr>
              <a:buNone/>
            </a:pPr>
            <a:endParaRPr sz="2800" b="0" i="0">
              <a:latin typeface="Arial"/>
            </a:endParaRPr>
          </a:p>
          <a:p>
            <a:r>
              <a:rPr sz="1400" b="1" i="0" u="none"/>
              <a:t>Self-attention</a:t>
            </a:r>
            <a:r>
              <a:rPr sz="1400" b="0" i="0" u="none"/>
              <a:t> lets every token "look at" every other token</a:t>
            </a:r>
            <a:endParaRPr sz="2800" b="0" i="0">
              <a:latin typeface="Arial"/>
            </a:endParaRPr>
          </a:p>
          <a:p>
            <a:r>
              <a:rPr sz="1400" b="0" i="0" u="none"/>
              <a:t>Processes the </a:t>
            </a:r>
            <a:r>
              <a:rPr sz="1400" b="1" i="0" u="none"/>
              <a:t>entire context window at once</a:t>
            </a:r>
            <a:r>
              <a:rPr sz="1400" b="0" i="0" u="none"/>
              <a:t> (not word-by-word)</a:t>
            </a:r>
            <a:endParaRPr sz="2800" b="0" i="0">
              <a:latin typeface="Arial"/>
            </a:endParaRPr>
          </a:p>
          <a:p>
            <a:r>
              <a:rPr sz="1400" b="0" i="0" u="none"/>
              <a:t>Stacked in </a:t>
            </a:r>
            <a:r>
              <a:rPr sz="1400" b="1" i="0" u="none"/>
              <a:t>layers</a:t>
            </a:r>
            <a:r>
              <a:rPr sz="1400" b="0" i="0" u="none"/>
              <a:t> — deeper = richer understanding</a:t>
            </a:r>
            <a:endParaRPr sz="2800" b="0" i="0">
              <a:latin typeface="Arial"/>
            </a:endParaRPr>
          </a:p>
        </p:txBody>
      </p:sp>
      <p:pic>
        <p:nvPicPr>
          <p:cNvPr id="5" name="Picture 4" descr="667fde2c35ed4a2ae1af897758587bb4ea521cf7.png"/>
          <p:cNvPicPr>
            <a:picLocks noChangeAspect="1"/>
          </p:cNvPicPr>
          <p:nvPr/>
        </p:nvPicPr>
        <p:blipFill>
          <a:blip r:embed="rId3"/>
          <a:stretch>
            <a:fillRect/>
          </a:stretch>
        </p:blipFill>
        <p:spPr>
          <a:xfrm>
            <a:off x="2675066" y="1509472"/>
            <a:ext cx="1507868" cy="425989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Self-Attention — The Core Idea</a:t>
            </a:r>
          </a:p>
        </p:txBody>
      </p:sp>
      <p:sp>
        <p:nvSpPr>
          <p:cNvPr id="3" name="Content Placeholder 2"/>
          <p:cNvSpPr>
            <a:spLocks noGrp="1"/>
          </p:cNvSpPr>
          <p:nvPr>
            <p:ph idx="1"/>
          </p:nvPr>
        </p:nvSpPr>
        <p:spPr/>
        <p:txBody>
          <a:bodyPr wrap="square">
            <a:normAutofit/>
          </a:bodyPr>
          <a:lstStyle/>
          <a:p>
            <a:pPr>
              <a:buNone/>
            </a:pPr>
            <a:r>
              <a:rPr sz="1200" b="1" i="0" u="none"/>
              <a:t>How the model decides what to focus on</a:t>
            </a:r>
            <a:endParaRPr sz="1200" b="0" i="0">
              <a:latin typeface="Consolas"/>
            </a:endParaRPr>
          </a:p>
          <a:p>
            <a:pPr>
              <a:buNone/>
            </a:pPr>
            <a:endParaRPr sz="1200" b="0" i="0">
              <a:latin typeface="Consolas"/>
            </a:endParaRPr>
          </a:p>
          <a:p>
            <a:pPr>
              <a:buNone/>
            </a:pPr>
            <a:r>
              <a:rPr sz="1200" b="1" i="1" u="none"/>
              <a:t>"The trophy didn't fit in the suitcase because it was too big."</a:t>
            </a:r>
            <a:endParaRPr sz="1200" b="0" i="0">
              <a:latin typeface="Consolas"/>
            </a:endParaRPr>
          </a:p>
          <a:p>
            <a:pPr>
              <a:buNone/>
            </a:pPr>
            <a:r>
              <a:rPr sz="1200" b="0" i="1" u="none"/>
              <a:t>What does "it" refer to?</a:t>
            </a:r>
            <a:endParaRPr sz="1200" b="0" i="0">
              <a:latin typeface="Consolas"/>
            </a:endParaRPr>
          </a:p>
          <a:p>
            <a:pPr>
              <a:buNone/>
            </a:pPr>
            <a:endParaRPr sz="1200" b="0" i="0">
              <a:latin typeface="Consolas"/>
            </a:endParaRPr>
          </a:p>
          <a:p>
            <a:r>
              <a:rPr sz="1200" b="0" i="0" u="none"/>
              <a:t>Each token computes </a:t>
            </a:r>
            <a:r>
              <a:rPr sz="1200" b="1" i="0" u="none"/>
              <a:t>Query</a:t>
            </a:r>
            <a:r>
              <a:rPr sz="1200" b="0" i="0" u="none"/>
              <a:t>, </a:t>
            </a:r>
            <a:r>
              <a:rPr sz="1200" b="1" i="0" u="none"/>
              <a:t>Key</a:t>
            </a:r>
            <a:r>
              <a:rPr sz="1200" b="0" i="0" u="none"/>
              <a:t>, and </a:t>
            </a:r>
            <a:r>
              <a:rPr sz="1200" b="1" i="0" u="none"/>
              <a:t>Value</a:t>
            </a:r>
            <a:r>
              <a:rPr sz="1200" b="0" i="0" u="none"/>
              <a:t> vectors</a:t>
            </a:r>
            <a:endParaRPr sz="1200" b="0" i="0">
              <a:latin typeface="Consolas"/>
            </a:endParaRPr>
          </a:p>
          <a:p>
            <a:r>
              <a:rPr sz="1200" b="0" i="0" u="none"/>
              <a:t>Attention score = how much each token should influence the current one</a:t>
            </a:r>
            <a:endParaRPr sz="1200" b="0" i="0">
              <a:latin typeface="Consolas"/>
            </a:endParaRPr>
          </a:p>
          <a:p>
            <a:r>
              <a:rPr sz="1200" b="0" i="0" u="none"/>
              <a:t>Model learns which relationships matter during training</a:t>
            </a:r>
            <a:endParaRPr sz="1200" b="0" i="0">
              <a:latin typeface="Consolas"/>
            </a:endParaRPr>
          </a:p>
          <a:p>
            <a:r>
              <a:rPr sz="1200" b="0" i="0" u="none"/>
              <a:t>Multiple </a:t>
            </a:r>
            <a:r>
              <a:rPr sz="1200" b="1" i="0" u="none"/>
              <a:t>attention heads</a:t>
            </a:r>
            <a:r>
              <a:rPr sz="1200" b="0" i="0" u="none"/>
              <a:t> capture different relationship types simultaneously</a:t>
            </a:r>
            <a:endParaRPr sz="1200" b="0" i="0">
              <a:latin typeface="Consolas"/>
            </a:endParaRPr>
          </a:p>
          <a:p>
            <a:pPr>
              <a:buNone/>
            </a:pPr>
            <a:endParaRPr sz="1200" b="0" i="0">
              <a:latin typeface="Consolas"/>
            </a:endParaRPr>
          </a:p>
          <a:p>
            <a:pPr>
              <a:buNone/>
            </a:pPr>
            <a:r>
              <a:rPr sz="1200" b="1" i="0" u="none"/>
              <a:t>In code:</a:t>
            </a:r>
            <a:endParaRPr sz="1200" b="0" i="0">
              <a:latin typeface="Consolas"/>
            </a:endParaRPr>
          </a:p>
          <a:p>
            <a:pPr>
              <a:buNone/>
            </a:pPr>
            <a:endParaRPr sz="1200" b="0" i="0">
              <a:latin typeface="Consolas"/>
            </a:endParaRPr>
          </a:p>
          <a:p>
            <a:pPr>
              <a:buNone/>
            </a:pPr>
            <a:r>
              <a:rPr sz="1200">
                <a:latin typeface="Consolas"/>
              </a:rPr>
              <a:t>"def process(data):"  →  model attends to "def" when predicting</a:t>
            </a:r>
            <a:endParaRPr sz="1200" b="0" i="0">
              <a:latin typeface="Consolas"/>
            </a:endParaRPr>
          </a:p>
          <a:p>
            <a:pPr>
              <a:buNone/>
            </a:pPr>
            <a:r>
              <a:rPr sz="1200">
                <a:latin typeface="Consolas"/>
              </a:rPr>
              <a:t>                          what comes after "(data):"</a:t>
            </a:r>
            <a:endParaRPr sz="1200" b="0" i="0">
              <a:latin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Training Phase 1: Pre-training</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r>
              <a:rPr sz="1400" b="0" i="0" u="none"/>
              <a:t>Months of training, millions of dollars in compute</a:t>
            </a:r>
            <a:endParaRPr sz="2800" b="0" i="0">
              <a:latin typeface="Arial"/>
            </a:endParaRPr>
          </a:p>
          <a:p>
            <a:r>
              <a:rPr sz="1400" b="0" i="0" u="none"/>
              <a:t>Produces a </a:t>
            </a:r>
            <a:r>
              <a:rPr sz="1400" b="1" i="0" u="none"/>
              <a:t>base model</a:t>
            </a:r>
            <a:r>
              <a:rPr sz="1400" b="0" i="0" u="none"/>
              <a:t> that completes text — but isn't yet "helpful"</a:t>
            </a:r>
            <a:endParaRPr sz="2800" b="0" i="0">
              <a:latin typeface="Arial"/>
            </a:endParaRPr>
          </a:p>
        </p:txBody>
      </p:sp>
      <p:pic>
        <p:nvPicPr>
          <p:cNvPr id="5" name="Picture 4" descr="99ce6fa559f947eb2b07bf992a2ba59cb98c4871.png"/>
          <p:cNvPicPr>
            <a:picLocks noChangeAspect="1"/>
          </p:cNvPicPr>
          <p:nvPr/>
        </p:nvPicPr>
        <p:blipFill>
          <a:blip r:embed="rId3"/>
          <a:stretch>
            <a:fillRect/>
          </a:stretch>
        </p:blipFill>
        <p:spPr>
          <a:xfrm>
            <a:off x="2677253" y="1509472"/>
            <a:ext cx="1503493" cy="42598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50" b="0" i="0" u="none"/>
              <a:t>Training - Phase 2: Fine-tuning &amp; Alignment</a:t>
            </a:r>
          </a:p>
        </p:txBody>
      </p:sp>
      <p:sp>
        <p:nvSpPr>
          <p:cNvPr id="3" name="Content Placeholder 2"/>
          <p:cNvSpPr>
            <a:spLocks noGrp="1"/>
          </p:cNvSpPr>
          <p:nvPr>
            <p:ph idx="1"/>
          </p:nvPr>
        </p:nvSpPr>
        <p:spPr/>
        <p:txBody>
          <a:bodyPr wrap="square">
            <a:normAutofit/>
          </a:bodyPr>
          <a:lstStyle/>
          <a:p>
            <a:pPr>
              <a:buNone/>
            </a:pPr>
            <a:r>
              <a:rPr sz="1350" b="1" i="0" u="none"/>
              <a:t>Supervised Fine-Tuning (SFT)</a:t>
            </a:r>
            <a:endParaRPr sz="1350" b="0" i="0">
              <a:latin typeface="Consolas"/>
            </a:endParaRPr>
          </a:p>
          <a:p>
            <a:r>
              <a:rPr sz="1350" b="0" i="0" u="none"/>
              <a:t>Train on curated prompt → ideal response pairs</a:t>
            </a:r>
            <a:endParaRPr sz="1350" b="0" i="0">
              <a:latin typeface="Consolas"/>
            </a:endParaRPr>
          </a:p>
          <a:p>
            <a:r>
              <a:rPr sz="1350" b="0" i="0" u="none"/>
              <a:t>Teaches the model to be helpful and follow instructions</a:t>
            </a:r>
            <a:endParaRPr sz="1350" b="0" i="0">
              <a:latin typeface="Consolas"/>
            </a:endParaRPr>
          </a:p>
          <a:p>
            <a:pPr>
              <a:buNone/>
            </a:pPr>
            <a:endParaRPr sz="1350" b="0" i="0">
              <a:latin typeface="Consolas"/>
            </a:endParaRPr>
          </a:p>
          <a:p>
            <a:pPr>
              <a:buNone/>
            </a:pPr>
            <a:r>
              <a:rPr sz="1350" b="1" i="0" u="none"/>
              <a:t>Reinforcement Learning from Human Feedback (RLHF)</a:t>
            </a:r>
            <a:endParaRPr sz="1350" b="0" i="0">
              <a:latin typeface="Consolas"/>
            </a:endParaRPr>
          </a:p>
          <a:p>
            <a:r>
              <a:rPr sz="1350" b="0" i="0" u="none"/>
              <a:t>Human raters rank model outputs</a:t>
            </a:r>
            <a:endParaRPr sz="1350" b="0" i="0">
              <a:latin typeface="Consolas"/>
            </a:endParaRPr>
          </a:p>
          <a:p>
            <a:r>
              <a:rPr sz="1350" b="0" i="0" u="none"/>
              <a:t>A reward model learns human preferences</a:t>
            </a:r>
            <a:endParaRPr sz="1350" b="0" i="0">
              <a:latin typeface="Consolas"/>
            </a:endParaRPr>
          </a:p>
          <a:p>
            <a:r>
              <a:rPr sz="1350" b="0" i="0" u="none"/>
              <a:t>The LLM is optimized to maximize reward score</a:t>
            </a:r>
            <a:endParaRPr sz="1350" b="0" i="0">
              <a:latin typeface="Consolas"/>
            </a:endParaRPr>
          </a:p>
          <a:p>
            <a:pPr>
              <a:buNone/>
            </a:pPr>
            <a:endParaRPr sz="1350" b="0" i="0">
              <a:latin typeface="Consolas"/>
            </a:endParaRPr>
          </a:p>
          <a:p>
            <a:pPr>
              <a:buNone/>
            </a:pPr>
            <a:r>
              <a:rPr sz="1350" b="1" i="0" u="none"/>
              <a:t>Result</a:t>
            </a:r>
            <a:r>
              <a:rPr sz="1350" b="0" i="0" u="none"/>
              <a:t>: A model that is helpful, harmless, and honest</a:t>
            </a:r>
            <a:endParaRPr sz="1350" b="0" i="0">
              <a:latin typeface="Consolas"/>
            </a:endParaRPr>
          </a:p>
          <a:p>
            <a:pPr>
              <a:buNone/>
            </a:pPr>
            <a:endParaRPr sz="1350" b="0" i="0">
              <a:latin typeface="Consolas"/>
            </a:endParaRPr>
          </a:p>
          <a:p>
            <a:pPr>
              <a:buNone/>
            </a:pPr>
            <a:r>
              <a:rPr sz="1350">
                <a:latin typeface="Consolas"/>
              </a:rPr>
              <a:t>Base model: "The capital of France is Paris. The capital of Spain is..."</a:t>
            </a:r>
            <a:endParaRPr sz="1350" b="0" i="0">
              <a:latin typeface="Consolas"/>
            </a:endParaRPr>
          </a:p>
          <a:p>
            <a:pPr>
              <a:buNone/>
            </a:pPr>
            <a:r>
              <a:rPr sz="1350">
                <a:latin typeface="Consolas"/>
              </a:rPr>
              <a:t>Aligned model: "The capital of France is Paris."  ← stops when done</a:t>
            </a:r>
            <a:endParaRPr sz="1350" b="0" i="0">
              <a:latin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Context Window — The Model's Working Memory</a:t>
            </a:r>
          </a:p>
        </p:txBody>
      </p:sp>
      <p:sp>
        <p:nvSpPr>
          <p:cNvPr id="3" name="Content Placeholder 2"/>
          <p:cNvSpPr>
            <a:spLocks noGrp="1"/>
          </p:cNvSpPr>
          <p:nvPr>
            <p:ph idx="1"/>
          </p:nvPr>
        </p:nvSpPr>
        <p:spPr/>
        <p:txBody>
          <a:bodyPr wrap="square">
            <a:normAutofit/>
          </a:bodyPr>
          <a:lstStyle/>
          <a:p>
            <a:r>
              <a:rPr sz="2800" b="0" i="0" u="none"/>
              <a:t>Everything the model "knows" during a conversation fits here</a:t>
            </a:r>
            <a:endParaRPr sz="2800" b="0" i="0">
              <a:latin typeface="Arial"/>
            </a:endParaRPr>
          </a:p>
          <a:p>
            <a:r>
              <a:rPr sz="2800" b="0" i="0" u="none"/>
              <a:t>Once exceeded, </a:t>
            </a:r>
            <a:r>
              <a:rPr sz="2800" b="1" i="0" u="none"/>
              <a:t>earlier content is forgotten</a:t>
            </a:r>
            <a:endParaRPr sz="2800" b="0" i="0">
              <a:latin typeface="Arial"/>
            </a:endParaRPr>
          </a:p>
          <a:p>
            <a:r>
              <a:rPr sz="2800" b="0" i="0" u="none"/>
              <a:t>GitHub Copilot uses the context window for: open files, cursor position, recent edits, instruction files</a:t>
            </a:r>
            <a:endParaRPr sz="2800" b="0" i="0">
              <a:latin typeface="Arial"/>
            </a:endParaRPr>
          </a:p>
          <a:p>
            <a:r>
              <a:rPr sz="2800" b="0" i="0" u="none"/>
              <a:t>Larger context = can see more code, but also slower &amp; more expensive</a:t>
            </a:r>
            <a:endParaRPr sz="280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Temperature &amp; Sampling</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Temperature</a:t>
                      </a:r>
                    </a:p>
                  </a:txBody>
                  <a:tcPr>
                    <a:solidFill>
                      <a:schemeClr val="accent4"/>
                    </a:solidFill>
                  </a:tcPr>
                </a:tc>
                <a:tc>
                  <a:txBody>
                    <a:bodyPr/>
                    <a:lstStyle/>
                    <a:p>
                      <a:pPr>
                        <a:buNone/>
                        <a:defRPr sz="1600" b="1">
                          <a:solidFill>
                            <a:schemeClr val="bg1"/>
                          </a:solidFill>
                        </a:defRPr>
                      </a:pPr>
                      <a:r>
                        <a:rPr sz="1600" b="0" i="0" u="none"/>
                        <a:t>Behavior</a:t>
                      </a:r>
                    </a:p>
                  </a:txBody>
                  <a:tcPr>
                    <a:solidFill>
                      <a:schemeClr val="accent4"/>
                    </a:solidFill>
                  </a:tcPr>
                </a:tc>
                <a:tc>
                  <a:txBody>
                    <a:bodyPr/>
                    <a:lstStyle/>
                    <a:p>
                      <a:pPr>
                        <a:buNone/>
                        <a:defRPr sz="1600" b="1">
                          <a:solidFill>
                            <a:schemeClr val="bg1"/>
                          </a:solidFill>
                        </a:defRPr>
                      </a:pPr>
                      <a:r>
                        <a:rPr sz="1600" b="0" i="0" u="none"/>
                        <a:t>Use case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0.0</a:t>
                      </a:r>
                    </a:p>
                  </a:txBody>
                  <a:tcPr>
                    <a:solidFill>
                      <a:schemeClr val="accent4">
                        <a:lumMod val="20000"/>
                        <a:lumOff val="80000"/>
                      </a:schemeClr>
                    </a:solidFill>
                  </a:tcPr>
                </a:tc>
                <a:tc>
                  <a:txBody>
                    <a:bodyPr/>
                    <a:lstStyle/>
                    <a:p>
                      <a:pPr>
                        <a:buNone/>
                        <a:defRPr sz="1600" b="0">
                          <a:solidFill>
                            <a:schemeClr val="tx1"/>
                          </a:solidFill>
                        </a:defRPr>
                      </a:pPr>
                      <a:r>
                        <a:rPr sz="1600" b="0" i="0" u="none"/>
                        <a:t>Always picks highest probability</a:t>
                      </a:r>
                    </a:p>
                  </a:txBody>
                  <a:tcPr>
                    <a:solidFill>
                      <a:schemeClr val="accent4">
                        <a:lumMod val="20000"/>
                        <a:lumOff val="80000"/>
                      </a:schemeClr>
                    </a:solidFill>
                  </a:tcPr>
                </a:tc>
                <a:tc>
                  <a:txBody>
                    <a:bodyPr/>
                    <a:lstStyle/>
                    <a:p>
                      <a:pPr>
                        <a:buNone/>
                        <a:defRPr sz="1600" b="0">
                          <a:solidFill>
                            <a:schemeClr val="tx1"/>
                          </a:solidFill>
                        </a:defRPr>
                      </a:pPr>
                      <a:r>
                        <a:rPr sz="1600" b="0" i="0" u="none"/>
                        <a:t>Deterministic code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0.3–0.5</a:t>
                      </a:r>
                    </a:p>
                  </a:txBody>
                  <a:tcPr>
                    <a:solidFill>
                      <a:schemeClr val="accent4">
                        <a:lumMod val="8000"/>
                        <a:lumOff val="92000"/>
                      </a:schemeClr>
                    </a:solidFill>
                  </a:tcPr>
                </a:tc>
                <a:tc>
                  <a:txBody>
                    <a:bodyPr/>
                    <a:lstStyle/>
                    <a:p>
                      <a:pPr>
                        <a:buNone/>
                        <a:defRPr sz="1600" b="0">
                          <a:solidFill>
                            <a:schemeClr val="tx1"/>
                          </a:solidFill>
                        </a:defRPr>
                      </a:pPr>
                      <a:r>
                        <a:rPr sz="1600" b="0" i="0" u="none"/>
                        <a:t>Mostly top tokens, some variety</a:t>
                      </a:r>
                    </a:p>
                  </a:txBody>
                  <a:tcPr>
                    <a:solidFill>
                      <a:schemeClr val="accent4">
                        <a:lumMod val="8000"/>
                        <a:lumOff val="92000"/>
                      </a:schemeClr>
                    </a:solidFill>
                  </a:tcPr>
                </a:tc>
                <a:tc>
                  <a:txBody>
                    <a:bodyPr/>
                    <a:lstStyle/>
                    <a:p>
                      <a:pPr>
                        <a:buNone/>
                        <a:defRPr sz="1600" b="0">
                          <a:solidFill>
                            <a:schemeClr val="tx1"/>
                          </a:solidFill>
                        </a:defRPr>
                      </a:pPr>
                      <a:r>
                        <a:rPr sz="1600" b="0" i="0" u="none"/>
                        <a:t>Code completion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0.7–1.0</a:t>
                      </a:r>
                    </a:p>
                  </a:txBody>
                  <a:tcPr>
                    <a:solidFill>
                      <a:schemeClr val="accent4">
                        <a:lumMod val="20000"/>
                        <a:lumOff val="80000"/>
                      </a:schemeClr>
                    </a:solidFill>
                  </a:tcPr>
                </a:tc>
                <a:tc>
                  <a:txBody>
                    <a:bodyPr/>
                    <a:lstStyle/>
                    <a:p>
                      <a:pPr>
                        <a:buNone/>
                        <a:defRPr sz="1600" b="0">
                          <a:solidFill>
                            <a:schemeClr val="tx1"/>
                          </a:solidFill>
                        </a:defRPr>
                      </a:pPr>
                      <a:r>
                        <a:rPr sz="1600" b="0" i="0" u="none"/>
                        <a:t>More creative, less predictable</a:t>
                      </a:r>
                    </a:p>
                  </a:txBody>
                  <a:tcPr>
                    <a:solidFill>
                      <a:schemeClr val="accent4">
                        <a:lumMod val="20000"/>
                        <a:lumOff val="80000"/>
                      </a:schemeClr>
                    </a:solidFill>
                  </a:tcPr>
                </a:tc>
                <a:tc>
                  <a:txBody>
                    <a:bodyPr/>
                    <a:lstStyle/>
                    <a:p>
                      <a:pPr>
                        <a:buNone/>
                        <a:defRPr sz="1600" b="0">
                          <a:solidFill>
                            <a:schemeClr val="tx1"/>
                          </a:solidFill>
                        </a:defRPr>
                      </a:pPr>
                      <a:r>
                        <a:rPr sz="1600" b="0" i="0" u="none"/>
                        <a:t>Brainstorming</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1" u="none"/>
                        <a:t>1.0</a:t>
                      </a:r>
                    </a:p>
                  </a:txBody>
                  <a:tcPr>
                    <a:solidFill>
                      <a:schemeClr val="accent4">
                        <a:lumMod val="8000"/>
                        <a:lumOff val="92000"/>
                      </a:schemeClr>
                    </a:solidFill>
                  </a:tcPr>
                </a:tc>
                <a:tc>
                  <a:txBody>
                    <a:bodyPr/>
                    <a:lstStyle/>
                    <a:p>
                      <a:pPr>
                        <a:buNone/>
                        <a:defRPr sz="1600" b="0">
                          <a:solidFill>
                            <a:schemeClr val="tx1"/>
                          </a:solidFill>
                        </a:defRPr>
                      </a:pPr>
                      <a:r>
                        <a:rPr sz="1600" b="0" i="0" u="none"/>
                        <a:t>Random / incoherent</a:t>
                      </a:r>
                    </a:p>
                  </a:txBody>
                  <a:tcPr>
                    <a:solidFill>
                      <a:schemeClr val="accent4">
                        <a:lumMod val="8000"/>
                        <a:lumOff val="92000"/>
                      </a:schemeClr>
                    </a:solidFill>
                  </a:tcPr>
                </a:tc>
                <a:tc>
                  <a:txBody>
                    <a:bodyPr/>
                    <a:lstStyle/>
                    <a:p>
                      <a:pPr>
                        <a:buNone/>
                        <a:defRPr sz="1600" b="0">
                          <a:solidFill>
                            <a:schemeClr val="tx1"/>
                          </a:solidFill>
                        </a:defRPr>
                      </a:pPr>
                      <a:r>
                        <a:rPr sz="1600" b="0" i="0" u="none"/>
                        <a:t>Rarely useful</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1" i="0" u="none"/>
              <a:t>▶ Copilot for Teams</a:t>
            </a:r>
          </a:p>
          <a:p>
            <a:r>
              <a:rPr b="0" i="0" u="none"/>
              <a:t>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for Teams</a:t>
            </a:r>
          </a:p>
        </p:txBody>
      </p:sp>
      <p:sp>
        <p:nvSpPr>
          <p:cNvPr id="3" name="Subtitle 2"/>
          <p:cNvSpPr>
            <a:spLocks noGrp="1"/>
          </p:cNvSpPr>
          <p:nvPr>
            <p:ph type="subTitle" idx="1"/>
          </p:nvPr>
        </p:nvSpPr>
        <p:spPr/>
        <p:txBody>
          <a:bodyPr wrap="square">
            <a:normAutofit/>
          </a:bodyPr>
          <a:lstStyle/>
          <a:p>
            <a:pPr>
              <a:buNone/>
            </a:pPr>
            <a:r>
              <a:rPr b="0" i="0" u="none"/>
              <a:t>Deploying AI Without Deploying Chaos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for Teams</a:t>
            </a:r>
          </a:p>
        </p:txBody>
      </p:sp>
      <p:sp>
        <p:nvSpPr>
          <p:cNvPr id="3" name="Content Placeholder 2"/>
          <p:cNvSpPr>
            <a:spLocks noGrp="1"/>
          </p:cNvSpPr>
          <p:nvPr>
            <p:ph idx="1"/>
          </p:nvPr>
        </p:nvSpPr>
        <p:spPr/>
        <p:txBody>
          <a:bodyPr wrap="square">
            <a:normAutofit/>
          </a:bodyPr>
          <a:lstStyle/>
          <a:p>
            <a:pPr>
              <a:buNone/>
            </a:pPr>
            <a:r>
              <a:rPr sz="2800" b="0" i="0" u="none"/>
              <a:t>Key Considerations for Adoption</a:t>
            </a:r>
            <a:endParaRPr sz="2800" b="0" i="0">
              <a:latin typeface="Arial"/>
            </a:endParaRPr>
          </a:p>
          <a:p>
            <a:pPr>
              <a:buNone/>
            </a:pPr>
            <a:endParaRPr sz="2800" b="0" i="0">
              <a:latin typeface="Arial"/>
            </a:endParaRPr>
          </a:p>
          <a:p>
            <a:pPr>
              <a:buNone/>
            </a:pPr>
            <a:r>
              <a:rPr sz="2800" b="0" i="1" u="none"/>
              <a:t>Empowering developers with AI while protecting your codebase</a:t>
            </a:r>
            <a:endParaRPr sz="280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Risks to Consider</a:t>
            </a:r>
          </a:p>
        </p:txBody>
      </p:sp>
      <p:sp>
        <p:nvSpPr>
          <p:cNvPr id="3" name="Content Placeholder 2"/>
          <p:cNvSpPr>
            <a:spLocks noGrp="1"/>
          </p:cNvSpPr>
          <p:nvPr>
            <p:ph idx="1"/>
          </p:nvPr>
        </p:nvSpPr>
        <p:spPr/>
        <p:txBody>
          <a:bodyPr wrap="square">
            <a:normAutofit/>
          </a:bodyPr>
          <a:lstStyle/>
          <a:p>
            <a:pPr>
              <a:buNone/>
            </a:pPr>
            <a:r>
              <a:rPr sz="2050" b="0" i="0" u="none"/>
              <a:t>IP Leakage Concerns</a:t>
            </a:r>
            <a:endParaRPr sz="2050" b="0" i="0">
              <a:latin typeface="Arial"/>
            </a:endParaRPr>
          </a:p>
          <a:p>
            <a:pPr lvl="1"/>
            <a:r>
              <a:rPr sz="2050" b="0" i="0" u="none"/>
              <a:t>Copilot may suggest code similar to public repositories</a:t>
            </a:r>
            <a:endParaRPr sz="2050" b="0" i="0">
              <a:latin typeface="Arial"/>
            </a:endParaRPr>
          </a:p>
          <a:p>
            <a:pPr lvl="1"/>
            <a:r>
              <a:rPr sz="2050" b="0" i="0" u="none"/>
              <a:t>Risk of inadvertently using copyrighted or licensed code</a:t>
            </a:r>
            <a:endParaRPr sz="2050" b="0" i="0">
              <a:latin typeface="Arial"/>
            </a:endParaRPr>
          </a:p>
          <a:p>
            <a:pPr lvl="1"/>
            <a:r>
              <a:rPr sz="2050" b="0" i="0" u="none"/>
              <a:t>Mitigation: Enable public code filters and review suggestions carefully</a:t>
            </a:r>
            <a:endParaRPr sz="2050" b="0" i="0">
              <a:latin typeface="Arial"/>
            </a:endParaRPr>
          </a:p>
          <a:p>
            <a:pPr>
              <a:buNone/>
            </a:pPr>
            <a:r>
              <a:rPr sz="2050" b="0" i="0" u="none"/>
              <a:t>Code Quality and Accuracy</a:t>
            </a:r>
            <a:endParaRPr sz="2050" b="0" i="0">
              <a:latin typeface="Arial"/>
            </a:endParaRPr>
          </a:p>
          <a:p>
            <a:pPr lvl="1"/>
            <a:r>
              <a:rPr sz="2050" b="0" i="0" u="none"/>
              <a:t>AI-generated code may contain bugs, inefficiencies, or security flaws</a:t>
            </a:r>
            <a:endParaRPr sz="2050" b="0" i="0">
              <a:latin typeface="Arial"/>
            </a:endParaRPr>
          </a:p>
          <a:p>
            <a:pPr lvl="1"/>
            <a:r>
              <a:rPr sz="2050" b="0" i="0" u="none"/>
              <a:t>Always validate and test before deployment</a:t>
            </a:r>
            <a:endParaRPr sz="2050" b="0" i="0">
              <a:latin typeface="Arial"/>
            </a:endParaRPr>
          </a:p>
          <a:p>
            <a:pPr lvl="1"/>
            <a:r>
              <a:rPr sz="2050" b="0" i="0" u="none"/>
              <a:t>Treat Copilot as a drafting tool, not a source of truth</a:t>
            </a:r>
            <a:endParaRPr sz="2050" b="0" i="0">
              <a:latin typeface="Arial"/>
            </a:endParaRPr>
          </a:p>
          <a:p>
            <a:pPr>
              <a:buNone/>
            </a:pPr>
            <a:r>
              <a:rPr sz="2050" b="0" i="0" u="none"/>
              <a:t>Developer Overreliance</a:t>
            </a:r>
            <a:endParaRPr sz="2050" b="0" i="0">
              <a:latin typeface="Arial"/>
            </a:endParaRPr>
          </a:p>
          <a:p>
            <a:pPr lvl="1"/>
            <a:r>
              <a:rPr sz="2050" b="0" i="0" u="none"/>
              <a:t>Risk of reduced understanding or critical thinking</a:t>
            </a:r>
            <a:endParaRPr sz="2050" b="0" i="0">
              <a:latin typeface="Arial"/>
            </a:endParaRPr>
          </a:p>
          <a:p>
            <a:pPr lvl="1"/>
            <a:r>
              <a:rPr sz="2050" b="0" i="0" u="none"/>
              <a:t>Encourage code reviews and pair programming to maintain rigor</a:t>
            </a:r>
            <a:endParaRPr sz="205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Governance and Compliance Risks</a:t>
            </a:r>
          </a:p>
        </p:txBody>
      </p:sp>
      <p:sp>
        <p:nvSpPr>
          <p:cNvPr id="3" name="Content Placeholder 2"/>
          <p:cNvSpPr>
            <a:spLocks noGrp="1"/>
          </p:cNvSpPr>
          <p:nvPr>
            <p:ph idx="1"/>
          </p:nvPr>
        </p:nvSpPr>
        <p:spPr/>
        <p:txBody>
          <a:bodyPr wrap="square">
            <a:normAutofit/>
          </a:bodyPr>
          <a:lstStyle/>
          <a:p>
            <a:pPr>
              <a:buNone/>
            </a:pPr>
            <a:r>
              <a:rPr sz="2150" b="0" i="0" u="none"/>
              <a:t>Regulatory Compliance</a:t>
            </a:r>
            <a:endParaRPr sz="2150" b="0" i="0">
              <a:latin typeface="Arial"/>
            </a:endParaRPr>
          </a:p>
          <a:p>
            <a:pPr lvl="1"/>
            <a:r>
              <a:rPr sz="2150" b="0" i="0" u="none"/>
              <a:t>Generated code may not meet industry-specific standards (e.g., HIPAA, PCI-DSS)</a:t>
            </a:r>
            <a:endParaRPr sz="2150" b="0" i="0">
              <a:latin typeface="Arial"/>
            </a:endParaRPr>
          </a:p>
          <a:p>
            <a:pPr lvl="1"/>
            <a:r>
              <a:rPr sz="2150" b="0" i="0" u="none"/>
              <a:t>Organizations must enforce coding policies and audits</a:t>
            </a:r>
            <a:endParaRPr sz="2150" b="0" i="0">
              <a:latin typeface="Arial"/>
            </a:endParaRPr>
          </a:p>
          <a:p>
            <a:pPr>
              <a:buNone/>
            </a:pPr>
            <a:r>
              <a:rPr sz="2150" b="0" i="0" u="none"/>
              <a:t>Data Privacy and Security</a:t>
            </a:r>
            <a:endParaRPr sz="2150" b="0" i="0">
              <a:latin typeface="Arial"/>
            </a:endParaRPr>
          </a:p>
          <a:p>
            <a:pPr lvl="1"/>
            <a:r>
              <a:rPr sz="2150" b="0" i="0" u="none"/>
              <a:t>Sensitive data should never be typed into prompts</a:t>
            </a:r>
            <a:endParaRPr sz="2150" b="0" i="0">
              <a:latin typeface="Arial"/>
            </a:endParaRPr>
          </a:p>
          <a:p>
            <a:pPr lvl="1"/>
            <a:r>
              <a:rPr sz="2150" b="0" i="0" u="none"/>
              <a:t>Use Copilot in secure environments with clear usage guidelines</a:t>
            </a:r>
            <a:endParaRPr sz="2150" b="0" i="0">
              <a:latin typeface="Arial"/>
            </a:endParaRPr>
          </a:p>
          <a:p>
            <a:pPr>
              <a:buNone/>
            </a:pPr>
            <a:r>
              <a:rPr sz="2150" b="0" i="0" u="none"/>
              <a:t>Licensing Ambiguity</a:t>
            </a:r>
            <a:endParaRPr sz="2150" b="0" i="0">
              <a:latin typeface="Arial"/>
            </a:endParaRPr>
          </a:p>
          <a:p>
            <a:pPr lvl="1"/>
            <a:r>
              <a:rPr sz="2150" b="0" i="0" u="none"/>
              <a:t>Copilot suggestions may resemble code under restrictive licenses</a:t>
            </a:r>
            <a:endParaRPr sz="2150" b="0" i="0">
              <a:latin typeface="Arial"/>
            </a:endParaRPr>
          </a:p>
          <a:p>
            <a:pPr lvl="1"/>
            <a:r>
              <a:rPr sz="2150" b="0" i="0" u="none"/>
              <a:t>Legal teams should define acceptable use policies and monitor compliance</a:t>
            </a:r>
            <a:endParaRPr sz="2150"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IP and Data Protection</a:t>
            </a:r>
          </a:p>
        </p:txBody>
      </p:sp>
      <p:sp>
        <p:nvSpPr>
          <p:cNvPr id="3" name="Content Placeholder 2"/>
          <p:cNvSpPr>
            <a:spLocks noGrp="1"/>
          </p:cNvSpPr>
          <p:nvPr>
            <p:ph idx="1"/>
          </p:nvPr>
        </p:nvSpPr>
        <p:spPr/>
        <p:txBody>
          <a:bodyPr wrap="square">
            <a:normAutofit/>
          </a:bodyPr>
          <a:lstStyle/>
          <a:p>
            <a:r>
              <a:rPr sz="2700" b="0" i="0" u="none"/>
              <a:t>Your code is not used to retrain the model (with Copilot for Business/Enterprise)</a:t>
            </a:r>
            <a:endParaRPr sz="2700" b="0" i="0">
              <a:latin typeface="Arial"/>
            </a:endParaRPr>
          </a:p>
          <a:p>
            <a:r>
              <a:rPr sz="2700" b="0" i="0" u="none"/>
              <a:t>Suggestions are generated locally — no code is shared unless feedback is submitted</a:t>
            </a:r>
            <a:endParaRPr sz="2700" b="0" i="0">
              <a:latin typeface="Arial"/>
            </a:endParaRPr>
          </a:p>
          <a:p>
            <a:r>
              <a:rPr sz="2700" b="0" i="0" u="none"/>
              <a:t>No leakage between users: your private code is not exposed to others</a:t>
            </a:r>
            <a:endParaRPr sz="2700" b="0" i="0">
              <a:latin typeface="Arial"/>
            </a:endParaRPr>
          </a:p>
          <a:p>
            <a:r>
              <a:rPr sz="2700" b="0" i="0" u="none"/>
              <a:t>Admins can disable suggestions matching public code for added safety</a:t>
            </a:r>
            <a:endParaRPr sz="2700" b="0" i="0">
              <a:latin typeface="Arial"/>
            </a:endParaRPr>
          </a:p>
          <a:p>
            <a:r>
              <a:rPr sz="2700" b="0" i="0" u="none"/>
              <a:t>In April 2026, GitHub made this opt-out</a:t>
            </a:r>
            <a:endParaRPr sz="270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Licensing and Legal Considerations</a:t>
            </a:r>
          </a:p>
        </p:txBody>
      </p:sp>
      <p:sp>
        <p:nvSpPr>
          <p:cNvPr id="3" name="Content Placeholder 2"/>
          <p:cNvSpPr>
            <a:spLocks noGrp="1"/>
          </p:cNvSpPr>
          <p:nvPr>
            <p:ph idx="1"/>
          </p:nvPr>
        </p:nvSpPr>
        <p:spPr/>
        <p:txBody>
          <a:bodyPr wrap="square">
            <a:normAutofit/>
          </a:bodyPr>
          <a:lstStyle/>
          <a:p>
            <a:r>
              <a:rPr sz="2800" b="0" i="0" u="none"/>
              <a:t>Copilot may suggest code similar to public repositories</a:t>
            </a:r>
            <a:endParaRPr sz="2800" b="0" i="0">
              <a:latin typeface="Arial"/>
            </a:endParaRPr>
          </a:p>
          <a:p>
            <a:r>
              <a:rPr sz="2800" b="0" i="0" u="none"/>
              <a:t>GitHub provides a filter to block matching public code</a:t>
            </a:r>
            <a:endParaRPr sz="2800" b="0" i="0">
              <a:latin typeface="Arial"/>
            </a:endParaRPr>
          </a:p>
          <a:p>
            <a:r>
              <a:rPr sz="2800" b="0" i="0" u="none"/>
              <a:t>Organizations should review Copilot's Terms of Service and Privacy Statement</a:t>
            </a:r>
            <a:endParaRPr sz="280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1" i="0" u="none"/>
              <a:t>▶ 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Safety Measures and Best Practices</a:t>
            </a:r>
          </a:p>
        </p:txBody>
      </p:sp>
      <p:sp>
        <p:nvSpPr>
          <p:cNvPr id="3" name="Subtitle 2"/>
          <p:cNvSpPr>
            <a:spLocks noGrp="1"/>
          </p:cNvSpPr>
          <p:nvPr>
            <p:ph type="subTitle" idx="1"/>
          </p:nvPr>
        </p:nvSpPr>
        <p:spPr/>
        <p:txBody>
          <a:bodyPr wrap="square">
            <a:normAutofit/>
          </a:bodyPr>
          <a:lstStyle/>
          <a:p>
            <a:pPr>
              <a:buNone/>
            </a:pPr>
            <a:r>
              <a:rPr sz="2200" b="0" i="0" u="none"/>
              <a:t>Code Review: The Last Line of Defense Against AI Overconfidence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Safety Measures &amp; Best Practices</a:t>
            </a:r>
          </a:p>
        </p:txBody>
      </p:sp>
      <p:sp>
        <p:nvSpPr>
          <p:cNvPr id="3" name="Content Placeholder 2"/>
          <p:cNvSpPr>
            <a:spLocks noGrp="1"/>
          </p:cNvSpPr>
          <p:nvPr>
            <p:ph idx="1"/>
          </p:nvPr>
        </p:nvSpPr>
        <p:spPr/>
        <p:txBody>
          <a:bodyPr wrap="square">
            <a:normAutofit/>
          </a:bodyPr>
          <a:lstStyle/>
          <a:p>
            <a:r>
              <a:rPr sz="2800" b="0" i="0" u="none"/>
              <a:t>Safety nets make AI acceleration safer</a:t>
            </a:r>
            <a:endParaRPr sz="2800" b="0" i="0">
              <a:latin typeface="Arial"/>
            </a:endParaRPr>
          </a:p>
          <a:p>
            <a:r>
              <a:rPr sz="2800" b="0" i="0" u="none"/>
              <a:t>Test quality matters more than raw coverage</a:t>
            </a:r>
            <a:endParaRPr sz="2800" b="0" i="0">
              <a:latin typeface="Arial"/>
            </a:endParaRPr>
          </a:p>
          <a:p>
            <a:r>
              <a:rPr sz="2800" b="0" i="0" u="none"/>
              <a:t>AI output must be reviewed like junior developer work</a:t>
            </a:r>
            <a:endParaRPr sz="2800" b="0" i="0">
              <a:latin typeface="Arial"/>
            </a:endParaRPr>
          </a:p>
          <a:p>
            <a:r>
              <a:rPr sz="2800" b="0" i="0" u="none"/>
              <a:t>Small, focused diffs are easier to trust</a:t>
            </a:r>
            <a:endParaRPr sz="2800" b="0" i="0">
              <a:latin typeface="Arial"/>
            </a:endParaRPr>
          </a:p>
          <a:p>
            <a:r>
              <a:rPr sz="2800" b="0" i="0" u="none"/>
              <a:t>Automation helps reviewers scale</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50" b="0" i="0" u="none"/>
              <a:t>Treat AI Like an Eager Knowledgeable Junior Developer</a:t>
            </a:r>
          </a:p>
        </p:txBody>
      </p:sp>
      <p:sp>
        <p:nvSpPr>
          <p:cNvPr id="3" name="Content Placeholder 2"/>
          <p:cNvSpPr>
            <a:spLocks noGrp="1"/>
          </p:cNvSpPr>
          <p:nvPr>
            <p:ph sz="half" idx="1"/>
          </p:nvPr>
        </p:nvSpPr>
        <p:spPr/>
        <p:txBody>
          <a:bodyPr wrap="square">
            <a:normAutofit/>
          </a:bodyPr>
          <a:lstStyle/>
          <a:p>
            <a:r>
              <a:rPr sz="1400" b="0" i="0" u="none"/>
              <a:t>AI can produce useful first drafts quickly</a:t>
            </a:r>
            <a:endParaRPr sz="2800" b="0" i="0">
              <a:latin typeface="Arial"/>
            </a:endParaRPr>
          </a:p>
          <a:p>
            <a:r>
              <a:rPr sz="1400" b="0" i="0" u="none"/>
              <a:t>It can also misunderstand requirements or context</a:t>
            </a:r>
            <a:endParaRPr sz="2800" b="0" i="0">
              <a:latin typeface="Arial"/>
            </a:endParaRPr>
          </a:p>
          <a:p>
            <a:r>
              <a:rPr sz="1400" b="0" i="0" u="none"/>
              <a:t>Humans remain accountable for correctness and intent</a:t>
            </a:r>
            <a:endParaRPr sz="2800" b="0" i="0">
              <a:latin typeface="Arial"/>
            </a:endParaRPr>
          </a:p>
          <a:p>
            <a:r>
              <a:rPr sz="1400" b="0" i="0" u="none"/>
              <a:t>Review every generated change before commit or merge</a:t>
            </a:r>
            <a:endParaRPr sz="2800" b="0" i="0">
              <a:latin typeface="Arial"/>
            </a:endParaRPr>
          </a:p>
          <a:p>
            <a:r>
              <a:rPr sz="1400" b="0" i="0" u="none"/>
              <a:t>Use AI for acceleration, not delegated judgment</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81a798a338e7eb28a4d0d756b247789d6cc66246.png"/>
          <p:cNvPicPr>
            <a:picLocks noChangeAspect="1"/>
          </p:cNvPicPr>
          <p:nvPr/>
        </p:nvPicPr>
        <p:blipFill>
          <a:blip r:embed="rId3"/>
          <a:stretch>
            <a:fillRect/>
          </a:stretch>
        </p:blipFill>
        <p:spPr>
          <a:xfrm>
            <a:off x="7649817" y="1509472"/>
            <a:ext cx="2226366" cy="425989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Keep Change Sets Small and Reviewable</a:t>
            </a:r>
          </a:p>
        </p:txBody>
      </p:sp>
      <p:sp>
        <p:nvSpPr>
          <p:cNvPr id="3" name="Content Placeholder 2"/>
          <p:cNvSpPr>
            <a:spLocks noGrp="1"/>
          </p:cNvSpPr>
          <p:nvPr>
            <p:ph idx="1"/>
          </p:nvPr>
        </p:nvSpPr>
        <p:spPr/>
        <p:txBody>
          <a:bodyPr wrap="square">
            <a:normAutofit/>
          </a:bodyPr>
          <a:lstStyle/>
          <a:p>
            <a:r>
              <a:rPr sz="2150" b="0" i="0" u="none"/>
              <a:t>Smaller diffs are easier to understand</a:t>
            </a:r>
            <a:endParaRPr sz="2150" b="0" i="0">
              <a:latin typeface="Arial"/>
            </a:endParaRPr>
          </a:p>
          <a:p>
            <a:r>
              <a:rPr sz="2150" b="0" i="0" u="none"/>
              <a:t>Reviewers spot risk faster in focused changes</a:t>
            </a:r>
            <a:endParaRPr sz="2150" b="0" i="0">
              <a:latin typeface="Arial"/>
            </a:endParaRPr>
          </a:p>
          <a:p>
            <a:r>
              <a:rPr sz="2150" b="0" i="0" u="none"/>
              <a:t>Rollback is simpler when scope is narrow</a:t>
            </a:r>
            <a:endParaRPr sz="2150" b="0" i="0">
              <a:latin typeface="Arial"/>
            </a:endParaRPr>
          </a:p>
          <a:p>
            <a:r>
              <a:rPr sz="2150" b="0" i="0" u="none"/>
              <a:t>Incremental delivery reduces blast radius</a:t>
            </a:r>
            <a:endParaRPr sz="2150" b="0" i="0">
              <a:latin typeface="Arial"/>
            </a:endParaRPr>
          </a:p>
          <a:p>
            <a:r>
              <a:rPr sz="2150" b="0" i="0" u="none"/>
              <a:t>Large AI-generated diffs hide subtle mistakes</a:t>
            </a:r>
            <a:endParaRPr sz="2150" b="0" i="0">
              <a:latin typeface="Arial"/>
            </a:endParaRPr>
          </a:p>
          <a:p>
            <a:pPr>
              <a:buNone/>
            </a:pPr>
            <a:endParaRPr sz="2150" b="0" i="0">
              <a:latin typeface="Arial"/>
            </a:endParaRPr>
          </a:p>
          <a:p>
            <a:pPr>
              <a:buNone/>
            </a:pPr>
            <a:r>
              <a:rPr sz="2150" b="1" i="0" u="none"/>
              <a:t>Good small-change patterns</a:t>
            </a:r>
            <a:endParaRPr sz="2150" b="0" i="0">
              <a:latin typeface="Arial"/>
            </a:endParaRPr>
          </a:p>
          <a:p>
            <a:pPr lvl="1">
              <a:buNone/>
            </a:pPr>
            <a:r>
              <a:rPr sz="2150" b="0" i="0" u="none"/>
              <a:t>  1. separate refactor from behavior change</a:t>
            </a:r>
            <a:endParaRPr sz="2150" b="0" i="0">
              <a:latin typeface="Arial"/>
            </a:endParaRPr>
          </a:p>
          <a:p>
            <a:pPr lvl="1">
              <a:buNone/>
            </a:pPr>
            <a:r>
              <a:rPr sz="2150" b="0" i="0" u="none"/>
              <a:t>  2. ship one concern per pull request</a:t>
            </a:r>
            <a:endParaRPr sz="2150" b="0" i="0">
              <a:latin typeface="Arial"/>
            </a:endParaRPr>
          </a:p>
          <a:p>
            <a:pPr lvl="1">
              <a:buNone/>
            </a:pPr>
            <a:r>
              <a:rPr sz="2150" b="0" i="0" u="none"/>
              <a:t>  3. keep cleanup close to the related feature</a:t>
            </a:r>
            <a:endParaRPr sz="2150" b="0" i="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Human Review + Automated Review Workflow</a:t>
            </a:r>
          </a:p>
        </p:txBody>
      </p:sp>
      <p:sp>
        <p:nvSpPr>
          <p:cNvPr id="3" name="Content Placeholder 2"/>
          <p:cNvSpPr>
            <a:spLocks noGrp="1"/>
          </p:cNvSpPr>
          <p:nvPr>
            <p:ph idx="1"/>
          </p:nvPr>
        </p:nvSpPr>
        <p:spPr/>
        <p:txBody>
          <a:bodyPr wrap="square">
            <a:normAutofit/>
          </a:bodyPr>
          <a:lstStyle/>
          <a:p>
            <a:r>
              <a:rPr sz="2450" b="0" i="0" u="none"/>
              <a:t>Use automation to surface risky files, missing tests, and policy gaps</a:t>
            </a:r>
            <a:endParaRPr sz="2450" b="0" i="0">
              <a:latin typeface="Arial"/>
            </a:endParaRPr>
          </a:p>
          <a:p>
            <a:r>
              <a:rPr sz="2450" b="0" i="0" u="none"/>
              <a:t>Use humans to judge correctness, intent, and business impact</a:t>
            </a:r>
            <a:endParaRPr sz="2450" b="0" i="0">
              <a:latin typeface="Arial"/>
            </a:endParaRPr>
          </a:p>
          <a:p>
            <a:r>
              <a:rPr sz="2450" b="0" i="0" u="none"/>
              <a:t>Azure DevOps MCP tools can help automate PR review workflows</a:t>
            </a:r>
            <a:endParaRPr sz="2450" b="0" i="0">
              <a:latin typeface="Arial"/>
            </a:endParaRPr>
          </a:p>
          <a:p>
            <a:r>
              <a:rPr sz="2450" b="0" i="0" u="none"/>
              <a:t>Automated comments are triage aids, not merge authority</a:t>
            </a:r>
            <a:endParaRPr sz="2450" b="0" i="0">
              <a:latin typeface="Arial"/>
            </a:endParaRPr>
          </a:p>
          <a:p>
            <a:r>
              <a:rPr sz="2450" b="0" i="0" u="none"/>
              <a:t>The best workflow combines speed, consistency, and accountability</a:t>
            </a:r>
            <a:endParaRPr sz="2450" b="0" i="0">
              <a:latin typeface="Arial"/>
            </a:endParaRPr>
          </a:p>
          <a:p>
            <a:pPr>
              <a:buNone/>
            </a:pPr>
            <a:endParaRPr sz="2450" b="0" i="0">
              <a:latin typeface="Arial"/>
            </a:endParaRPr>
          </a:p>
          <a:p>
            <a:pPr>
              <a:buNone/>
            </a:pPr>
            <a:r>
              <a:rPr sz="2450" b="1" i="0" u="none"/>
              <a:t>Suggested review split</a:t>
            </a:r>
            <a:endParaRPr sz="2450" b="0" i="0">
              <a:latin typeface="Arial"/>
            </a:endParaRPr>
          </a:p>
          <a:p>
            <a:pPr lvl="1"/>
            <a:r>
              <a:rPr sz="2450" b="1" i="0" u="none"/>
              <a:t>Automation</a:t>
            </a:r>
            <a:r>
              <a:rPr sz="2450" b="0" i="0" u="none"/>
              <a:t>: lint, tests, policy checks, review hints</a:t>
            </a:r>
            <a:endParaRPr sz="2450" b="0" i="0">
              <a:latin typeface="Arial"/>
            </a:endParaRPr>
          </a:p>
          <a:p>
            <a:pPr lvl="1"/>
            <a:r>
              <a:rPr sz="2450" b="1" i="0" u="none"/>
              <a:t>Human reviewers</a:t>
            </a:r>
            <a:r>
              <a:rPr sz="2450" b="0" i="0" u="none"/>
              <a:t>: architecture, behavior, domain correctness</a:t>
            </a:r>
            <a:endParaRPr sz="245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Practical Safety Checklist for AI-Assisted Changes</a:t>
            </a:r>
          </a:p>
        </p:txBody>
      </p:sp>
      <p:sp>
        <p:nvSpPr>
          <p:cNvPr id="3" name="Content Placeholder 2"/>
          <p:cNvSpPr>
            <a:spLocks noGrp="1"/>
          </p:cNvSpPr>
          <p:nvPr>
            <p:ph idx="1"/>
          </p:nvPr>
        </p:nvSpPr>
        <p:spPr/>
        <p:txBody>
          <a:bodyPr wrap="square">
            <a:normAutofit/>
          </a:bodyPr>
          <a:lstStyle/>
          <a:p>
            <a:r>
              <a:rPr sz="2450" b="0" i="0" u="none"/>
              <a:t>Review every AI-generated diff before commit</a:t>
            </a:r>
            <a:endParaRPr sz="2450" b="0" i="0">
              <a:latin typeface="Arial"/>
            </a:endParaRPr>
          </a:p>
          <a:p>
            <a:r>
              <a:rPr sz="2450" b="0" i="0" u="none"/>
              <a:t>Require tests, but evaluate their </a:t>
            </a:r>
            <a:r>
              <a:rPr sz="2450" b="1" i="0" u="none"/>
              <a:t>signal</a:t>
            </a:r>
            <a:r>
              <a:rPr sz="2450" b="0" i="0" u="none"/>
              <a:t>, not just count</a:t>
            </a:r>
            <a:endParaRPr sz="2450" b="0" i="0">
              <a:latin typeface="Arial"/>
            </a:endParaRPr>
          </a:p>
          <a:p>
            <a:r>
              <a:rPr sz="2450" b="0" i="0" u="none"/>
              <a:t>Keep pull requests focused and incremental</a:t>
            </a:r>
            <a:endParaRPr sz="2450" b="0" i="0">
              <a:latin typeface="Arial"/>
            </a:endParaRPr>
          </a:p>
          <a:p>
            <a:r>
              <a:rPr sz="2450" b="0" i="0" u="none"/>
              <a:t>Use automation to pre-screen issues for reviewers</a:t>
            </a:r>
            <a:endParaRPr sz="2450" b="0" i="0">
              <a:latin typeface="Arial"/>
            </a:endParaRPr>
          </a:p>
          <a:p>
            <a:r>
              <a:rPr sz="2450" b="0" i="0" u="none"/>
              <a:t>Clean up obsolete flags and dead paths intentionally</a:t>
            </a:r>
            <a:endParaRPr sz="2450" b="0" i="0">
              <a:latin typeface="Arial"/>
            </a:endParaRPr>
          </a:p>
          <a:p>
            <a:r>
              <a:rPr sz="2450" b="0" i="0" u="none"/>
              <a:t>Merge only when humans understand the change</a:t>
            </a:r>
            <a:endParaRPr sz="2450" b="0" i="0">
              <a:latin typeface="Arial"/>
            </a:endParaRPr>
          </a:p>
          <a:p>
            <a:pPr>
              <a:buNone/>
            </a:pPr>
            <a:endParaRPr sz="2450" b="0" i="0">
              <a:latin typeface="Arial"/>
            </a:endParaRPr>
          </a:p>
          <a:p>
            <a:pPr>
              <a:buNone/>
            </a:pPr>
            <a:r>
              <a:rPr sz="2450" b="1" i="0" u="none"/>
              <a:t>Bottom line:</a:t>
            </a:r>
            <a:r>
              <a:rPr sz="2450" b="0" i="0" u="none"/>
              <a:t> fast AI-assisted delivery still needs disciplined engineering.</a:t>
            </a:r>
            <a:endParaRPr sz="245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1" i="0" u="none"/>
              <a:t>▶ Models and Context</a:t>
            </a:r>
          </a:p>
          <a:p>
            <a:r>
              <a:rPr b="0" i="0" u="none"/>
              <a:t>Guardrails and Prompt Files</a:t>
            </a:r>
          </a:p>
          <a:p>
            <a:r>
              <a:rPr b="0" i="0" u="none"/>
              <a:t>AI Assisted Documentation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Model Selection and Comparison</a:t>
            </a:r>
          </a:p>
        </p:txBody>
      </p:sp>
      <p:sp>
        <p:nvSpPr>
          <p:cNvPr id="3" name="Subtitle 2"/>
          <p:cNvSpPr>
            <a:spLocks noGrp="1"/>
          </p:cNvSpPr>
          <p:nvPr>
            <p:ph type="subTitle" idx="1"/>
          </p:nvPr>
        </p:nvSpPr>
        <p:spPr/>
        <p:txBody>
          <a:bodyPr wrap="square">
            <a:normAutofit/>
          </a:bodyPr>
          <a:lstStyle/>
          <a:p>
            <a:pPr>
              <a:buNone/>
            </a:pPr>
            <a:r>
              <a:rPr b="0" i="0" u="none"/>
              <a:t>So Many Models, So Few Context Windows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Public Leaderboards</a:t>
            </a:r>
          </a:p>
        </p:txBody>
      </p:sp>
      <p:sp>
        <p:nvSpPr>
          <p:cNvPr id="3" name="Content Placeholder 2"/>
          <p:cNvSpPr>
            <a:spLocks noGrp="1"/>
          </p:cNvSpPr>
          <p:nvPr>
            <p:ph idx="1"/>
          </p:nvPr>
        </p:nvSpPr>
        <p:spPr/>
        <p:txBody>
          <a:bodyPr wrap="square">
            <a:normAutofit/>
          </a:bodyPr>
          <a:lstStyle/>
          <a:p>
            <a:r>
              <a:rPr sz="2550" b="0" i="0" u="none"/>
              <a:t>Where to See Model-to-Model Comparisons</a:t>
            </a:r>
            <a:endParaRPr sz="2550" b="0" i="0">
              <a:latin typeface="Arial"/>
            </a:endParaRPr>
          </a:p>
          <a:p>
            <a:r>
              <a:rPr sz="2550" b="0" i="0" u="none"/>
              <a:t>LLM-Stats Coding Leaderboard</a:t>
            </a:r>
            <a:endParaRPr sz="2550" b="0" i="0">
              <a:latin typeface="Arial"/>
            </a:endParaRPr>
          </a:p>
          <a:p>
            <a:pPr lvl="1"/>
            <a:r>
              <a:rPr sz="2550" b="0" i="0" u="none"/>
              <a:t>Aggregates 20+ coding benchmarks</a:t>
            </a:r>
            <a:endParaRPr sz="2550" b="0" i="0">
              <a:latin typeface="Arial"/>
            </a:endParaRPr>
          </a:p>
          <a:p>
            <a:pPr lvl="1"/>
            <a:r>
              <a:rPr sz="2550" b="0" i="0" u="none"/>
              <a:t>Shows top performers across HumanEval, LiveCodeBench, etc.</a:t>
            </a:r>
            <a:endParaRPr sz="2550" b="0" i="0">
              <a:latin typeface="Arial"/>
            </a:endParaRPr>
          </a:p>
          <a:p>
            <a:r>
              <a:rPr sz="2550" b="0" i="0" u="none"/>
              <a:t>TechRadar's Coding LLM Guide</a:t>
            </a:r>
            <a:endParaRPr sz="2550" b="0" i="0">
              <a:latin typeface="Arial"/>
            </a:endParaRPr>
          </a:p>
          <a:p>
            <a:pPr lvl="1"/>
            <a:r>
              <a:rPr sz="2550" b="0" i="0" u="none"/>
              <a:t>Editorial comparison of strengths (debugging, test generation, etc.)</a:t>
            </a:r>
            <a:endParaRPr sz="2550" b="0" i="0">
              <a:latin typeface="Arial"/>
            </a:endParaRPr>
          </a:p>
          <a:p>
            <a:r>
              <a:rPr sz="2550" b="0" i="0" u="none"/>
              <a:t>Zencoder's 2026 Model Comparison</a:t>
            </a:r>
            <a:endParaRPr sz="2550" b="0" i="0">
              <a:latin typeface="Arial"/>
            </a:endParaRPr>
          </a:p>
          <a:p>
            <a:pPr lvl="1"/>
            <a:r>
              <a:rPr sz="2550" b="0" i="0" u="none"/>
              <a:t>Breaks down accuracy, reasoning, and context window-</a:t>
            </a:r>
            <a:endParaRPr sz="255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Benchmarks</a:t>
            </a:r>
          </a:p>
        </p:txBody>
      </p:sp>
      <p:sp>
        <p:nvSpPr>
          <p:cNvPr id="3" name="Content Placeholder 2"/>
          <p:cNvSpPr>
            <a:spLocks noGrp="1"/>
          </p:cNvSpPr>
          <p:nvPr>
            <p:ph idx="1"/>
          </p:nvPr>
        </p:nvSpPr>
        <p:spPr/>
        <p:txBody>
          <a:bodyPr wrap="square">
            <a:normAutofit/>
          </a:bodyPr>
          <a:lstStyle/>
          <a:p>
            <a:r>
              <a:rPr sz="1950" b="0" i="0" u="none"/>
              <a:t>What Models Are Actually Tested On</a:t>
            </a:r>
            <a:endParaRPr sz="1950" b="0" i="0">
              <a:latin typeface="Arial"/>
            </a:endParaRPr>
          </a:p>
          <a:p>
            <a:r>
              <a:rPr sz="1950" b="0" i="0" u="none"/>
              <a:t>HumanEval</a:t>
            </a:r>
            <a:endParaRPr sz="1950" b="0" i="0">
              <a:latin typeface="Arial"/>
            </a:endParaRPr>
          </a:p>
          <a:p>
            <a:pPr lvl="1"/>
            <a:r>
              <a:rPr sz="1950" b="0" i="0" u="none"/>
              <a:t>Classic functional-correctness benchmark for Python</a:t>
            </a:r>
            <a:endParaRPr sz="1950" b="0" i="0">
              <a:latin typeface="Arial"/>
            </a:endParaRPr>
          </a:p>
          <a:p>
            <a:r>
              <a:rPr sz="1950" b="0" i="0" u="none"/>
              <a:t>LiveCodeBench</a:t>
            </a:r>
            <a:endParaRPr sz="1950" b="0" i="0">
              <a:latin typeface="Arial"/>
            </a:endParaRPr>
          </a:p>
          <a:p>
            <a:pPr lvl="1"/>
            <a:r>
              <a:rPr sz="1950" b="0" i="0" u="none"/>
              <a:t>Contamination-free, holistic benchmark for modern LLMs</a:t>
            </a:r>
            <a:endParaRPr sz="1950" b="0" i="0">
              <a:latin typeface="Arial"/>
            </a:endParaRPr>
          </a:p>
          <a:p>
            <a:r>
              <a:rPr sz="1950" b="0" i="0" u="none"/>
              <a:t>MBPP (Mostly Basic Programming Problems)</a:t>
            </a:r>
            <a:endParaRPr sz="1950" b="0" i="0">
              <a:latin typeface="Arial"/>
            </a:endParaRPr>
          </a:p>
          <a:p>
            <a:pPr lvl="1"/>
            <a:r>
              <a:rPr sz="1950" b="0" i="0" u="none"/>
              <a:t>Simple algorithmic tasks across languages</a:t>
            </a:r>
            <a:endParaRPr sz="1950" b="0" i="0">
              <a:latin typeface="Arial"/>
            </a:endParaRPr>
          </a:p>
          <a:p>
            <a:r>
              <a:rPr sz="1950" b="0" i="0" u="none"/>
              <a:t>SWE-Bench</a:t>
            </a:r>
            <a:endParaRPr sz="1950" b="0" i="0">
              <a:latin typeface="Arial"/>
            </a:endParaRPr>
          </a:p>
          <a:p>
            <a:pPr lvl="1"/>
            <a:r>
              <a:rPr sz="1950" b="0" i="0" u="none"/>
              <a:t>Real-world GitHub issue resolution</a:t>
            </a:r>
            <a:endParaRPr sz="1950" b="0" i="0">
              <a:latin typeface="Arial"/>
            </a:endParaRPr>
          </a:p>
          <a:p>
            <a:r>
              <a:rPr sz="1950" b="0" i="0" u="none"/>
              <a:t>DevQualityEval</a:t>
            </a:r>
            <a:endParaRPr sz="1950" b="0" i="0">
              <a:latin typeface="Arial"/>
            </a:endParaRPr>
          </a:p>
          <a:p>
            <a:pPr lvl="1"/>
            <a:r>
              <a:rPr sz="1950" b="0" i="0" u="none"/>
              <a:t>Evaluates test generation for Java and Go</a:t>
            </a:r>
            <a:endParaRPr sz="195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Surveys &amp; Deep-Dive Research</a:t>
            </a:r>
          </a:p>
        </p:txBody>
      </p:sp>
      <p:sp>
        <p:nvSpPr>
          <p:cNvPr id="3" name="Content Placeholder 2"/>
          <p:cNvSpPr>
            <a:spLocks noGrp="1"/>
          </p:cNvSpPr>
          <p:nvPr>
            <p:ph idx="1"/>
          </p:nvPr>
        </p:nvSpPr>
        <p:spPr/>
        <p:txBody>
          <a:bodyPr wrap="square">
            <a:normAutofit/>
          </a:bodyPr>
          <a:lstStyle/>
          <a:p>
            <a:pPr>
              <a:buNone/>
            </a:pPr>
            <a:r>
              <a:rPr sz="2250" b="0" i="0" u="none"/>
              <a:t>Understanding the Landscape</a:t>
            </a:r>
            <a:endParaRPr sz="2250" b="0" i="0">
              <a:latin typeface="Arial"/>
            </a:endParaRPr>
          </a:p>
          <a:p>
            <a:pPr>
              <a:buNone/>
            </a:pPr>
            <a:endParaRPr sz="2250" b="0" i="0">
              <a:latin typeface="Arial"/>
            </a:endParaRPr>
          </a:p>
          <a:p>
            <a:r>
              <a:rPr sz="2250" b="0" i="0" u="none"/>
              <a:t>Academic Surveys (arXiv)</a:t>
            </a:r>
            <a:endParaRPr sz="2250" b="0" i="0">
              <a:latin typeface="Arial"/>
            </a:endParaRPr>
          </a:p>
          <a:p>
            <a:pPr lvl="1"/>
            <a:r>
              <a:rPr sz="2250" b="0" i="0" u="none"/>
              <a:t>Comprehensive overviews of techniques, benchmarks, and model families</a:t>
            </a:r>
            <a:endParaRPr sz="2250" b="0" i="0">
              <a:latin typeface="Arial"/>
            </a:endParaRPr>
          </a:p>
          <a:p>
            <a:r>
              <a:rPr sz="2250" b="0" i="0" u="none"/>
              <a:t>Benchmark Explainers (Vellum, Analytics Vidhya)</a:t>
            </a:r>
            <a:endParaRPr sz="2250" b="0" i="0">
              <a:latin typeface="Arial"/>
            </a:endParaRPr>
          </a:p>
          <a:p>
            <a:pPr lvl="1"/>
            <a:r>
              <a:rPr sz="2250" b="0" i="0" u="none"/>
              <a:t>Strengths and weaknesses of each benchmark</a:t>
            </a:r>
            <a:endParaRPr sz="2250" b="0" i="0">
              <a:latin typeface="Arial"/>
            </a:endParaRPr>
          </a:p>
          <a:p>
            <a:pPr lvl="1"/>
            <a:r>
              <a:rPr sz="2250" b="0" i="0" u="none"/>
              <a:t>How to interpret results</a:t>
            </a:r>
            <a:endParaRPr sz="2250" b="0" i="0">
              <a:latin typeface="Arial"/>
            </a:endParaRPr>
          </a:p>
          <a:p>
            <a:r>
              <a:rPr sz="2250" b="0" i="0" u="none"/>
              <a:t>Specialized Benchmarks</a:t>
            </a:r>
            <a:endParaRPr sz="2250" b="0" i="0">
              <a:latin typeface="Arial"/>
            </a:endParaRPr>
          </a:p>
          <a:p>
            <a:pPr lvl="1"/>
            <a:r>
              <a:rPr sz="2250" b="0" i="0" u="none"/>
              <a:t>SwiftEval, domain-specific coding evaluations, etc</a:t>
            </a:r>
            <a:endParaRPr sz="225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Evaluation Frameworks</a:t>
            </a:r>
          </a:p>
        </p:txBody>
      </p:sp>
      <p:sp>
        <p:nvSpPr>
          <p:cNvPr id="3" name="Content Placeholder 2"/>
          <p:cNvSpPr>
            <a:spLocks noGrp="1"/>
          </p:cNvSpPr>
          <p:nvPr>
            <p:ph idx="1"/>
          </p:nvPr>
        </p:nvSpPr>
        <p:spPr/>
        <p:txBody>
          <a:bodyPr wrap="square">
            <a:normAutofit/>
          </a:bodyPr>
          <a:lstStyle/>
          <a:p>
            <a:pPr>
              <a:buNone/>
            </a:pPr>
            <a:r>
              <a:rPr sz="2550" b="0" i="0" u="none"/>
              <a:t>Tools for Running Your Own Tests</a:t>
            </a:r>
            <a:endParaRPr sz="2550" b="0" i="0">
              <a:latin typeface="Arial"/>
            </a:endParaRPr>
          </a:p>
          <a:p>
            <a:pPr>
              <a:buNone/>
            </a:pPr>
            <a:endParaRPr sz="2550" b="0" i="0">
              <a:latin typeface="Arial"/>
            </a:endParaRPr>
          </a:p>
          <a:p>
            <a:r>
              <a:rPr sz="2550" b="0" i="0" u="none"/>
              <a:t>Symflower DevQualityEval</a:t>
            </a:r>
            <a:endParaRPr sz="2550" b="0" i="0">
              <a:latin typeface="Arial"/>
            </a:endParaRPr>
          </a:p>
          <a:p>
            <a:pPr lvl="1"/>
            <a:r>
              <a:rPr sz="2550" b="0" i="0" u="none"/>
              <a:t>Open-source framework for code and test generation evaluation</a:t>
            </a:r>
            <a:endParaRPr sz="2550" b="0" i="0">
              <a:latin typeface="Arial"/>
            </a:endParaRPr>
          </a:p>
          <a:p>
            <a:r>
              <a:rPr sz="2550" b="0" i="0" u="none"/>
              <a:t>CodeArena (HuggingFace)</a:t>
            </a:r>
            <a:endParaRPr sz="2550" b="0" i="0">
              <a:latin typeface="Arial"/>
            </a:endParaRPr>
          </a:p>
          <a:p>
            <a:pPr lvl="1"/>
            <a:r>
              <a:rPr sz="2550" b="0" i="0" u="none"/>
              <a:t>Collective evaluation platform for coding tasks</a:t>
            </a:r>
            <a:endParaRPr sz="2550" b="0" i="0">
              <a:latin typeface="Arial"/>
            </a:endParaRPr>
          </a:p>
          <a:p>
            <a:r>
              <a:rPr sz="2550" b="0" i="0" u="none"/>
              <a:t>Automatic Benchmark Generation Tools</a:t>
            </a:r>
            <a:endParaRPr sz="2550" b="0" i="0">
              <a:latin typeface="Arial"/>
            </a:endParaRPr>
          </a:p>
          <a:p>
            <a:pPr lvl="1"/>
            <a:r>
              <a:rPr sz="2550" b="0" i="0" u="none"/>
              <a:t>Research into LLM-generated benchmarks and judge reliability</a:t>
            </a:r>
            <a:endParaRPr sz="255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Advanced Context Techniques</a:t>
            </a:r>
          </a:p>
        </p:txBody>
      </p:sp>
      <p:sp>
        <p:nvSpPr>
          <p:cNvPr id="3" name="Subtitle 2"/>
          <p:cNvSpPr>
            <a:spLocks noGrp="1"/>
          </p:cNvSpPr>
          <p:nvPr>
            <p:ph type="subTitle" idx="1"/>
          </p:nvPr>
        </p:nvSpPr>
        <p:spPr/>
        <p:txBody>
          <a:bodyPr wrap="square">
            <a:normAutofit/>
          </a:bodyPr>
          <a:lstStyle/>
          <a:p>
            <a:pPr>
              <a:buNone/>
            </a:pPr>
            <a:r>
              <a:rPr b="0" i="0" u="none"/>
              <a:t>Garbage In, Hallucinations Out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Advanced Context Techniques</a:t>
            </a:r>
          </a:p>
        </p:txBody>
      </p:sp>
      <p:sp>
        <p:nvSpPr>
          <p:cNvPr id="3" name="Content Placeholder 2"/>
          <p:cNvSpPr>
            <a:spLocks noGrp="1"/>
          </p:cNvSpPr>
          <p:nvPr>
            <p:ph idx="1"/>
          </p:nvPr>
        </p:nvSpPr>
        <p:spPr/>
        <p:txBody>
          <a:bodyPr wrap="square">
            <a:normAutofit/>
          </a:bodyPr>
          <a:lstStyle/>
          <a:p>
            <a:r>
              <a:rPr sz="2800" b="0" i="0" u="none"/>
              <a:t>Modern AI tools rely heavily on context quality</a:t>
            </a:r>
            <a:endParaRPr sz="2800" b="0" i="0">
              <a:latin typeface="Arial"/>
            </a:endParaRPr>
          </a:p>
          <a:p>
            <a:r>
              <a:rPr sz="2800" b="0" i="0" u="none"/>
              <a:t>Developers can shape context intentionally</a:t>
            </a:r>
            <a:endParaRPr sz="2800" b="0" i="0">
              <a:latin typeface="Arial"/>
            </a:endParaRPr>
          </a:p>
          <a:p>
            <a:r>
              <a:rPr sz="2800" b="0" i="0" u="none"/>
              <a:t>Reduces hallucinations, drift, and rework</a:t>
            </a:r>
            <a:endParaRPr sz="2800" b="0" i="0">
              <a:latin typeface="Arial"/>
            </a:endParaRPr>
          </a:p>
          <a:p>
            <a:r>
              <a:rPr sz="2800" b="0" i="0" u="none"/>
              <a:t>Strong context discipline is a core AI-era skill</a:t>
            </a:r>
            <a:endParaRPr sz="2800" b="0" i="0">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File &amp; Folder Mentions (# Syntax)</a:t>
            </a:r>
          </a:p>
        </p:txBody>
      </p:sp>
      <p:sp>
        <p:nvSpPr>
          <p:cNvPr id="3" name="Content Placeholder 2"/>
          <p:cNvSpPr>
            <a:spLocks noGrp="1"/>
          </p:cNvSpPr>
          <p:nvPr>
            <p:ph idx="1"/>
          </p:nvPr>
        </p:nvSpPr>
        <p:spPr/>
        <p:txBody>
          <a:bodyPr wrap="square">
            <a:normAutofit/>
          </a:bodyPr>
          <a:lstStyle/>
          <a:p>
            <a:pPr>
              <a:buNone/>
            </a:pPr>
            <a:r>
              <a:rPr sz="1800" b="0" i="0" u="none"/>
              <a:t>How it helps</a:t>
            </a:r>
            <a:endParaRPr sz="1800" b="0" i="0">
              <a:latin typeface="Consolas"/>
            </a:endParaRPr>
          </a:p>
          <a:p>
            <a:r>
              <a:rPr sz="1800" b="0" i="0" u="none"/>
              <a:t>Explicitly pull files into context</a:t>
            </a:r>
            <a:endParaRPr sz="1800" b="0" i="0">
              <a:latin typeface="Consolas"/>
            </a:endParaRPr>
          </a:p>
          <a:p>
            <a:r>
              <a:rPr sz="1800" b="0" i="0" u="none"/>
              <a:t>Ensures the model references real code, not guesses</a:t>
            </a:r>
            <a:endParaRPr sz="1800" b="0" i="0">
              <a:latin typeface="Consolas"/>
            </a:endParaRPr>
          </a:p>
          <a:p>
            <a:r>
              <a:rPr sz="1800" b="0" i="0" u="none"/>
              <a:t>Supports cross-file refactoring and API consistency</a:t>
            </a:r>
            <a:endParaRPr sz="1800" b="0" i="0">
              <a:latin typeface="Consolas"/>
            </a:endParaRPr>
          </a:p>
          <a:p>
            <a:r>
              <a:rPr sz="1800" b="0" i="0" u="none"/>
              <a:t>Reduces drift in large repos</a:t>
            </a:r>
            <a:endParaRPr sz="1800" b="0" i="0">
              <a:latin typeface="Consolas"/>
            </a:endParaRPr>
          </a:p>
          <a:p>
            <a:pPr>
              <a:buNone/>
            </a:pPr>
            <a:endParaRPr sz="1800" b="0" i="0">
              <a:latin typeface="Consolas"/>
            </a:endParaRPr>
          </a:p>
          <a:p>
            <a:pPr>
              <a:buNone/>
            </a:pPr>
            <a:r>
              <a:rPr sz="1800" b="0" i="0" u="none"/>
              <a:t>Examples</a:t>
            </a:r>
            <a:endParaRPr sz="1800" b="0" i="0">
              <a:latin typeface="Consolas"/>
            </a:endParaRPr>
          </a:p>
          <a:p>
            <a:pPr>
              <a:buNone/>
            </a:pPr>
            <a:endParaRPr sz="1800" b="0" i="0">
              <a:latin typeface="Consolas"/>
            </a:endParaRPr>
          </a:p>
          <a:p>
            <a:pPr>
              <a:buNone/>
            </a:pPr>
            <a:r>
              <a:rPr sz="1800">
                <a:latin typeface="Consolas"/>
              </a:rPr>
              <a:t>#src/utils/date.ts</a:t>
            </a:r>
            <a:endParaRPr sz="1800" b="0" i="0">
              <a:latin typeface="Consolas"/>
            </a:endParaRPr>
          </a:p>
          <a:p>
            <a:pPr>
              <a:buNone/>
            </a:pPr>
            <a:r>
              <a:rPr sz="1800">
                <a:latin typeface="Consolas"/>
              </a:rPr>
              <a:t>#services/</a:t>
            </a:r>
            <a:endParaRPr sz="1800" b="0" i="0">
              <a:latin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Premium Usage Monitoring</a:t>
            </a:r>
          </a:p>
        </p:txBody>
      </p:sp>
      <p:sp>
        <p:nvSpPr>
          <p:cNvPr id="3" name="Content Placeholder 2"/>
          <p:cNvSpPr>
            <a:spLocks noGrp="1"/>
          </p:cNvSpPr>
          <p:nvPr>
            <p:ph idx="1"/>
          </p:nvPr>
        </p:nvSpPr>
        <p:spPr/>
        <p:txBody>
          <a:bodyPr wrap="square">
            <a:normAutofit/>
          </a:bodyPr>
          <a:lstStyle/>
          <a:p>
            <a:pPr>
              <a:buNone/>
            </a:pPr>
            <a:r>
              <a:rPr sz="2800" b="0" i="0" u="none"/>
              <a:t>High-end models = high reasoning cost</a:t>
            </a:r>
            <a:endParaRPr sz="2800" b="0" i="0">
              <a:latin typeface="Arial"/>
            </a:endParaRPr>
          </a:p>
          <a:p>
            <a:r>
              <a:rPr sz="2800" b="0" i="0" u="none"/>
              <a:t>Monitor usage patterns to avoid unnecessary calls</a:t>
            </a:r>
            <a:endParaRPr sz="2800" b="0" i="0">
              <a:latin typeface="Arial"/>
            </a:endParaRPr>
          </a:p>
          <a:p>
            <a:r>
              <a:rPr sz="2800" b="0" i="0" u="none"/>
              <a:t>Use a tiered strategy:</a:t>
            </a:r>
            <a:endParaRPr sz="2800" b="0" i="0">
              <a:latin typeface="Arial"/>
            </a:endParaRPr>
          </a:p>
          <a:p>
            <a:pPr lvl="1"/>
            <a:r>
              <a:rPr sz="2800" b="0" i="0" u="none"/>
              <a:t>Premium for architecture &amp; refactoring</a:t>
            </a:r>
            <a:endParaRPr sz="2800" b="0" i="0">
              <a:latin typeface="Arial"/>
            </a:endParaRPr>
          </a:p>
          <a:p>
            <a:pPr lvl="1"/>
            <a:r>
              <a:rPr sz="2800" b="0" i="0" u="none"/>
              <a:t>Mid-tier for implementation</a:t>
            </a:r>
            <a:endParaRPr sz="2800" b="0" i="0">
              <a:latin typeface="Arial"/>
            </a:endParaRPr>
          </a:p>
          <a:p>
            <a:pPr lvl="1"/>
            <a:r>
              <a:rPr sz="2800" b="0" i="0" u="none"/>
              <a:t>Lightweight for boilerplate</a:t>
            </a:r>
            <a:endParaRPr sz="2800" b="0" i="0">
              <a:latin typeface="Arial"/>
            </a:endParaRPr>
          </a:p>
          <a:p>
            <a:r>
              <a:rPr sz="2800" b="0" i="0" u="none"/>
              <a:t>Optimize prompts to reduce token consumption</a:t>
            </a:r>
            <a:endParaRPr sz="280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Token Limits Matter</a:t>
            </a:r>
          </a:p>
        </p:txBody>
      </p:sp>
      <p:sp>
        <p:nvSpPr>
          <p:cNvPr id="3" name="Content Placeholder 2"/>
          <p:cNvSpPr>
            <a:spLocks noGrp="1"/>
          </p:cNvSpPr>
          <p:nvPr>
            <p:ph idx="1"/>
          </p:nvPr>
        </p:nvSpPr>
        <p:spPr/>
        <p:txBody>
          <a:bodyPr wrap="square">
            <a:normAutofit/>
          </a:bodyPr>
          <a:lstStyle/>
          <a:p>
            <a:r>
              <a:rPr sz="2800" b="0" i="0" u="none"/>
              <a:t>Every model has a maximum context window</a:t>
            </a:r>
            <a:endParaRPr sz="2800" b="0" i="0">
              <a:latin typeface="Arial"/>
            </a:endParaRPr>
          </a:p>
          <a:p>
            <a:r>
              <a:rPr sz="2800" b="0" i="0" u="none"/>
              <a:t>Prompts, code, examples, and instructions all consume tokens</a:t>
            </a:r>
            <a:endParaRPr sz="2800" b="0" i="0">
              <a:latin typeface="Arial"/>
            </a:endParaRPr>
          </a:p>
          <a:p>
            <a:r>
              <a:rPr sz="2800" b="0" i="0" u="none"/>
              <a:t>Exceeding the limit forces the model to discard earlier content</a:t>
            </a:r>
            <a:endParaRPr sz="2800" b="0" i="0">
              <a:latin typeface="Arial"/>
            </a:endParaRPr>
          </a:p>
          <a:p>
            <a:r>
              <a:rPr sz="2800" b="0" i="0" u="none"/>
              <a:t>The model never alerts you when this happens</a:t>
            </a:r>
            <a:endParaRPr sz="28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Summaries</a:t>
            </a:r>
          </a:p>
        </p:txBody>
      </p:sp>
      <p:sp>
        <p:nvSpPr>
          <p:cNvPr id="3" name="Content Placeholder 2"/>
          <p:cNvSpPr>
            <a:spLocks noGrp="1"/>
          </p:cNvSpPr>
          <p:nvPr>
            <p:ph idx="1"/>
          </p:nvPr>
        </p:nvSpPr>
        <p:spPr/>
        <p:txBody>
          <a:bodyPr wrap="square">
            <a:normAutofit/>
          </a:bodyPr>
          <a:lstStyle/>
          <a:p>
            <a:pPr>
              <a:buNone/>
            </a:pPr>
            <a:r>
              <a:rPr sz="2800" b="0" i="0" u="none"/>
              <a:t>How Summaries Help</a:t>
            </a:r>
            <a:endParaRPr sz="2800" b="0" i="0">
              <a:latin typeface="Arial"/>
            </a:endParaRPr>
          </a:p>
          <a:p>
            <a:pPr lvl="1"/>
            <a:r>
              <a:rPr sz="2800" b="0" i="0" u="none"/>
              <a:t>Compress large files into short, high-signal descriptions</a:t>
            </a:r>
            <a:endParaRPr sz="2800" b="0" i="0">
              <a:latin typeface="Arial"/>
            </a:endParaRPr>
          </a:p>
          <a:p>
            <a:pPr lvl="1"/>
            <a:r>
              <a:rPr sz="2800" b="0" i="0" u="none"/>
              <a:t>Preserve intent without overwhelming the context window</a:t>
            </a:r>
            <a:endParaRPr sz="2800" b="0" i="0">
              <a:latin typeface="Arial"/>
            </a:endParaRPr>
          </a:p>
          <a:p>
            <a:pPr lvl="1"/>
            <a:r>
              <a:rPr sz="2800" b="0" i="0" u="none"/>
              <a:t>Reuse summaries across prompts</a:t>
            </a:r>
            <a:endParaRPr sz="2800" b="0" i="0">
              <a:latin typeface="Arial"/>
            </a:endParaRPr>
          </a:p>
          <a:p>
            <a:pPr lvl="1"/>
            <a:r>
              <a:rPr sz="2800" b="0" i="0" u="none"/>
              <a:t>Reduce noise and improve model alignment</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Chunking</a:t>
            </a:r>
          </a:p>
        </p:txBody>
      </p:sp>
      <p:sp>
        <p:nvSpPr>
          <p:cNvPr id="3" name="Content Placeholder 2"/>
          <p:cNvSpPr>
            <a:spLocks noGrp="1"/>
          </p:cNvSpPr>
          <p:nvPr>
            <p:ph idx="1"/>
          </p:nvPr>
        </p:nvSpPr>
        <p:spPr/>
        <p:txBody>
          <a:bodyPr wrap="square">
            <a:normAutofit/>
          </a:bodyPr>
          <a:lstStyle/>
          <a:p>
            <a:pPr>
              <a:buNone/>
            </a:pPr>
            <a:r>
              <a:rPr sz="2800" b="0" i="0" u="none"/>
              <a:t>How Chunking Works</a:t>
            </a:r>
            <a:endParaRPr sz="2800" b="0" i="0">
              <a:latin typeface="Arial"/>
            </a:endParaRPr>
          </a:p>
          <a:p>
            <a:pPr lvl="1"/>
            <a:r>
              <a:rPr sz="2800" b="0" i="0" u="none"/>
              <a:t>Break large tasks into smaller, self-contained steps</a:t>
            </a:r>
            <a:endParaRPr sz="2800" b="0" i="0">
              <a:latin typeface="Arial"/>
            </a:endParaRPr>
          </a:p>
          <a:p>
            <a:pPr lvl="1"/>
            <a:r>
              <a:rPr sz="2800" b="0" i="0" u="none"/>
              <a:t>Provide only the relevant portion of the code</a:t>
            </a:r>
            <a:endParaRPr sz="2800" b="0" i="0">
              <a:latin typeface="Arial"/>
            </a:endParaRPr>
          </a:p>
          <a:p>
            <a:pPr lvl="1"/>
            <a:r>
              <a:rPr sz="2800" b="0" i="0" u="none"/>
              <a:t>Validate each chunk before moving on</a:t>
            </a:r>
            <a:endParaRPr sz="2800" b="0" i="0">
              <a:latin typeface="Arial"/>
            </a:endParaRPr>
          </a:p>
          <a:p>
            <a:pPr lvl="1"/>
            <a:r>
              <a:rPr sz="2800" b="0" i="0" u="none"/>
              <a:t>Prevents the model from being overloaded</a:t>
            </a:r>
            <a:endParaRPr sz="280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Scoped Prompts</a:t>
            </a:r>
          </a:p>
        </p:txBody>
      </p:sp>
      <p:sp>
        <p:nvSpPr>
          <p:cNvPr id="3" name="Content Placeholder 2"/>
          <p:cNvSpPr>
            <a:spLocks noGrp="1"/>
          </p:cNvSpPr>
          <p:nvPr>
            <p:ph idx="1"/>
          </p:nvPr>
        </p:nvSpPr>
        <p:spPr/>
        <p:txBody>
          <a:bodyPr wrap="square">
            <a:normAutofit/>
          </a:bodyPr>
          <a:lstStyle/>
          <a:p>
            <a:pPr>
              <a:buNone/>
            </a:pPr>
            <a:r>
              <a:rPr sz="2800" b="0" i="0" u="none"/>
              <a:t>Benefits</a:t>
            </a:r>
            <a:endParaRPr sz="2800" b="0" i="0">
              <a:latin typeface="Arial"/>
            </a:endParaRPr>
          </a:p>
          <a:p>
            <a:pPr lvl="1"/>
            <a:r>
              <a:rPr sz="2800" b="0" i="0" u="none"/>
              <a:t>Limit the model's focus to a single module or function</a:t>
            </a:r>
            <a:endParaRPr sz="2800" b="0" i="0">
              <a:latin typeface="Arial"/>
            </a:endParaRPr>
          </a:p>
          <a:p>
            <a:pPr lvl="1"/>
            <a:r>
              <a:rPr sz="2800" b="0" i="0" u="none"/>
              <a:t>Reduce irrelevant context</a:t>
            </a:r>
            <a:endParaRPr sz="2800" b="0" i="0">
              <a:latin typeface="Arial"/>
            </a:endParaRPr>
          </a:p>
          <a:p>
            <a:pPr lvl="1"/>
            <a:r>
              <a:rPr sz="2800" b="0" i="0" u="none"/>
              <a:t>Improve accuracy and reduce hallucinations</a:t>
            </a:r>
            <a:endParaRPr sz="2800" b="0" i="0">
              <a:latin typeface="Arial"/>
            </a:endParaRPr>
          </a:p>
          <a:p>
            <a:pPr lvl="1"/>
            <a:r>
              <a:rPr sz="2800" b="0" i="0" u="none"/>
              <a:t>Keep token usage predictable</a:t>
            </a:r>
            <a:endParaRPr sz="2800" b="0" i="0">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Instruction Files</a:t>
            </a:r>
          </a:p>
        </p:txBody>
      </p:sp>
      <p:sp>
        <p:nvSpPr>
          <p:cNvPr id="3" name="Content Placeholder 2"/>
          <p:cNvSpPr>
            <a:spLocks noGrp="1"/>
          </p:cNvSpPr>
          <p:nvPr>
            <p:ph idx="1"/>
          </p:nvPr>
        </p:nvSpPr>
        <p:spPr/>
        <p:txBody>
          <a:bodyPr wrap="square">
            <a:normAutofit/>
          </a:bodyPr>
          <a:lstStyle/>
          <a:p>
            <a:pPr>
              <a:buNone/>
            </a:pPr>
            <a:r>
              <a:rPr sz="2800" b="0" i="0" u="none"/>
              <a:t>Why They Matter</a:t>
            </a:r>
            <a:endParaRPr sz="2800" b="0" i="0">
              <a:latin typeface="Arial"/>
            </a:endParaRPr>
          </a:p>
          <a:p>
            <a:pPr lvl="1"/>
            <a:r>
              <a:rPr sz="2800" b="0" i="0" u="none"/>
              <a:t>Move stable rules out of the active prompt</a:t>
            </a:r>
            <a:endParaRPr sz="2800" b="0" i="0">
              <a:latin typeface="Arial"/>
            </a:endParaRPr>
          </a:p>
          <a:p>
            <a:pPr lvl="1"/>
            <a:r>
              <a:rPr sz="2800" b="0" i="0" u="none"/>
              <a:t>Provide persistent architectural and style guidance</a:t>
            </a:r>
            <a:endParaRPr sz="2800" b="0" i="0">
              <a:latin typeface="Arial"/>
            </a:endParaRPr>
          </a:p>
          <a:p>
            <a:pPr lvl="1"/>
            <a:r>
              <a:rPr sz="2800" b="0" i="0" u="none"/>
              <a:t>Reduce repeated tokens across sessions</a:t>
            </a:r>
            <a:endParaRPr sz="2800" b="0" i="0">
              <a:latin typeface="Arial"/>
            </a:endParaRPr>
          </a:p>
          <a:p>
            <a:pPr lvl="1"/>
            <a:r>
              <a:rPr sz="2800" b="0" i="0" u="none"/>
              <a:t>Keep prompts short and high-signal</a:t>
            </a:r>
            <a:endParaRPr sz="28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0" i="0" u="none"/>
              <a:t>Models and Context</a:t>
            </a:r>
          </a:p>
          <a:p>
            <a:r>
              <a:rPr b="1" i="0" u="none"/>
              <a:t>▶ Guardrails and Prompt Files</a:t>
            </a:r>
          </a:p>
          <a:p>
            <a:r>
              <a:rPr b="0" i="0" u="none"/>
              <a:t>AI Assisted Documentation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a:t>
            </a:r>
          </a:p>
        </p:txBody>
      </p:sp>
      <p:sp>
        <p:nvSpPr>
          <p:cNvPr id="3" name="Subtitle 2"/>
          <p:cNvSpPr>
            <a:spLocks noGrp="1"/>
          </p:cNvSpPr>
          <p:nvPr>
            <p:ph type="subTitle" idx="1"/>
          </p:nvPr>
        </p:nvSpPr>
        <p:spPr/>
        <p:txBody>
          <a:bodyPr wrap="square">
            <a:normAutofit/>
          </a:bodyPr>
          <a:lstStyle/>
          <a:p>
            <a:pPr>
              <a:buNone/>
            </a:pPr>
            <a:r>
              <a:rPr b="0" i="0" u="none"/>
              <a:t>Prompts That Run, Not Just Chat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Prompt Files?</a:t>
            </a:r>
          </a:p>
        </p:txBody>
      </p:sp>
      <p:sp>
        <p:nvSpPr>
          <p:cNvPr id="3" name="Content Placeholder 2"/>
          <p:cNvSpPr>
            <a:spLocks noGrp="1"/>
          </p:cNvSpPr>
          <p:nvPr>
            <p:ph idx="1"/>
          </p:nvPr>
        </p:nvSpPr>
        <p:spPr/>
        <p:txBody>
          <a:bodyPr wrap="square">
            <a:normAutofit/>
          </a:bodyPr>
          <a:lstStyle/>
          <a:p>
            <a:r>
              <a:rPr sz="2450" b="0" i="0" u="none"/>
              <a:t>Structured templates for specific, repeatable tasks</a:t>
            </a:r>
            <a:endParaRPr sz="2450" b="0" i="0">
              <a:latin typeface="Arial"/>
            </a:endParaRPr>
          </a:p>
          <a:p>
            <a:r>
              <a:rPr sz="2450" b="0" i="0" u="none"/>
              <a:t>Contain detailed instructions for particular objectives</a:t>
            </a:r>
            <a:endParaRPr sz="2450" b="0" i="0">
              <a:latin typeface="Arial"/>
            </a:endParaRPr>
          </a:p>
          <a:p>
            <a:r>
              <a:rPr sz="2450" b="0" i="0" u="none"/>
              <a:t>Designed for execution in AI chat interfaces</a:t>
            </a:r>
            <a:endParaRPr sz="2450" b="0" i="0">
              <a:latin typeface="Arial"/>
            </a:endParaRPr>
          </a:p>
          <a:p>
            <a:pPr>
              <a:buNone/>
            </a:pPr>
            <a:endParaRPr sz="2450" b="0" i="0">
              <a:latin typeface="Arial"/>
            </a:endParaRPr>
          </a:p>
          <a:p>
            <a:pPr>
              <a:buNone/>
            </a:pPr>
            <a:r>
              <a:rPr sz="2450" b="0" i="0" u="none"/>
              <a:t>Key Characteristics</a:t>
            </a:r>
            <a:endParaRPr sz="2450" b="0" i="0">
              <a:latin typeface="Arial"/>
            </a:endParaRPr>
          </a:p>
          <a:p>
            <a:pPr lvl="1"/>
            <a:r>
              <a:rPr sz="2450" b="0" i="0" u="none"/>
              <a:t>Scope: Single, focused task or workflow</a:t>
            </a:r>
            <a:endParaRPr sz="2450" b="0" i="0">
              <a:latin typeface="Arial"/>
            </a:endParaRPr>
          </a:p>
          <a:p>
            <a:pPr lvl="1"/>
            <a:r>
              <a:rPr sz="2450" b="0" i="0" u="none"/>
              <a:t>Execution: Run on-demand when needed</a:t>
            </a:r>
            <a:endParaRPr sz="2450" b="0" i="0">
              <a:latin typeface="Arial"/>
            </a:endParaRPr>
          </a:p>
          <a:p>
            <a:pPr>
              <a:buNone/>
            </a:pPr>
            <a:endParaRPr sz="2450" b="0" i="0">
              <a:latin typeface="Arial"/>
            </a:endParaRPr>
          </a:p>
          <a:p>
            <a:pPr>
              <a:buNone/>
            </a:pPr>
            <a:r>
              <a:rPr sz="2450" b="0" i="1" u="none"/>
              <a:t>Purpose: Define “what” to accomplish with specific steps</a:t>
            </a:r>
            <a:endParaRPr sz="2450" b="0" i="0">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 Use Cases</a:t>
            </a:r>
          </a:p>
        </p:txBody>
      </p:sp>
      <p:sp>
        <p:nvSpPr>
          <p:cNvPr id="3" name="Content Placeholder 2"/>
          <p:cNvSpPr>
            <a:spLocks noGrp="1"/>
          </p:cNvSpPr>
          <p:nvPr>
            <p:ph idx="1"/>
          </p:nvPr>
        </p:nvSpPr>
        <p:spPr/>
        <p:txBody>
          <a:bodyPr wrap="square">
            <a:normAutofit/>
          </a:bodyPr>
          <a:lstStyle/>
          <a:p>
            <a:pPr>
              <a:buNone/>
            </a:pPr>
            <a:r>
              <a:rPr sz="1550" b="0" i="0" u="none"/>
              <a:t>Perfect For</a:t>
            </a:r>
            <a:endParaRPr sz="1550" b="0" i="0">
              <a:latin typeface="Arial"/>
            </a:endParaRPr>
          </a:p>
          <a:p>
            <a:pPr>
              <a:buNone/>
            </a:pPr>
            <a:endParaRPr sz="1550" b="0" i="0">
              <a:latin typeface="Arial"/>
            </a:endParaRPr>
          </a:p>
          <a:p>
            <a:r>
              <a:rPr sz="1550" b="0" i="0" u="none"/>
              <a:t>Code Generation → Create specific components/features</a:t>
            </a:r>
            <a:endParaRPr sz="1550" b="0" i="0">
              <a:latin typeface="Arial"/>
            </a:endParaRPr>
          </a:p>
          <a:p>
            <a:r>
              <a:rPr sz="1550" b="0" i="0" u="none"/>
              <a:t>Documentation → Generate standardized docs</a:t>
            </a:r>
            <a:endParaRPr sz="1550" b="0" i="0">
              <a:latin typeface="Arial"/>
            </a:endParaRPr>
          </a:p>
          <a:p>
            <a:r>
              <a:rPr sz="1550" b="0" i="0" u="none"/>
              <a:t>Analysis Tasks → Code reviews, security audits</a:t>
            </a:r>
            <a:endParaRPr sz="1550" b="0" i="0">
              <a:latin typeface="Arial"/>
            </a:endParaRPr>
          </a:p>
          <a:p>
            <a:r>
              <a:rPr sz="1550" b="0" i="0" u="none"/>
              <a:t>Refactoring → Structured code improvements</a:t>
            </a:r>
            <a:endParaRPr sz="1550" b="0" i="0">
              <a:latin typeface="Arial"/>
            </a:endParaRPr>
          </a:p>
          <a:p>
            <a:pPr>
              <a:buNone/>
            </a:pPr>
            <a:endParaRPr sz="1550" b="0" i="0">
              <a:latin typeface="Arial"/>
            </a:endParaRPr>
          </a:p>
          <a:p>
            <a:pPr>
              <a:buNone/>
            </a:pPr>
            <a:r>
              <a:rPr sz="1550" b="0" i="0" u="none"/>
              <a:t>Examples</a:t>
            </a:r>
            <a:endParaRPr sz="1550" b="0" i="0">
              <a:latin typeface="Arial"/>
            </a:endParaRPr>
          </a:p>
          <a:p>
            <a:pPr>
              <a:buNone/>
            </a:pPr>
            <a:endParaRPr sz="1550" b="0" i="0">
              <a:latin typeface="Arial"/>
            </a:endParaRPr>
          </a:p>
          <a:p>
            <a:r>
              <a:rPr sz="1550" b="0" i="0" u="none"/>
              <a:t>implement-user-authentication.prompt.md</a:t>
            </a:r>
            <a:endParaRPr sz="1550" b="0" i="0">
              <a:latin typeface="Arial"/>
            </a:endParaRPr>
          </a:p>
          <a:p>
            <a:r>
              <a:rPr sz="1550" b="0" i="0" u="none"/>
              <a:t>generate-test-suite.prompt.md</a:t>
            </a:r>
            <a:endParaRPr sz="1550" b="0" i="0">
              <a:latin typeface="Arial"/>
            </a:endParaRPr>
          </a:p>
          <a:p>
            <a:r>
              <a:rPr sz="1550" b="0" i="0" u="none"/>
              <a:t>create-deployment-pipeline.prompt.md</a:t>
            </a:r>
            <a:endParaRPr sz="155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 Best Practices</a:t>
            </a:r>
          </a:p>
        </p:txBody>
      </p:sp>
      <p:sp>
        <p:nvSpPr>
          <p:cNvPr id="3" name="Content Placeholder 2"/>
          <p:cNvSpPr>
            <a:spLocks noGrp="1"/>
          </p:cNvSpPr>
          <p:nvPr>
            <p:ph sz="half" idx="1"/>
          </p:nvPr>
        </p:nvSpPr>
        <p:spPr/>
        <p:txBody>
          <a:bodyPr wrap="square">
            <a:normAutofit/>
          </a:bodyPr>
          <a:lstStyle/>
          <a:p>
            <a:pPr>
              <a:buNone/>
            </a:pPr>
            <a:r>
              <a:rPr sz="1400" b="0" i="0" u="none"/>
              <a:t>✅ Do This:</a:t>
            </a:r>
            <a:endParaRPr sz="2800" b="0" i="0">
              <a:latin typeface="Arial"/>
            </a:endParaRPr>
          </a:p>
          <a:p>
            <a:pPr lvl="1"/>
            <a:r>
              <a:rPr sz="1400" b="0" i="0" u="none"/>
              <a:t>Include comprehensive metadata</a:t>
            </a:r>
            <a:endParaRPr sz="2800" b="0" i="0">
              <a:latin typeface="Arial"/>
            </a:endParaRPr>
          </a:p>
          <a:p>
            <a:pPr lvl="1"/>
            <a:r>
              <a:rPr sz="1400" b="0" i="0" u="none"/>
              <a:t>Provide clear context and requirements</a:t>
            </a:r>
            <a:endParaRPr sz="2800" b="0" i="0">
              <a:latin typeface="Arial"/>
            </a:endParaRPr>
          </a:p>
          <a:p>
            <a:pPr lvl="1"/>
            <a:r>
              <a:rPr sz="1400" b="0" i="0" u="none"/>
              <a:t>Specify expected deliverables</a:t>
            </a:r>
            <a:endParaRPr sz="2800" b="0" i="0">
              <a:latin typeface="Arial"/>
            </a:endParaRPr>
          </a:p>
          <a:p>
            <a:pPr lvl="1"/>
            <a:r>
              <a:rPr sz="1400" b="0" i="0" u="none"/>
              <a:t>Include verification steps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Avoid This:</a:t>
            </a:r>
            <a:endParaRPr sz="2800" b="0" i="0">
              <a:latin typeface="Arial"/>
            </a:endParaRPr>
          </a:p>
          <a:p>
            <a:pPr lvl="1"/>
            <a:r>
              <a:rPr sz="1400" b="0" i="0" u="none"/>
              <a:t>Vague or ambiguous instructions</a:t>
            </a:r>
            <a:endParaRPr sz="2800" b="0" i="0">
              <a:latin typeface="Arial"/>
            </a:endParaRPr>
          </a:p>
          <a:p>
            <a:pPr lvl="1"/>
            <a:r>
              <a:rPr sz="1400" b="0" i="0" u="none"/>
              <a:t>Missing prerequisite information</a:t>
            </a:r>
            <a:endParaRPr sz="2800" b="0" i="0">
              <a:latin typeface="Arial"/>
            </a:endParaRPr>
          </a:p>
          <a:p>
            <a:pPr lvl="1"/>
            <a:r>
              <a:rPr sz="1400" b="0" i="0" u="none"/>
              <a:t>No success criteria defined</a:t>
            </a:r>
            <a:endParaRPr sz="2800" b="0" i="0">
              <a:latin typeface="Arial"/>
            </a:endParaRPr>
          </a:p>
          <a:p>
            <a:pPr lvl="1"/>
            <a:r>
              <a:rPr sz="1400" b="0" i="0" u="none"/>
              <a:t>Overly complex single prompts (break them down)</a:t>
            </a:r>
            <a:endParaRPr sz="2800" b="0" i="0">
              <a:latin typeface="Arial"/>
            </a:endParaRPr>
          </a:p>
          <a:p>
            <a:pPr>
              <a:buNone/>
            </a:pPr>
            <a:endParaRPr sz="2800" b="0" i="0">
              <a:latin typeface="Arial"/>
            </a:endParaRPr>
          </a:p>
          <a:p>
            <a:pPr>
              <a:buNone/>
            </a:pPr>
            <a:r>
              <a:rPr sz="1400" b="0" i="0" u="none"/>
              <a:t>:::</a:t>
            </a:r>
            <a:endParaRPr sz="2800" b="0" i="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Creating Prompt Files</a:t>
            </a:r>
          </a:p>
        </p:txBody>
      </p:sp>
      <p:sp>
        <p:nvSpPr>
          <p:cNvPr id="3" name="Subtitle 2"/>
          <p:cNvSpPr>
            <a:spLocks noGrp="1"/>
          </p:cNvSpPr>
          <p:nvPr>
            <p:ph type="subTitle" idx="1"/>
          </p:nvPr>
        </p:nvSpPr>
        <p:spPr/>
        <p:txBody>
          <a:bodyPr wrap="square">
            <a:normAutofit/>
          </a:bodyPr>
          <a:lstStyle/>
          <a:p>
            <a:pPr>
              <a:buNone/>
            </a:pPr>
            <a:r>
              <a:rPr b="0" i="0" u="none"/>
              <a:t>The Prompt Engineering Gauntlet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Creating Prompt Files</a:t>
            </a:r>
          </a:p>
        </p:txBody>
      </p:sp>
      <p:sp>
        <p:nvSpPr>
          <p:cNvPr id="3" name="Content Placeholder 2"/>
          <p:cNvSpPr>
            <a:spLocks noGrp="1"/>
          </p:cNvSpPr>
          <p:nvPr>
            <p:ph sz="half" idx="1"/>
          </p:nvPr>
        </p:nvSpPr>
        <p:spPr/>
        <p:txBody>
          <a:bodyPr wrap="square">
            <a:normAutofit fontScale="92500"/>
          </a:bodyPr>
          <a:lstStyle/>
          <a:p>
            <a:pPr>
              <a:buNone/>
            </a:pPr>
            <a:r>
              <a:rPr sz="1200" b="1" i="0" u="none"/>
              <a:t>Objectives</a:t>
            </a:r>
            <a:endParaRPr sz="1200" b="0" i="0">
              <a:latin typeface="Arial"/>
            </a:endParaRPr>
          </a:p>
          <a:p>
            <a:pPr lvl="1"/>
            <a:r>
              <a:rPr sz="1200" b="0" i="0" u="none"/>
              <a:t>Understand prompt structure and best practices for AI instruction file generation</a:t>
            </a:r>
            <a:endParaRPr sz="1200" b="0" i="0">
              <a:latin typeface="Arial"/>
            </a:endParaRPr>
          </a:p>
          <a:p>
            <a:pPr lvl="1"/>
            <a:r>
              <a:rPr sz="1200" b="0" i="0" u="none"/>
              <a:t>Practice prompt engineering by creating reusable prompt files</a:t>
            </a:r>
            <a:endParaRPr sz="1200" b="0" i="0">
              <a:latin typeface="Arial"/>
            </a:endParaRPr>
          </a:p>
          <a:p>
            <a:pPr lvl="1"/>
            <a:r>
              <a:rPr sz="1200" b="0" i="0" u="none"/>
              <a:t>Observe measurable impact of instruction files on AI output quality</a:t>
            </a:r>
            <a:endParaRPr sz="1200" b="0" i="0">
              <a:latin typeface="Arial"/>
            </a:endParaRPr>
          </a:p>
          <a:p>
            <a:pPr lvl="1"/>
            <a:r>
              <a:rPr sz="1200" b="0" i="0" u="none"/>
              <a:t>Compare outputs with and without instruction file guidance</a:t>
            </a:r>
            <a:endParaRPr sz="1200" b="0" i="0">
              <a:latin typeface="Arial"/>
            </a:endParaRPr>
          </a:p>
          <a:p>
            <a:pPr>
              <a:buNone/>
            </a:pPr>
            <a:endParaRPr sz="1200" b="0" i="0">
              <a:latin typeface="Arial"/>
            </a:endParaRPr>
          </a:p>
          <a:p>
            <a:pPr>
              <a:buNone/>
            </a:pPr>
            <a:r>
              <a:rPr sz="1200" b="1" i="0" u="none"/>
              <a:t>Activities</a:t>
            </a:r>
            <a:endParaRPr sz="1200" b="0" i="0">
              <a:latin typeface="Arial"/>
            </a:endParaRPr>
          </a:p>
          <a:p>
            <a:pPr lvl="1"/>
            <a:r>
              <a:rPr sz="1200" b="1" i="0" u="none"/>
              <a:t>Phase 1 - Baseline</a:t>
            </a:r>
            <a:r>
              <a:rPr sz="1200" b="0" i="0" u="none"/>
              <a:t>: Create prompt to generate Evergreen instruction file without repository instruction files; save output for comparison</a:t>
            </a:r>
            <a:endParaRPr sz="1200" b="0" i="0">
              <a:latin typeface="Arial"/>
            </a:endParaRPr>
          </a:p>
          <a:p>
            <a:pPr lvl="1"/>
            <a:r>
              <a:rPr sz="1200" b="1" i="0" u="none"/>
              <a:t>Phase 2 - Enhanced</a:t>
            </a:r>
            <a:r>
              <a:rPr sz="1200" b="0" i="0" u="none"/>
              <a:t>: Pull repository updates with instruction files; clear chat context; re-run identical prompt with new guidance</a:t>
            </a:r>
            <a:endParaRPr sz="1200" b="0" i="0">
              <a:latin typeface="Arial"/>
            </a:endParaRPr>
          </a:p>
          <a:p>
            <a:pPr lvl="1"/>
            <a:r>
              <a:rPr sz="1200" b="1" i="0" u="none"/>
              <a:t>Phase 3 - Analysis</a:t>
            </a:r>
            <a:r>
              <a:rPr sz="1200" b="0" i="0" u="none"/>
              <a:t>: Compare both outputs using AI-assisted analysis; quantify differences in structure, metadata completeness, and quality</a:t>
            </a:r>
            <a:endParaRPr sz="1200" b="0" i="0">
              <a:latin typeface="Arial"/>
            </a:endParaRPr>
          </a:p>
          <a:p>
            <a:pPr lvl="1"/>
            <a:r>
              <a:rPr sz="1200" b="1" i="0" u="none"/>
              <a:t>Discussion &amp; Review</a:t>
            </a:r>
            <a:r>
              <a:rPr sz="1200" b="0" i="0" u="none"/>
              <a:t>: Analyze findings on reproducibility, token optimization, non-determinism, and real participant results</a:t>
            </a:r>
            <a:endParaRPr sz="1200" b="0" i="0">
              <a:latin typeface="Arial"/>
            </a:endParaRPr>
          </a:p>
        </p:txBody>
      </p:sp>
      <p:sp>
        <p:nvSpPr>
          <p:cNvPr id="4" name="Content Placeholder 3"/>
          <p:cNvSpPr>
            <a:spLocks noGrp="1"/>
          </p:cNvSpPr>
          <p:nvPr>
            <p:ph sz="half" idx="2"/>
          </p:nvPr>
        </p:nvSpPr>
        <p:spPr/>
        <p:txBody>
          <a:bodyPr wrap="square">
            <a:normAutofit fontScale="92500"/>
          </a:bodyPr>
          <a:lstStyle/>
          <a:p>
            <a:pPr>
              <a:buNone/>
            </a:pPr>
            <a:r>
              <a:rPr sz="1400" b="1" i="0" u="none"/>
              <a:t>Success Criteria</a:t>
            </a:r>
            <a:endParaRPr sz="2400" b="0" i="0">
              <a:latin typeface="Arial"/>
            </a:endParaRPr>
          </a:p>
          <a:p>
            <a:pPr lvl="1"/>
            <a:r>
              <a:rPr sz="1400" b="0" i="0" u="none"/>
              <a:t>Generated complete instruction file for Evergreen software development in both phases</a:t>
            </a:r>
            <a:endParaRPr sz="2400" b="0" i="0">
              <a:latin typeface="Arial"/>
            </a:endParaRPr>
          </a:p>
          <a:p>
            <a:pPr lvl="1"/>
            <a:r>
              <a:rPr sz="1400" b="0" i="0" u="none"/>
              <a:t>Completed comparison analysis identifying 3+ significant structural/metadata differences</a:t>
            </a:r>
            <a:endParaRPr sz="2400" b="0" i="0">
              <a:latin typeface="Arial"/>
            </a:endParaRPr>
          </a:p>
          <a:p>
            <a:pPr lvl="1"/>
            <a:r>
              <a:rPr sz="1400" b="0" i="0" u="none"/>
              <a:t>Understand how instruction files reduce output variance from ±40% to ±10%</a:t>
            </a:r>
            <a:endParaRPr sz="2400" b="0" i="0">
              <a:latin typeface="Arial"/>
            </a:endParaRPr>
          </a:p>
          <a:p>
            <a:pPr lvl="1"/>
            <a:r>
              <a:rPr sz="1400" b="0" i="0" u="none"/>
              <a:t>Recognize token optimization strategies achieving 60-70% reduction in context usage</a:t>
            </a:r>
            <a:endParaRPr sz="2400" b="0" i="0">
              <a:latin typeface="Arial"/>
            </a:endParaRPr>
          </a:p>
          <a:p>
            <a:pPr lvl="1"/>
            <a:r>
              <a:rPr sz="1400" b="0" i="0" u="none"/>
              <a:t>Explain reproducibility benefits and non-determinism management strategies</a:t>
            </a:r>
            <a:endParaRPr sz="24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Creating Instruction Files from Prompts</a:t>
            </a:r>
          </a:p>
        </p:txBody>
      </p:sp>
      <p:sp>
        <p:nvSpPr>
          <p:cNvPr id="3" name="Subtitle 2"/>
          <p:cNvSpPr>
            <a:spLocks noGrp="1"/>
          </p:cNvSpPr>
          <p:nvPr>
            <p:ph type="subTitle" idx="1"/>
          </p:nvPr>
        </p:nvSpPr>
        <p:spPr/>
        <p:txBody>
          <a:bodyPr wrap="square">
            <a:normAutofit/>
          </a:bodyPr>
          <a:lstStyle/>
          <a:p>
            <a:pPr>
              <a:buNone/>
            </a:pPr>
            <a:r>
              <a:rPr sz="2550" b="0" i="0" u="none"/>
              <a:t>The Prompt That Writes the Rules That Guide the Prompt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Creating Instruction Files from Prompts</a:t>
            </a:r>
          </a:p>
        </p:txBody>
      </p:sp>
      <p:sp>
        <p:nvSpPr>
          <p:cNvPr id="3" name="Content Placeholder 2"/>
          <p:cNvSpPr>
            <a:spLocks noGrp="1"/>
          </p:cNvSpPr>
          <p:nvPr>
            <p:ph idx="1"/>
          </p:nvPr>
        </p:nvSpPr>
        <p:spPr/>
        <p:txBody>
          <a:bodyPr wrap="square">
            <a:normAutofit/>
          </a:bodyPr>
          <a:lstStyle/>
          <a:p>
            <a:r>
              <a:rPr sz="2800" b="0" i="0" u="none"/>
              <a:t>Run the prompt files from the prior exercise</a:t>
            </a:r>
            <a:endParaRPr sz="2800" b="0" i="0">
              <a:latin typeface="Arial"/>
            </a:endParaRPr>
          </a:p>
          <a:p>
            <a:r>
              <a:rPr sz="2800" b="0" i="0" u="none"/>
              <a:t>Generate instruction files from those prompts</a:t>
            </a:r>
            <a:endParaRPr sz="2800" b="0" i="0">
              <a:latin typeface="Arial"/>
            </a:endParaRPr>
          </a:p>
          <a:p>
            <a:r>
              <a:rPr sz="2800" b="0" i="0" u="none"/>
              <a:t>Review what the model inferred and why it matters</a:t>
            </a:r>
            <a:endParaRPr sz="2800" b="0" i="0">
              <a:latin typeface="Arial"/>
            </a:endParaRPr>
          </a:p>
          <a:p>
            <a:r>
              <a:rPr sz="2800" b="0" i="0" u="none"/>
              <a:t>Decide how to refine the result for long-term reuse</a:t>
            </a:r>
            <a:endParaRPr sz="2800" b="0" i="0">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to Instruction Workflow</a:t>
            </a:r>
          </a:p>
        </p:txBody>
      </p:sp>
      <p:sp>
        <p:nvSpPr>
          <p:cNvPr id="3" name="Content Placeholder 2"/>
          <p:cNvSpPr>
            <a:spLocks noGrp="1"/>
          </p:cNvSpPr>
          <p:nvPr>
            <p:ph sz="half" idx="1"/>
          </p:nvPr>
        </p:nvSpPr>
        <p:spPr/>
        <p:txBody>
          <a:bodyPr wrap="square">
            <a:normAutofit/>
          </a:bodyPr>
          <a:lstStyle/>
          <a:p>
            <a:r>
              <a:rPr sz="1400" b="0" i="0" u="none"/>
              <a:t>The prompt is the reusable source</a:t>
            </a:r>
            <a:endParaRPr sz="2800" b="0" i="0">
              <a:latin typeface="Arial"/>
            </a:endParaRPr>
          </a:p>
          <a:p>
            <a:r>
              <a:rPr sz="1400" b="0" i="0" u="none"/>
              <a:t>The instruction file is the generated artifact</a:t>
            </a:r>
            <a:endParaRPr sz="2800" b="0" i="0">
              <a:latin typeface="Arial"/>
            </a:endParaRPr>
          </a:p>
          <a:p>
            <a:r>
              <a:rPr sz="1400" b="0" i="0" u="none"/>
              <a:t>Review happens after generation, not instead of it</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6bbf7149f807406ad658b64dc9b021c3f56a77de.png"/>
          <p:cNvPicPr>
            <a:picLocks noChangeAspect="1"/>
          </p:cNvPicPr>
          <p:nvPr/>
        </p:nvPicPr>
        <p:blipFill>
          <a:blip r:embed="rId3"/>
          <a:stretch>
            <a:fillRect/>
          </a:stretch>
        </p:blipFill>
        <p:spPr>
          <a:xfrm>
            <a:off x="7126994" y="1509472"/>
            <a:ext cx="3272012" cy="4259898"/>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Inference Is Your Friend</a:t>
            </a:r>
          </a:p>
        </p:txBody>
      </p:sp>
      <p:sp>
        <p:nvSpPr>
          <p:cNvPr id="3" name="Content Placeholder 2"/>
          <p:cNvSpPr>
            <a:spLocks noGrp="1"/>
          </p:cNvSpPr>
          <p:nvPr>
            <p:ph idx="1"/>
          </p:nvPr>
        </p:nvSpPr>
        <p:spPr/>
        <p:txBody>
          <a:bodyPr wrap="square">
            <a:normAutofit/>
          </a:bodyPr>
          <a:lstStyle/>
          <a:p>
            <a:r>
              <a:rPr sz="2800" b="0" i="0" u="none"/>
              <a:t>AI fills in architectural context, expected sections, and familiar conventions</a:t>
            </a:r>
            <a:endParaRPr sz="2800" b="0" i="0">
              <a:latin typeface="Arial"/>
            </a:endParaRPr>
          </a:p>
          <a:p>
            <a:r>
              <a:rPr sz="2800" b="0" i="0" u="none"/>
              <a:t>Minimal guidance can still produce surprisingly detailed instruction files</a:t>
            </a:r>
            <a:endParaRPr sz="2800" b="0" i="0">
              <a:latin typeface="Arial"/>
            </a:endParaRPr>
          </a:p>
          <a:p>
            <a:r>
              <a:rPr sz="2800" b="0" i="0" u="none"/>
              <a:t>Rich output is useful when the model understands the domain patterns already</a:t>
            </a:r>
            <a:endParaRPr sz="2800" b="0" i="0">
              <a:latin typeface="Arial"/>
            </a:endParaRPr>
          </a:p>
          <a:p>
            <a:r>
              <a:rPr sz="2800" b="0" i="0" u="none"/>
              <a:t>Review trims, sharpens, and aligns the inferred detail to your actual standards</a:t>
            </a:r>
            <a:endParaRPr sz="2800" b="0" i="0">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Inference Is Not Your Friend</a:t>
            </a:r>
          </a:p>
        </p:txBody>
      </p:sp>
      <p:sp>
        <p:nvSpPr>
          <p:cNvPr id="3" name="Content Placeholder 2"/>
          <p:cNvSpPr>
            <a:spLocks noGrp="1"/>
          </p:cNvSpPr>
          <p:nvPr>
            <p:ph idx="1"/>
          </p:nvPr>
        </p:nvSpPr>
        <p:spPr/>
        <p:txBody>
          <a:bodyPr wrap="square">
            <a:normAutofit/>
          </a:bodyPr>
          <a:lstStyle/>
          <a:p>
            <a:r>
              <a:rPr sz="2400" b="0" i="0" u="none"/>
              <a:t>AI can infer incorrectly or assume patterns that do not fit your domain</a:t>
            </a:r>
            <a:endParaRPr sz="2400" b="0" i="0">
              <a:latin typeface="Arial"/>
            </a:endParaRPr>
          </a:p>
          <a:p>
            <a:r>
              <a:rPr sz="2400" b="0" i="0" u="none"/>
              <a:t>Broad inference may include outdated conventions or anti-patterns</a:t>
            </a:r>
            <a:endParaRPr sz="2400" b="0" i="0">
              <a:latin typeface="Arial"/>
            </a:endParaRPr>
          </a:p>
          <a:p>
            <a:r>
              <a:rPr sz="2400" b="0" i="0" u="none"/>
              <a:t>Rich output requires careful review to catch subtle errors</a:t>
            </a:r>
            <a:endParaRPr sz="2400" b="0" i="0">
              <a:latin typeface="Arial"/>
            </a:endParaRPr>
          </a:p>
          <a:p>
            <a:r>
              <a:rPr sz="2400" b="0" i="0" u="none"/>
              <a:t>Over-reliance on inference can lock you into assumptions you did not intend</a:t>
            </a:r>
            <a:endParaRPr sz="2400" b="0" i="0">
              <a:latin typeface="Arial"/>
            </a:endParaRPr>
          </a:p>
          <a:p>
            <a:r>
              <a:rPr sz="2400" b="0" i="0" u="none"/>
              <a:t>Validation and testing still mandatory despite confident-sounding output</a:t>
            </a:r>
            <a:endParaRPr sz="2400" b="0" i="0">
              <a:latin typeface="Arial"/>
            </a:endParaRPr>
          </a:p>
          <a:p>
            <a:pPr>
              <a:buNone/>
            </a:pPr>
            <a:endParaRPr sz="2400" b="0" i="0">
              <a:latin typeface="Arial"/>
            </a:endParaRPr>
          </a:p>
          <a:p>
            <a:pPr>
              <a:buNone/>
            </a:pPr>
            <a:r>
              <a:rPr sz="2400" b="1" i="0" u="none"/>
              <a:t>The catch</a:t>
            </a:r>
            <a:r>
              <a:rPr sz="2400" b="0" i="0" u="none"/>
              <a:t>: inference saves time only if you actively curate the result.</a:t>
            </a:r>
            <a:endParaRPr sz="2400" b="0" i="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Why Start with a Prompt-First Approach?</a:t>
            </a:r>
          </a:p>
        </p:txBody>
      </p:sp>
      <p:sp>
        <p:nvSpPr>
          <p:cNvPr id="3" name="Content Placeholder 2"/>
          <p:cNvSpPr>
            <a:spLocks noGrp="1"/>
          </p:cNvSpPr>
          <p:nvPr>
            <p:ph idx="1"/>
          </p:nvPr>
        </p:nvSpPr>
        <p:spPr/>
        <p:txBody>
          <a:bodyPr wrap="square">
            <a:normAutofit/>
          </a:bodyPr>
          <a:lstStyle/>
          <a:p>
            <a:r>
              <a:rPr sz="2650" b="0" i="0" u="none"/>
              <a:t>Easier to delete surplus detail than author every section from scratch</a:t>
            </a:r>
            <a:endParaRPr sz="2650" b="0" i="0">
              <a:latin typeface="Arial"/>
            </a:endParaRPr>
          </a:p>
          <a:p>
            <a:r>
              <a:rPr sz="2650" b="0" i="0" u="none"/>
              <a:t>Start with comprehensive AI-generated content, then edit down</a:t>
            </a:r>
            <a:endParaRPr sz="2650" b="0" i="0">
              <a:latin typeface="Arial"/>
            </a:endParaRPr>
          </a:p>
          <a:p>
            <a:r>
              <a:rPr sz="2650" b="0" i="0" u="none"/>
              <a:t>Reduces blank-page friction and initial authoring burden</a:t>
            </a:r>
            <a:endParaRPr sz="2650" b="0" i="0">
              <a:latin typeface="Arial"/>
            </a:endParaRPr>
          </a:p>
          <a:p>
            <a:r>
              <a:rPr sz="2650" b="0" i="0" u="none"/>
              <a:t>Encourages a repeatable workflow instead of one-off handcrafted artifacts</a:t>
            </a:r>
            <a:endParaRPr sz="2650" b="0" i="0">
              <a:latin typeface="Arial"/>
            </a:endParaRPr>
          </a:p>
          <a:p>
            <a:pPr>
              <a:buNone/>
            </a:pPr>
            <a:endParaRPr sz="2650" b="0" i="0">
              <a:latin typeface="Arial"/>
            </a:endParaRPr>
          </a:p>
          <a:p>
            <a:pPr>
              <a:buNone/>
            </a:pPr>
            <a:r>
              <a:rPr sz="2650" b="1" i="0" u="none"/>
              <a:t>Core idea</a:t>
            </a:r>
            <a:r>
              <a:rPr sz="2650" b="0" i="0" u="none"/>
              <a:t>: generate broadly first, then narrow precisely.</a:t>
            </a:r>
            <a:endParaRPr sz="265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Two Ways to Refine the Result</a:t>
            </a:r>
          </a:p>
        </p:txBody>
      </p:sp>
      <p:sp>
        <p:nvSpPr>
          <p:cNvPr id="3" name="Content Placeholder 2"/>
          <p:cNvSpPr>
            <a:spLocks noGrp="1"/>
          </p:cNvSpPr>
          <p:nvPr>
            <p:ph idx="1"/>
          </p:nvPr>
        </p:nvSpPr>
        <p:spPr/>
        <p:txBody>
          <a:bodyPr wrap="square">
            <a:normAutofit/>
          </a:bodyPr>
          <a:lstStyle/>
          <a:p>
            <a:pPr>
              <a:buNone/>
            </a:pPr>
            <a:r>
              <a:rPr sz="2000" b="0" i="0" u="none"/>
              <a:t>1. </a:t>
            </a:r>
            <a:r>
              <a:rPr sz="2000" b="1" i="0" u="none"/>
              <a:t>Edit the generated instruction file directly</a:t>
            </a:r>
            <a:endParaRPr sz="2000" b="0" i="0">
              <a:latin typeface="Arial"/>
            </a:endParaRPr>
          </a:p>
          <a:p>
            <a:pPr>
              <a:buNone/>
            </a:pPr>
            <a:r>
              <a:rPr sz="2000" b="0" i="0" u="none"/>
              <a:t>2. </a:t>
            </a:r>
            <a:r>
              <a:rPr sz="2000" b="1" i="0" u="none"/>
              <a:t>Modify the prompt file and regenerate</a:t>
            </a:r>
            <a:endParaRPr sz="2000" b="0" i="0">
              <a:latin typeface="Arial"/>
            </a:endParaRPr>
          </a:p>
          <a:p>
            <a:pPr>
              <a:buNone/>
            </a:pPr>
            <a:endParaRPr sz="2000" b="0" i="0">
              <a:latin typeface="Arial"/>
            </a:endParaRPr>
          </a:p>
          <a:p>
            <a:pPr>
              <a:buNone/>
            </a:pPr>
            <a:r>
              <a:rPr sz="2000" b="1" i="0" u="none"/>
              <a:t>Preferred for version control</a:t>
            </a:r>
            <a:r>
              <a:rPr sz="2000" b="0" i="0" u="none"/>
              <a:t>: update the prompt, then rerun it.</a:t>
            </a:r>
            <a:endParaRPr sz="2000" b="0" i="0">
              <a:latin typeface="Arial"/>
            </a:endParaRPr>
          </a:p>
          <a:p>
            <a:pPr>
              <a:buNone/>
            </a:pPr>
            <a:endParaRPr sz="2000" b="0" i="0">
              <a:latin typeface="Arial"/>
            </a:endParaRPr>
          </a:p>
          <a:p>
            <a:pPr>
              <a:buNone/>
            </a:pPr>
            <a:r>
              <a:rPr sz="2000" b="0" i="0" u="none"/>
              <a:t>Why the second path usually wins:</a:t>
            </a:r>
            <a:endParaRPr sz="2000" b="0" i="0">
              <a:latin typeface="Arial"/>
            </a:endParaRPr>
          </a:p>
          <a:p>
            <a:pPr>
              <a:buNone/>
            </a:pPr>
            <a:endParaRPr sz="2000" b="0" i="0">
              <a:latin typeface="Arial"/>
            </a:endParaRPr>
          </a:p>
          <a:p>
            <a:r>
              <a:rPr sz="2000" b="0" i="0" u="none"/>
              <a:t>Prompt evolution is preserved in source control</a:t>
            </a:r>
            <a:endParaRPr sz="2000" b="0" i="0">
              <a:latin typeface="Arial"/>
            </a:endParaRPr>
          </a:p>
          <a:p>
            <a:r>
              <a:rPr sz="2000" b="0" i="0" u="none"/>
              <a:t>Future regeneration stays aligned with the revised intent</a:t>
            </a:r>
            <a:endParaRPr sz="2000" b="0" i="0">
              <a:latin typeface="Arial"/>
            </a:endParaRPr>
          </a:p>
          <a:p>
            <a:r>
              <a:rPr sz="2000" b="0" i="0" u="none"/>
              <a:t>Teams can reproduce the artifact instead of reverse-engineering it</a:t>
            </a:r>
            <a:endParaRPr sz="200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Why Prompt Files Beat Simple Directives</a:t>
            </a:r>
          </a:p>
        </p:txBody>
      </p:sp>
      <p:sp>
        <p:nvSpPr>
          <p:cNvPr id="3" name="Content Placeholder 2"/>
          <p:cNvSpPr>
            <a:spLocks noGrp="1"/>
          </p:cNvSpPr>
          <p:nvPr>
            <p:ph sz="half" idx="1"/>
          </p:nvPr>
        </p:nvSpPr>
        <p:spPr/>
        <p:txBody>
          <a:bodyPr wrap="square">
            <a:normAutofit/>
          </a:bodyPr>
          <a:lstStyle/>
          <a:p>
            <a:pPr>
              <a:buNone/>
            </a:pPr>
            <a:r>
              <a:rPr sz="2000" b="0" i="0" u="none" dirty="0"/>
              <a:t>Simple directive: Create instruction file for Evergreen development</a:t>
            </a:r>
            <a:endParaRPr sz="4000" b="0" i="0" dirty="0">
              <a:latin typeface="Arial"/>
            </a:endParaRPr>
          </a:p>
          <a:p>
            <a:pPr>
              <a:buNone/>
            </a:pPr>
            <a:endParaRPr sz="4000" b="0" i="0" dirty="0">
              <a:latin typeface="Arial"/>
            </a:endParaRPr>
          </a:p>
          <a:p>
            <a:pPr>
              <a:buNone/>
            </a:pPr>
            <a:r>
              <a:rPr sz="2000" b="0" i="0" u="none" dirty="0"/>
              <a:t>Prompt-file approach:</a:t>
            </a:r>
            <a:endParaRPr sz="4000" b="0" i="0" dirty="0">
              <a:latin typeface="Arial"/>
            </a:endParaRPr>
          </a:p>
          <a:p>
            <a:pPr lvl="1"/>
            <a:r>
              <a:rPr sz="2000" b="0" i="0" u="none" dirty="0"/>
              <a:t>Objective</a:t>
            </a:r>
            <a:endParaRPr sz="4000" b="0" i="0" dirty="0">
              <a:latin typeface="Arial"/>
            </a:endParaRPr>
          </a:p>
          <a:p>
            <a:pPr lvl="1"/>
            <a:r>
              <a:rPr sz="2000" b="0" i="0" u="none" dirty="0"/>
              <a:t>Structure</a:t>
            </a:r>
            <a:endParaRPr sz="4000" b="0" i="0" dirty="0">
              <a:latin typeface="Arial"/>
            </a:endParaRPr>
          </a:p>
          <a:p>
            <a:pPr lvl="1"/>
            <a:r>
              <a:rPr sz="2000" b="0" i="0" u="none" dirty="0"/>
              <a:t>Requirements</a:t>
            </a:r>
            <a:endParaRPr sz="4000" b="0" i="0" dirty="0">
              <a:latin typeface="Arial"/>
            </a:endParaRPr>
          </a:p>
          <a:p>
            <a:pPr lvl="1"/>
            <a:r>
              <a:rPr sz="2000" b="0" i="0" u="none" dirty="0"/>
              <a:t>Constraints</a:t>
            </a:r>
            <a:endParaRPr sz="4000" b="0" i="0" dirty="0">
              <a:latin typeface="Arial"/>
            </a:endParaRPr>
          </a:p>
          <a:p>
            <a:pPr lvl="1"/>
            <a:r>
              <a:rPr sz="2000" b="0" i="0" u="none" dirty="0"/>
              <a:t>Expected deliverable</a:t>
            </a:r>
            <a:endParaRPr sz="4000" b="0" i="0" dirty="0">
              <a:latin typeface="Arial"/>
            </a:endParaRPr>
          </a:p>
        </p:txBody>
      </p:sp>
      <p:sp>
        <p:nvSpPr>
          <p:cNvPr id="4" name="Content Placeholder 3"/>
          <p:cNvSpPr>
            <a:spLocks noGrp="1"/>
          </p:cNvSpPr>
          <p:nvPr>
            <p:ph sz="half" idx="2"/>
          </p:nvPr>
        </p:nvSpPr>
        <p:spPr/>
        <p:txBody>
          <a:bodyPr wrap="square">
            <a:normAutofit/>
          </a:bodyPr>
          <a:lstStyle/>
          <a:p>
            <a:pPr>
              <a:buNone/>
            </a:pPr>
            <a:r>
              <a:rPr sz="2000" b="0" i="0" u="none" dirty="0"/>
              <a:t>Benefits:</a:t>
            </a:r>
            <a:endParaRPr sz="4000" b="0" i="0" dirty="0">
              <a:latin typeface="Arial"/>
            </a:endParaRPr>
          </a:p>
          <a:p>
            <a:pPr lvl="1"/>
            <a:r>
              <a:rPr sz="2000" b="0" i="0" u="none" dirty="0"/>
              <a:t>Changes preserved in source control</a:t>
            </a:r>
            <a:endParaRPr sz="4000" b="0" i="0" dirty="0">
              <a:latin typeface="Arial"/>
            </a:endParaRPr>
          </a:p>
          <a:p>
            <a:pPr lvl="1"/>
            <a:r>
              <a:rPr sz="2000" b="0" i="0" u="none" dirty="0"/>
              <a:t>Prompt evolution tracked over time</a:t>
            </a:r>
            <a:endParaRPr sz="4000" b="0" i="0" dirty="0">
              <a:latin typeface="Arial"/>
            </a:endParaRPr>
          </a:p>
          <a:p>
            <a:pPr lvl="1"/>
            <a:r>
              <a:rPr sz="2000" b="0" i="0" u="none" dirty="0"/>
              <a:t>Reproducible instruction-file generation</a:t>
            </a:r>
            <a:endParaRPr sz="4000" b="0" i="0" dirty="0">
              <a:latin typeface="Arial"/>
            </a:endParaRPr>
          </a:p>
          <a:p>
            <a:pPr lvl="1"/>
            <a:r>
              <a:rPr sz="2000" b="0" i="0" u="none" dirty="0"/>
              <a:t>Better provenance than a short, vague command</a:t>
            </a:r>
            <a:endParaRPr sz="4000" b="0" i="0" dirty="0">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0" i="0" u="none"/>
              <a:t>Models and Context</a:t>
            </a:r>
          </a:p>
          <a:p>
            <a:r>
              <a:rPr b="0" i="0" u="none"/>
              <a:t>Guardrails and Prompt Files</a:t>
            </a:r>
          </a:p>
          <a:p>
            <a:r>
              <a:rPr b="1" i="0" u="none"/>
              <a:t>▶ AI Assisted Documentation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Documentation Generation and Code Analysis</a:t>
            </a:r>
          </a:p>
        </p:txBody>
      </p:sp>
      <p:sp>
        <p:nvSpPr>
          <p:cNvPr id="3" name="Subtitle 2"/>
          <p:cNvSpPr>
            <a:spLocks noGrp="1"/>
          </p:cNvSpPr>
          <p:nvPr>
            <p:ph type="subTitle" idx="1"/>
          </p:nvPr>
        </p:nvSpPr>
        <p:spPr/>
        <p:txBody>
          <a:bodyPr wrap="square">
            <a:normAutofit/>
          </a:bodyPr>
          <a:lstStyle/>
          <a:p>
            <a:pPr>
              <a:buNone/>
            </a:pPr>
            <a:r>
              <a:rPr b="0" i="0" u="none"/>
              <a:t>The README That Writes Itself (Finally)</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Documentation Generation &amp; Code Analysis</a:t>
            </a:r>
          </a:p>
        </p:txBody>
      </p:sp>
      <p:sp>
        <p:nvSpPr>
          <p:cNvPr id="3" name="Content Placeholder 2"/>
          <p:cNvSpPr>
            <a:spLocks noGrp="1"/>
          </p:cNvSpPr>
          <p:nvPr>
            <p:ph idx="1"/>
          </p:nvPr>
        </p:nvSpPr>
        <p:spPr/>
        <p:txBody>
          <a:bodyPr wrap="square">
            <a:normAutofit/>
          </a:bodyPr>
          <a:lstStyle/>
          <a:p>
            <a:r>
              <a:rPr sz="2800" b="0" i="0" u="none"/>
              <a:t>Automated README and documentation updates</a:t>
            </a:r>
            <a:endParaRPr sz="2800" b="0" i="0">
              <a:latin typeface="Arial"/>
            </a:endParaRPr>
          </a:p>
          <a:p>
            <a:r>
              <a:rPr sz="2800" b="0" i="0" u="none"/>
              <a:t>Architecture diagram generation</a:t>
            </a:r>
            <a:endParaRPr sz="2800" b="0" i="0">
              <a:latin typeface="Arial"/>
            </a:endParaRPr>
          </a:p>
          <a:p>
            <a:r>
              <a:rPr sz="2800" b="0" i="0" u="none"/>
              <a:t>Complex code explanation and mapping</a:t>
            </a:r>
            <a:endParaRPr sz="2800" b="0" i="0">
              <a:latin typeface="Arial"/>
            </a:endParaRPr>
          </a:p>
          <a:p>
            <a:r>
              <a:rPr sz="2800" b="0" i="0" u="none"/>
              <a:t>Identifying technical debt hot-spots</a:t>
            </a:r>
            <a:endParaRPr sz="2800" b="0" i="0">
              <a:latin typeface="Arial"/>
            </a:endParaRPr>
          </a:p>
          <a:p>
            <a:r>
              <a:rPr sz="2800" b="0" i="0" u="none"/>
              <a:t>Exercises for hands-on practice</a:t>
            </a:r>
            <a:endParaRPr sz="2800" b="0" i="0">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50" b="0" i="0" u="none"/>
              <a:t>Automated README &amp; Documentation Updates</a:t>
            </a:r>
          </a:p>
        </p:txBody>
      </p:sp>
      <p:sp>
        <p:nvSpPr>
          <p:cNvPr id="3" name="Content Placeholder 2"/>
          <p:cNvSpPr>
            <a:spLocks noGrp="1"/>
          </p:cNvSpPr>
          <p:nvPr>
            <p:ph idx="1"/>
          </p:nvPr>
        </p:nvSpPr>
        <p:spPr/>
        <p:txBody>
          <a:bodyPr wrap="square">
            <a:normAutofit/>
          </a:bodyPr>
          <a:lstStyle/>
          <a:p>
            <a:pPr>
              <a:buNone/>
            </a:pPr>
            <a:r>
              <a:rPr sz="2800" b="0" i="0" u="none"/>
              <a:t>Capabilities</a:t>
            </a:r>
            <a:endParaRPr sz="2800" b="0" i="0">
              <a:latin typeface="Arial"/>
            </a:endParaRPr>
          </a:p>
          <a:p>
            <a:pPr lvl="1"/>
            <a:r>
              <a:rPr sz="2800" b="0" i="0" u="none"/>
              <a:t>Generate or update README files</a:t>
            </a:r>
            <a:endParaRPr sz="2800" b="0" i="0">
              <a:latin typeface="Arial"/>
            </a:endParaRPr>
          </a:p>
          <a:p>
            <a:pPr lvl="1"/>
            <a:r>
              <a:rPr sz="2800" b="0" i="0" u="none"/>
              <a:t>Create module-level documentation</a:t>
            </a:r>
            <a:endParaRPr sz="2800" b="0" i="0">
              <a:latin typeface="Arial"/>
            </a:endParaRPr>
          </a:p>
          <a:p>
            <a:pPr lvl="1"/>
            <a:r>
              <a:rPr sz="2800" b="0" i="0" u="none"/>
              <a:t>Produce API references and usage examples</a:t>
            </a:r>
            <a:endParaRPr sz="2800" b="0" i="0">
              <a:latin typeface="Arial"/>
            </a:endParaRPr>
          </a:p>
          <a:p>
            <a:pPr lvl="1"/>
            <a:r>
              <a:rPr sz="2800" b="0" i="0" u="none"/>
              <a:t>Keep documentation aligned with code changes</a:t>
            </a:r>
            <a:endParaRPr sz="2800" b="0" i="0">
              <a:latin typeface="Arial"/>
            </a:endParaRPr>
          </a:p>
          <a:p>
            <a:pPr>
              <a:buNone/>
            </a:pPr>
            <a:endParaRPr sz="2800" b="0" i="0">
              <a:latin typeface="Arial"/>
            </a:endParaRPr>
          </a:p>
          <a:p>
            <a:pPr>
              <a:buNone/>
            </a:pPr>
            <a:r>
              <a:rPr sz="2800" b="0" i="1" u="none"/>
              <a:t>Create a documentation instruction file?</a:t>
            </a:r>
            <a:endParaRPr sz="28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Create Architecture Diagrams</a:t>
            </a:r>
          </a:p>
        </p:txBody>
      </p:sp>
      <p:sp>
        <p:nvSpPr>
          <p:cNvPr id="3" name="Content Placeholder 2"/>
          <p:cNvSpPr>
            <a:spLocks noGrp="1"/>
          </p:cNvSpPr>
          <p:nvPr>
            <p:ph idx="1"/>
          </p:nvPr>
        </p:nvSpPr>
        <p:spPr/>
        <p:txBody>
          <a:bodyPr wrap="square">
            <a:normAutofit/>
          </a:bodyPr>
          <a:lstStyle/>
          <a:p>
            <a:pPr>
              <a:buNone/>
            </a:pPr>
            <a:r>
              <a:rPr sz="2800" b="0" i="0" u="none"/>
              <a:t>AI-generated diagrams include:</a:t>
            </a:r>
            <a:endParaRPr sz="2800" b="0" i="0">
              <a:latin typeface="Arial"/>
            </a:endParaRPr>
          </a:p>
          <a:p>
            <a:pPr lvl="1"/>
            <a:r>
              <a:rPr sz="2800" b="0" i="0" u="none"/>
              <a:t>System boundaries</a:t>
            </a:r>
            <a:endParaRPr sz="2800" b="0" i="0">
              <a:latin typeface="Arial"/>
            </a:endParaRPr>
          </a:p>
          <a:p>
            <a:pPr lvl="1"/>
            <a:r>
              <a:rPr sz="2800" b="0" i="0" u="none"/>
              <a:t>Module interactions</a:t>
            </a:r>
            <a:endParaRPr sz="2800" b="0" i="0">
              <a:latin typeface="Arial"/>
            </a:endParaRPr>
          </a:p>
          <a:p>
            <a:pPr lvl="1"/>
            <a:r>
              <a:rPr sz="2800" b="0" i="0" u="none"/>
              <a:t>Data flows</a:t>
            </a:r>
            <a:endParaRPr sz="2800" b="0" i="0">
              <a:latin typeface="Arial"/>
            </a:endParaRPr>
          </a:p>
          <a:p>
            <a:pPr lvl="1"/>
            <a:r>
              <a:rPr sz="2800" b="0" i="0" u="none"/>
              <a:t>Deployment environments</a:t>
            </a:r>
            <a:endParaRPr sz="2800" b="0" i="0">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Architecture Diagram Generation</a:t>
            </a:r>
          </a:p>
        </p:txBody>
      </p:sp>
      <p:sp>
        <p:nvSpPr>
          <p:cNvPr id="3" name="Content Placeholder 2"/>
          <p:cNvSpPr>
            <a:spLocks noGrp="1"/>
          </p:cNvSpPr>
          <p:nvPr>
            <p:ph idx="1"/>
          </p:nvPr>
        </p:nvSpPr>
        <p:spPr/>
        <p:txBody>
          <a:bodyPr wrap="square">
            <a:normAutofit/>
          </a:bodyPr>
          <a:lstStyle/>
          <a:p>
            <a:pPr>
              <a:buNone/>
            </a:pPr>
            <a:r>
              <a:rPr sz="2800" b="0" i="0" u="none"/>
              <a:t>What AI can generate</a:t>
            </a:r>
            <a:endParaRPr sz="2800" b="0" i="0">
              <a:latin typeface="Arial"/>
            </a:endParaRPr>
          </a:p>
          <a:p>
            <a:pPr lvl="1"/>
            <a:r>
              <a:rPr sz="2800" b="0" i="0" u="none"/>
              <a:t>High-level system diagrams</a:t>
            </a:r>
            <a:endParaRPr sz="2800" b="0" i="0">
              <a:latin typeface="Arial"/>
            </a:endParaRPr>
          </a:p>
          <a:p>
            <a:pPr lvl="1"/>
            <a:r>
              <a:rPr sz="2800" b="0" i="0" u="none"/>
              <a:t>Module dependency graphs</a:t>
            </a:r>
            <a:endParaRPr sz="2800" b="0" i="0">
              <a:latin typeface="Arial"/>
            </a:endParaRPr>
          </a:p>
          <a:p>
            <a:pPr lvl="1"/>
            <a:r>
              <a:rPr sz="2800" b="0" i="0" u="none"/>
              <a:t>Data flow diagrams</a:t>
            </a:r>
            <a:endParaRPr sz="2800" b="0" i="0">
              <a:latin typeface="Arial"/>
            </a:endParaRPr>
          </a:p>
          <a:p>
            <a:pPr lvl="1"/>
            <a:r>
              <a:rPr sz="2800" b="0" i="0" u="none"/>
              <a:t>Deployment topologies</a:t>
            </a:r>
            <a:endParaRPr sz="2800" b="0" i="0">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Complex Code Explanation &amp; Mapping</a:t>
            </a:r>
          </a:p>
        </p:txBody>
      </p:sp>
      <p:sp>
        <p:nvSpPr>
          <p:cNvPr id="3" name="Content Placeholder 2"/>
          <p:cNvSpPr>
            <a:spLocks noGrp="1"/>
          </p:cNvSpPr>
          <p:nvPr>
            <p:ph idx="1"/>
          </p:nvPr>
        </p:nvSpPr>
        <p:spPr/>
        <p:txBody>
          <a:bodyPr wrap="square">
            <a:normAutofit/>
          </a:bodyPr>
          <a:lstStyle/>
          <a:p>
            <a:pPr>
              <a:buNone/>
            </a:pPr>
            <a:r>
              <a:rPr sz="2800" b="0" i="0" u="none"/>
              <a:t>AI can help with:</a:t>
            </a:r>
            <a:endParaRPr sz="2800" b="0" i="0">
              <a:latin typeface="Arial"/>
            </a:endParaRPr>
          </a:p>
          <a:p>
            <a:pPr lvl="1"/>
            <a:r>
              <a:rPr sz="2800" b="0" i="0" u="none"/>
              <a:t>Explaining unfamiliar or legacy code</a:t>
            </a:r>
            <a:endParaRPr sz="2800" b="0" i="0">
              <a:latin typeface="Arial"/>
            </a:endParaRPr>
          </a:p>
          <a:p>
            <a:pPr lvl="1"/>
            <a:r>
              <a:rPr sz="2800" b="0" i="0" u="none"/>
              <a:t>Mapping call chains and dependencies</a:t>
            </a:r>
            <a:endParaRPr sz="2800" b="0" i="0">
              <a:latin typeface="Arial"/>
            </a:endParaRPr>
          </a:p>
          <a:p>
            <a:pPr lvl="1"/>
            <a:r>
              <a:rPr sz="2800" b="0" i="0" u="none"/>
              <a:t>Identifying hidden coupling</a:t>
            </a:r>
            <a:endParaRPr sz="2800" b="0" i="0">
              <a:latin typeface="Arial"/>
            </a:endParaRPr>
          </a:p>
          <a:p>
            <a:pPr lvl="1"/>
            <a:r>
              <a:rPr sz="2800" b="0" i="0" u="none"/>
              <a:t>Translating code into human-readable narratives</a:t>
            </a:r>
            <a:endParaRPr sz="2800" b="0" i="0">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Identifying Technical Debt Hot-spots</a:t>
            </a:r>
          </a:p>
        </p:txBody>
      </p:sp>
      <p:sp>
        <p:nvSpPr>
          <p:cNvPr id="3" name="Content Placeholder 2"/>
          <p:cNvSpPr>
            <a:spLocks noGrp="1"/>
          </p:cNvSpPr>
          <p:nvPr>
            <p:ph idx="1"/>
          </p:nvPr>
        </p:nvSpPr>
        <p:spPr/>
        <p:txBody>
          <a:bodyPr wrap="square">
            <a:normAutofit/>
          </a:bodyPr>
          <a:lstStyle/>
          <a:p>
            <a:pPr>
              <a:buNone/>
            </a:pPr>
            <a:r>
              <a:rPr sz="2800" b="0" i="0" u="none"/>
              <a:t>AI can detect:</a:t>
            </a:r>
            <a:endParaRPr sz="2800" b="0" i="0">
              <a:latin typeface="Arial"/>
            </a:endParaRPr>
          </a:p>
          <a:p>
            <a:pPr lvl="1"/>
            <a:r>
              <a:rPr sz="2800" b="0" i="0" u="none"/>
              <a:t>Outdated patterns</a:t>
            </a:r>
            <a:endParaRPr sz="2800" b="0" i="0">
              <a:latin typeface="Arial"/>
            </a:endParaRPr>
          </a:p>
          <a:p>
            <a:pPr lvl="1"/>
            <a:r>
              <a:rPr sz="2800" b="0" i="0" u="none"/>
              <a:t>Duplicate logic</a:t>
            </a:r>
            <a:endParaRPr sz="2800" b="0" i="0">
              <a:latin typeface="Arial"/>
            </a:endParaRPr>
          </a:p>
          <a:p>
            <a:pPr lvl="1"/>
            <a:r>
              <a:rPr sz="2800" b="0" i="0" u="none"/>
              <a:t>Missing tests</a:t>
            </a:r>
            <a:endParaRPr sz="2800" b="0" i="0">
              <a:latin typeface="Arial"/>
            </a:endParaRPr>
          </a:p>
          <a:p>
            <a:pPr lvl="1"/>
            <a:r>
              <a:rPr sz="2800" b="0" i="0" u="none"/>
              <a:t>High-complexity functions</a:t>
            </a:r>
            <a:endParaRPr sz="2800" b="0" i="0">
              <a:latin typeface="Arial"/>
            </a:endParaRPr>
          </a:p>
          <a:p>
            <a:pPr lvl="1"/>
            <a:r>
              <a:rPr sz="2800" b="0" i="0" u="none"/>
              <a:t>Security risks</a:t>
            </a:r>
            <a:endParaRPr sz="2800" b="0" i="0">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Generate Development &amp; Deployment Guides</a:t>
            </a:r>
          </a:p>
        </p:txBody>
      </p:sp>
      <p:sp>
        <p:nvSpPr>
          <p:cNvPr id="3" name="Content Placeholder 2"/>
          <p:cNvSpPr>
            <a:spLocks noGrp="1"/>
          </p:cNvSpPr>
          <p:nvPr>
            <p:ph idx="1"/>
          </p:nvPr>
        </p:nvSpPr>
        <p:spPr/>
        <p:txBody>
          <a:bodyPr wrap="square">
            <a:normAutofit/>
          </a:bodyPr>
          <a:lstStyle/>
          <a:p>
            <a:pPr>
              <a:buNone/>
            </a:pPr>
            <a:r>
              <a:rPr sz="2800" b="0" i="0" u="none"/>
              <a:t>AI can produce:</a:t>
            </a:r>
            <a:endParaRPr sz="2800" b="0" i="0">
              <a:latin typeface="Arial"/>
            </a:endParaRPr>
          </a:p>
          <a:p>
            <a:pPr lvl="1"/>
            <a:r>
              <a:rPr sz="2800" b="0" i="0" u="none"/>
              <a:t>Setup instructions</a:t>
            </a:r>
            <a:endParaRPr sz="2800" b="0" i="0">
              <a:latin typeface="Arial"/>
            </a:endParaRPr>
          </a:p>
          <a:p>
            <a:pPr lvl="1"/>
            <a:r>
              <a:rPr sz="2800" b="0" i="0" u="none"/>
              <a:t>Local development workflows</a:t>
            </a:r>
            <a:endParaRPr sz="2800" b="0" i="0">
              <a:latin typeface="Arial"/>
            </a:endParaRPr>
          </a:p>
          <a:p>
            <a:pPr lvl="1"/>
            <a:r>
              <a:rPr sz="2800" b="0" i="0" u="none"/>
              <a:t>CI/CD pipeline explanations</a:t>
            </a:r>
            <a:endParaRPr sz="2800" b="0" i="0">
              <a:latin typeface="Arial"/>
            </a:endParaRPr>
          </a:p>
          <a:p>
            <a:pPr lvl="1"/>
            <a:r>
              <a:rPr sz="2800" b="0" i="0" u="none"/>
              <a:t>Deployment steps and rollback procedures</a:t>
            </a:r>
            <a:endParaRPr sz="2800" b="0" i="0">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Update Project Documentation</a:t>
            </a:r>
          </a:p>
        </p:txBody>
      </p:sp>
      <p:sp>
        <p:nvSpPr>
          <p:cNvPr id="3" name="Content Placeholder 2"/>
          <p:cNvSpPr>
            <a:spLocks noGrp="1"/>
          </p:cNvSpPr>
          <p:nvPr>
            <p:ph idx="1"/>
          </p:nvPr>
        </p:nvSpPr>
        <p:spPr/>
        <p:txBody>
          <a:bodyPr wrap="square">
            <a:normAutofit/>
          </a:bodyPr>
          <a:lstStyle/>
          <a:p>
            <a:pPr>
              <a:buNone/>
            </a:pPr>
            <a:r>
              <a:rPr sz="1800" b="0" i="0" u="none"/>
              <a:t>AI can update:</a:t>
            </a:r>
            <a:endParaRPr sz="1800" b="0" i="0">
              <a:latin typeface="Consolas"/>
            </a:endParaRPr>
          </a:p>
          <a:p>
            <a:pPr lvl="1"/>
            <a:r>
              <a:rPr sz="1800" b="0" i="0" u="none">
                <a:latin typeface="Consolas"/>
              </a:rPr>
              <a:t>CHANGELOGs</a:t>
            </a:r>
            <a:endParaRPr sz="1800" b="0" i="0">
              <a:latin typeface="Consolas"/>
            </a:endParaRPr>
          </a:p>
          <a:p>
            <a:pPr lvl="1"/>
            <a:r>
              <a:rPr sz="1800" b="0" i="0" u="none">
                <a:latin typeface="Consolas"/>
              </a:rPr>
              <a:t>CONTRIBUTING</a:t>
            </a:r>
            <a:r>
              <a:rPr sz="1800" b="0" i="0" u="none"/>
              <a:t> guides</a:t>
            </a:r>
            <a:endParaRPr sz="1800" b="0" i="0">
              <a:latin typeface="Consolas"/>
            </a:endParaRPr>
          </a:p>
          <a:p>
            <a:pPr lvl="1"/>
            <a:r>
              <a:rPr sz="1800" b="0" i="0" u="none">
                <a:latin typeface="Consolas"/>
              </a:rPr>
              <a:t>API</a:t>
            </a:r>
            <a:r>
              <a:rPr sz="1800" b="0" i="0" u="none"/>
              <a:t> references</a:t>
            </a:r>
            <a:endParaRPr sz="1800" b="0" i="0">
              <a:latin typeface="Consolas"/>
            </a:endParaRPr>
          </a:p>
          <a:p>
            <a:pPr lvl="1"/>
            <a:r>
              <a:rPr sz="1800" b="0" i="0" u="none"/>
              <a:t>Module-level docs</a:t>
            </a:r>
            <a:endParaRPr sz="1800" b="0" i="0">
              <a:latin typeface="Consola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Cross-Validate With Multiple AI Models</a:t>
            </a:r>
          </a:p>
        </p:txBody>
      </p:sp>
      <p:sp>
        <p:nvSpPr>
          <p:cNvPr id="3" name="Content Placeholder 2"/>
          <p:cNvSpPr>
            <a:spLocks noGrp="1"/>
          </p:cNvSpPr>
          <p:nvPr>
            <p:ph idx="1"/>
          </p:nvPr>
        </p:nvSpPr>
        <p:spPr/>
        <p:txBody>
          <a:bodyPr wrap="square">
            <a:normAutofit/>
          </a:bodyPr>
          <a:lstStyle/>
          <a:p>
            <a:pPr>
              <a:buNone/>
            </a:pPr>
            <a:r>
              <a:rPr sz="2800" b="0" i="0" u="none"/>
              <a:t>Why cross-validate?</a:t>
            </a:r>
            <a:endParaRPr sz="2800" b="0" i="0">
              <a:latin typeface="Arial"/>
            </a:endParaRPr>
          </a:p>
          <a:p>
            <a:pPr lvl="1"/>
            <a:r>
              <a:rPr sz="2800" b="0" i="0" u="none"/>
              <a:t>Reduce hallucinations</a:t>
            </a:r>
            <a:endParaRPr sz="2800" b="0" i="0">
              <a:latin typeface="Arial"/>
            </a:endParaRPr>
          </a:p>
          <a:p>
            <a:pPr lvl="1"/>
            <a:r>
              <a:rPr sz="2800" b="0" i="0" u="none"/>
              <a:t>Catch inconsistencies</a:t>
            </a:r>
            <a:endParaRPr sz="2800" b="0" i="0">
              <a:latin typeface="Arial"/>
            </a:endParaRPr>
          </a:p>
          <a:p>
            <a:pPr lvl="1"/>
            <a:r>
              <a:rPr sz="2800" b="0" i="0" u="none"/>
              <a:t>Improve accuracy</a:t>
            </a:r>
            <a:endParaRPr sz="2800" b="0" i="0">
              <a:latin typeface="Arial"/>
            </a:endParaRPr>
          </a:p>
          <a:p>
            <a:pPr lvl="1"/>
            <a:r>
              <a:rPr sz="2800" b="0" i="0" u="none"/>
              <a:t>Validate architectural assumptions</a:t>
            </a:r>
            <a:endParaRPr sz="2800" b="0" i="0">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Exercise: Brownfield Code Documentation</a:t>
            </a:r>
          </a:p>
        </p:txBody>
      </p:sp>
      <p:sp>
        <p:nvSpPr>
          <p:cNvPr id="3" name="Content Placeholder 2"/>
          <p:cNvSpPr>
            <a:spLocks noGrp="1"/>
          </p:cNvSpPr>
          <p:nvPr>
            <p:ph sz="half" idx="1"/>
          </p:nvPr>
        </p:nvSpPr>
        <p:spPr/>
        <p:txBody>
          <a:bodyPr wrap="square">
            <a:normAutofit/>
          </a:bodyPr>
          <a:lstStyle/>
          <a:p>
            <a:pPr>
              <a:buNone/>
            </a:pPr>
            <a:r>
              <a:rPr sz="2000" b="0" i="0" u="none" dirty="0"/>
              <a:t>Objectives</a:t>
            </a:r>
            <a:endParaRPr sz="4000" b="0" i="0" dirty="0">
              <a:latin typeface="Arial"/>
            </a:endParaRPr>
          </a:p>
          <a:p>
            <a:pPr lvl="1"/>
            <a:r>
              <a:rPr sz="2000" b="0" i="0" u="none" dirty="0"/>
              <a:t>Practice generating documentation for legacy code</a:t>
            </a:r>
            <a:endParaRPr sz="4000" b="0" i="0" dirty="0">
              <a:latin typeface="Arial"/>
            </a:endParaRPr>
          </a:p>
          <a:p>
            <a:pPr lvl="1"/>
            <a:r>
              <a:rPr sz="2000" b="0" i="0" u="none" dirty="0"/>
              <a:t>Identify missing or unclear areas</a:t>
            </a:r>
            <a:endParaRPr sz="4000" b="0" i="0" dirty="0">
              <a:latin typeface="Arial"/>
            </a:endParaRPr>
          </a:p>
          <a:p>
            <a:pPr lvl="1"/>
            <a:r>
              <a:rPr sz="2000" b="0" i="0" u="none" dirty="0"/>
              <a:t>Produce high-signal summaries</a:t>
            </a:r>
            <a:endParaRPr sz="4000" b="0" i="0" dirty="0">
              <a:latin typeface="Arial"/>
            </a:endParaRPr>
          </a:p>
          <a:p>
            <a:pPr>
              <a:buNone/>
            </a:pPr>
            <a:endParaRPr sz="4000" b="0" i="0" dirty="0">
              <a:latin typeface="Arial"/>
            </a:endParaRPr>
          </a:p>
          <a:p>
            <a:pPr>
              <a:buNone/>
            </a:pPr>
            <a:r>
              <a:rPr sz="2000" b="0" i="0" u="none" dirty="0"/>
              <a:t>Activities</a:t>
            </a:r>
            <a:endParaRPr sz="4000" b="0" i="0" dirty="0">
              <a:latin typeface="Arial"/>
            </a:endParaRPr>
          </a:p>
          <a:p>
            <a:pPr lvl="1">
              <a:buNone/>
            </a:pPr>
            <a:r>
              <a:rPr sz="2000" b="0" i="0" u="none" dirty="0"/>
              <a:t>  1. Select a brownfield module or file</a:t>
            </a:r>
            <a:endParaRPr sz="4000" b="0" i="0" dirty="0">
              <a:latin typeface="Arial"/>
            </a:endParaRPr>
          </a:p>
        </p:txBody>
      </p:sp>
      <p:sp>
        <p:nvSpPr>
          <p:cNvPr id="4" name="Content Placeholder 3"/>
          <p:cNvSpPr>
            <a:spLocks noGrp="1"/>
          </p:cNvSpPr>
          <p:nvPr>
            <p:ph sz="half" idx="2"/>
          </p:nvPr>
        </p:nvSpPr>
        <p:spPr/>
        <p:txBody>
          <a:bodyPr wrap="square">
            <a:normAutofit/>
          </a:bodyPr>
          <a:lstStyle/>
          <a:p>
            <a:pPr>
              <a:buNone/>
            </a:pPr>
            <a:r>
              <a:rPr sz="2000" b="0" i="0" u="none" dirty="0"/>
              <a:t>2. Ask AI to generate:</a:t>
            </a:r>
            <a:endParaRPr sz="4000" b="0" i="0" dirty="0">
              <a:latin typeface="Arial"/>
            </a:endParaRPr>
          </a:p>
          <a:p>
            <a:pPr lvl="2"/>
            <a:r>
              <a:rPr b="0" i="0" u="none" dirty="0"/>
              <a:t>A summary</a:t>
            </a:r>
            <a:endParaRPr sz="4000" b="0" i="0" dirty="0">
              <a:latin typeface="Arial"/>
            </a:endParaRPr>
          </a:p>
          <a:p>
            <a:pPr lvl="2"/>
            <a:r>
              <a:rPr b="0" i="0" u="none" dirty="0"/>
              <a:t>Key responsibilities</a:t>
            </a:r>
            <a:endParaRPr sz="4000" b="0" i="0" dirty="0">
              <a:latin typeface="Arial"/>
            </a:endParaRPr>
          </a:p>
          <a:p>
            <a:pPr lvl="2"/>
            <a:r>
              <a:rPr b="0" i="0" u="none" dirty="0"/>
              <a:t>Inputs/outputs</a:t>
            </a:r>
            <a:endParaRPr sz="4000" b="0" i="0" dirty="0">
              <a:latin typeface="Arial"/>
            </a:endParaRPr>
          </a:p>
          <a:p>
            <a:pPr>
              <a:buNone/>
            </a:pPr>
            <a:endParaRPr sz="4000" b="0" i="0" dirty="0">
              <a:latin typeface="Arial"/>
            </a:endParaRPr>
          </a:p>
          <a:p>
            <a:pPr>
              <a:buNone/>
            </a:pPr>
            <a:r>
              <a:rPr sz="2000" b="0" i="0" u="none" dirty="0"/>
              <a:t>Success Criteria</a:t>
            </a:r>
            <a:endParaRPr sz="4000" b="0" i="0" dirty="0">
              <a:latin typeface="Arial"/>
            </a:endParaRPr>
          </a:p>
          <a:p>
            <a:pPr lvl="1"/>
            <a:r>
              <a:rPr sz="2000" b="0" i="0" u="none" dirty="0"/>
              <a:t>Documentation is accurate and concise</a:t>
            </a:r>
            <a:endParaRPr sz="4000" b="0" i="0" dirty="0">
              <a:latin typeface="Arial"/>
            </a:endParaRPr>
          </a:p>
          <a:p>
            <a:pPr lvl="1"/>
            <a:r>
              <a:rPr sz="2000" b="0" i="0" u="none" dirty="0"/>
              <a:t>Risks and gaps are clearly identified</a:t>
            </a:r>
            <a:endParaRPr sz="4000" b="0" i="0" dirty="0">
              <a:latin typeface="Arial"/>
            </a:endParaRPr>
          </a:p>
          <a:p>
            <a:pPr lvl="1"/>
            <a:r>
              <a:rPr sz="2000" b="0" i="0" u="none" dirty="0"/>
              <a:t>Provenance is included</a:t>
            </a:r>
            <a:endParaRPr sz="4000" b="0" i="0" dirty="0">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Create a Prompt File</a:t>
            </a:r>
          </a:p>
        </p:txBody>
      </p:sp>
      <p:sp>
        <p:nvSpPr>
          <p:cNvPr id="3" name="Content Placeholder 2"/>
          <p:cNvSpPr>
            <a:spLocks noGrp="1"/>
          </p:cNvSpPr>
          <p:nvPr>
            <p:ph sz="half" idx="1"/>
          </p:nvPr>
        </p:nvSpPr>
        <p:spPr/>
        <p:txBody>
          <a:bodyPr wrap="square">
            <a:normAutofit/>
          </a:bodyPr>
          <a:lstStyle/>
          <a:p>
            <a:pPr>
              <a:buNone/>
            </a:pPr>
            <a:r>
              <a:rPr sz="1800" b="0" i="0" u="none" dirty="0"/>
              <a:t>Objectives</a:t>
            </a:r>
            <a:endParaRPr sz="3600" b="0" i="0" dirty="0">
              <a:latin typeface="Arial"/>
            </a:endParaRPr>
          </a:p>
          <a:p>
            <a:pPr lvl="1"/>
            <a:r>
              <a:rPr sz="1800" b="0" i="0" u="none" dirty="0"/>
              <a:t>Understand prompt structure</a:t>
            </a:r>
            <a:endParaRPr sz="3600" b="0" i="0" dirty="0">
              <a:latin typeface="Arial"/>
            </a:endParaRPr>
          </a:p>
          <a:p>
            <a:pPr lvl="1"/>
            <a:r>
              <a:rPr sz="1800" b="0" i="0" u="none" dirty="0"/>
              <a:t>Practice defining task intent</a:t>
            </a:r>
            <a:endParaRPr sz="3600" b="0" i="0" dirty="0">
              <a:latin typeface="Arial"/>
            </a:endParaRPr>
          </a:p>
          <a:p>
            <a:pPr lvl="1"/>
            <a:r>
              <a:rPr sz="1800" b="0" i="0" u="none" dirty="0"/>
              <a:t>Apply constraints and success criteria</a:t>
            </a:r>
            <a:endParaRPr sz="3600" b="0" i="0" dirty="0">
              <a:latin typeface="Arial"/>
            </a:endParaRPr>
          </a:p>
          <a:p>
            <a:pPr>
              <a:buNone/>
            </a:pPr>
            <a:endParaRPr sz="3600" b="0" i="0" dirty="0">
              <a:latin typeface="Arial"/>
            </a:endParaRPr>
          </a:p>
          <a:p>
            <a:pPr>
              <a:buNone/>
            </a:pPr>
            <a:r>
              <a:rPr sz="1800" b="0" i="0" u="none" dirty="0"/>
              <a:t>Activities</a:t>
            </a:r>
            <a:endParaRPr sz="3600" b="0" i="0" dirty="0">
              <a:latin typeface="Arial"/>
            </a:endParaRPr>
          </a:p>
          <a:p>
            <a:pPr lvl="1">
              <a:buNone/>
            </a:pPr>
            <a:r>
              <a:rPr sz="1800" b="0" i="0" u="none" dirty="0"/>
              <a:t>  1. Prompt Copilot to create a prompt file that creates an instruction file for evergreen software development</a:t>
            </a:r>
            <a:endParaRPr sz="3600" b="0" i="0" dirty="0">
              <a:latin typeface="Arial"/>
            </a:endParaRPr>
          </a:p>
          <a:p>
            <a:pPr lvl="1">
              <a:buNone/>
            </a:pPr>
            <a:r>
              <a:rPr sz="1800" b="0" i="0" u="none" dirty="0"/>
              <a:t>  2. Review the prompt</a:t>
            </a:r>
            <a:endParaRPr sz="3600" b="0" i="0" dirty="0">
              <a:latin typeface="Arial"/>
            </a:endParaRPr>
          </a:p>
        </p:txBody>
      </p:sp>
      <p:sp>
        <p:nvSpPr>
          <p:cNvPr id="4" name="Content Placeholder 3"/>
          <p:cNvSpPr>
            <a:spLocks noGrp="1"/>
          </p:cNvSpPr>
          <p:nvPr>
            <p:ph sz="half" idx="2"/>
          </p:nvPr>
        </p:nvSpPr>
        <p:spPr/>
        <p:txBody>
          <a:bodyPr wrap="square">
            <a:normAutofit/>
          </a:bodyPr>
          <a:lstStyle/>
          <a:p>
            <a:pPr>
              <a:buNone/>
            </a:pPr>
            <a:r>
              <a:rPr sz="1800" b="0" i="0" u="none" dirty="0"/>
              <a:t>Success Criteria</a:t>
            </a:r>
            <a:endParaRPr sz="3600" b="0" i="0" dirty="0">
              <a:latin typeface="Arial"/>
            </a:endParaRPr>
          </a:p>
          <a:p>
            <a:pPr lvl="1"/>
            <a:r>
              <a:rPr sz="1800" b="0" i="0" u="none" dirty="0"/>
              <a:t>Prompt is clear, scoped, and reusable</a:t>
            </a:r>
            <a:endParaRPr sz="3600" b="0" i="0" dirty="0">
              <a:latin typeface="Arial"/>
            </a:endParaRPr>
          </a:p>
          <a:p>
            <a:pPr lvl="1"/>
            <a:r>
              <a:rPr sz="1800" b="0" i="0" u="none" dirty="0"/>
              <a:t>Includes constraints and success criteria</a:t>
            </a:r>
            <a:endParaRPr sz="3600" b="0" i="0" dirty="0">
              <a:latin typeface="Arial"/>
            </a:endParaRPr>
          </a:p>
          <a:p>
            <a:pPr lvl="1"/>
            <a:r>
              <a:rPr sz="1800" b="0" i="0" u="none" dirty="0"/>
              <a:t>Avoids unnecessary context</a:t>
            </a:r>
            <a:endParaRPr sz="3600" b="0" i="0" dirty="0">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Code Explanation and Analysis</a:t>
            </a:r>
          </a:p>
        </p:txBody>
      </p:sp>
      <p:sp>
        <p:nvSpPr>
          <p:cNvPr id="3" name="Subtitle 2"/>
          <p:cNvSpPr>
            <a:spLocks noGrp="1"/>
          </p:cNvSpPr>
          <p:nvPr>
            <p:ph type="subTitle" idx="1"/>
          </p:nvPr>
        </p:nvSpPr>
        <p:spPr/>
        <p:txBody>
          <a:bodyPr wrap="square">
            <a:normAutofit/>
          </a:bodyPr>
          <a:lstStyle/>
          <a:p>
            <a:pPr>
              <a:buNone/>
            </a:pPr>
            <a:r>
              <a:rPr b="0" i="0" u="none"/>
              <a:t>Ctrl+I: The "What Does This Even Do?" Button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Code Explanation with Copilot</a:t>
            </a:r>
          </a:p>
        </p:txBody>
      </p:sp>
      <p:sp>
        <p:nvSpPr>
          <p:cNvPr id="3" name="Content Placeholder 2"/>
          <p:cNvSpPr>
            <a:spLocks noGrp="1"/>
          </p:cNvSpPr>
          <p:nvPr>
            <p:ph idx="1"/>
          </p:nvPr>
        </p:nvSpPr>
        <p:spPr/>
        <p:txBody>
          <a:bodyPr wrap="square">
            <a:normAutofit/>
          </a:bodyPr>
          <a:lstStyle/>
          <a:p>
            <a:pPr>
              <a:buNone/>
            </a:pPr>
            <a:r>
              <a:rPr sz="1200" b="0" i="0" u="none"/>
              <a:t>Two Ways to Explain Code</a:t>
            </a:r>
            <a:endParaRPr sz="1200" b="0" i="0">
              <a:latin typeface="Consolas"/>
            </a:endParaRPr>
          </a:p>
          <a:p>
            <a:pPr>
              <a:buNone/>
            </a:pPr>
            <a:endParaRPr sz="1200" b="0" i="0">
              <a:latin typeface="Consolas"/>
            </a:endParaRPr>
          </a:p>
          <a:p>
            <a:pPr>
              <a:buNone/>
            </a:pPr>
            <a:r>
              <a:rPr sz="1200" b="1" i="0" u="none"/>
              <a:t>Option 1: Inline Chat (Control+I)</a:t>
            </a:r>
            <a:endParaRPr sz="1200" b="0" i="0">
              <a:latin typeface="Consolas"/>
            </a:endParaRPr>
          </a:p>
          <a:p>
            <a:pPr>
              <a:buNone/>
            </a:pPr>
            <a:endParaRPr sz="1200" b="0" i="0">
              <a:latin typeface="Consolas"/>
            </a:endParaRPr>
          </a:p>
          <a:p>
            <a:pPr>
              <a:buNone/>
            </a:pPr>
            <a:r>
              <a:rPr sz="1200" b="0" i="0" u="none"/>
              <a:t>1. Select the code you want explained</a:t>
            </a:r>
            <a:endParaRPr sz="1200" b="0" i="0">
              <a:latin typeface="Consolas"/>
            </a:endParaRPr>
          </a:p>
          <a:p>
            <a:pPr>
              <a:buNone/>
            </a:pPr>
            <a:r>
              <a:rPr sz="1200" b="0" i="0" u="none"/>
              <a:t>2. Press </a:t>
            </a:r>
            <a:r>
              <a:rPr sz="1200" b="1" i="0" u="none"/>
              <a:t>Ctrl+I</a:t>
            </a:r>
            <a:r>
              <a:rPr sz="1200" b="0" i="0" u="none"/>
              <a:t> (Windows/Linux) or </a:t>
            </a:r>
            <a:r>
              <a:rPr sz="1200" b="1" i="0" u="none"/>
              <a:t>⌘+I</a:t>
            </a:r>
            <a:r>
              <a:rPr sz="1200" b="0" i="0" u="none"/>
              <a:t> (Mac)</a:t>
            </a:r>
            <a:endParaRPr sz="1200" b="0" i="0">
              <a:latin typeface="Consolas"/>
            </a:endParaRPr>
          </a:p>
          <a:p>
            <a:pPr>
              <a:buNone/>
            </a:pPr>
            <a:r>
              <a:rPr sz="1200" b="0" i="0" u="none"/>
              <a:t>3. Type </a:t>
            </a:r>
            <a:r>
              <a:rPr sz="1200" b="0" i="0" u="none">
                <a:latin typeface="Consolas"/>
              </a:rPr>
              <a:t>explain</a:t>
            </a:r>
            <a:r>
              <a:rPr sz="1200" b="0" i="0" u="none"/>
              <a:t> or ask a specific question</a:t>
            </a:r>
            <a:endParaRPr sz="1200" b="0" i="0">
              <a:latin typeface="Consolas"/>
            </a:endParaRPr>
          </a:p>
          <a:p>
            <a:pPr>
              <a:buNone/>
            </a:pPr>
            <a:r>
              <a:rPr sz="1200" b="0" i="0" u="none"/>
              <a:t>4. Copilot explains the selection in context</a:t>
            </a:r>
            <a:endParaRPr sz="1200" b="0" i="0">
              <a:latin typeface="Consolas"/>
            </a:endParaRPr>
          </a:p>
          <a:p>
            <a:pPr>
              <a:buNone/>
            </a:pPr>
            <a:endParaRPr sz="1200" b="0" i="0">
              <a:latin typeface="Consolas"/>
            </a:endParaRPr>
          </a:p>
          <a:p>
            <a:pPr>
              <a:buNone/>
            </a:pPr>
            <a:r>
              <a:rPr sz="1200" b="1" i="0" u="none"/>
              <a:t>Option 2: Right-Click Menu</a:t>
            </a:r>
            <a:endParaRPr sz="1200" b="0" i="0">
              <a:latin typeface="Consolas"/>
            </a:endParaRPr>
          </a:p>
          <a:p>
            <a:pPr>
              <a:buNone/>
            </a:pPr>
            <a:endParaRPr sz="1200" b="0" i="0">
              <a:latin typeface="Consolas"/>
            </a:endParaRPr>
          </a:p>
          <a:p>
            <a:pPr>
              <a:buNone/>
            </a:pPr>
            <a:r>
              <a:rPr sz="1200" b="0" i="0" u="none"/>
              <a:t>1. Select the code you want explained</a:t>
            </a:r>
            <a:endParaRPr sz="1200" b="0" i="0">
              <a:latin typeface="Consolas"/>
            </a:endParaRPr>
          </a:p>
          <a:p>
            <a:pPr>
              <a:buNone/>
            </a:pPr>
            <a:r>
              <a:rPr sz="1200" b="0" i="0" u="none"/>
              <a:t>2. Right-click → </a:t>
            </a:r>
            <a:r>
              <a:rPr sz="1200" b="1" i="0" u="none"/>
              <a:t>Copilot</a:t>
            </a:r>
            <a:r>
              <a:rPr sz="1200" b="0" i="0" u="none"/>
              <a:t> → </a:t>
            </a:r>
            <a:r>
              <a:rPr sz="1200" b="1" i="0" u="none"/>
              <a:t>Explain</a:t>
            </a:r>
            <a:endParaRPr sz="1200" b="0" i="0">
              <a:latin typeface="Consolas"/>
            </a:endParaRPr>
          </a:p>
          <a:p>
            <a:pPr>
              <a:buNone/>
            </a:pPr>
            <a:r>
              <a:rPr sz="1200" b="0" i="0" u="none"/>
              <a:t>3. Explanation appears in the Chat panel</a:t>
            </a:r>
            <a:endParaRPr sz="1200" b="0" i="0">
              <a:latin typeface="Consola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Understanding Test Code</a:t>
            </a:r>
          </a:p>
        </p:txBody>
      </p:sp>
      <p:sp>
        <p:nvSpPr>
          <p:cNvPr id="3" name="Content Placeholder 2"/>
          <p:cNvSpPr>
            <a:spLocks noGrp="1"/>
          </p:cNvSpPr>
          <p:nvPr>
            <p:ph sz="half" idx="1"/>
          </p:nvPr>
        </p:nvSpPr>
        <p:spPr/>
        <p:txBody>
          <a:bodyPr wrap="square">
            <a:normAutofit lnSpcReduction="10000"/>
          </a:bodyPr>
          <a:lstStyle/>
          <a:p>
            <a:pPr>
              <a:buNone/>
            </a:pPr>
            <a:r>
              <a:rPr sz="1800" b="0" i="0" u="none" dirty="0"/>
              <a:t>Why Test Code Is Hard to Read</a:t>
            </a:r>
            <a:endParaRPr sz="2400" b="0" i="0" dirty="0">
              <a:latin typeface="Consolas"/>
            </a:endParaRPr>
          </a:p>
          <a:p>
            <a:pPr lvl="1"/>
            <a:r>
              <a:rPr sz="1800" b="0" i="0" u="none" dirty="0"/>
              <a:t>Tests use </a:t>
            </a:r>
            <a:r>
              <a:rPr sz="1800" b="1" i="0" u="none" dirty="0"/>
              <a:t>mocking</a:t>
            </a:r>
            <a:r>
              <a:rPr sz="1800" b="0" i="0" u="none" dirty="0"/>
              <a:t>, </a:t>
            </a:r>
            <a:r>
              <a:rPr sz="1800" b="1" i="0" u="none" dirty="0"/>
              <a:t>stubs</a:t>
            </a:r>
            <a:r>
              <a:rPr sz="1800" b="0" i="0" u="none" dirty="0"/>
              <a:t>, and </a:t>
            </a:r>
            <a:r>
              <a:rPr sz="1800" b="1" i="0" u="none" dirty="0"/>
              <a:t>spy patterns</a:t>
            </a:r>
            <a:endParaRPr b="0" i="0" dirty="0">
              <a:latin typeface="Consolas"/>
            </a:endParaRPr>
          </a:p>
          <a:p>
            <a:pPr lvl="1"/>
            <a:r>
              <a:rPr sz="1800" b="0" i="0" u="none" dirty="0"/>
              <a:t>Setup and teardown logic can obscure intent</a:t>
            </a:r>
            <a:endParaRPr b="0" i="0" dirty="0">
              <a:latin typeface="Consolas"/>
            </a:endParaRPr>
          </a:p>
          <a:p>
            <a:pPr lvl="1"/>
            <a:r>
              <a:rPr sz="1800" b="0" i="0" u="none" dirty="0"/>
              <a:t>Assertion libraries have their own DSLs</a:t>
            </a:r>
            <a:endParaRPr b="0" i="0" dirty="0">
              <a:latin typeface="Consolas"/>
            </a:endParaRPr>
          </a:p>
          <a:p>
            <a:pPr lvl="1"/>
            <a:r>
              <a:rPr sz="1800" b="0" i="0" u="none" dirty="0"/>
              <a:t>Tests often reveal </a:t>
            </a:r>
            <a:r>
              <a:rPr sz="1800" b="1" i="0" u="none" dirty="0"/>
              <a:t>implicit requirements</a:t>
            </a:r>
            <a:r>
              <a:rPr sz="1800" b="0" i="0" u="none" dirty="0"/>
              <a:t> not in docs</a:t>
            </a:r>
            <a:endParaRPr b="0" i="0" dirty="0">
              <a:latin typeface="Consolas"/>
            </a:endParaRPr>
          </a:p>
          <a:p>
            <a:pPr>
              <a:buNone/>
            </a:pPr>
            <a:endParaRPr sz="2400" b="0" i="0" dirty="0">
              <a:latin typeface="Consolas"/>
            </a:endParaRPr>
          </a:p>
          <a:p>
            <a:pPr>
              <a:buNone/>
            </a:pPr>
            <a:r>
              <a:rPr sz="1800" b="0" i="0" u="none" dirty="0"/>
              <a:t>Copilot Explains Tests Effectively</a:t>
            </a:r>
            <a:endParaRPr sz="2400" b="0" i="0" dirty="0">
              <a:latin typeface="Consolas"/>
            </a:endParaRPr>
          </a:p>
          <a:p>
            <a:pPr>
              <a:buNone/>
            </a:pPr>
            <a:r>
              <a:rPr sz="1800" dirty="0">
                <a:latin typeface="Consolas"/>
              </a:rPr>
              <a:t>Select test → </a:t>
            </a:r>
            <a:r>
              <a:rPr sz="1800" dirty="0" err="1">
                <a:latin typeface="Consolas"/>
              </a:rPr>
              <a:t>Ctrl+I</a:t>
            </a:r>
            <a:r>
              <a:rPr sz="1800" dirty="0">
                <a:latin typeface="Consolas"/>
              </a:rPr>
              <a:t> → "Explain what this test is verifying</a:t>
            </a:r>
            <a:r>
              <a:rPr lang="en-US" sz="2400" dirty="0">
                <a:latin typeface="Consolas"/>
              </a:rPr>
              <a:t> </a:t>
            </a:r>
            <a:r>
              <a:rPr sz="1800" dirty="0">
                <a:latin typeface="Consolas"/>
              </a:rPr>
              <a:t>and what edge cases it covers"</a:t>
            </a:r>
            <a:endParaRPr sz="2400" b="0" i="0" dirty="0">
              <a:latin typeface="Consolas"/>
            </a:endParaRPr>
          </a:p>
        </p:txBody>
      </p:sp>
      <p:sp>
        <p:nvSpPr>
          <p:cNvPr id="4" name="Content Placeholder 3"/>
          <p:cNvSpPr>
            <a:spLocks noGrp="1"/>
          </p:cNvSpPr>
          <p:nvPr>
            <p:ph sz="half" idx="2"/>
          </p:nvPr>
        </p:nvSpPr>
        <p:spPr/>
        <p:txBody>
          <a:bodyPr wrap="square">
            <a:normAutofit lnSpcReduction="10000"/>
          </a:bodyPr>
          <a:lstStyle/>
          <a:p>
            <a:pPr>
              <a:buNone/>
            </a:pPr>
            <a:r>
              <a:rPr sz="1800" b="1" i="0" u="none" dirty="0"/>
              <a:t>What You Learn From Test Explanations</a:t>
            </a:r>
            <a:endParaRPr sz="3600" b="0" i="0" dirty="0">
              <a:latin typeface="Arial"/>
            </a:endParaRPr>
          </a:p>
          <a:p>
            <a:pPr lvl="1"/>
            <a:r>
              <a:rPr sz="1800" b="0" i="0" u="none" dirty="0"/>
              <a:t>What behavior is being tested</a:t>
            </a:r>
            <a:endParaRPr sz="3600" b="0" i="0" dirty="0">
              <a:latin typeface="Arial"/>
            </a:endParaRPr>
          </a:p>
          <a:p>
            <a:pPr lvl="1"/>
            <a:r>
              <a:rPr sz="1800" b="0" i="0" u="none" dirty="0"/>
              <a:t>What inputs trigger the test</a:t>
            </a:r>
            <a:endParaRPr sz="3600" b="0" i="0" dirty="0">
              <a:latin typeface="Arial"/>
            </a:endParaRPr>
          </a:p>
          <a:p>
            <a:pPr lvl="1"/>
            <a:r>
              <a:rPr sz="1800" b="0" i="0" u="none" dirty="0"/>
              <a:t>What the expected output is</a:t>
            </a:r>
            <a:endParaRPr sz="3600" b="0" i="0" dirty="0">
              <a:latin typeface="Arial"/>
            </a:endParaRPr>
          </a:p>
          <a:p>
            <a:pPr lvl="1"/>
            <a:r>
              <a:rPr sz="1800" b="0" i="0" u="none" dirty="0"/>
              <a:t>Where the gaps might be</a:t>
            </a:r>
            <a:endParaRPr sz="3600" b="0" i="0" dirty="0">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Coverage Gap Analysis</a:t>
            </a:r>
          </a:p>
        </p:txBody>
      </p:sp>
      <p:sp>
        <p:nvSpPr>
          <p:cNvPr id="3" name="Content Placeholder 2"/>
          <p:cNvSpPr>
            <a:spLocks noGrp="1"/>
          </p:cNvSpPr>
          <p:nvPr>
            <p:ph idx="1"/>
          </p:nvPr>
        </p:nvSpPr>
        <p:spPr/>
        <p:txBody>
          <a:bodyPr wrap="square">
            <a:normAutofit/>
          </a:bodyPr>
          <a:lstStyle/>
          <a:p>
            <a:pPr>
              <a:buNone/>
            </a:pPr>
            <a:r>
              <a:rPr sz="1800" b="0" i="0" u="none"/>
              <a:t>Most projects have </a:t>
            </a:r>
            <a:r>
              <a:rPr sz="1800" b="1" i="0" u="none"/>
              <a:t>incomplete test coverage</a:t>
            </a:r>
            <a:r>
              <a:rPr sz="1800" b="0" i="0" u="none"/>
              <a:t> that is hard to spot manually:</a:t>
            </a:r>
            <a:endParaRPr sz="1800" b="0" i="0">
              <a:latin typeface="Consolas"/>
            </a:endParaRPr>
          </a:p>
          <a:p>
            <a:pPr lvl="1"/>
            <a:r>
              <a:rPr sz="1800" b="0" i="0" u="none"/>
              <a:t>Some code paths never exercised</a:t>
            </a:r>
            <a:endParaRPr sz="1800" b="0" i="0">
              <a:latin typeface="Consolas"/>
            </a:endParaRPr>
          </a:p>
          <a:p>
            <a:pPr lvl="1"/>
            <a:r>
              <a:rPr sz="1800" b="0" i="0" u="none"/>
              <a:t>Edge cases and error conditions skipped</a:t>
            </a:r>
            <a:endParaRPr sz="1800" b="0" i="0">
              <a:latin typeface="Consolas"/>
            </a:endParaRPr>
          </a:p>
          <a:p>
            <a:pPr lvl="1"/>
            <a:r>
              <a:rPr sz="1800" b="0" i="0" u="none"/>
              <a:t>Integration between components untested</a:t>
            </a:r>
            <a:endParaRPr sz="1800" b="0" i="0">
              <a:latin typeface="Consolas"/>
            </a:endParaRPr>
          </a:p>
          <a:p>
            <a:pPr lvl="1"/>
            <a:r>
              <a:rPr sz="1800" b="0" i="0" u="none"/>
              <a:t>New features added without corresponding tests</a:t>
            </a:r>
            <a:endParaRPr sz="1800" b="0" i="0">
              <a:latin typeface="Consolas"/>
            </a:endParaRPr>
          </a:p>
          <a:p>
            <a:pPr>
              <a:buNone/>
            </a:pPr>
            <a:endParaRPr sz="1800" b="0" i="0">
              <a:latin typeface="Consolas"/>
            </a:endParaRPr>
          </a:p>
          <a:p>
            <a:pPr>
              <a:buNone/>
            </a:pPr>
            <a:r>
              <a:rPr sz="1800" b="0" i="0" u="none"/>
              <a:t>The Solution: Copilot-Assisted Analysis</a:t>
            </a:r>
            <a:endParaRPr sz="1800" b="0" i="0">
              <a:latin typeface="Consolas"/>
            </a:endParaRPr>
          </a:p>
          <a:p>
            <a:pPr>
              <a:buNone/>
            </a:pPr>
            <a:endParaRPr sz="1800" b="0" i="0">
              <a:latin typeface="Consolas"/>
            </a:endParaRPr>
          </a:p>
          <a:p>
            <a:pPr>
              <a:buNone/>
            </a:pPr>
            <a:r>
              <a:rPr sz="1800" b="0" i="0" u="none"/>
              <a:t>Ask Copilot to analyze your test suite:</a:t>
            </a:r>
            <a:endParaRPr sz="1800" b="0" i="0">
              <a:latin typeface="Consolas"/>
            </a:endParaRPr>
          </a:p>
          <a:p>
            <a:pPr>
              <a:buNone/>
            </a:pPr>
            <a:r>
              <a:rPr sz="1800">
                <a:latin typeface="Consolas"/>
              </a:rPr>
              <a:t>"Analyze this test file and explain its structure.</a:t>
            </a:r>
            <a:endParaRPr sz="1800" b="0" i="0">
              <a:latin typeface="Consolas"/>
            </a:endParaRPr>
          </a:p>
          <a:p>
            <a:pPr>
              <a:buNone/>
            </a:pPr>
            <a:r>
              <a:rPr sz="1800">
                <a:latin typeface="Consolas"/>
              </a:rPr>
              <a:t>What scenarios are covered? What's missing?"</a:t>
            </a:r>
            <a:endParaRPr sz="1800" b="0" i="0">
              <a:latin typeface="Consola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Generating a Coverage Report</a:t>
            </a:r>
          </a:p>
        </p:txBody>
      </p:sp>
      <p:sp>
        <p:nvSpPr>
          <p:cNvPr id="3" name="Content Placeholder 2"/>
          <p:cNvSpPr>
            <a:spLocks noGrp="1"/>
          </p:cNvSpPr>
          <p:nvPr>
            <p:ph idx="1"/>
          </p:nvPr>
        </p:nvSpPr>
        <p:spPr/>
        <p:txBody>
          <a:bodyPr wrap="square">
            <a:normAutofit/>
          </a:bodyPr>
          <a:lstStyle/>
          <a:p>
            <a:pPr>
              <a:buNone/>
            </a:pPr>
            <a:r>
              <a:rPr sz="1800" b="1" i="0" u="none"/>
              <a:t>Prompt to Copilot</a:t>
            </a:r>
            <a:r>
              <a:rPr sz="1800" b="0" i="0" u="none"/>
              <a:t>:</a:t>
            </a:r>
            <a:endParaRPr sz="1800" b="0" i="0">
              <a:latin typeface="Consolas"/>
            </a:endParaRPr>
          </a:p>
          <a:p>
            <a:pPr>
              <a:buNone/>
            </a:pPr>
            <a:r>
              <a:rPr sz="1800">
                <a:latin typeface="Consolas"/>
              </a:rPr>
              <a:t>"Analyze the service test file. Explain the test suite</a:t>
            </a:r>
            <a:endParaRPr sz="1800" b="0" i="0">
              <a:latin typeface="Consolas"/>
            </a:endParaRPr>
          </a:p>
          <a:p>
            <a:pPr>
              <a:buNone/>
            </a:pPr>
            <a:r>
              <a:rPr sz="1800">
                <a:latin typeface="Consolas"/>
              </a:rPr>
              <a:t>structure, what operations are covered, and generate a coverage</a:t>
            </a:r>
            <a:endParaRPr sz="1800" b="0" i="0">
              <a:latin typeface="Consolas"/>
            </a:endParaRPr>
          </a:p>
          <a:p>
            <a:pPr>
              <a:buNone/>
            </a:pPr>
            <a:r>
              <a:rPr sz="1800">
                <a:latin typeface="Consolas"/>
              </a:rPr>
              <a:t>report showing what's tested vs. what's missing."</a:t>
            </a:r>
            <a:endParaRPr sz="1800" b="0" i="0">
              <a:latin typeface="Consolas"/>
            </a:endParaRPr>
          </a:p>
          <a:p>
            <a:pPr>
              <a:buNone/>
            </a:pPr>
            <a:endParaRPr sz="1800" b="0" i="0">
              <a:latin typeface="Consolas"/>
            </a:endParaRPr>
          </a:p>
          <a:p>
            <a:pPr>
              <a:buNone/>
            </a:pPr>
            <a:r>
              <a:rPr sz="1800" b="1" i="0" u="none"/>
              <a:t>Copilot's Response Includes</a:t>
            </a:r>
            <a:r>
              <a:rPr sz="1800" b="0" i="0" u="none"/>
              <a:t>:</a:t>
            </a:r>
            <a:endParaRPr sz="1800" b="0" i="0">
              <a:latin typeface="Consolas"/>
            </a:endParaRPr>
          </a:p>
          <a:p>
            <a:pPr lvl="1"/>
            <a:r>
              <a:rPr sz="1800" b="0" i="0" u="none"/>
              <a:t>Test suite structure overview</a:t>
            </a:r>
            <a:endParaRPr sz="1800" b="0" i="0">
              <a:latin typeface="Consolas"/>
            </a:endParaRPr>
          </a:p>
          <a:p>
            <a:pPr lvl="1"/>
            <a:r>
              <a:rPr sz="1800" b="0" i="0" u="none"/>
              <a:t>Covered scenarios (e.g., basic operations: add, subtract, multiply, divide)</a:t>
            </a:r>
            <a:endParaRPr sz="1800" b="0" i="0">
              <a:latin typeface="Consolas"/>
            </a:endParaRPr>
          </a:p>
          <a:p>
            <a:pPr lvl="1"/>
            <a:r>
              <a:rPr sz="1800" b="0" i="0" u="none"/>
              <a:t>Coverage estimate: </a:t>
            </a:r>
            <a:r>
              <a:rPr sz="1800" b="1" i="0" u="none"/>
              <a:t>95% for service</a:t>
            </a:r>
            <a:endParaRPr sz="1800" b="0" i="0">
              <a:latin typeface="Consolas"/>
            </a:endParaRPr>
          </a:p>
          <a:p>
            <a:pPr lvl="1"/>
            <a:r>
              <a:rPr sz="1800" b="0" i="0" u="none"/>
              <a:t>Missing coverage areas</a:t>
            </a:r>
            <a:endParaRPr sz="1800" b="0" i="0">
              <a:latin typeface="Consola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Identifying Missing Coverage Areas</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Category</a:t>
                      </a:r>
                    </a:p>
                  </a:txBody>
                  <a:tcPr>
                    <a:solidFill>
                      <a:schemeClr val="accent4"/>
                    </a:solidFill>
                  </a:tcPr>
                </a:tc>
                <a:tc>
                  <a:txBody>
                    <a:bodyPr/>
                    <a:lstStyle/>
                    <a:p>
                      <a:pPr>
                        <a:buNone/>
                        <a:defRPr sz="1600" b="1">
                          <a:solidFill>
                            <a:schemeClr val="bg1"/>
                          </a:solidFill>
                        </a:defRPr>
                      </a:pPr>
                      <a:r>
                        <a:rPr sz="1600" b="0" i="0" u="none"/>
                        <a:t>Examples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Error conditions</a:t>
                      </a:r>
                    </a:p>
                  </a:txBody>
                  <a:tcPr>
                    <a:solidFill>
                      <a:schemeClr val="accent4">
                        <a:lumMod val="20000"/>
                        <a:lumOff val="80000"/>
                      </a:schemeClr>
                    </a:solidFill>
                  </a:tcPr>
                </a:tc>
                <a:tc>
                  <a:txBody>
                    <a:bodyPr/>
                    <a:lstStyle/>
                    <a:p>
                      <a:pPr>
                        <a:buNone/>
                        <a:defRPr sz="1600" b="0">
                          <a:solidFill>
                            <a:schemeClr val="tx1"/>
                          </a:solidFill>
                        </a:defRPr>
                      </a:pPr>
                      <a:r>
                        <a:rPr sz="1600" b="0" i="0" u="none"/>
                        <a:t>Division by zero, null inputs, overflow</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Boundary values</a:t>
                      </a:r>
                    </a:p>
                  </a:txBody>
                  <a:tcPr>
                    <a:solidFill>
                      <a:schemeClr val="accent4">
                        <a:lumMod val="8000"/>
                        <a:lumOff val="92000"/>
                      </a:schemeClr>
                    </a:solidFill>
                  </a:tcPr>
                </a:tc>
                <a:tc>
                  <a:txBody>
                    <a:bodyPr/>
                    <a:lstStyle/>
                    <a:p>
                      <a:pPr>
                        <a:buNone/>
                        <a:defRPr sz="1600" b="0">
                          <a:solidFill>
                            <a:schemeClr val="tx1"/>
                          </a:solidFill>
                        </a:defRPr>
                      </a:pPr>
                      <a:r>
                        <a:rPr sz="1600" b="0" i="0" u="none"/>
                        <a:t>Min/max values, empty collections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Integration paths</a:t>
                      </a:r>
                    </a:p>
                  </a:txBody>
                  <a:tcPr>
                    <a:solidFill>
                      <a:schemeClr val="accent4">
                        <a:lumMod val="20000"/>
                        <a:lumOff val="80000"/>
                      </a:schemeClr>
                    </a:solidFill>
                  </a:tcPr>
                </a:tc>
                <a:tc>
                  <a:txBody>
                    <a:bodyPr/>
                    <a:lstStyle/>
                    <a:p>
                      <a:pPr>
                        <a:buNone/>
                        <a:defRPr sz="1600" b="0">
                          <a:solidFill>
                            <a:schemeClr val="tx1"/>
                          </a:solidFill>
                        </a:defRPr>
                      </a:pPr>
                      <a:r>
                        <a:rPr sz="1600" b="0" i="0" u="none"/>
                        <a:t>Multi-step operations, state transitions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Edge cases</a:t>
                      </a:r>
                    </a:p>
                  </a:txBody>
                  <a:tcPr>
                    <a:solidFill>
                      <a:schemeClr val="accent4">
                        <a:lumMod val="8000"/>
                        <a:lumOff val="92000"/>
                      </a:schemeClr>
                    </a:solidFill>
                  </a:tcPr>
                </a:tc>
                <a:tc>
                  <a:txBody>
                    <a:bodyPr/>
                    <a:lstStyle/>
                    <a:p>
                      <a:pPr>
                        <a:buNone/>
                        <a:defRPr sz="1600" b="0">
                          <a:solidFill>
                            <a:schemeClr val="tx1"/>
                          </a:solidFill>
                        </a:defRPr>
                      </a:pPr>
                      <a:r>
                        <a:rPr sz="1600" b="0" i="0" u="none"/>
                        <a:t>Floating point precision, negative numbers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1" i="0" u="none"/>
                        <a:t>Concurrency</a:t>
                      </a:r>
                    </a:p>
                  </a:txBody>
                  <a:tcPr>
                    <a:solidFill>
                      <a:schemeClr val="accent4">
                        <a:lumMod val="20000"/>
                        <a:lumOff val="80000"/>
                      </a:schemeClr>
                    </a:solidFill>
                  </a:tcPr>
                </a:tc>
                <a:tc>
                  <a:txBody>
                    <a:bodyPr/>
                    <a:lstStyle/>
                    <a:p>
                      <a:pPr>
                        <a:buNone/>
                        <a:defRPr sz="1600" b="0">
                          <a:solidFill>
                            <a:schemeClr val="tx1"/>
                          </a:solidFill>
                        </a:defRPr>
                      </a:pPr>
                      <a:r>
                        <a:rPr sz="1600" b="0" i="0" u="none"/>
                        <a:t>Race conditions, async operations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Recommended Test Implementation Plan</a:t>
            </a:r>
          </a:p>
        </p:txBody>
      </p:sp>
      <p:sp>
        <p:nvSpPr>
          <p:cNvPr id="3" name="Content Placeholder 2"/>
          <p:cNvSpPr>
            <a:spLocks noGrp="1"/>
          </p:cNvSpPr>
          <p:nvPr>
            <p:ph idx="1"/>
          </p:nvPr>
        </p:nvSpPr>
        <p:spPr/>
        <p:txBody>
          <a:bodyPr wrap="square">
            <a:normAutofit/>
          </a:bodyPr>
          <a:lstStyle/>
          <a:p>
            <a:pPr>
              <a:buNone/>
            </a:pPr>
            <a:r>
              <a:rPr sz="1800" b="0" i="0" u="none"/>
              <a:t>After identifying gaps, ask:</a:t>
            </a:r>
            <a:endParaRPr sz="1800" b="0" i="0">
              <a:latin typeface="Consolas"/>
            </a:endParaRPr>
          </a:p>
          <a:p>
            <a:pPr>
              <a:buNone/>
            </a:pPr>
            <a:r>
              <a:rPr sz="1800">
                <a:latin typeface="Consolas"/>
              </a:rPr>
              <a:t>"Create a test implementation plan for the missing coverage areas.</a:t>
            </a:r>
            <a:endParaRPr sz="1800" b="0" i="0">
              <a:latin typeface="Consolas"/>
            </a:endParaRPr>
          </a:p>
          <a:p>
            <a:pPr>
              <a:buNone/>
            </a:pPr>
            <a:r>
              <a:rPr sz="1800">
                <a:latin typeface="Consolas"/>
              </a:rPr>
              <a:t>Prioritize by risk and provide implementation order."</a:t>
            </a:r>
            <a:endParaRPr sz="1800" b="0" i="0">
              <a:latin typeface="Consolas"/>
            </a:endParaRPr>
          </a:p>
          <a:p>
            <a:pPr>
              <a:buNone/>
            </a:pPr>
            <a:endParaRPr sz="1800" b="0" i="0">
              <a:latin typeface="Consolas"/>
            </a:endParaRPr>
          </a:p>
          <a:p>
            <a:pPr>
              <a:buNone/>
            </a:pPr>
            <a:r>
              <a:rPr sz="1800" b="1" i="0" u="none"/>
              <a:t>Example Plan Output</a:t>
            </a:r>
            <a:r>
              <a:rPr sz="1800" b="0" i="0" u="none"/>
              <a:t>:</a:t>
            </a:r>
            <a:endParaRPr sz="1800" b="0" i="0">
              <a:latin typeface="Consolas"/>
            </a:endParaRPr>
          </a:p>
          <a:p>
            <a:pPr lvl="1">
              <a:buNone/>
            </a:pPr>
            <a:r>
              <a:rPr sz="1800" b="0" i="0" u="none"/>
              <a:t>  1. 🔴 </a:t>
            </a:r>
            <a:r>
              <a:rPr sz="1800" b="1" i="0" u="none"/>
              <a:t>High Priority</a:t>
            </a:r>
            <a:r>
              <a:rPr sz="1800" b="0" i="0" u="none"/>
              <a:t>: Add </a:t>
            </a:r>
            <a:r>
              <a:rPr sz="1800" b="0" i="0" u="none">
                <a:latin typeface="Consolas"/>
              </a:rPr>
              <a:t>divide_by_zero_throws_exception</a:t>
            </a:r>
            <a:r>
              <a:rPr sz="1800" b="0" i="0" u="none"/>
              <a:t> test</a:t>
            </a:r>
            <a:endParaRPr sz="1800" b="0" i="0">
              <a:latin typeface="Consolas"/>
            </a:endParaRPr>
          </a:p>
          <a:p>
            <a:pPr lvl="1">
              <a:buNone/>
            </a:pPr>
            <a:r>
              <a:rPr sz="1800" b="0" i="0" u="none"/>
              <a:t>  2. 🔴 </a:t>
            </a:r>
            <a:r>
              <a:rPr sz="1800" b="1" i="0" u="none"/>
              <a:t>High Priority</a:t>
            </a:r>
            <a:r>
              <a:rPr sz="1800" b="0" i="0" u="none"/>
              <a:t>: Add </a:t>
            </a:r>
            <a:r>
              <a:rPr sz="1800" b="0" i="0" u="none">
                <a:latin typeface="Consolas"/>
              </a:rPr>
              <a:t>negative_number_operations</a:t>
            </a:r>
            <a:r>
              <a:rPr sz="1800" b="0" i="0" u="none"/>
              <a:t> tests</a:t>
            </a:r>
            <a:endParaRPr sz="1800" b="0" i="0">
              <a:latin typeface="Consolas"/>
            </a:endParaRPr>
          </a:p>
          <a:p>
            <a:pPr lvl="1">
              <a:buNone/>
            </a:pPr>
            <a:r>
              <a:rPr sz="1800" b="0" i="0" u="none"/>
              <a:t>  3. 🟡 </a:t>
            </a:r>
            <a:r>
              <a:rPr sz="1800" b="1" i="0" u="none"/>
              <a:t>Medium Priority</a:t>
            </a:r>
            <a:r>
              <a:rPr sz="1800" b="0" i="0" u="none"/>
              <a:t>: Add boundary value tests for max/min inputs</a:t>
            </a:r>
            <a:endParaRPr sz="1800" b="0" i="0">
              <a:latin typeface="Consolas"/>
            </a:endParaRPr>
          </a:p>
          <a:p>
            <a:pPr lvl="1">
              <a:buNone/>
            </a:pPr>
            <a:r>
              <a:rPr sz="1800" b="0" i="0" u="none"/>
              <a:t>  4. 🟡 </a:t>
            </a:r>
            <a:r>
              <a:rPr sz="1800" b="1" i="0" u="none"/>
              <a:t>Medium Priority</a:t>
            </a:r>
            <a:r>
              <a:rPr sz="1800" b="0" i="0" u="none"/>
              <a:t>: Add floating point precision tests</a:t>
            </a:r>
            <a:endParaRPr sz="1800" b="0" i="0">
              <a:latin typeface="Consolas"/>
            </a:endParaRPr>
          </a:p>
          <a:p>
            <a:pPr lvl="1">
              <a:buNone/>
            </a:pPr>
            <a:r>
              <a:rPr sz="1800" b="0" i="0" u="none"/>
              <a:t>  5. 🟢 </a:t>
            </a:r>
            <a:r>
              <a:rPr sz="1800" b="1" i="0" u="none"/>
              <a:t>Low Priority</a:t>
            </a:r>
            <a:r>
              <a:rPr sz="1800" b="0" i="0" u="none"/>
              <a:t>: Add chained operation integration tests</a:t>
            </a:r>
            <a:endParaRPr sz="1800" b="0" i="0">
              <a:latin typeface="Consola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Implementing Tests from Recommendations</a:t>
            </a:r>
          </a:p>
        </p:txBody>
      </p:sp>
      <p:sp>
        <p:nvSpPr>
          <p:cNvPr id="3" name="Content Placeholder 2"/>
          <p:cNvSpPr>
            <a:spLocks noGrp="1"/>
          </p:cNvSpPr>
          <p:nvPr>
            <p:ph idx="1"/>
          </p:nvPr>
        </p:nvSpPr>
        <p:spPr/>
        <p:txBody>
          <a:bodyPr wrap="square">
            <a:normAutofit/>
          </a:bodyPr>
          <a:lstStyle/>
          <a:p>
            <a:pPr>
              <a:buNone/>
            </a:pPr>
            <a:r>
              <a:rPr sz="1700" b="0" i="0" u="none"/>
              <a:t>After reviewing the plan, ask Copilot to implement:</a:t>
            </a:r>
            <a:endParaRPr sz="1700" b="0" i="0">
              <a:latin typeface="Consolas"/>
            </a:endParaRPr>
          </a:p>
          <a:p>
            <a:pPr>
              <a:buNone/>
            </a:pPr>
            <a:r>
              <a:rPr sz="1700">
                <a:latin typeface="Consolas"/>
              </a:rPr>
              <a:t>"Implement the high-priority tests from the coverage gap analysis.</a:t>
            </a:r>
            <a:endParaRPr sz="1700" b="0" i="0">
              <a:latin typeface="Consolas"/>
            </a:endParaRPr>
          </a:p>
          <a:p>
            <a:pPr>
              <a:buNone/>
            </a:pPr>
            <a:r>
              <a:rPr sz="1700">
                <a:latin typeface="Consolas"/>
              </a:rPr>
              <a:t>Follow the existing test patterns in the file."</a:t>
            </a:r>
            <a:endParaRPr sz="1700" b="0" i="0">
              <a:latin typeface="Consolas"/>
            </a:endParaRPr>
          </a:p>
          <a:p>
            <a:pPr>
              <a:buNone/>
            </a:pPr>
            <a:endParaRPr sz="1700" b="0" i="0">
              <a:latin typeface="Consolas"/>
            </a:endParaRPr>
          </a:p>
          <a:p>
            <a:pPr>
              <a:buNone/>
            </a:pPr>
            <a:r>
              <a:rPr sz="1700" b="1" i="0" u="none"/>
              <a:t>What Copilot Generates</a:t>
            </a:r>
            <a:r>
              <a:rPr sz="1700" b="0" i="0" u="none"/>
              <a:t>:</a:t>
            </a:r>
            <a:endParaRPr sz="1700" b="0" i="0">
              <a:latin typeface="Consolas"/>
            </a:endParaRPr>
          </a:p>
          <a:p>
            <a:pPr lvl="1"/>
            <a:r>
              <a:rPr sz="1700" b="0" i="0" u="none"/>
              <a:t>Tests using the </a:t>
            </a:r>
            <a:r>
              <a:rPr sz="1700" b="1" i="0" u="none"/>
              <a:t>same framework</a:t>
            </a:r>
            <a:r>
              <a:rPr sz="1700" b="0" i="0" u="none"/>
              <a:t> as existing tests</a:t>
            </a:r>
            <a:endParaRPr sz="1700" b="0" i="0">
              <a:latin typeface="Consolas"/>
            </a:endParaRPr>
          </a:p>
          <a:p>
            <a:pPr lvl="1"/>
            <a:r>
              <a:rPr sz="1700" b="1" i="0" u="none"/>
              <a:t>Consistent naming conventions</a:t>
            </a:r>
            <a:r>
              <a:rPr sz="1700" b="0" i="0" u="none"/>
              <a:t> matching the codebase</a:t>
            </a:r>
            <a:endParaRPr sz="1700" b="0" i="0">
              <a:latin typeface="Consolas"/>
            </a:endParaRPr>
          </a:p>
          <a:p>
            <a:pPr lvl="1"/>
            <a:r>
              <a:rPr sz="1700" b="1" i="0" u="none"/>
              <a:t>Appropriate assertions</a:t>
            </a:r>
            <a:r>
              <a:rPr sz="1700" b="0" i="0" u="none"/>
              <a:t> for each scenario</a:t>
            </a:r>
            <a:endParaRPr sz="1700" b="0" i="0">
              <a:latin typeface="Consolas"/>
            </a:endParaRPr>
          </a:p>
          <a:p>
            <a:pPr lvl="1"/>
            <a:r>
              <a:rPr sz="1700" b="1" i="0" u="none"/>
              <a:t>Comments</a:t>
            </a:r>
            <a:r>
              <a:rPr sz="1700" b="0" i="0" u="none"/>
              <a:t> explaining what each test verifies</a:t>
            </a:r>
            <a:endParaRPr sz="1700" b="0" i="0">
              <a:latin typeface="Consolas"/>
            </a:endParaRPr>
          </a:p>
          <a:p>
            <a:pPr>
              <a:buNone/>
            </a:pPr>
            <a:endParaRPr sz="1700" b="0" i="0">
              <a:latin typeface="Consolas"/>
            </a:endParaRPr>
          </a:p>
          <a:p>
            <a:pPr>
              <a:buNone/>
            </a:pPr>
            <a:r>
              <a:rPr sz="1700" b="1" i="0" u="none"/>
              <a:t>The Full Workflow</a:t>
            </a:r>
            <a:endParaRPr sz="1700" b="0" i="0">
              <a:latin typeface="Consolas"/>
            </a:endParaRPr>
          </a:p>
          <a:p>
            <a:pPr>
              <a:buNone/>
            </a:pPr>
            <a:r>
              <a:rPr sz="1700">
                <a:latin typeface="Consolas"/>
              </a:rPr>
              <a:t>Explain → Analyze → Identify Gaps → Plan → Implement → Review</a:t>
            </a:r>
            <a:endParaRPr sz="1700" b="0" i="0">
              <a:latin typeface="Consolas"/>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205</TotalTime>
  <Words>10563</Words>
  <Application>Microsoft Office PowerPoint</Application>
  <PresentationFormat>Widescreen</PresentationFormat>
  <Paragraphs>1587</Paragraphs>
  <Slides>97</Slides>
  <Notes>96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97</vt:i4>
      </vt:variant>
    </vt:vector>
  </HeadingPairs>
  <TitlesOfParts>
    <vt:vector size="103" baseType="lpstr">
      <vt:lpstr>Arial</vt:lpstr>
      <vt:lpstr>Calibri</vt:lpstr>
      <vt:lpstr>Consolas</vt:lpstr>
      <vt:lpstr>Noto Sans</vt:lpstr>
      <vt:lpstr>Victor Mono</vt:lpstr>
      <vt:lpstr>CODE Training</vt:lpstr>
      <vt:lpstr>The Return of the Prompter</vt:lpstr>
      <vt:lpstr>Welcome Back to AI-Assisted Software Development</vt:lpstr>
      <vt:lpstr>Daily Themes</vt:lpstr>
      <vt:lpstr>But first…</vt:lpstr>
      <vt:lpstr>Core Instruction Files</vt:lpstr>
      <vt:lpstr>Core Instructions</vt:lpstr>
      <vt:lpstr>Organizational vs. Repository Instruction Files</vt:lpstr>
      <vt:lpstr>Organizational vs. Repository Instruction Files</vt:lpstr>
      <vt:lpstr>Why Two Instruction Layers Exist</vt:lpstr>
      <vt:lpstr>Business/Enterprise Tier Capabilities</vt:lpstr>
      <vt:lpstr>Token Scarcity </vt:lpstr>
      <vt:lpstr>Overview</vt:lpstr>
      <vt:lpstr>What Are GitHub AI Credits?</vt:lpstr>
      <vt:lpstr>What Consumes AI Credits?</vt:lpstr>
      <vt:lpstr>Factors Affecting Your Usage</vt:lpstr>
      <vt:lpstr>Individual Plans: Credit Allowances</vt:lpstr>
      <vt:lpstr>How Credits Work (Individuals)</vt:lpstr>
      <vt:lpstr>Enterprise &amp; Business Plans</vt:lpstr>
      <vt:lpstr>Enterprise &amp; Business: Pool Model</vt:lpstr>
      <vt:lpstr>Cost Control: Budgets</vt:lpstr>
      <vt:lpstr>Exceeding Your Allowance</vt:lpstr>
      <vt:lpstr>Cost Management Tips</vt:lpstr>
      <vt:lpstr>Course Modules</vt:lpstr>
      <vt:lpstr>Large Language Models</vt:lpstr>
      <vt:lpstr>What Is a Large Language Model?</vt:lpstr>
      <vt:lpstr>Tokenization — Breaking Text Apart</vt:lpstr>
      <vt:lpstr>The Transformer Architecture</vt:lpstr>
      <vt:lpstr>Self-Attention — The Core Idea</vt:lpstr>
      <vt:lpstr>Training Phase 1: Pre-training</vt:lpstr>
      <vt:lpstr>Training - Phase 2: Fine-tuning &amp; Alignment</vt:lpstr>
      <vt:lpstr>Context Window — The Model's Working Memory</vt:lpstr>
      <vt:lpstr>Temperature &amp; Sampling</vt:lpstr>
      <vt:lpstr>Course Modules</vt:lpstr>
      <vt:lpstr>GitHub Copilot for Teams</vt:lpstr>
      <vt:lpstr>GitHub Copilot for Teams</vt:lpstr>
      <vt:lpstr>Risks to Consider</vt:lpstr>
      <vt:lpstr>Governance and Compliance Risks</vt:lpstr>
      <vt:lpstr>IP and Data Protection</vt:lpstr>
      <vt:lpstr>Licensing and Legal Considerations</vt:lpstr>
      <vt:lpstr>Course Modules</vt:lpstr>
      <vt:lpstr>Safety Measures and Best Practices</vt:lpstr>
      <vt:lpstr>Safety Measures &amp; Best Practices</vt:lpstr>
      <vt:lpstr>Treat AI Like an Eager Knowledgeable Junior Developer</vt:lpstr>
      <vt:lpstr>Keep Change Sets Small and Reviewable</vt:lpstr>
      <vt:lpstr>Human Review + Automated Review Workflow</vt:lpstr>
      <vt:lpstr>Practical Safety Checklist for AI-Assisted Changes</vt:lpstr>
      <vt:lpstr>Course Modules</vt:lpstr>
      <vt:lpstr>Model Selection and Comparison</vt:lpstr>
      <vt:lpstr>Public Leaderboards</vt:lpstr>
      <vt:lpstr>Core Benchmarks</vt:lpstr>
      <vt:lpstr>Surveys &amp; Deep-Dive Research</vt:lpstr>
      <vt:lpstr>Evaluation Frameworks</vt:lpstr>
      <vt:lpstr>Advanced Context Techniques</vt:lpstr>
      <vt:lpstr>Advanced Context Techniques</vt:lpstr>
      <vt:lpstr>File &amp; Folder Mentions (# Syntax)</vt:lpstr>
      <vt:lpstr>Premium Usage Monitoring</vt:lpstr>
      <vt:lpstr>Why Token Limits Matter</vt:lpstr>
      <vt:lpstr>Technique: Summaries</vt:lpstr>
      <vt:lpstr>Technique: Chunking</vt:lpstr>
      <vt:lpstr>Technique: Scoped Prompts</vt:lpstr>
      <vt:lpstr>Technique: Instruction Files</vt:lpstr>
      <vt:lpstr>Course Modules</vt:lpstr>
      <vt:lpstr>Prompt Files</vt:lpstr>
      <vt:lpstr>What Are Prompt Files?</vt:lpstr>
      <vt:lpstr>Prompt Files: Use Cases</vt:lpstr>
      <vt:lpstr>Prompt Files Best Practices</vt:lpstr>
      <vt:lpstr>Exercise: Creating Prompt Files</vt:lpstr>
      <vt:lpstr>Exercise: Creating Prompt Files</vt:lpstr>
      <vt:lpstr>Creating Instruction Files from Prompts</vt:lpstr>
      <vt:lpstr>Creating Instruction Files from Prompts</vt:lpstr>
      <vt:lpstr>Prompt to Instruction Workflow</vt:lpstr>
      <vt:lpstr>Inference Is Your Friend</vt:lpstr>
      <vt:lpstr>Inference Is Not Your Friend</vt:lpstr>
      <vt:lpstr>Why Start with a Prompt-First Approach?</vt:lpstr>
      <vt:lpstr>Two Ways to Refine the Result</vt:lpstr>
      <vt:lpstr>Why Prompt Files Beat Simple Directives</vt:lpstr>
      <vt:lpstr>Course Modules</vt:lpstr>
      <vt:lpstr>Documentation Generation and Code Analysis</vt:lpstr>
      <vt:lpstr>Documentation Generation &amp; Code Analysis</vt:lpstr>
      <vt:lpstr>Automated README &amp; Documentation Updates</vt:lpstr>
      <vt:lpstr>Create Architecture Diagrams</vt:lpstr>
      <vt:lpstr>Architecture Diagram Generation</vt:lpstr>
      <vt:lpstr>Complex Code Explanation &amp; Mapping</vt:lpstr>
      <vt:lpstr>Identifying Technical Debt Hot-spots</vt:lpstr>
      <vt:lpstr>Generate Development &amp; Deployment Guides</vt:lpstr>
      <vt:lpstr>Update Project Documentation</vt:lpstr>
      <vt:lpstr>Cross-Validate With Multiple AI Models</vt:lpstr>
      <vt:lpstr>Exercise: Brownfield Code Documentation</vt:lpstr>
      <vt:lpstr>Exercise: Create a Prompt File</vt:lpstr>
      <vt:lpstr>Code Explanation and Analysis</vt:lpstr>
      <vt:lpstr>Code Explanation with Copilot</vt:lpstr>
      <vt:lpstr>Understanding Test Code</vt:lpstr>
      <vt:lpstr>Coverage Gap Analysis</vt:lpstr>
      <vt:lpstr>Generating a Coverage Report</vt:lpstr>
      <vt:lpstr>Identifying Missing Coverage Areas</vt:lpstr>
      <vt:lpstr>Recommended Test Implementation Plan</vt:lpstr>
      <vt:lpstr>Implementing Tests from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8</cp:revision>
  <dcterms:created xsi:type="dcterms:W3CDTF">2025-10-19T18:09:53Z</dcterms:created>
  <dcterms:modified xsi:type="dcterms:W3CDTF">2026-09-25T20:21:31Z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