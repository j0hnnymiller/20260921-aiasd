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1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5" r:id="rId87"/>
    <p:sldId id="346" r:id="rId88"/>
    <p:sldId id="347" r:id="rId89"/>
    <p:sldId id="348" r:id="rId90"/>
    <p:sldId id="350" r:id="rId91"/>
    <p:sldId id="351" r:id="rId92"/>
    <p:sldId id="352" r:id="rId93"/>
    <p:sldId id="353" r:id="rId94"/>
    <p:sldId id="354" r:id="rId95"/>
    <p:sldId id="355" r:id="rId96"/>
    <p:sldId id="356" r:id="rId97"/>
    <p:sldId id="357" r:id="rId98"/>
    <p:sldId id="358" r:id="rId99"/>
    <p:sldId id="359" r:id="rId100"/>
    <p:sldId id="360" r:id="rId101"/>
    <p:sldId id="361" r:id="rId102"/>
    <p:sldId id="362" r:id="rId103"/>
    <p:sldId id="363" r:id="rId104"/>
    <p:sldId id="364" r:id="rId105"/>
    <p:sldId id="365" r:id="rId106"/>
    <p:sldId id="366" r:id="rId107"/>
    <p:sldId id="367" r:id="rId108"/>
    <p:sldId id="368" r:id="rId109"/>
    <p:sldId id="369" r:id="rId110"/>
    <p:sldId id="370" r:id="rId111"/>
    <p:sldId id="371" r:id="rId112"/>
    <p:sldId id="372" r:id="rId113"/>
    <p:sldId id="374" r:id="rId1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20007" autoAdjust="0"/>
    <p:restoredTop sz="63597" autoAdjust="0"/>
  </p:normalViewPr>
  <p:slideViewPr>
    <p:cSldViewPr snapToGrid="0" showGuides="1">
      <p:cViewPr varScale="1">
        <p:scale>
          <a:sx n="111" d="100"/>
          <a:sy n="111" d="100"/>
        </p:scale>
        <p:origin x="1844" y="72"/>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1615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9/25/2026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a warm reset and acknowledge the progress the group has already made.</a:t>
            </a:r>
          </a:p>
          <a:p>
            <a:r>
              <a:t>Guide attendees into the session rhythm before moving into new material.</a:t>
            </a:r>
          </a:p>
          <a:p>
            <a:endParaRPr/>
          </a:p>
          <a:p>
            <a:r>
              <a:t>---</a:t>
            </a:r>
          </a:p>
          <a:p>
            <a:endParaRPr/>
          </a:p>
          <a:p>
            <a:r>
              <a:t>Source: slides\marp\welcome-back-wednesday.deck.md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Start by affirming momentum and reminding everyone they are not starting from zero. Mention one or two concepts already covered to ground the audience. Encourage real-time questions so misunderstandings are resolved quickly. Transition by stating the immediate learning objective for this segment.</a:t>
            </a:r>
          </a:p>
          <a:p>
            <a:endParaRPr/>
          </a:p>
          <a:p>
            <a:r>
              <a:t>---</a:t>
            </a:r>
          </a:p>
          <a:p>
            <a:endParaRPr/>
          </a:p>
          <a:p>
            <a:r>
              <a:t>Source: slides\marp\welcome-back-wednesday.deck.md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as a section-divider slide for the week-at-a-glance view.</a:t>
            </a:r>
          </a:p>
          <a:p>
            <a:r>
              <a:t>Pause on the title, then move to the detailed daily theme table on the next slide.</a:t>
            </a:r>
          </a:p>
          <a:p>
            <a:endParaRPr/>
          </a:p>
          <a:p>
            <a:r>
              <a:t>---</a:t>
            </a:r>
          </a:p>
          <a:p>
            <a:endParaRPr/>
          </a:p>
          <a:p>
            <a:r>
              <a:t>Source: slides\marp\daily-themes-wednesday.deck.md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Present the week-long course structure. This overview helps participants understand the progression and big-picture organization of the training.</a:t>
            </a:r>
          </a:p>
          <a:p>
            <a:endParaRPr/>
          </a:p>
          <a:p>
            <a:r>
              <a:t>Key talking points:</a:t>
            </a:r>
          </a:p>
          <a:p>
            <a:endParaRPr/>
          </a:p>
          <a:p>
            <a:r>
              <a:t>- Days 1-3 focus on building AI guardrails through instructions, prompts, and agents</a:t>
            </a:r>
          </a:p>
          <a:p>
            <a:r>
              <a:t>- Thursday shifts to brownfield (existing codebases) scenarios</a:t>
            </a:r>
          </a:p>
          <a:p>
            <a:r>
              <a:t>- Friday covers greenfield (new projects) development</a:t>
            </a:r>
          </a:p>
          <a:p>
            <a:r>
              <a:t>- Each day builds on previous concepts</a:t>
            </a:r>
          </a:p>
          <a:p>
            <a:r>
              <a:t>- The progression moves from foundational controls to practical application</a:t>
            </a:r>
          </a:p>
          <a:p>
            <a:endParaRPr/>
          </a:p>
          <a:p>
            <a:r>
              <a:t>Emphasize that guardrails come first because they're essential for safe, effective AI-assisted development. The brownfield/greenfield split acknowledges that these scenarios have different challenges and considerations.</a:t>
            </a:r>
          </a:p>
          <a:p>
            <a:endParaRPr/>
          </a:p>
          <a:p>
            <a:r>
              <a:t>Transition: "Today we'll start with the foundation..."</a:t>
            </a:r>
          </a:p>
          <a:p>
            <a:endParaRPr/>
          </a:p>
          <a:p>
            <a:r>
              <a:t>---</a:t>
            </a:r>
          </a:p>
          <a:p>
            <a:endParaRPr/>
          </a:p>
          <a:p>
            <a:r>
              <a:t>Source: slides\marp\daily-themes-wednesday.deck.md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gates turn best practices into automated enforcement.</a:t>
            </a:r>
          </a:p>
          <a:p>
            <a:endParaRPr/>
          </a:p>
          <a:p>
            <a:r>
              <a:t>They ensure that every change – human or AI-generated – meets the team's standards before merging.</a:t>
            </a:r>
          </a:p>
          <a:p>
            <a:endParaRPr/>
          </a:p>
          <a:p>
            <a:r>
              <a:t>---</a:t>
            </a:r>
          </a:p>
          <a:p>
            <a:endParaRPr/>
          </a:p>
          <a:p>
            <a:r>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this slide top-to-bottom as a maturity path: define standards, automate checks, enforce policies, then tighten governance.</a:t>
            </a:r>
          </a:p>
          <a:p>
            <a:endParaRPr dirty="0"/>
          </a:p>
          <a:p>
            <a:r>
              <a:rPr dirty="0"/>
              <a:t>Explain that thresholds should be realistic at first and raised over time, rather than set to an unreachable ideal on day one.</a:t>
            </a:r>
          </a:p>
          <a:p>
            <a:endParaRPr dirty="0"/>
          </a:p>
          <a:p>
            <a:r>
              <a:rPr dirty="0"/>
              <a:t>Call out that branch protection is the control plane for quality gates; without protected branches, teams can bypass CI outcomes.</a:t>
            </a:r>
          </a:p>
          <a:p>
            <a:endParaRPr dirty="0"/>
          </a:p>
          <a:p>
            <a:r>
              <a:rPr dirty="0"/>
              <a:t>Close by recommending teams start with lint plus tests, then add security and provenance checks once the baseline is stable.</a:t>
            </a:r>
          </a:p>
          <a:p>
            <a:endParaRPr dirty="0"/>
          </a:p>
          <a:p>
            <a:r>
              <a:rPr dirty="0"/>
              <a:t>---</a:t>
            </a:r>
          </a:p>
          <a:p>
            <a:endParaRPr dirty="0"/>
          </a:p>
          <a:p>
            <a:r>
              <a:rPr dirty="0"/>
              <a:t>Source: slides\marp\test-automation-and-code-quality.deck.md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defining TDD as a development rhythm, not just a testing technique. Emphasize that the main goal is rapid feedback and safer design evolution. Mention that teams using TDD often reduce debugging time because defects are caught at the smallest possible scope.</a:t>
            </a:r>
          </a:p>
          <a:p>
            <a:endParaRPr/>
          </a:p>
          <a:p>
            <a:r>
              <a:t>---</a:t>
            </a:r>
          </a:p>
          <a:p>
            <a:endParaRPr/>
          </a:p>
          <a:p>
            <a:r>
              <a:t>Source: slides\marp\test-driven-development.deck.md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through each phase with a concrete mini-example, such as adding validation for empty input. Stress that red must fail for the expected reason, otherwise the test is not trustworthy. In green, remind learners to write only enough code to pass the test and defer optimization until refactor.</a:t>
            </a:r>
          </a:p>
          <a:p>
            <a:endParaRPr dirty="0"/>
          </a:p>
          <a:p>
            <a:r>
              <a:rPr dirty="0"/>
              <a:t>---</a:t>
            </a:r>
          </a:p>
          <a:p>
            <a:endParaRPr dirty="0"/>
          </a:p>
          <a:p>
            <a:r>
              <a:rPr dirty="0"/>
              <a:t>Source: slides\marp\test-driven-development.deck.md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slide as operational guidance for day-to-day development. Encourage participants to treat test names as executable requirements that make intent obvious during reviews. Close by explaining that AI can accelerate TDD, but only when the team preserves the test-first order and critically reviews generated output.</a:t>
            </a:r>
          </a:p>
          <a:p>
            <a:endParaRPr/>
          </a:p>
          <a:p>
            <a:r>
              <a:t>---</a:t>
            </a:r>
          </a:p>
          <a:p>
            <a:endParaRPr/>
          </a:p>
          <a:p>
            <a:r>
              <a:t>Source: slides\marp\test-driven-development.deck.md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this slide as the bridge between TDD theory and repository execution standards. Explain that the instruction file acts as an operational contract for how tests are written, named, and reviewed.</a:t>
            </a:r>
          </a:p>
          <a:p>
            <a:endParaRPr/>
          </a:p>
          <a:p>
            <a:r>
              <a:t>Emphasize that teams should use the file during planning and pull request reviews, not only during implementation. Mention that AI prompts are stronger when they include concrete business rules, expected failure cases, and naming conventions from this instruction.</a:t>
            </a:r>
          </a:p>
          <a:p>
            <a:endParaRPr/>
          </a:p>
          <a:p>
            <a:r>
              <a:t>Close by encouraging participants to treat this file as the canonical checklist for consistency across contributors and sessions.</a:t>
            </a:r>
          </a:p>
          <a:p>
            <a:endParaRPr/>
          </a:p>
          <a:p>
            <a:r>
              <a:t>---</a:t>
            </a:r>
          </a:p>
          <a:p>
            <a:endParaRPr/>
          </a:p>
          <a:p>
            <a:r>
              <a:t>Source: slides\marp\test-driven-development.deck.md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~00:60</a:t>
            </a:r>
          </a:p>
          <a:p>
            <a:endParaRPr/>
          </a:p>
          <a:p>
            <a:endParaRPr/>
          </a:p>
          <a:p>
            <a:r>
              <a:t>**Prerequisites:** Understanding of TDD principles</a:t>
            </a:r>
          </a:p>
          <a:p>
            <a:endParaRPr/>
          </a:p>
          <a:p>
            <a:r>
              <a:t>### Objectives</a:t>
            </a:r>
          </a:p>
          <a:p>
            <a:endParaRPr/>
          </a:p>
          <a:p>
            <a:r>
              <a:t>- Practice TDD workflow with AI assistance</a:t>
            </a:r>
          </a:p>
          <a:p>
            <a:r>
              <a:t>- Write failing tests before implementation</a:t>
            </a:r>
          </a:p>
          <a:p>
            <a:r>
              <a:t>- Use tests to drive design decisions</a:t>
            </a:r>
          </a:p>
          <a:p>
            <a:r>
              <a:t>- Understand red-green-refactor cycle</a:t>
            </a:r>
          </a:p>
          <a:p>
            <a:endParaRPr/>
          </a:p>
          <a:p>
            <a:r>
              <a:t>### Activities</a:t>
            </a:r>
          </a:p>
          <a:p>
            <a:endParaRPr/>
          </a:p>
          <a:p>
            <a:r>
              <a:t>1. Select a small feature and define expected behavior.</a:t>
            </a:r>
          </a:p>
          <a:p>
            <a:r>
              <a:t>2. Ask Copilot for tests only, and confirm the implementation is still missing.</a:t>
            </a:r>
          </a:p>
          <a:p>
            <a:r>
              <a:t>3. Run tests and capture failures to validate the red phase.</a:t>
            </a:r>
          </a:p>
          <a:p>
            <a:r>
              <a:t>4. Implement the minimum code required to satisfy tests.</a:t>
            </a:r>
          </a:p>
          <a:p>
            <a:r>
              <a:t>5. Refactor for readability and maintainability while keeping tests green.</a:t>
            </a:r>
          </a:p>
          <a:p>
            <a:endParaRPr/>
          </a:p>
          <a:p>
            <a:r>
              <a:t>### Success Criteria</a:t>
            </a:r>
          </a:p>
          <a:p>
            <a:endParaRPr/>
          </a:p>
          <a:p>
            <a:r>
              <a:t>- Tests are authored before implementation code.</a:t>
            </a:r>
          </a:p>
          <a:p>
            <a:r>
              <a:t>- The first execution clearly fails (red).</a:t>
            </a:r>
          </a:p>
          <a:p>
            <a:r>
              <a:t>- Feature implementation makes tests pass (green).</a:t>
            </a:r>
          </a:p>
          <a:p>
            <a:r>
              <a:t>- Refactoring preserves passing tests.</a:t>
            </a:r>
          </a:p>
          <a:p>
            <a:r>
              <a:t>- Participants can explain the value of TDD in AI-assisted development.</a:t>
            </a:r>
          </a:p>
          <a:p>
            <a:endParaRPr/>
          </a:p>
          <a:p>
            <a:r>
              <a:t>### TDD Cycle</a:t>
            </a:r>
          </a:p>
          <a:p>
            <a:endParaRPr/>
          </a:p>
          <a:p>
            <a:r>
              <a:t>1. **Red:** Write a failing test.</a:t>
            </a:r>
          </a:p>
          <a:p>
            <a:r>
              <a:t>2. **Green:** Write minimal code to make it pass.</a:t>
            </a:r>
          </a:p>
          <a:p>
            <a:r>
              <a:t>3. **Refactor:** Improve code while keeping tests green.</a:t>
            </a:r>
          </a:p>
          <a:p>
            <a:endParaRPr/>
          </a:p>
          <a:p>
            <a:r>
              <a:t>---</a:t>
            </a:r>
          </a:p>
          <a:p>
            <a:endParaRPr/>
          </a:p>
          <a:p>
            <a:r>
              <a:t>Source: slides\marp\exercise\exercise-test-driven-development.deck.md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suites age just like code. Without maintenance, they become brittle, noisy, or misleading. Encourage teams to treat test suites as living artifacts that evolve with the system.</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is excellent at pattern detection and coverage suggestions, but humans validate whether tests reflect real business rules. Together, they create a multi-layered validation process.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 coverage numbers can be deceptive. The goal is not 100% coverage — it's meaningful coverage that protects behavior without creating maintenance burdens. Encourage teams to focus on value, not vanity metrics.</a:t>
            </a:r>
          </a:p>
          <a:p>
            <a:endParaRPr/>
          </a:p>
          <a:p>
            <a:r>
              <a:t>---</a:t>
            </a:r>
          </a:p>
          <a:p>
            <a:endParaRPr/>
          </a:p>
          <a:p>
            <a:r>
              <a:t>Source: slides\marp\creating-robust-testing-frameworks.deck.md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section as a practical framework for deploying changes safely in existing codebases. The three pillars - feature flags, As-Is tests, and To-Be tests - work together to give teams confidence and control. Spend a moment framing the problem: production systems can't afford regressions, yet they must evolve. This is the solution.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As-Is tests are your safety net. Emphasize that their job is NOT to validate the ideal behavior - it's to describe what the system does today. If an As-Is test fails, something that used to work is now broken. That's a regression. The key insight: passing As-Is tests = safe to deploy. This reframes testing from "checking if new code is right" to "confirming nothing regressed."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growth strategy matters: don't try to get 100% coverage before you start. Instead, write As-Is tests for the specific areas you're about to change. This creates a targeted safety net exactly where it's needed. Highlight the confidence formula - compiled code plus passing As-Is tests is a strong signal that you haven't broken anything.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about risk. The most dangerous mistake is writing new code that runs unconditionally - it bypasses the entire protection strategy. Emphasize the "bleed" concept: any code outside a feature flag is live code. As-Is tests only protect you if the flag discipline is maintained. Make this memorable: "if it's not behind a flag, it's in production."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To-Be tests are forward-looking. They describe the system you're building, not the system you have. The critical difference from As-Is tests: To-Be tests are expected to fail until the feature is complete. They gate the feature flag, not production. Use the analogy of a construction blueprint - it shows what the building will look like, not what it looks like today.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this workflow step by step. The flag is the pivot point: it controls both what code runs AND which tests are relevant. The CI/CD pipeline runs both phases. Stress that To-Be tests must be isolated - they should never interfere with As-Is test results. Show the code snippet and explain that the flag creates a clean separation.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two-phase pipeline is the operational heart of this strategy. Phase 1 is the gate - it must pass for any merge. Phase 2 is informational during development but becomes a gate before the feature flag is turned on in production. Emphasize that phase 2 doesn't block today - it tracks progress. When all To-Be tests pass and the team is ready, they flip the flag in production.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the business value. The dual-suite approach isn't just a testing pattern - it's a delivery strategy. Teams can keep shipping to production while a large refactor is in progress. Stakeholders can see progress via To-Be test pass rates. Engineers get fast feedback on regressions. And when the feature is done, the flag flip is low-risk because everything has been validated. (~1 minute)</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often forgotten but critical. When a feature ships, its To-Be tests must graduate into the As-Is suite - they now describe production behavior. Failing to do this leaves the As-Is suite incomplete. And the feature flag must be retired to avoid dead code accumulation. The quote on the slide is a key takeaway - write it on a whiteboard if you can. (~1.5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great demonstration of AI as a force multiplier for brownfield work. Flag retirement used to be postponed because it was tedious - tracing every conditional, every test, every config reference. AI makes it fast. Encourage the audience to try this: pick an old flag in their codebase and ask Copilot to identify everything that needs to change to remove it. The results are often surprising in their completeness. (~2 minutes)</a:t>
            </a:r>
          </a:p>
          <a:p>
            <a:endParaRPr/>
          </a:p>
          <a:p>
            <a:r>
              <a:t>---</a:t>
            </a:r>
          </a:p>
          <a:p>
            <a:endParaRPr/>
          </a:p>
          <a:p>
            <a:r>
              <a:t>Source: slides\marp\feature-flags-and-test-suites.deck.md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slides\marp\exercise\exercise-feature-flag-evaluation-and-instructions.deck.md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~00:25</a:t>
            </a:r>
          </a:p>
          <a:p>
            <a:endParaRPr/>
          </a:p>
          <a:p>
            <a:r>
              <a:t>Facilitate this as an architecture decision workshop. Ask teams to avoid abstract answers and ground trade-offs in their current runtime, deployment model, and team operations. Push participants to define who can toggle flags, what telemetry determines progression from 1% to 100%, and what event triggers rollback.</a:t>
            </a:r>
          </a:p>
          <a:p>
            <a:endParaRPr/>
          </a:p>
          <a:p>
            <a:r>
              <a:t>In the second half, convert the decision into a concrete instruction file. Emphasize that the file should reduce ambiguity for future contributors: flag naming, lifecycle stages, test expectations, and decommission steps should be explicit.</a:t>
            </a:r>
          </a:p>
          <a:p>
            <a:endParaRPr/>
          </a:p>
          <a:p>
            <a:r>
              <a:t>Debrief by comparing team selections and discussing where different constraints led to different valid outcomes.</a:t>
            </a:r>
          </a:p>
          <a:p>
            <a:endParaRPr/>
          </a:p>
          <a:p>
            <a:r>
              <a:t>---</a:t>
            </a:r>
          </a:p>
          <a:p>
            <a:endParaRPr/>
          </a:p>
          <a:p>
            <a:r>
              <a:t>Source: slides\marp\exercise\exercise-feature-flag-evaluation-and-instructions.deck.md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slides\marp\exercise\exercise-implement-feature-under-feature-flag.deck.md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r>
              <a:t>Coach participants to keep the feature small and reversible. The goal is not maximum functionality; it is safe deployment mechanics under real delivery pressure. Require tests that prove old behavior remains stable when the flag is off and new behavior is correct when on.</a:t>
            </a:r>
          </a:p>
          <a:p>
            <a:endParaRPr/>
          </a:p>
          <a:p>
            <a:r>
              <a:t>During simulation, ask teams to define explicit rollback thresholds before rollout starts. This reinforces discipline and avoids emotional or delayed rollback decisions in production.</a:t>
            </a:r>
          </a:p>
          <a:p>
            <a:endParaRPr/>
          </a:p>
          <a:p>
            <a:r>
              <a:t>Close by requiring a retirement plan: when the rollout reaches 100% and stabilizes, teams should remove dead code and the flag to prevent long-term branching complexity.</a:t>
            </a:r>
          </a:p>
          <a:p>
            <a:endParaRPr/>
          </a:p>
          <a:p>
            <a:r>
              <a:t>---</a:t>
            </a:r>
          </a:p>
          <a:p>
            <a:endParaRPr/>
          </a:p>
          <a:p>
            <a:r>
              <a:t>Source: slides\marp\exercise\exercise-implement-feature-under-feature-flag.deck.md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Testing in production is not reckless—it's engineered risk management. Traditional staging environments can never fully replicate production conditions, traffic patterns, or edge cases. This module teaches you how to validate changes safely in the real environment where they'll ultimately run. We'll cover feature flags, shadow traffic, canary releases, error budgets, and beta testing strategies.</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gap between staging and production is inevitable. No matter how sophisticated your pre-production environments are, they lack real users, real data volumes, and real integration complexity. Testing in production bridges this gap—but only if you do it safely. Without production testing, your first exposure to production conditions is a full rollout, when the blast radius is maximum. Ask the class: How many have experienced a "worked fine in staging" failure? What was the cost?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Feature flags are the foundation of safe production testing. They allow you to deploy new code without exposing users to it. This means you can validate functionality in production infrastructure before risking customer impact. Emphasize that "real loads" includes not just volume, but also the complexity of production integrations—third-party APIs, legacy systems, database constraints, and network conditions that staging can't replicate.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Shadow traffic is the safest production testing technique. Every production request is duplicated: one copy goes to the existing code (which serves the user), and one copy goes to the new code (which is monitored but discarded). You get full production validation with zero customer risk. Shadow traffic is ideal for testing performance, correctness, and edge-case handling. It's especially valuable for AI-generated code because you can compare outputs between human-written and AI-generated implementations at production scale.</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Canary releases incrementally expand feature exposure. Start with 1% of users—often your internal team or a beta cohort—and monitor error rates, latency, and user reports. If metrics remain healthy, expand to 5%, then 25%, and finally 100%. If any stage shows degradation, halt the rollout and investigate. The key: define "healthy" before you start. What error rate is acceptable? What latency threshold? What volume of support tickets? Canary releases turn deployment into a data-driven decision rather than a leap of faith.</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Observability is your feedback loop. Without real-time dashboards, production testing is blind guessing. You need visibility into error rates, latency, resource consumption, and business metrics. Crucially, you need these metrics scoped to the feature under test—not just global application health. If your payment processing feature is in canary mode, you need a dashboard that shows error rates specifically for that feature across both the canary and control groups. Modern observability platforms support feature-flag-aware telemetry. This is non-negotiable for safe AI-assisted development.</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Automated rollback is the safety net. If error rates or latency exceed predefined thresholds, the system disables the feature automatically—no human in the loop. This is critical because production incidents escalate rapidly. The time between "something's wrong" and "customers are affected" is measured in seconds. Automated rollback limits the blast radius and ensures a consistent response. Define your thresholds ahead of time based on historical baselines and capacity planning. The example shows a YAML config: if payment processing v2 exceeds 1% error rate in any 5-minute window, disable it and alert the team. Ask: What's the cost of a two-minute delay in rollback?</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 testing answers a different question than canary releases. Canary asks, "Is this safe to ship broadly?" while A/B asks, "Is this actually better than the current experience?"</a:t>
            </a:r>
          </a:p>
          <a:p>
            <a:endParaRPr/>
          </a:p>
          <a:p>
            <a:r>
              <a:t>Emphasize that teams should predefine hypotheses and decision thresholds before starting the experiment to avoid cherry-picking outcomes after the fact. Also call out the need for cohort integrity and a sufficient sample size; otherwise the result is noisy and misleading.</a:t>
            </a:r>
          </a:p>
          <a:p>
            <a:endParaRPr/>
          </a:p>
          <a:p>
            <a:r>
              <a:t>Close by connecting A/B testing to feature flags: flags provide the delivery control, while experiment analysis provides the product decision.</a:t>
            </a:r>
          </a:p>
          <a:p>
            <a:endParaRPr/>
          </a:p>
          <a:p>
            <a:r>
              <a:t>---</a:t>
            </a:r>
          </a:p>
          <a:p>
            <a:endParaRPr/>
          </a:p>
          <a:p>
            <a:r>
              <a:t>Source: slides\marp\testing-in-production.deck.md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this presentation on VS Code Copilot Agents. This session will introduce you to the revolutionary concept of autonomous AI agents that can handle complete coding tasks end-to-end.</a:t>
            </a:r>
          </a:p>
          <a:p>
            <a:endParaRPr/>
          </a:p>
          <a:p>
            <a:r>
              <a:t>**Key delivery points:**</a:t>
            </a:r>
          </a:p>
          <a:p>
            <a:endParaRPr/>
          </a:p>
          <a:p>
            <a:r>
              <a:t>- Emphasize this goes beyond simple code suggestions</a:t>
            </a:r>
          </a:p>
          <a:p>
            <a:r>
              <a:t>- Set expectations for a comprehensive overview</a:t>
            </a:r>
          </a:p>
          <a:p>
            <a:r>
              <a:t>- Time allocation: 2-3 minutes introduction</a:t>
            </a:r>
          </a:p>
          <a:p>
            <a:r>
              <a:t>- Engage audience with question: "Who has used basic GitHub Copilot suggestions?"</a:t>
            </a:r>
          </a:p>
          <a:p>
            <a:endParaRPr/>
          </a:p>
          <a:p>
            <a:r>
              <a:t>**Transition:** "Let's start by understanding what makes agents different from traditional AI assistance..."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Local agents are perfect for brainstorming and tasks requiring immediate feedback.</a:t>
            </a:r>
          </a:p>
          <a:p>
            <a:endParaRPr/>
          </a:p>
          <a:p>
            <a:r>
              <a:t>**Use case examples to share:**</a:t>
            </a:r>
          </a:p>
          <a:p>
            <a:endParaRPr/>
          </a:p>
          <a:p>
            <a:r>
              <a:t>- Planning new features with back-and-forth discussion</a:t>
            </a:r>
          </a:p>
          <a:p>
            <a:r>
              <a:t>- Debugging complex issues with stack traces</a:t>
            </a:r>
          </a:p>
          <a:p>
            <a:r>
              <a:t>- Code reviews with immediate explanations</a:t>
            </a:r>
          </a:p>
          <a:p>
            <a:r>
              <a:t>- Exploring architectural decisions</a:t>
            </a:r>
          </a:p>
          <a:p>
            <a:endParaRPr/>
          </a:p>
          <a:p>
            <a:r>
              <a:t>**Technical details:**</a:t>
            </a:r>
          </a:p>
          <a:p>
            <a:endParaRPr/>
          </a:p>
          <a:p>
            <a:r>
              <a:t>- Operates within VS Code's chat interface</a:t>
            </a:r>
          </a:p>
          <a:p>
            <a:r>
              <a:t>- Sessions remain active even when chat is closed</a:t>
            </a:r>
          </a:p>
          <a:p>
            <a:r>
              <a:t>- Can access MCP servers and extension-provided tools</a:t>
            </a:r>
          </a:p>
          <a:p>
            <a:r>
              <a:t>- Works with all models available in VS Code</a:t>
            </a:r>
          </a:p>
          <a:p>
            <a:endParaRPr/>
          </a:p>
          <a:p>
            <a:r>
              <a:t>**Best practices:**</a:t>
            </a:r>
          </a:p>
          <a:p>
            <a:endParaRPr/>
          </a:p>
          <a:p>
            <a:r>
              <a:t>- Use for tasks that are not fully defined</a:t>
            </a:r>
          </a:p>
          <a:p>
            <a:r>
              <a:t>- Great for learning and exploration</a:t>
            </a:r>
          </a:p>
          <a:p>
            <a:r>
              <a:t>- Ideal when you need VS Code context (linting errors, test results)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Background agents excel at implementing well-defined plans without interrupting your workflow.</a:t>
            </a:r>
          </a:p>
          <a:p>
            <a:endParaRPr/>
          </a:p>
          <a:p>
            <a:r>
              <a:t>**Ideal scenarios:**</a:t>
            </a:r>
          </a:p>
          <a:p>
            <a:endParaRPr/>
          </a:p>
          <a:p>
            <a:r>
              <a:t>- Implementing a detailed feature specification</a:t>
            </a:r>
          </a:p>
          <a:p>
            <a:r>
              <a:t>- Refactoring code based on clear requirements</a:t>
            </a:r>
          </a:p>
          <a:p>
            <a:r>
              <a:t>- Batch processing multiple similar changes</a:t>
            </a:r>
          </a:p>
          <a:p>
            <a:r>
              <a:t>- Proof-of-concept development</a:t>
            </a:r>
          </a:p>
          <a:p>
            <a:endParaRPr/>
          </a:p>
          <a:p>
            <a:r>
              <a:t>**Technical implementation:**</a:t>
            </a:r>
          </a:p>
          <a:p>
            <a:endParaRPr/>
          </a:p>
          <a:p>
            <a:r>
              <a:t>- Uses Git worktrees for isolation</a:t>
            </a:r>
          </a:p>
          <a:p>
            <a:r>
              <a:t>- CLI-based execution (Copilot CLI)</a:t>
            </a:r>
          </a:p>
          <a:p>
            <a:r>
              <a:t>- Can reuse workspace custom agents for personas</a:t>
            </a:r>
          </a:p>
          <a:p>
            <a:r>
              <a:t>- Runs on local machine but separated</a:t>
            </a:r>
          </a:p>
          <a:p>
            <a:endParaRPr/>
          </a:p>
          <a:p>
            <a:r>
              <a:t>**Workflow tips:**</a:t>
            </a:r>
          </a:p>
          <a:p>
            <a:endParaRPr/>
          </a:p>
          <a:p>
            <a:r>
              <a:t>- Start with local agent for planning</a:t>
            </a:r>
          </a:p>
          <a:p>
            <a:r>
              <a:t>- Hand off to background agent for implementation</a:t>
            </a:r>
          </a:p>
          <a:p>
            <a:r>
              <a:t>- Use isolation to experiment safely</a:t>
            </a:r>
          </a:p>
          <a:p>
            <a:endParaRPr/>
          </a:p>
          <a:p>
            <a:r>
              <a:t>**Common pitfall:** Don't use for tasks requiring VS Code runtime context unless manually provided.</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Cloud agents bridge the gap between AI assistance and team collaboration workflows.</a:t>
            </a:r>
          </a:p>
          <a:p>
            <a:endParaRPr/>
          </a:p>
          <a:p>
            <a:r>
              <a:t>**Key collaboration features:**</a:t>
            </a:r>
          </a:p>
          <a:p>
            <a:endParaRPr/>
          </a:p>
          <a:p>
            <a:r>
              <a:t>- Copilot coding agent integrates with GitHub</a:t>
            </a:r>
          </a:p>
          <a:p>
            <a:r>
              <a:t>- Can be assigned GitHub issues directly</a:t>
            </a:r>
          </a:p>
          <a:p>
            <a:r>
              <a:t>- Creates pull requests for team review</a:t>
            </a:r>
          </a:p>
          <a:p>
            <a:r>
              <a:t>- Supports @copilot mentions in issues/PRs</a:t>
            </a:r>
          </a:p>
          <a:p>
            <a:endParaRPr/>
          </a:p>
          <a:p>
            <a:r>
              <a:t>**Partner agents:**</a:t>
            </a:r>
          </a:p>
          <a:p>
            <a:endParaRPr/>
          </a:p>
          <a:p>
            <a:r>
              <a:t>- Alternative AI providers beyond GitHub Copilot</a:t>
            </a:r>
          </a:p>
          <a:p>
            <a:r>
              <a:t>- Claude Agent with specialized commands</a:t>
            </a:r>
          </a:p>
          <a:p>
            <a:r>
              <a:t>- OpenAI Codex integration</a:t>
            </a:r>
          </a:p>
          <a:p>
            <a:r>
              <a:t>- Each brings unique capabilities</a:t>
            </a:r>
          </a:p>
          <a:p>
            <a:endParaRPr/>
          </a:p>
          <a:p>
            <a:r>
              <a:t>**Team workflow example:**</a:t>
            </a:r>
          </a:p>
          <a:p>
            <a:endParaRPr/>
          </a:p>
          <a:p>
            <a:r>
              <a:t>1. Local agent creates implementation plan</a:t>
            </a:r>
          </a:p>
          <a:p>
            <a:r>
              <a:t>2. Background agent creates proof of concept</a:t>
            </a:r>
          </a:p>
          <a:p>
            <a:r>
              <a:t>3. Cloud agent implements final version in PR</a:t>
            </a:r>
          </a:p>
          <a:p>
            <a:r>
              <a:t>4. Team reviews and collaborates on the PR</a:t>
            </a:r>
          </a:p>
          <a:p>
            <a:endParaRPr/>
          </a:p>
          <a:p>
            <a:r>
              <a:t>**Transition:** "Let's see how these agents work together in practice..."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The sessions management is what makes the multi-agent workflow practical and organized.</a:t>
            </a:r>
          </a:p>
          <a:p>
            <a:endParaRPr/>
          </a:p>
          <a:p>
            <a:r>
              <a:t>**Key management features:**</a:t>
            </a:r>
          </a:p>
          <a:p>
            <a:endParaRPr/>
          </a:p>
          <a:p>
            <a:r>
              <a:t>- All sessions visible regardless of where they run</a:t>
            </a:r>
          </a:p>
          <a:p>
            <a:r>
              <a:t>- Status indicators show unread messages and active work</a:t>
            </a:r>
          </a:p>
          <a:p>
            <a:r>
              <a:t>- Can filter by status, type, or time period</a:t>
            </a:r>
          </a:p>
          <a:p>
            <a:r>
              <a:t>- Archive completed sessions to reduce clutter</a:t>
            </a:r>
          </a:p>
          <a:p>
            <a:endParaRPr/>
          </a:p>
          <a:p>
            <a:r>
              <a:t>**Workflow demonstration:**</a:t>
            </a:r>
          </a:p>
          <a:p>
            <a:endParaRPr/>
          </a:p>
          <a:p>
            <a:r>
              <a:t>- Show how sessions persist when you close chat</a:t>
            </a:r>
          </a:p>
          <a:p>
            <a:r>
              <a:t>- Explain filtering and search capabilities</a:t>
            </a:r>
          </a:p>
          <a:p>
            <a:r>
              <a:t>- Mention workspace-scoped session lists</a:t>
            </a:r>
          </a:p>
          <a:p>
            <a:endParaRPr/>
          </a:p>
          <a:p>
            <a:r>
              <a:t>**Hand-off capabilities:**</a:t>
            </a:r>
          </a:p>
          <a:p>
            <a:endParaRPr/>
          </a:p>
          <a:p>
            <a:r>
              <a:t>- Critical feature for multi-stage workflows</a:t>
            </a:r>
          </a:p>
          <a:p>
            <a:r>
              <a:t>- Full conversation history carries over</a:t>
            </a:r>
          </a:p>
          <a:p>
            <a:r>
              <a:t>- Original session gets archived automatically</a:t>
            </a:r>
          </a:p>
          <a:p>
            <a:r>
              <a:t>- Example: Local planning → Background implementation → Cloud team review</a:t>
            </a:r>
          </a:p>
          <a:p>
            <a:endParaRPr/>
          </a:p>
          <a:p>
            <a:r>
              <a:t>**UI modes:**</a:t>
            </a:r>
          </a:p>
          <a:p>
            <a:endParaRPr/>
          </a:p>
          <a:p>
            <a:r>
              <a:t>- Compact: Embedded in Chat view</a:t>
            </a:r>
          </a:p>
          <a:p>
            <a:r>
              <a:t>- Side-by-side: Dedicated sessions panel</a:t>
            </a:r>
          </a:p>
          <a:p>
            <a:r>
              <a:t>- Automatically adapts based on Chat view width</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covers the practical aspects of getting started with agents.</a:t>
            </a:r>
          </a:p>
          <a:p>
            <a:endParaRPr/>
          </a:p>
          <a:p>
            <a:r>
              <a:t>**Step-by-step flow:**</a:t>
            </a:r>
          </a:p>
          <a:p>
            <a:endParaRPr/>
          </a:p>
          <a:p>
            <a:r>
              <a:t>1. Open Chat view</a:t>
            </a:r>
          </a:p>
          <a:p>
            <a:r>
              <a:t>2. Select "New Session" dropdown (+)</a:t>
            </a:r>
          </a:p>
          <a:p>
            <a:r>
              <a:t>3. Choose agent type from dropdown</a:t>
            </a:r>
          </a:p>
          <a:p>
            <a:r>
              <a:t>4. Start your task description</a:t>
            </a:r>
          </a:p>
          <a:p>
            <a:endParaRPr/>
          </a:p>
          <a:p>
            <a:r>
              <a:t>**Command Palette options to mention:**</a:t>
            </a:r>
          </a:p>
          <a:p>
            <a:endParaRPr/>
          </a:p>
          <a:p>
            <a:r>
              <a:t>- "Chat: New Chat Editor/Window" for local agents</a:t>
            </a:r>
          </a:p>
          <a:p>
            <a:r>
              <a:t>- "Chat: New Background Agent" for CLI agents</a:t>
            </a:r>
          </a:p>
          <a:p>
            <a:r>
              <a:t>- "Chat: New Cloud Agent" for GitHub integration</a:t>
            </a:r>
          </a:p>
          <a:p>
            <a:r>
              <a:t>- Each creates session in chat editor</a:t>
            </a:r>
          </a:p>
          <a:p>
            <a:endParaRPr/>
          </a:p>
          <a:p>
            <a:r>
              <a:t>**Advanced features:**</a:t>
            </a:r>
          </a:p>
          <a:p>
            <a:endParaRPr/>
          </a:p>
          <a:p>
            <a:r>
              <a:t>- TODO comment assignment requires GitHub PR extension</a:t>
            </a:r>
          </a:p>
          <a:p>
            <a:r>
              <a:t>- Can mention @copilot in GitHub issues</a:t>
            </a:r>
          </a:p>
          <a:p>
            <a:r>
              <a:t>- Welcome page provides quick access to recent sessions</a:t>
            </a:r>
          </a:p>
          <a:p>
            <a:endParaRPr/>
          </a:p>
          <a:p>
            <a:r>
              <a:t>**Parallel sessions workflow:**</a:t>
            </a:r>
          </a:p>
          <a:p>
            <a:endParaRPr/>
          </a:p>
          <a:p>
            <a:r>
              <a:t>- Each agent session focused on different task</a:t>
            </a:r>
          </a:p>
          <a:p>
            <a:r>
              <a:t>- Previous sessions remain active</a:t>
            </a:r>
          </a:p>
          <a:p>
            <a:r>
              <a:t>- Switch between tasks via sessions list</a:t>
            </a:r>
          </a:p>
          <a:p>
            <a:r>
              <a:t>- Great for multitasking developers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addresses a critical concern: how to safely review and integrate agent changes.</a:t>
            </a:r>
          </a:p>
          <a:p>
            <a:endParaRPr/>
          </a:p>
          <a:p>
            <a:r>
              <a:t>**Safety and control emphasis:**</a:t>
            </a:r>
          </a:p>
          <a:p>
            <a:endParaRPr/>
          </a:p>
          <a:p>
            <a:r>
              <a:t>- Agents don't automatically apply changes</a:t>
            </a:r>
          </a:p>
          <a:p>
            <a:r>
              <a:t>- Full visibility into what was modified</a:t>
            </a:r>
          </a:p>
          <a:p>
            <a:r>
              <a:t>- Granular control over which changes to accept</a:t>
            </a:r>
          </a:p>
          <a:p>
            <a:r>
              <a:t>- Can review before applying to main workspace</a:t>
            </a:r>
          </a:p>
          <a:p>
            <a:endParaRPr/>
          </a:p>
          <a:p>
            <a:r>
              <a:t>**Review workflow:**</a:t>
            </a:r>
          </a:p>
          <a:p>
            <a:endParaRPr/>
          </a:p>
          <a:p>
            <a:r>
              <a:t>1. Session completes with change statistics</a:t>
            </a:r>
          </a:p>
          <a:p>
            <a:r>
              <a:t>2. Select session to view details</a:t>
            </a:r>
          </a:p>
          <a:p>
            <a:r>
              <a:t>3. Right-click files for individual diffs</a:t>
            </a:r>
          </a:p>
          <a:p>
            <a:r>
              <a:t>4. Use "View All Changes" for comprehensive review</a:t>
            </a:r>
          </a:p>
          <a:p>
            <a:r>
              <a:t>5. Apply selectively or all at once</a:t>
            </a:r>
          </a:p>
          <a:p>
            <a:endParaRPr/>
          </a:p>
          <a:p>
            <a:r>
              <a:t>**Different agent behaviors:**</a:t>
            </a:r>
          </a:p>
          <a:p>
            <a:endParaRPr/>
          </a:p>
          <a:p>
            <a:r>
              <a:t>- Local agents: Direct workspace integration</a:t>
            </a:r>
          </a:p>
          <a:p>
            <a:r>
              <a:t>- Background agents: Worktree isolation, manual apply</a:t>
            </a:r>
          </a:p>
          <a:p>
            <a:r>
              <a:t>- Cloud agents: Pull request workflow</a:t>
            </a:r>
          </a:p>
          <a:p>
            <a:endParaRPr/>
          </a:p>
          <a:p>
            <a:r>
              <a:t>**Best practices:**</a:t>
            </a:r>
          </a:p>
          <a:p>
            <a:endParaRPr/>
          </a:p>
          <a:p>
            <a:r>
              <a:t>- Always review before applying</a:t>
            </a:r>
          </a:p>
          <a:p>
            <a:r>
              <a:t>- Test changes in isolation first</a:t>
            </a:r>
          </a:p>
          <a:p>
            <a:r>
              <a:t>- Use PR workflow for team visibility</a:t>
            </a:r>
          </a:p>
          <a:p>
            <a:r>
              <a:t>- Document significant changes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This slide demonstrates the power of agent collaboration and specialization.</a:t>
            </a:r>
          </a:p>
          <a:p>
            <a:endParaRPr/>
          </a:p>
          <a:p>
            <a:r>
              <a:t>**Complete workflow example:**</a:t>
            </a:r>
          </a:p>
          <a:p>
            <a:endParaRPr/>
          </a:p>
          <a:p>
            <a:r>
              <a:t>1. **Local agent:** Interactive brainstorming and planning</a:t>
            </a:r>
          </a:p>
          <a:p>
            <a:endParaRPr/>
          </a:p>
          <a:p>
            <a:r>
              <a:t>- Define requirements</a:t>
            </a:r>
          </a:p>
          <a:p>
            <a:r>
              <a:t>- Explore architecture options</a:t>
            </a:r>
          </a:p>
          <a:p>
            <a:r>
              <a:t>- Create detailed implementation plan</a:t>
            </a:r>
          </a:p>
          <a:p>
            <a:endParaRPr/>
          </a:p>
          <a:p>
            <a:r>
              <a:t>2. **Background agent:** Autonomous implementation</a:t>
            </a:r>
          </a:p>
          <a:p>
            <a:endParaRPr/>
          </a:p>
          <a:p>
            <a:r>
              <a:t>- Create multiple proof-of-concept variants</a:t>
            </a:r>
          </a:p>
          <a:p>
            <a:r>
              <a:t>- Test different approaches</a:t>
            </a:r>
          </a:p>
          <a:p>
            <a:r>
              <a:t>- Implement core functionality</a:t>
            </a:r>
          </a:p>
          <a:p>
            <a:endParaRPr/>
          </a:p>
          <a:p>
            <a:r>
              <a:t>3. **Cloud agent:** Team collaboration</a:t>
            </a:r>
          </a:p>
          <a:p>
            <a:endParaRPr/>
          </a:p>
          <a:p>
            <a:r>
              <a:t>- Create production-ready implementation</a:t>
            </a:r>
          </a:p>
          <a:p>
            <a:r>
              <a:t>- Submit pull request</a:t>
            </a:r>
          </a:p>
          <a:p>
            <a:r>
              <a:t>- Enable team review and feedback</a:t>
            </a:r>
          </a:p>
          <a:p>
            <a:endParaRPr/>
          </a:p>
          <a:p>
            <a:r>
              <a:t>**Hand-off mechanics:**</a:t>
            </a:r>
          </a:p>
          <a:p>
            <a:endParaRPr/>
          </a:p>
          <a:p>
            <a:r>
              <a:t>- Full conversation history carries over</a:t>
            </a:r>
          </a:p>
          <a:p>
            <a:r>
              <a:t>- Context preserved across agents</a:t>
            </a:r>
          </a:p>
          <a:p>
            <a:r>
              <a:t>- Original session archived automatically</a:t>
            </a:r>
          </a:p>
          <a:p>
            <a:r>
              <a:t>- New session inherits all context</a:t>
            </a:r>
          </a:p>
          <a:p>
            <a:endParaRPr/>
          </a:p>
          <a:p>
            <a:r>
              <a:t>**Strategic benefits:**</a:t>
            </a:r>
          </a:p>
          <a:p>
            <a:endParaRPr/>
          </a:p>
          <a:p>
            <a:r>
              <a:t>- Play to each agent type's strengths</a:t>
            </a:r>
          </a:p>
          <a:p>
            <a:r>
              <a:t>- Maintain development velocity</a:t>
            </a:r>
          </a:p>
          <a:p>
            <a:r>
              <a:t>- Include team collaboration when needed</a:t>
            </a:r>
          </a:p>
          <a:p>
            <a:r>
              <a:t>- Scale complexity appropriately</a:t>
            </a:r>
          </a:p>
          <a:p>
            <a:endParaRPr/>
          </a:p>
          <a:p>
            <a:r>
              <a:t>**Transition:** "Let's wrap up with key takeaways and next steps..."</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closing slide provides clear next steps and resources for continued learning.</a:t>
            </a:r>
          </a:p>
          <a:p>
            <a:endParaRPr/>
          </a:p>
          <a:p>
            <a:r>
              <a:t>**Immediate action items:**</a:t>
            </a:r>
          </a:p>
          <a:p>
            <a:endParaRPr/>
          </a:p>
          <a:p>
            <a:r>
              <a:t>1. Check VS Code settings to enable agents</a:t>
            </a:r>
          </a:p>
          <a:p>
            <a:r>
              <a:t>2. Try creating a simple local agent session</a:t>
            </a:r>
          </a:p>
          <a:p>
            <a:r>
              <a:t>3. Experiment with a real coding task</a:t>
            </a:r>
          </a:p>
          <a:p>
            <a:r>
              <a:t>4. Explore the sessions management interface</a:t>
            </a:r>
          </a:p>
          <a:p>
            <a:endParaRPr/>
          </a:p>
          <a:p>
            <a:r>
              <a:t>**Learning path recommendations:**</a:t>
            </a:r>
          </a:p>
          <a:p>
            <a:endParaRPr/>
          </a:p>
          <a:p>
            <a:r>
              <a:t>- Start with local agents to understand the interface</a:t>
            </a:r>
          </a:p>
          <a:p>
            <a:r>
              <a:t>- Progress to background agents for autonomous work</a:t>
            </a:r>
          </a:p>
          <a:p>
            <a:r>
              <a:t>- Implement cloud agents for team workflows</a:t>
            </a:r>
          </a:p>
          <a:p>
            <a:r>
              <a:t>- Create custom agents for specialized tasks</a:t>
            </a:r>
          </a:p>
          <a:p>
            <a:endParaRPr/>
          </a:p>
          <a:p>
            <a:r>
              <a:t>**Common setup issues:**</a:t>
            </a:r>
          </a:p>
          <a:p>
            <a:endParaRPr/>
          </a:p>
          <a:p>
            <a:r>
              <a:t>- Organization policies may disable agents</a:t>
            </a:r>
          </a:p>
          <a:p>
            <a:r>
              <a:t>- Need to contact admin if functionality unavailable</a:t>
            </a:r>
          </a:p>
          <a:p>
            <a:r>
              <a:t>- Ensure GitHub Copilot subscription is active</a:t>
            </a:r>
          </a:p>
          <a:p>
            <a:r>
              <a:t>- Check extension requirements for full functionality</a:t>
            </a:r>
          </a:p>
          <a:p>
            <a:endParaRPr/>
          </a:p>
          <a:p>
            <a:r>
              <a:t>**Engagement closing:**</a:t>
            </a:r>
          </a:p>
          <a:p>
            <a:endParaRPr/>
          </a:p>
          <a:p>
            <a:r>
              <a:t>- Ask audience about their biggest coding time-wasters</a:t>
            </a:r>
          </a:p>
          <a:p>
            <a:r>
              <a:t>- Suggest which agent type might help most</a:t>
            </a:r>
          </a:p>
          <a:p>
            <a:r>
              <a:t>- Encourage experimentation and gradual adoption</a:t>
            </a:r>
          </a:p>
          <a:p>
            <a:r>
              <a:t>- Offer to answer questions about specific use cases</a:t>
            </a:r>
          </a:p>
          <a:p>
            <a:endParaRPr/>
          </a:p>
          <a:p>
            <a:r>
              <a:t>**Follow-up suggestions:**</a:t>
            </a:r>
          </a:p>
          <a:p>
            <a:endParaRPr/>
          </a:p>
          <a:p>
            <a:r>
              <a:t>- Share documentation links via chat/email</a:t>
            </a:r>
          </a:p>
          <a:p>
            <a:r>
              <a:t>- Schedule follow-up sessions for advanced topics</a:t>
            </a:r>
          </a:p>
          <a:p>
            <a:r>
              <a:t>- Create team guidelines for agent usage</a:t>
            </a:r>
          </a:p>
          <a:p>
            <a:endParaRPr/>
          </a:p>
          <a:p>
            <a:r>
              <a:t>---</a:t>
            </a:r>
          </a:p>
          <a:p>
            <a:endParaRPr/>
          </a:p>
          <a:p>
            <a:r>
              <a:t>Source: slides\marp\vscode-copilot-agents-overview.deck.md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This slide establishes the fundamental difference between custom agents and traditional AI assistance.</a:t>
            </a:r>
          </a:p>
          <a:p>
            <a:endParaRPr/>
          </a:p>
          <a:p>
            <a:r>
              <a:t>**Key talking points:**</a:t>
            </a:r>
          </a:p>
          <a:p>
            <a:endParaRPr/>
          </a:p>
          <a:p>
            <a:r>
              <a:t>- Traditional Copilot gives you code suggestions; custom agents perform complete workflows</a:t>
            </a:r>
          </a:p>
          <a:p>
            <a:r>
              <a:t>- Example: Instead of suggesting a fix for a failing test, a custom agent will read the error, identify the root cause across files, update code, re-run tests, and commit changes</a:t>
            </a:r>
          </a:p>
          <a:p>
            <a:r>
              <a:t>- Custom agents break down high-level tasks into actionable steps</a:t>
            </a:r>
          </a:p>
          <a:p>
            <a:r>
              <a:t>- They use various tools autonomously to achieve objectives</a:t>
            </a:r>
          </a:p>
          <a:p>
            <a:endParaRPr/>
          </a:p>
          <a:p>
            <a:r>
              <a:t>**Audience engagement:** Ask "What's the most time-consuming coding task you do repeatedly?" to connect with real pain points.</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Delivery Instructions:</a:t>
            </a:r>
          </a:p>
          <a:p>
            <a:endParaRPr/>
          </a:p>
          <a:p>
            <a:r>
              <a:t>Show the GitHub.com interface if doing a live demo</a:t>
            </a:r>
          </a:p>
          <a:p>
            <a:endParaRPr/>
          </a:p>
          <a:p>
            <a:r>
              <a:t>Emphasize that agents created on GitHub can be used across all environments</a:t>
            </a:r>
          </a:p>
          <a:p>
            <a:endParaRPr/>
          </a:p>
          <a:p>
            <a:r>
              <a:t>IDE-based agents are more convenient for quick personal use</a:t>
            </a:r>
          </a:p>
          <a:p>
            <a:endParaRPr/>
          </a:p>
          <a:p>
            <a:r>
              <a:t>Key Decision Point: Help audience understand when to use each approach:</a:t>
            </a:r>
          </a:p>
          <a:p>
            <a:endParaRPr/>
          </a:p>
          <a:p>
            <a:r>
              <a:t>GitHub: For team-wide or shared agents</a:t>
            </a:r>
          </a:p>
          <a:p>
            <a:endParaRPr/>
          </a:p>
          <a:p>
            <a:r>
              <a:t>Organization/Enterprise: For standardized agents across multiple repos</a:t>
            </a:r>
          </a:p>
          <a:p>
            <a:endParaRPr/>
          </a:p>
          <a:p>
            <a:r>
              <a:t>IDE: For personal experimentation and workspace-specific agents</a:t>
            </a:r>
          </a:p>
          <a:p>
            <a:endParaRPr/>
          </a:p>
          <a:p>
            <a:r>
              <a:t>Technical Detail:</a:t>
            </a:r>
          </a:p>
          <a:p>
            <a:endParaRPr/>
          </a:p>
          <a:p>
            <a:r>
              <a:t>GitHub agents go in .github/agents/ directory</a:t>
            </a:r>
          </a:p>
          <a:p>
            <a:endParaRPr/>
          </a:p>
          <a:p>
            <a:r>
              <a:t>Organization/enterprise agents go in root agents/ directory of .github-private repo</a:t>
            </a:r>
          </a:p>
          <a:p>
            <a:endParaRPr/>
          </a:p>
          <a:p>
            <a:r>
              <a:t>IDE user profile agents are local to that machine</a:t>
            </a:r>
          </a:p>
          <a:p>
            <a:endParaRPr/>
          </a:p>
          <a:p>
            <a:r>
              <a:t>Common Question: “Can I use the same agent in both GitHub and my IDE?” Answer: Yes! Agents created on GitHub are automatically available in supported IDEs.</a:t>
            </a:r>
          </a:p>
          <a:p>
            <a:endParaRPr/>
          </a:p>
          <a:p>
            <a:r>
              <a:t>Transition: “Let's walk through creating an agent on GitHub, which is the most common workflow.”</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VS Code Advantages:</a:t>
            </a:r>
          </a:p>
          <a:p>
            <a:endParaRPr/>
          </a:p>
          <a:p>
            <a:r>
              <a:t>Integrated tool configuration UI</a:t>
            </a:r>
          </a:p>
          <a:p>
            <a:endParaRPr/>
          </a:p>
          <a:p>
            <a:r>
              <a:t>Immediate testing in the same environment</a:t>
            </a:r>
          </a:p>
          <a:p>
            <a:endParaRPr/>
          </a:p>
          <a:p>
            <a:r>
              <a:t>Better for rapid iteration and experimentation</a:t>
            </a:r>
          </a:p>
          <a:p>
            <a:endParaRPr/>
          </a:p>
          <a:p>
            <a:r>
              <a:t>User profile agents for personal productivity</a:t>
            </a:r>
          </a:p>
          <a:p>
            <a:endParaRPr/>
          </a:p>
          <a:p>
            <a:r>
              <a:t>Workspace vs User Profile Decision:</a:t>
            </a:r>
          </a:p>
          <a:p>
            <a:endParaRPr/>
          </a:p>
          <a:p>
            <a:r>
              <a:t>Workspace (.github/agents/):</a:t>
            </a:r>
          </a:p>
          <a:p>
            <a:endParaRPr/>
          </a:p>
          <a:p>
            <a:r>
              <a:t>Shared with team when committed</a:t>
            </a:r>
          </a:p>
          <a:p>
            <a:endParaRPr/>
          </a:p>
          <a:p>
            <a:r>
              <a:t>Project-specific context</a:t>
            </a:r>
          </a:p>
          <a:p>
            <a:endParaRPr/>
          </a:p>
          <a:p>
            <a:r>
              <a:t>Version controlled</a:t>
            </a:r>
          </a:p>
          <a:p>
            <a:endParaRPr/>
          </a:p>
          <a:p>
            <a:r>
              <a:t>Recommended for team agents</a:t>
            </a:r>
          </a:p>
          <a:p>
            <a:endParaRPr/>
          </a:p>
          <a:p>
            <a:r>
              <a:t>User Profile:</a:t>
            </a:r>
          </a:p>
          <a:p>
            <a:endParaRPr/>
          </a:p>
          <a:p>
            <a:r>
              <a:t>Available across all your projects</a:t>
            </a:r>
          </a:p>
          <a:p>
            <a:endParaRPr/>
          </a:p>
          <a:p>
            <a:r>
              <a:t>Not version controlled</a:t>
            </a:r>
          </a:p>
          <a:p>
            <a:endParaRPr/>
          </a:p>
          <a:p>
            <a:r>
              <a:t>Personal productivity tools</a:t>
            </a:r>
          </a:p>
          <a:p>
            <a:endParaRPr/>
          </a:p>
          <a:p>
            <a:r>
              <a:t>Examples: personal note-taking agent, time tracker</a:t>
            </a:r>
          </a:p>
          <a:p>
            <a:endParaRPr/>
          </a:p>
          <a:p>
            <a:r>
              <a:t>Configure Tools Button:</a:t>
            </a:r>
          </a:p>
          <a:p>
            <a:endParaRPr/>
          </a:p>
          <a:p>
            <a:r>
              <a:t>Opens visual dialog showing all available tools</a:t>
            </a:r>
          </a:p>
          <a:p>
            <a:endParaRPr/>
          </a:p>
          <a:p>
            <a:r>
              <a:t>Includes built-in tools (read, edit, search, etc.)</a:t>
            </a:r>
          </a:p>
          <a:p>
            <a:endParaRPr/>
          </a:p>
          <a:p>
            <a:r>
              <a:t>Shows MCP server tools if configured</a:t>
            </a:r>
          </a:p>
          <a:p>
            <a:endParaRPr/>
          </a:p>
          <a:p>
            <a:r>
              <a:t>Click OK to add selected tools to YAML</a:t>
            </a:r>
          </a:p>
          <a:p>
            <a:endParaRPr/>
          </a:p>
          <a:p>
            <a:r>
              <a:t>Model Property:</a:t>
            </a:r>
          </a:p>
          <a:p>
            <a:endParaRPr/>
          </a:p>
          <a:p>
            <a:r>
              <a:t>Override default model per agent</a:t>
            </a:r>
          </a:p>
          <a:p>
            <a:endParaRPr/>
          </a:p>
          <a:p>
            <a:r>
              <a:t>Useful for cost/performance tradeoffs</a:t>
            </a:r>
          </a:p>
          <a:p>
            <a:endParaRPr/>
          </a:p>
          <a:p>
            <a:r>
              <a:t>Example: Use faster model for simple tasks, advanced model for complex reasoning</a:t>
            </a:r>
          </a:p>
          <a:p>
            <a:endParaRPr/>
          </a:p>
          <a:p>
            <a:r>
              <a:t>Live Demo Suggestion: Show the Configure Tools dialog and model dropdown</a:t>
            </a:r>
          </a:p>
          <a:p>
            <a:endParaRPr/>
          </a:p>
          <a:p>
            <a:r>
              <a:t>Common Questions:</a:t>
            </a:r>
          </a:p>
          <a:p>
            <a:endParaRPr/>
          </a:p>
          <a:p>
            <a:r>
              <a:t>“Do I need to restart VS Code?” - No, agents are detected automatically</a:t>
            </a:r>
          </a:p>
          <a:p>
            <a:endParaRPr/>
          </a:p>
          <a:p>
            <a:r>
              <a:t>“Can I edit the YAML directly?” - Yes, the UI is just a helper</a:t>
            </a:r>
          </a:p>
          <a:p>
            <a:endParaRPr/>
          </a:p>
          <a:p>
            <a:r>
              <a:t>Transition: “The process is similar in JetBrains, Eclipse, and Xcode with slight UI variations. Now let's focus on what matters most: the agent configuration itself.”</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~00:05</a:t>
            </a:r>
          </a:p>
          <a:p>
            <a:endParaRPr/>
          </a:p>
          <a:p>
            <a:r>
              <a:t>GitHub.com Usage:</a:t>
            </a:r>
          </a:p>
          <a:p>
            <a:endParaRPr/>
          </a:p>
          <a:p>
            <a:r>
              <a:t>Agents Panel Workflow:</a:t>
            </a:r>
          </a:p>
          <a:p>
            <a:endParaRPr/>
          </a:p>
          <a:p>
            <a:r>
              <a:t>Open Copilot agents panel or tab</a:t>
            </a:r>
          </a:p>
          <a:p>
            <a:endParaRPr/>
          </a:p>
          <a:p>
            <a:r>
              <a:t>Click dropdown (currently shows “Coding Agent”)</a:t>
            </a:r>
          </a:p>
          <a:p>
            <a:endParaRPr/>
          </a:p>
          <a:p>
            <a:r>
              <a:t>Select your custom agent from list</a:t>
            </a:r>
          </a:p>
          <a:p>
            <a:endParaRPr/>
          </a:p>
          <a:p>
            <a:r>
              <a:t>Enter your prompt or task</a:t>
            </a:r>
          </a:p>
          <a:p>
            <a:endParaRPr/>
          </a:p>
          <a:p>
            <a:r>
              <a:t>Agent works within its configured scope</a:t>
            </a:r>
          </a:p>
          <a:p>
            <a:endParaRPr/>
          </a:p>
          <a:p>
            <a:r>
              <a:t>Issue Assignment:</a:t>
            </a:r>
          </a:p>
          <a:p>
            <a:endParaRPr/>
          </a:p>
          <a:p>
            <a:r>
              <a:t>Assign Copilot to an issue</a:t>
            </a:r>
          </a:p>
          <a:p>
            <a:endParaRPr/>
          </a:p>
          <a:p>
            <a:r>
              <a:t>Choose custom agent from dropdown</a:t>
            </a:r>
          </a:p>
          <a:p>
            <a:endParaRPr/>
          </a:p>
          <a:p>
            <a:r>
              <a:t>Agent follows its specialized instructions</a:t>
            </a:r>
          </a:p>
          <a:p>
            <a:endParaRPr/>
          </a:p>
          <a:p>
            <a:r>
              <a:t>Great for repetitive tasks (bug triage, documentation updates)</a:t>
            </a:r>
          </a:p>
          <a:p>
            <a:endParaRPr/>
          </a:p>
          <a:p>
            <a:r>
              <a:t>PR Tracking:</a:t>
            </a:r>
          </a:p>
          <a:p>
            <a:endParaRPr/>
          </a:p>
          <a:p>
            <a:r>
              <a:t>When Copilot creates a PR, it notes which agent was used</a:t>
            </a:r>
          </a:p>
          <a:p>
            <a:endParaRPr/>
          </a:p>
          <a:p>
            <a:r>
              <a:t>Helps with attribution and understanding the approach</a:t>
            </a:r>
          </a:p>
          <a:p>
            <a:endParaRPr/>
          </a:p>
          <a:p>
            <a:r>
              <a:t>Example: “This PR was created by @copilot using the test-specialist agent”</a:t>
            </a:r>
          </a:p>
          <a:p>
            <a:endParaRPr/>
          </a:p>
          <a:p>
            <a:r>
              <a:t>IDE Usage Benefits:</a:t>
            </a:r>
          </a:p>
          <a:p>
            <a:endParaRPr/>
          </a:p>
          <a:p>
            <a:r>
              <a:t>Mid-Conversation Switching:</a:t>
            </a:r>
          </a:p>
          <a:p>
            <a:endParaRPr/>
          </a:p>
          <a:p>
            <a:r>
              <a:t>Start with planning agent</a:t>
            </a:r>
          </a:p>
          <a:p>
            <a:endParaRPr/>
          </a:p>
          <a:p>
            <a:r>
              <a:t>Switch to implementation agent</a:t>
            </a:r>
          </a:p>
          <a:p>
            <a:endParaRPr/>
          </a:p>
          <a:p>
            <a:r>
              <a:t>Switch to review agent</a:t>
            </a:r>
          </a:p>
          <a:p>
            <a:endParaRPr/>
          </a:p>
          <a:p>
            <a:r>
              <a:t>Maintain conversation context</a:t>
            </a:r>
          </a:p>
          <a:p>
            <a:endParaRPr/>
          </a:p>
          <a:p>
            <a:r>
              <a:t>Task-Specific Workflows:</a:t>
            </a:r>
          </a:p>
          <a:p>
            <a:endParaRPr/>
          </a:p>
          <a:p>
            <a:r>
              <a:t>Use planning agent for architecture decisions</a:t>
            </a:r>
          </a:p>
          <a:p>
            <a:endParaRPr/>
          </a:p>
          <a:p>
            <a:r>
              <a:t>Use coding agent for implementation</a:t>
            </a:r>
          </a:p>
          <a:p>
            <a:endParaRPr/>
          </a:p>
          <a:p>
            <a:r>
              <a:t>Use test agent for test coverage</a:t>
            </a:r>
          </a:p>
          <a:p>
            <a:endParaRPr/>
          </a:p>
          <a:p>
            <a:r>
              <a:t>Use security agent for vulnerability review</a:t>
            </a:r>
          </a:p>
          <a:p>
            <a:endParaRPr/>
          </a:p>
          <a:p>
            <a:r>
              <a:t>Use doc agent for documentation</a:t>
            </a:r>
          </a:p>
          <a:p>
            <a:endParaRPr/>
          </a:p>
          <a:p>
            <a:r>
              <a:t>Example IDE Workflow:</a:t>
            </a:r>
          </a:p>
          <a:p>
            <a:endParaRPr/>
          </a:p>
          <a:p>
            <a:r>
              <a:t>User: "I need to add user authentication"</a:t>
            </a:r>
          </a:p>
          <a:p>
            <a:r>
              <a:t>[Select implementation-planner agent]</a:t>
            </a:r>
          </a:p>
          <a:p>
            <a:r>
              <a:t>Agent: Creates detailed plan with tasks</a:t>
            </a:r>
          </a:p>
          <a:p>
            <a:endParaRPr/>
          </a:p>
          <a:p>
            <a:r>
              <a:t>User: "Now implement the first task"</a:t>
            </a:r>
          </a:p>
          <a:p>
            <a:r>
              <a:t>[Switch to coding agent]</a:t>
            </a:r>
          </a:p>
          <a:p>
            <a:r>
              <a:t>Agent: Implements based on plan</a:t>
            </a:r>
          </a:p>
          <a:p>
            <a:endParaRPr/>
          </a:p>
          <a:p>
            <a:r>
              <a:t>User: "Add tests for this"</a:t>
            </a:r>
          </a:p>
          <a:p>
            <a:r>
              <a:t>[Switch to test-specialist agent]</a:t>
            </a:r>
          </a:p>
          <a:p>
            <a:r>
              <a:t>Agent: Creates comprehensive test suite</a:t>
            </a:r>
          </a:p>
          <a:p>
            <a:endParaRPr/>
          </a:p>
          <a:p>
            <a:r>
              <a:t>CLI Usage (Advanced):</a:t>
            </a:r>
          </a:p>
          <a:p>
            <a:endParaRPr/>
          </a:p>
          <a:p>
            <a:r>
              <a:t>Basic Agent Selection:</a:t>
            </a:r>
          </a:p>
          <a:p>
            <a:endParaRPr/>
          </a:p>
          <a:p>
            <a:r>
              <a:t>gh copilot /agent test-specialist "add tests for authentication"</a:t>
            </a:r>
          </a:p>
          <a:p>
            <a:endParaRPr/>
          </a:p>
          <a:p>
            <a:r>
              <a:t>In Prompts:</a:t>
            </a:r>
          </a:p>
          <a:p>
            <a:endParaRPr/>
          </a:p>
          <a:p>
            <a:r>
              <a:t>gh copilot "using security-reviewer, check this PR for vulnerabilities"</a:t>
            </a:r>
          </a:p>
          <a:p>
            <a:endParaRPr/>
          </a:p>
          <a:p>
            <a:r>
              <a:t>Via Arguments:</a:t>
            </a:r>
          </a:p>
          <a:p>
            <a:endParaRPr/>
          </a:p>
          <a:p>
            <a:r>
              <a:t>gh copilot --agent=doc-writer "document the API endpoints"</a:t>
            </a:r>
          </a:p>
          <a:p>
            <a:endParaRPr/>
          </a:p>
          <a:p>
            <a:r>
              <a:t>Best Practices:</a:t>
            </a:r>
          </a:p>
          <a:p>
            <a:endParaRPr/>
          </a:p>
          <a:p>
            <a:r>
              <a:t>Choose the Right Agent:</a:t>
            </a:r>
          </a:p>
          <a:p>
            <a:endParaRPr/>
          </a:p>
          <a:p>
            <a:r>
              <a:t>Match agent expertise to task</a:t>
            </a:r>
          </a:p>
          <a:p>
            <a:endParaRPr/>
          </a:p>
          <a:p>
            <a:r>
              <a:t>Don't use generic agent when specialized one exists</a:t>
            </a:r>
          </a:p>
          <a:p>
            <a:endParaRPr/>
          </a:p>
          <a:p>
            <a:r>
              <a:t>Provide Context:</a:t>
            </a:r>
          </a:p>
          <a:p>
            <a:endParaRPr/>
          </a:p>
          <a:p>
            <a:r>
              <a:t>Custom agents still need context</a:t>
            </a:r>
          </a:p>
          <a:p>
            <a:endParaRPr/>
          </a:p>
          <a:p>
            <a:r>
              <a:t>Reference files, requirements, constraints</a:t>
            </a:r>
          </a:p>
          <a:p>
            <a:endParaRPr/>
          </a:p>
          <a:p>
            <a:r>
              <a:t>Iterate:</a:t>
            </a:r>
          </a:p>
          <a:p>
            <a:endParaRPr/>
          </a:p>
          <a:p>
            <a:r>
              <a:t>Refine agent instructions based on results</a:t>
            </a:r>
          </a:p>
          <a:p>
            <a:endParaRPr/>
          </a:p>
          <a:p>
            <a:r>
              <a:t>Agents improve as you tune them</a:t>
            </a:r>
          </a:p>
          <a:p>
            <a:endParaRPr/>
          </a:p>
          <a:p>
            <a:r>
              <a:t>Document Usage:</a:t>
            </a:r>
          </a:p>
          <a:p>
            <a:endParaRPr/>
          </a:p>
          <a:p>
            <a:r>
              <a:t>Tell team which agents to use for which tasks</a:t>
            </a:r>
          </a:p>
          <a:p>
            <a:endParaRPr/>
          </a:p>
          <a:p>
            <a:r>
              <a:t>Include in CONTRIBUTING.md or team wiki</a:t>
            </a:r>
          </a:p>
          <a:p>
            <a:endParaRPr/>
          </a:p>
          <a:p>
            <a:r>
              <a:t>Common Scenarios:</a:t>
            </a:r>
          </a:p>
          <a:p>
            <a:endParaRPr/>
          </a:p>
          <a:p>
            <a:r>
              <a:t>Code Review: Use review agent on PRs</a:t>
            </a:r>
          </a:p>
          <a:p>
            <a:endParaRPr/>
          </a:p>
          <a:p>
            <a:r>
              <a:t>Legacy Refactoring: Use planning agent first, then coding agent</a:t>
            </a:r>
          </a:p>
          <a:p>
            <a:endParaRPr/>
          </a:p>
          <a:p>
            <a:r>
              <a:t>Documentation Sprint: Use doc agent across multiple files</a:t>
            </a:r>
          </a:p>
          <a:p>
            <a:endParaRPr/>
          </a:p>
          <a:p>
            <a:r>
              <a:t>Security Audit: Use security agent on entire codebase</a:t>
            </a:r>
          </a:p>
          <a:p>
            <a:endParaRPr/>
          </a:p>
          <a:p>
            <a:r>
              <a:t>Test Coverage Drive: Use test agent to fill coverage gaps</a:t>
            </a:r>
          </a:p>
          <a:p>
            <a:endParaRPr/>
          </a:p>
          <a:p>
            <a:r>
              <a:t>Transition: “Let's wrap up with some best practices and resources to help you get started.”</a:t>
            </a:r>
          </a:p>
          <a:p>
            <a:endParaRPr/>
          </a:p>
          <a:p>
            <a:r>
              <a:t>---</a:t>
            </a:r>
          </a:p>
          <a:p>
            <a:endParaRPr/>
          </a:p>
          <a:p>
            <a:r>
              <a:t>Source: slides\marp\custom-agents.deck.md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~00:25</a:t>
            </a:r>
          </a:p>
          <a:p>
            <a:endParaRPr/>
          </a:p>
          <a:p>
            <a:r>
              <a:t>Facilitate this as a role-scoping lab, not just a file-authoring task. Start by showing students that a custom agent is essentially a reusable behavioral contract: it combines role intent, tool limits, and execution style.</a:t>
            </a:r>
          </a:p>
          <a:p>
            <a:endParaRPr/>
          </a:p>
          <a:p>
            <a:r>
              <a:t>In Phase 1, have learners create `.github/agents/test-specialist.agent.md` with a concise description and explicit tools list. Encourage strong verbs and constraints, for example "analyze tests, propose coverage improvements, avoid production-code refactors unless asked".</a:t>
            </a:r>
          </a:p>
          <a:p>
            <a:endParaRPr/>
          </a:p>
          <a:p>
            <a:r>
              <a:t>In Phase 2, ask each student to improve one weak instruction in their agent definition. Typical improvements are adding refusal boundaries, output format requirements, or quality checks such as "include risks and assumptions".</a:t>
            </a:r>
          </a:p>
          <a:p>
            <a:endParaRPr/>
          </a:p>
          <a:p>
            <a:r>
              <a:t>In Phase 3, students activate the agent and run one practical prompt against current repo files. Debrief by comparing outputs from default mode versus custom agent mode, then discuss where the custom agent improved consistency and where additional refinement is needed.</a:t>
            </a:r>
          </a:p>
          <a:p>
            <a:endParaRPr/>
          </a:p>
          <a:p>
            <a:r>
              <a:t>Timing guidance: 8 minutes create, 7 minutes refine, 8 minutes run and compare, 2 minutes recap. Close by emphasizing iterative agent tuning and least-privilege tool access as core best practices.</a:t>
            </a:r>
          </a:p>
          <a:p>
            <a:endParaRPr/>
          </a:p>
          <a:p>
            <a:r>
              <a:t>---</a:t>
            </a:r>
          </a:p>
          <a:p>
            <a:endParaRPr/>
          </a:p>
          <a:p>
            <a:r>
              <a:t>Source: slides\marp\exercise\exercise-create-and-use-custom-agent.deck.md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simplicity is a force multiplier in agent design. When an agent has one clear job, users know when to use it, reviewers know how to evaluate it, and the team can improve it without destabilizing unrelated workflows.  Transition by showing how explicit boundaries reinforce that simplicity.</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slide around predictability. An agent with clear responsibilities is easier for humans to trust because they know what kind of help it is supposed to give and what it should not attempt, which reduces accidental overreach and context drift.  Transition by moving to the related issue of tool access, because boundaries are not just instructional but operational.</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tool design is one of the strongest control surfaces available when building agents. If an agent only needs to read files and analyze code, then it should not also be able to perform broad write operations or run unrelated commands, because excess capability creates unnecessary risk.  Transition by showing that even good initial designs need improvement over time.</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point that real-world usage will reveal gaps that design-time reasoning will miss. Teams learn a lot from where users hesitate, where the agent responds too broadly, or where people keep asking for the same clarification, and those signals should drive iteration.  Transition by broadening from personal agents to team and organization sharing.</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that some workflows are too common to reinvent team by team. When an organization sees repeated needs such as security review or testing guidance, a shared agent can provide a standardized starting point and reduce duplicated authoring effort across repositories.  Transition by showing how examples improve agent usability once an agent exists.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Close with the two practices that make rollout much safer: examples and validation. Examples help users invoke the agent correctly, while validation ensures the agent behaves well under realistic conditions, including edge cases and boundary conditions, before it is trusted more broadly.  Encourage the audience to treat agents like any other product capability that needs ownership, feedback, and quality checks.</a:t>
            </a:r>
          </a:p>
          <a:p>
            <a:endParaRPr/>
          </a:p>
          <a:p>
            <a:r>
              <a:t>---</a:t>
            </a:r>
          </a:p>
          <a:p>
            <a:endParaRPr/>
          </a:p>
          <a:p>
            <a:r>
              <a:t>Source: slides\marp\custom-agent-best-practices.deck.md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deck as a practical orientation to Copilot Skills rather than a deep internal architecture lecture. Explain that skills are useful because they turn repeated workflow knowledge into reusable repository assets that Copilot can load when a task matches. Spend about one minute here setting expectations that the session will cover what skills are, how they are structured, and why they meaningfully change Copilot behavior. Transition by defining the concept clearly before getting into authoring details.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best thought of as capability bundles rather than plain prompt snippets. Unlike generic instructions, they package the guidance, assets, and procedural knowledge needed for a repeatable class of work such as testing, migration, or auditing. Spend about one minute here and stress that automatic loading is the key feature because Copilot decides when the skill is relevant instead of requiring manual activation every time. Transition by showing why that matters operationally.</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this as a response to the institutional knowledge problem. Teams often repeat the same long background prompts over and over, and skills give them a way to store that knowledge once so Copilot can reuse it when needed. Spend about one minute here and point out that version control and reviewability make skills much safer and more maintainable than ad hoc copy-pasted prompt text. Transition by showing what the file and folder structure actually looks like.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structure is intentionally simple so teams can add skills without introducing a new toolchain. The folder name becomes the skill name, while `SKILL.md` acts as the main definition file that tells Copilot what the skill is for and how to execute it. Spend about one minute here and mention that the extra folders are optional but powerful because they let teams attach automation, examples, and reusable references. Transition by opening up the contents of `SKILL.md`.</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two main parts of the file: metadata and procedure. The metadata helps Copilot decide when the skill is relevant, while the procedure gives Copilot a step-by-step execution path once the skill has been loaded. Spend about one minute here and reinforce that the more concrete and deterministic the procedure is, the more reliable the resulting behavior becomes. Transition by explaining how Copilot decides to bring the skill into context in the first place.</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skill loading is semantic rather than manual. If a prompt asks for end-to-end testing, a testing-related skill may be loaded automatically because its metadata and procedure align with that request, and multiple skills may be combined when more than one is relevant. Spend about one minute here and emphasize that this selective loading improves focus while avoiding the cost of always including every possible instruction. Transition by showing how that changes Copilot's actual behavior.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Make the point that skills are operational playbooks, not style guides. They push Copilot away from open-ended reactive generation and toward more structured execution, especially when the task involves repeatable steps, tools, or examples. Spend about one minute here and explain that the context-efficiency angle matters because only the relevant capability modules are loaded instead of everything at once. Transition by comparing skills to other Copilot customization mechanisms.</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skills are most valuable when a task is procedural, repeatable, and specific to a team's domain. These examples all share the property that there is a known workflow, supporting material, and a need for consistent execution, which is exactly where skills outperform generic chat guidance. Spend about one minute here and transition by closing with the main takeaways the audience should remember.</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of skills as operational recipes. The more deterministic and unambiguous the steps, the more reliable Copilot becomes. Spend about one minute here and frame these as reliability practices rather than stylistic preferences so the audience understands that skill quality directly affects execution quality. Transition by grounding the idea in real-world categories of work.</a:t>
            </a:r>
          </a:p>
          <a:p>
            <a:endParaRPr/>
          </a:p>
          <a:p>
            <a:r>
              <a:t>---</a:t>
            </a:r>
          </a:p>
          <a:p>
            <a:endParaRPr/>
          </a:p>
          <a:p>
            <a:r>
              <a:t>Source: slides\marp\github-copilot-skills-practical-introduction.deck.md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slides\marp\exercise\exercise-create-your-first-skill.deck.md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this as a maintainability triage simulation. The goal is to turn vague "this code feels bad" feedback into structured, repeatable analysis.</a:t>
            </a:r>
          </a:p>
          <a:p>
            <a:endParaRPr/>
          </a:p>
          <a:p>
            <a:r>
              <a:t>Give 15 minutes: 6 minutes to create the skill, 6 minutes to test against a real file in the repo, and 3 minutes to compare outputs with a partner. Encourage teams to refine keywords and procedure steps until the output consistently ranks smells and proposes practical next steps.</a:t>
            </a:r>
          </a:p>
          <a:p>
            <a:endParaRPr/>
          </a:p>
          <a:p>
            <a:r>
              <a:t>Debrief by asking: Did the skill separate cosmetic issues from high-risk smells, and did it propose safe, incremental refactors? If not, tighten procedure wording to force deterministic output.</a:t>
            </a:r>
          </a:p>
          <a:p>
            <a:endParaRPr/>
          </a:p>
          <a:p>
            <a:r>
              <a:t>---</a:t>
            </a:r>
          </a:p>
          <a:p>
            <a:endParaRPr/>
          </a:p>
          <a:p>
            <a:r>
              <a:t>Source: slides\marp\exercise\exercise-create-your-first-skill.deck.md</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slides\marp\ai-development-approaches-comparison.deck.md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Treat this as the foundational slide for the entire deck. Explain that instruction files are the primary mechanism for automatic behavioral control, while prompts and agents are additive layers.</a:t>
            </a:r>
          </a:p>
          <a:p>
            <a:endParaRPr/>
          </a:p>
          <a:p>
            <a:r>
              <a:t>Emphasize that good `applyTo` scoping is both a quality and cost optimization. Overly broad patterns can flood context with irrelevant rules and increase token usage. Narrow patterns keep Copilot focused on what matters for the file being edited.</a:t>
            </a:r>
          </a:p>
          <a:p>
            <a:endParaRPr/>
          </a:p>
          <a:p>
            <a:r>
              <a:t>Close with a practical takeaway: if teams want predictable AI behavior at scale, instruction files should be the first artifact they design and maintain.</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common source of confusion, so let's clarify: prompt files and instruction files serve different purposes and work in different ways.</a:t>
            </a:r>
          </a:p>
          <a:p>
            <a:endParaRPr/>
          </a:p>
          <a:p>
            <a:r>
              <a:t>Prompt files are executable tasks - they're like scripts you run to accomplish specific goals. They contain the prompt text, expected deliverables, and requirements. When you execute a prompt file, you're asking the AI to perform a specific task following specific guidelines.</a:t>
            </a:r>
          </a:p>
          <a:p>
            <a:endParaRPr/>
          </a:p>
          <a:p>
            <a:r>
              <a:t>However, prompt files don't control the automatic inclusion of instruction files. What happens instead is:</a:t>
            </a:r>
          </a:p>
          <a:p>
            <a:endParaRPr/>
          </a:p>
          <a:p>
            <a:r>
              <a:t>You execute a prompt file (say, create-api.prompt.md)</a:t>
            </a:r>
          </a:p>
          <a:p>
            <a:endParaRPr/>
          </a:p>
          <a:p>
            <a:r>
              <a:t>The prompt content itself can mention or reference instruction files</a:t>
            </a:r>
          </a:p>
          <a:p>
            <a:endParaRPr/>
          </a:p>
          <a:p>
            <a:r>
              <a:t>The AI reads those references as part of the prompt</a:t>
            </a:r>
          </a:p>
          <a:p>
            <a:endParaRPr/>
          </a:p>
          <a:p>
            <a:r>
              <a:t>But the automatic inclusion of instruction files is still controlled by the applyTo patterns matching the files being created or modified</a:t>
            </a:r>
          </a:p>
          <a:p>
            <a:endParaRPr/>
          </a:p>
          <a:p>
            <a:r>
              <a:t>Here's a practical scenario: You run a prompt to create a new TypeScript API file. The prompt mentions that security instructions must be followed. The security.instructions.md file has applyTo: “\*/.ts”. When the AI creates the new .ts file:</a:t>
            </a:r>
          </a:p>
          <a:p>
            <a:endParaRPr/>
          </a:p>
          <a:p>
            <a:r>
              <a:t>The prompt content enforces the requirement</a:t>
            </a:r>
          </a:p>
          <a:p>
            <a:endParaRPr/>
          </a:p>
          <a:p>
            <a:r>
              <a:t>The applyTo pattern causes automatic inclusion</a:t>
            </a:r>
          </a:p>
          <a:p>
            <a:endParaRPr/>
          </a:p>
          <a:p>
            <a:r>
              <a:t>Both work together, but through different mechanisms</a:t>
            </a:r>
          </a:p>
          <a:p>
            <a:endParaRPr/>
          </a:p>
          <a:p>
            <a:r>
              <a:t>Think of it this way: Prompt files are the “what to do”, instruction files are the “how to do it”, and applyTo patterns are the “when to apply the how”.</a:t>
            </a:r>
          </a:p>
          <a:p>
            <a:endParaRPr/>
          </a:p>
          <a:p>
            <a:r>
              <a:t>The prompt metadata can specify output paths, which helps the system know what file types to expect and therefore which instructions might become relevant, but it's still the applyTo matching that does the heavy lifting.</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are often misunderstood as another way to control instruction inclusion, but they actually serve a different purpose. Let's clarify their role in the context submission system.</a:t>
            </a:r>
          </a:p>
          <a:p>
            <a:endParaRPr/>
          </a:p>
          <a:p>
            <a:r>
              <a:t>Agents create specialized AI personas with domain expertise. When you activate an agent, you're essentially telling the AI “act as a security expert” or “act as a documentation specialist”. The agent defines:</a:t>
            </a:r>
          </a:p>
          <a:p>
            <a:endParaRPr/>
          </a:p>
          <a:p>
            <a:r>
              <a:t>The role and mission of the AI</a:t>
            </a:r>
          </a:p>
          <a:p>
            <a:endParaRPr/>
          </a:p>
          <a:p>
            <a:r>
              <a:t>Core areas of expertise</a:t>
            </a:r>
          </a:p>
          <a:p>
            <a:endParaRPr/>
          </a:p>
          <a:p>
            <a:r>
              <a:t>Communication style and tone</a:t>
            </a:r>
          </a:p>
          <a:p>
            <a:endParaRPr/>
          </a:p>
          <a:p>
            <a:r>
              <a:t>Specialized commands or workflows</a:t>
            </a:r>
          </a:p>
          <a:p>
            <a:endParaRPr/>
          </a:p>
          <a:p>
            <a:r>
              <a:t>Response formatting preferences</a:t>
            </a:r>
          </a:p>
          <a:p>
            <a:endParaRPr/>
          </a:p>
          <a:p>
            <a:r>
              <a:t>But here's the key: agents don't override or control the applyTo pattern matching system. Instead, they layer on top of it. Let's walk through the flow:</a:t>
            </a:r>
          </a:p>
          <a:p>
            <a:endParaRPr/>
          </a:p>
          <a:p>
            <a:r>
              <a:t>You're editing a TypeScript file (src/auth.ts)</a:t>
            </a:r>
          </a:p>
          <a:p>
            <a:endParaRPr/>
          </a:p>
          <a:p>
            <a:r>
              <a:t>applyTo patterns are evaluated - security.instructions.md matches</a:t>
            </a:r>
          </a:p>
          <a:p>
            <a:endParaRPr/>
          </a:p>
          <a:p>
            <a:r>
              <a:t>The security instructions are auto-included in context</a:t>
            </a:r>
          </a:p>
          <a:p>
            <a:endParaRPr/>
          </a:p>
          <a:p>
            <a:r>
              <a:t>You have the “Security Analyzer” agent active</a:t>
            </a:r>
          </a:p>
          <a:p>
            <a:endParaRPr/>
          </a:p>
          <a:p>
            <a:r>
              <a:t>The agent persona is added to the context</a:t>
            </a:r>
          </a:p>
          <a:p>
            <a:endParaRPr/>
          </a:p>
          <a:p>
            <a:r>
              <a:t>The AI now has: the file, the security instructions, AND the security expert persona</a:t>
            </a:r>
          </a:p>
          <a:p>
            <a:endParaRPr/>
          </a:p>
          <a:p>
            <a:r>
              <a:t>The diagram shows this flow. The file type drives instruction inclusion through pattern matching, and the agent adds a specialized persona layer on top. They're complementary, not competitive.</a:t>
            </a:r>
          </a:p>
          <a:p>
            <a:endParaRPr/>
          </a:p>
          <a:p>
            <a:r>
              <a:t>A practical benefit: You could have security instructions that are very technical and rule-based, while the security analyzer agent adds conversational expertise and interactive commands. The instructions say “what to check”, the agent says “how to explain findings”.</a:t>
            </a:r>
          </a:p>
          <a:p>
            <a:endParaRPr/>
          </a:p>
          <a:p>
            <a:r>
              <a:t>One important note: If your agent references specific instruction files in its content, those references work like any other reference - they become part of the conversation, but they don't change the automatic inclusion patterns.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bring it all together with the complete control hierarchy. This shows the order in which different elements contribute to the context that gets submitted with your Copilot prompts.</a:t>
            </a:r>
          </a:p>
          <a:p>
            <a:endParaRPr/>
          </a:p>
          <a:p>
            <a:r>
              <a:t>Level 1: The Foundation - The File Being Edited Everything starts with the actual file you're working on. This could be a file you have open, a file you're creating, or files you reference in conversation. This establishes the base context and triggers the pattern matching system.</a:t>
            </a:r>
          </a:p>
          <a:p>
            <a:endParaRPr/>
          </a:p>
          <a:p>
            <a:r>
              <a:t>Level 2: Automatic Layer - Instruction Files Based on the file from level 1, the system evaluates all applyTo patterns in your instruction files. Every instruction file whose pattern matches your current file is automatically included. This happens silently in the background - you don't see it, but it's there. This is the primary control mechanism we've been discussing.</a:t>
            </a:r>
          </a:p>
          <a:p>
            <a:endParaRPr/>
          </a:p>
          <a:p>
            <a:r>
              <a:t>Level 3: Persona Layer - Active agent If you have a agent active, its persona definition, methodology, and guidelines are added to the context. This doesn't replace the instructions from level 2, it augments them. Think of this as the “personality” that interprets and applies the technical instructions.</a:t>
            </a:r>
          </a:p>
          <a:p>
            <a:endParaRPr/>
          </a:p>
          <a:p>
            <a:r>
              <a:t>Level 4: Task Layer - Prompt Files When you execute a prompt file, its content becomes part of the conversation. Any references to instruction files in the prompt text are processed. The prompt often specifies what type of output to create, which can trigger additional applyTo matching for the target files.</a:t>
            </a:r>
          </a:p>
          <a:p>
            <a:endParaRPr/>
          </a:p>
          <a:p>
            <a:r>
              <a:t>Level 5: Explicit Layer - Manual @-mentions Finally, you can always manually reference specific instruction files using @-mentions in your chat. This overrides the automatic system - if an instruction file doesn't have an applyTo match but you @-mention it, it gets included anyway.</a:t>
            </a:r>
          </a:p>
          <a:p>
            <a:endParaRPr/>
          </a:p>
          <a:p>
            <a:r>
              <a:t>Understanding this hierarchy helps you:</a:t>
            </a:r>
          </a:p>
          <a:p>
            <a:endParaRPr/>
          </a:p>
          <a:p>
            <a:r>
              <a:t>Debug why certain instructions aren't being applied</a:t>
            </a:r>
          </a:p>
          <a:p>
            <a:endParaRPr/>
          </a:p>
          <a:p>
            <a:r>
              <a:t>Optimize token usage by avoiding redundant inclusion</a:t>
            </a:r>
          </a:p>
          <a:p>
            <a:endParaRPr/>
          </a:p>
          <a:p>
            <a:r>
              <a:t>Design better instruction file patterns</a:t>
            </a:r>
          </a:p>
          <a:p>
            <a:endParaRPr/>
          </a:p>
          <a:p>
            <a:r>
              <a:t>Structure your workflow for maximum efficiency</a:t>
            </a:r>
          </a:p>
          <a:p>
            <a:endParaRPr/>
          </a:p>
          <a:p>
            <a:r>
              <a:t>Pro tip: Use levels 1-2 for 90% of your work (file-driven automatic inclusion), level 3 for specialized domains (agents), and levels 4-5 for exceptional cases (specific tasks or overrides).</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conclude with four practical strategies you can use to manage instruction context effectively. These are patterns we've seen work well in real development teams.</a:t>
            </a:r>
          </a:p>
          <a:p>
            <a:endParaRPr/>
          </a:p>
          <a:p>
            <a:r>
              <a:t>Strategy 1: Specific Patterns (Recommended for Most Cases) Use precise glob patterns that match only the files where instructions are relevant. For example, if you have vertical slice architecture instructions, apply them only to your backend code: “src/backend/\*/.{cs,ts,py}”. This keeps your context clean and focused. It also reduces token costs since irrelevant instructions aren't included.</a:t>
            </a:r>
          </a:p>
          <a:p>
            <a:endParaRPr/>
          </a:p>
          <a:p>
            <a:r>
              <a:t>When to use: This should be your default strategy. Be specific about where instructions apply. Think about the actual files developers will be editing and match those patterns.</a:t>
            </a:r>
          </a:p>
          <a:p>
            <a:endParaRPr/>
          </a:p>
          <a:p>
            <a:r>
              <a:t>Strategy 2: No applyTo Field (For Specialized Use) Some instruction files shouldn't automatically include anywhere. These are typically:</a:t>
            </a:r>
          </a:p>
          <a:p>
            <a:endParaRPr/>
          </a:p>
          <a:p>
            <a:r>
              <a:t>Very specialized instructions that rarely apply</a:t>
            </a:r>
          </a:p>
          <a:p>
            <a:endParaRPr/>
          </a:p>
          <a:p>
            <a:r>
              <a:t>Experimental guidelines you're testing</a:t>
            </a:r>
          </a:p>
          <a:p>
            <a:endParaRPr/>
          </a:p>
          <a:p>
            <a:r>
              <a:t>Documentation that needs explicit consent to follow</a:t>
            </a:r>
          </a:p>
          <a:p>
            <a:endParaRPr/>
          </a:p>
          <a:p>
            <a:r>
              <a:t>Instructions with high token costs that should be opt-in</a:t>
            </a:r>
          </a:p>
          <a:p>
            <a:endParaRPr/>
          </a:p>
          <a:p>
            <a:r>
              <a:t>When to use: For instructions that might cause confusion if automatically included, or that are so specialized that automatic inclusion would rarely be appropriate. Developers must @-mention these explicitly.</a:t>
            </a:r>
          </a:p>
          <a:p>
            <a:endParaRPr/>
          </a:p>
          <a:p>
            <a:r>
              <a:t>Strategy 3: Global with Overrides (Advanced) Start with global instructions that apply everywhere (like AI provenance requirements), then create more specific instruction files that override or extend them for particular domains. For example:</a:t>
            </a:r>
          </a:p>
          <a:p>
            <a:endParaRPr/>
          </a:p>
          <a:p>
            <a:r>
              <a:t>ai-assisted-output.instructions.md: applyTo: “\*/”</a:t>
            </a:r>
          </a:p>
          <a:p>
            <a:endParaRPr/>
          </a:p>
          <a:p>
            <a:r>
              <a:t>ai-assisted-code-output.instructions.md: applyTo: “\*/.{code}” The more specific file can provide additional requirements that layer on top of the global ones.</a:t>
            </a:r>
          </a:p>
          <a:p>
            <a:endParaRPr/>
          </a:p>
          <a:p>
            <a:r>
              <a:t>When to use: When you have a base set of universal requirements but need domain-specific extensions. Be careful not to create conflicting instructions.</a:t>
            </a:r>
          </a:p>
          <a:p>
            <a:endParaRPr/>
          </a:p>
          <a:p>
            <a:r>
              <a:t>Strategy 4: Directory Isolation (For Large Projects) In large monorepos or projects with distinct sections, isolate instructions by directory. Frontend, backend, mobile, docs, infrastructure - each gets its own instruction files with directory-specific patterns. This prevents cross-contamination of concerns.</a:t>
            </a:r>
          </a:p>
          <a:p>
            <a:endParaRPr/>
          </a:p>
          <a:p>
            <a:r>
              <a:t>When to use: Projects with clear architectural boundaries, multi-team codebases, or when different parts of your system have fundamentally different requirements.</a:t>
            </a:r>
          </a:p>
          <a:p>
            <a:endParaRPr/>
          </a:p>
          <a:p>
            <a:r>
              <a:t>Implementation tip: Document your strategy in your repository's README so the team understands the pattern matching approach you're using. Include examples of which files trigger which instructions.</a:t>
            </a:r>
          </a:p>
          <a:p>
            <a:endParaRPr/>
          </a:p>
          <a:p>
            <a:r>
              <a:t>Remember: You can see which instructions are active by checking the Copilot context window or by asking Copilot “which instruction files are currently active?”</a:t>
            </a:r>
          </a:p>
          <a:p>
            <a:endParaRPr/>
          </a:p>
          <a:p>
            <a:r>
              <a:t>---</a:t>
            </a:r>
          </a:p>
          <a:p>
            <a:endParaRPr/>
          </a:p>
          <a:p>
            <a:r>
              <a:t>Source: slides\marp\copilot-instruction-control.deck.md</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~00:15</a:t>
            </a:r>
          </a:p>
          <a:p>
            <a:endParaRPr/>
          </a:p>
          <a:p>
            <a:r>
              <a:t>Open by framing MCP as Copilot's extensibility layer beyond the repository. Copilot is already powerful for code in a repo, but many real workflows require reaching outside that boundary: querying a database, checking infrastructure state, or pulling from an internal API. MCP is the standard that makes all of those integrations possible.</a:t>
            </a:r>
          </a:p>
          <a:p>
            <a:endParaRPr/>
          </a:p>
          <a:p>
            <a:r>
              <a:t>Transition: "Let's start with what MCP actually is."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Explain MCP as an open protocol rather than a proprietary plugin system. The key idea is standardization: any team can build a server that exposes data or capabilities to Copilot using the same protocol, which means the ecosystem grows without waiting for first-party integrations.</a:t>
            </a:r>
          </a:p>
          <a:p>
            <a:endParaRPr/>
          </a:p>
          <a:p>
            <a:r>
              <a:t>MCP servers are like npm packages — install and use. Configuration is simple JSON — no coding required.</a:t>
            </a:r>
          </a:p>
          <a:p>
            <a:endParaRPr/>
          </a:p>
          <a:p>
            <a:r>
              <a:t>Examples:</a:t>
            </a:r>
          </a:p>
          <a:p>
            <a:endParaRPr/>
          </a:p>
          <a:p>
            <a:r>
              <a:t>- GitHub MCP Server: Access repos and issues</a:t>
            </a:r>
          </a:p>
          <a:p>
            <a:r>
              <a:t>- Postgres MCP Server: Query your database</a:t>
            </a:r>
          </a:p>
          <a:p>
            <a:r>
              <a:t>- Filesystem MCP Server: Safe file access for Copilot</a:t>
            </a:r>
          </a:p>
          <a:p>
            <a:r>
              <a:t>- Slack MCP Server: Read channels and messages</a:t>
            </a:r>
          </a:p>
          <a:p>
            <a:endParaRPr/>
          </a:p>
          <a:p>
            <a:r>
              <a:t>Transition: "Let's look at the architecture in detail."</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Walk through each component methodically. The client is already familiar — VS Code with Copilot enabled. The server is what you install. The protocol is what makes them interoperable. Resources are data that can be read into context; tools are actions that Copilot can invoke on behalf of the user.</a:t>
            </a:r>
          </a:p>
          <a:p>
            <a:endParaRPr/>
          </a:p>
          <a:p>
            <a:r>
              <a:t>Consumer focus: think "install and configure" not "build and deploy" — like VS Code extensions from the marketplace.</a:t>
            </a:r>
          </a:p>
          <a:p>
            <a:endParaRPr/>
          </a:p>
          <a:p>
            <a:r>
              <a:t>Transition: "Let's see why you'd want MCP in your workflow."</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Use this slide to show why MCP matters in practice. The most compelling cases are often ones where the developer needs real state that lives outside the repo: the current schema of a production database, the live status of a Kubernetes deployment, or data from an internal system.</a:t>
            </a:r>
          </a:p>
          <a:p>
            <a:endParaRPr/>
          </a:p>
          <a:p>
            <a:r>
              <a:t>Encourage the audience to think about what data sources or tools they access repeatedly that could be connected to Copilot through an MCP server.</a:t>
            </a:r>
          </a:p>
          <a:p>
            <a:endParaRPr/>
          </a:p>
          <a:p>
            <a:r>
              <a:t>Transition: "Let's look at what servers are available today."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Emphasize that you do not need to build a server to benefit from MCP. Most common integration points already have a server available.</a:t>
            </a:r>
          </a:p>
          <a:p>
            <a:endParaRPr/>
          </a:p>
          <a:p>
            <a:r>
              <a:t>Specific package names to mention:</a:t>
            </a:r>
          </a:p>
          <a:p>
            <a:endParaRPr/>
          </a:p>
          <a:p>
            <a:r>
              <a:t>- @modelcontextprotocol/server-github — Full GitHub integration</a:t>
            </a:r>
          </a:p>
          <a:p>
            <a:r>
              <a:t>- @modelcontextprotocol/server-postgres — Direct database queries</a:t>
            </a:r>
          </a:p>
          <a:p>
            <a:r>
              <a:t>- @modelcontextprotocol/server-filesystem — Workspace file access</a:t>
            </a:r>
          </a:p>
          <a:p>
            <a:r>
              <a:t>- @modelcontextprotocol/server-brave-search — Web search integration</a:t>
            </a:r>
          </a:p>
          <a:p>
            <a:r>
              <a:t>- @modelcontextprotocol/server-puppeteer — Browser automation</a:t>
            </a:r>
          </a:p>
          <a:p>
            <a:endParaRPr/>
          </a:p>
          <a:p>
            <a:r>
              <a:t>The infrastructure-focused servers — Terraform and Kubernetes — tend to generate the most interest in DevOps or platform engineering teams.</a:t>
            </a:r>
          </a:p>
          <a:p>
            <a:endParaRPr/>
          </a:p>
          <a:p>
            <a:r>
              <a:t>Transition: "Now let's find the right server for your needs."</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this actionable. The VS Code extension gallery is the fastest entry point because it is already open. The MCP website is the authoritative source for documentation and the full server registry.</a:t>
            </a:r>
          </a:p>
          <a:p>
            <a:endParaRPr/>
          </a:p>
          <a:p>
            <a:r>
              <a:t>Suggest that attendees check the extension gallery for the tool they care most about as a next-step exercise.</a:t>
            </a:r>
          </a:p>
          <a:p>
            <a:endParaRPr/>
          </a:p>
          <a:p>
            <a:r>
              <a:t>Transition: "Let's install your first MCP server."</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Emphasize the "before and after" — without MCP, completions are based only on training data. With MCP, completions match YOUR codebase patterns.</a:t>
            </a:r>
          </a:p>
          <a:p>
            <a:endParaRPr/>
          </a:p>
          <a:p>
            <a:r>
              <a:t>Examples:</a:t>
            </a:r>
          </a:p>
          <a:p>
            <a:endParaRPr/>
          </a:p>
          <a:p>
            <a:r>
              <a:t>- Database connection: MCP provides your actual schema and connection pattern</a:t>
            </a:r>
          </a:p>
          <a:p>
            <a:r>
              <a:t>- API calls: MCP shares your error handling approach</a:t>
            </a:r>
          </a:p>
          <a:p>
            <a:r>
              <a:t>- Testing: MCP provides your test framework and fixture patterns</a:t>
            </a:r>
          </a:p>
          <a:p>
            <a:endParaRPr/>
          </a:p>
          <a:p>
            <a:r>
              <a:t>Security note: MCP servers can implement rate limiting. Audit logs track what context was provided. The permission model prevents unauthorized access.</a:t>
            </a:r>
          </a:p>
          <a:p>
            <a:endParaRPr/>
          </a:p>
          <a:p>
            <a:r>
              <a:t>Transition: "Let's talk about configuring these safely."</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Security from the consumer perspective — this is all about what YOU control in configuration.</a:t>
            </a:r>
          </a:p>
          <a:p>
            <a:endParaRPr/>
          </a:p>
          <a:p>
            <a:r>
              <a:t>Good config examples:</a:t>
            </a:r>
          </a:p>
          <a:p>
            <a:endParaRPr/>
          </a:p>
          <a:p>
            <a:r>
              <a:t>// Good: Scoped GitHub token</a:t>
            </a:r>
          </a:p>
          <a:p>
            <a:r>
              <a:t>"env": { "GITHUB_TOKEN": "${env:GH_READ_TOKEN}" }</a:t>
            </a:r>
          </a:p>
          <a:p>
            <a:endParaRPr/>
          </a:p>
          <a:p>
            <a:r>
              <a:t>// Good: Limited database access</a:t>
            </a:r>
          </a:p>
          <a:p>
            <a:r>
              <a:t>"env": { "DATABASE_URL": "postgresql://readonly-user@host/db" }</a:t>
            </a:r>
          </a:p>
          <a:p>
            <a:endParaRPr/>
          </a:p>
          <a:p>
            <a:r>
              <a:t>// Bad: Full access token hardcoded</a:t>
            </a:r>
          </a:p>
          <a:p>
            <a:r>
              <a:t>"env": { "TOKEN": "ghp_admintoken123456" }</a:t>
            </a:r>
          </a:p>
          <a:p>
            <a:endParaRPr/>
          </a:p>
          <a:p>
            <a:r>
              <a:t>Common mistakes:</a:t>
            </a:r>
          </a:p>
          <a:p>
            <a:endParaRPr/>
          </a:p>
          <a:p>
            <a:r>
              <a:t>- Using admin credentials when a reader role is sufficient</a:t>
            </a:r>
          </a:p>
          <a:p>
            <a:r>
              <a:t>- Granting access to the entire filesystem instead of the workspace folder</a:t>
            </a:r>
          </a:p>
          <a:p>
            <a:r>
              <a:t>- Not checking what data the server actually sends to AI</a:t>
            </a:r>
          </a:p>
          <a:p>
            <a:endParaRPr/>
          </a:p>
          <a:p>
            <a:r>
              <a:t>Transition: "Let's put this into practice."</a:t>
            </a:r>
          </a:p>
          <a:p>
            <a:endParaRPr/>
          </a:p>
          <a:p>
            <a:r>
              <a:t>---</a:t>
            </a:r>
          </a:p>
          <a:p>
            <a:endParaRPr/>
          </a:p>
          <a:p>
            <a:r>
              <a:t>Source: slides\marp\mcp-model-context-protocol-servers.deck.md</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slides\marp\exercise\exercise-mcp-server-create-test-use.deck.md</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~00:30</a:t>
            </a:r>
          </a:p>
          <a:p>
            <a:endParaRPr/>
          </a:p>
          <a:p>
            <a:r>
              <a:t>Facilitate this as a lab where students progress from implementation to verification to real usage. Start by framing MCP as a local integration pattern: the server reads JSON-RPC over stdio, advertises tools, and returns structured results.</a:t>
            </a:r>
          </a:p>
          <a:p>
            <a:endParaRPr/>
          </a:p>
          <a:p>
            <a:r>
              <a:t>For Phase 1, have students create `scripts/mcp/simple-mcp-server.ps1` with helper functions for `Content-Length` framing, plus handlers for `initialize`, `tools/list`, and `tools/call`. Emphasize that `tools/list` should return the `echo` tool schema and `tools/call` should validate `name == "echo"` and required `arguments.text`.</a:t>
            </a:r>
          </a:p>
          <a:p>
            <a:endParaRPr/>
          </a:p>
          <a:p>
            <a:r>
              <a:t>For Phase 2, run `pwsh -NoLogo -NoProfile -File .\scripts\mcp\test-simple-mcp-server.ps1` from repo root. Students should verify three checks in output: initialize success, echo tool listing, and echo text round-trip. If test fails, inspect malformed headers, missing `id` correlation, or invalid response shape.</a:t>
            </a:r>
          </a:p>
          <a:p>
            <a:endParaRPr/>
          </a:p>
          <a:p>
            <a:r>
              <a:t>For Phase 3, confirm `.mcp.json` includes command `pwsh` and args `-NoProfile -File scripts/mcp/simple-mcp-server.ps1`. In Copilot Chat, ask for a tool call using text like: "Use the echo MCP tool and send the text 'MCP lab check'." Debrief by asking students where they would replace echo with a real internal API or automation tool.</a:t>
            </a:r>
          </a:p>
          <a:p>
            <a:endParaRPr/>
          </a:p>
          <a:p>
            <a:r>
              <a:t>Timing guidance: 10 minutes create, 10 minutes test/debug, 8 minutes use and discuss, 2 minutes recap. During recap, connect this lab to production hardening topics: auth, input validation, audit logs, and tool least-privilege design.</a:t>
            </a:r>
          </a:p>
          <a:p>
            <a:endParaRPr/>
          </a:p>
          <a:p>
            <a:r>
              <a:t>---</a:t>
            </a:r>
          </a:p>
          <a:p>
            <a:endParaRPr/>
          </a:p>
          <a:p>
            <a:r>
              <a:t>Source: slides\marp\exercise\exercise-mcp-server-create-test-use.deck.md</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memory as a workflow accelerator rather than a hidden model capability. Explain that memory captures durable context so users and agents do not have to restate stable preferences or repository rules every time. Reinforce that memory quality matters: short, validated notes are more useful than verbose summaries. Transition by explaining why this directly impacts delivery speed and consistency.</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Call out the distinction between in-chat context and persistent memory. Emphasize that context windows are transient, while memory can carry forward high-value details into future work. Highlight practical outcomes: fewer repeated instructions, faster starts, and improved consistency. Transition into the memory scope model so learners know where each kind of note should go.</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each scope with examples tied to typical development workflows. User memory should hold stable preferences, session memory should hold temporary execution state, and repo memory should contain facts that help anyone working in the repository. Stress that scope discipline keeps memory clean and trustworthy. Transition to operational flow to show how memory is consumed and written.</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flowchart to frame memory as part of the normal execution cycle. The key decision is whether a discovery is durable and reusable, not merely interesting in the moment. Explain that over-capturing temporary details harms future quality. Transition to concrete examples of what belongs in memory versus what should be excluded.</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this slide as memory hygiene guidance. Learners should understand that memory is high-signal and selective, not a dumping ground for everything discussed. Reinforce security boundaries by explicitly excluding secrets and sensitive information. Transition to a repository-specific example so the audience can map principles into their daily workflow immediately.</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an operational checklist participants can apply right away. Reiterate that memory value comes from curation quality and scope discipline, not note volume. Encourage periodic cleanup to remove stale entries and keep retrieval high-signal. End by framing memory as an amplifier for team consistency and delivery speed.</a:t>
            </a:r>
          </a:p>
          <a:p>
            <a:endParaRPr/>
          </a:p>
          <a:p>
            <a:r>
              <a:t>---</a:t>
            </a:r>
          </a:p>
          <a:p>
            <a:endParaRPr/>
          </a:p>
          <a:p>
            <a:r>
              <a:t>Source: slides\marp\github-copilot-memory-features.deck.md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3.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9.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3.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b="0" i="0" u="none"/>
              <a:t>Wednesday Check-In</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Glad you are here and ready for the next stretch</a:t>
            </a:r>
            <a:endParaRPr sz="2800" b="0" i="0">
              <a:latin typeface="Arial"/>
            </a:endParaRPr>
          </a:p>
          <a:p>
            <a:r>
              <a:rPr sz="2800" b="0" i="0" u="none"/>
              <a:t>We will build directly on the work from earlier sessions</a:t>
            </a:r>
            <a:endParaRPr sz="2800" b="0" i="0">
              <a:latin typeface="Arial"/>
            </a:endParaRPr>
          </a:p>
          <a:p>
            <a:r>
              <a:rPr sz="2800" b="0" i="0" u="none"/>
              <a:t>Collaborative discussion is a core part of how we learn</a:t>
            </a:r>
            <a:endParaRPr sz="2800" b="0" i="0">
              <a:latin typeface="Arial"/>
            </a:endParaRPr>
          </a:p>
          <a:p>
            <a:r>
              <a:rPr sz="2800" b="1" i="0" u="none"/>
              <a:t>Bring your questions as they come up - they are always encouraged.</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Course Daily Themes</a:t>
            </a:r>
          </a:p>
        </p:txBody>
      </p:sp>
      <p:sp>
        <p:nvSpPr>
          <p:cNvPr id="3" name="Subtitle 2"/>
          <p:cNvSpPr>
            <a:spLocks noGrp="1"/>
          </p:cNvSpPr>
          <p:nvPr>
            <p:ph type="subTitle" idx="1"/>
          </p:nvPr>
        </p:nvSpPr>
        <p:spPr/>
        <p:txBody>
          <a:bodyPr wrap="square">
            <a:normAutofit/>
          </a:bodyPr>
          <a:lstStyle/>
          <a:p>
            <a:pPr>
              <a:buNone/>
            </a:pPr>
            <a:r>
              <a:rPr b="0" i="0" u="none"/>
              <a:t>Wednesday: Hump Day, No Bugs Allowed.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Daily Themes</a:t>
            </a:r>
          </a:p>
        </p:txBody>
      </p:sp>
      <p:graphicFrame>
        <p:nvGraphicFramePr>
          <p:cNvPr id="3" name="Table 2"/>
          <p:cNvGraphicFramePr>
            <a:graphicFrameLocks noGrp="1"/>
          </p:cNvGraphicFramePr>
          <p:nvPr/>
        </p:nvGraphicFramePr>
        <p:xfrm>
          <a:off x="1219200" y="1828800"/>
          <a:ext cx="9753600" cy="469392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Day</a:t>
                      </a:r>
                    </a:p>
                  </a:txBody>
                  <a:tcPr>
                    <a:solidFill>
                      <a:schemeClr val="accent4"/>
                    </a:solidFill>
                  </a:tcPr>
                </a:tc>
                <a:tc>
                  <a:txBody>
                    <a:bodyPr/>
                    <a:lstStyle/>
                    <a:p>
                      <a:pPr>
                        <a:buNone/>
                        <a:defRPr sz="1600" b="1">
                          <a:solidFill>
                            <a:schemeClr val="bg1"/>
                          </a:solidFill>
                        </a:defRPr>
                      </a:pPr>
                      <a:r>
                        <a:rPr sz="1600" b="0" i="0" u="none"/>
                        <a:t>Theme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Monday</a:t>
                      </a:r>
                    </a:p>
                  </a:txBody>
                  <a:tcPr>
                    <a:solidFill>
                      <a:schemeClr val="accent4">
                        <a:lumMod val="20000"/>
                        <a:lumOff val="80000"/>
                      </a:schemeClr>
                    </a:solidFill>
                  </a:tcPr>
                </a:tc>
                <a:tc>
                  <a:txBody>
                    <a:bodyPr/>
                    <a:lstStyle/>
                    <a:p>
                      <a:pPr>
                        <a:buNone/>
                        <a:defRPr sz="1600" b="0">
                          <a:solidFill>
                            <a:schemeClr val="tx1"/>
                          </a:solidFill>
                        </a:defRPr>
                      </a:pPr>
                      <a:r>
                        <a:rPr sz="1600" b="0" i="0" u="none"/>
                        <a:t>AI Guardrails: Instructions, Copilot UI</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Tuesday</a:t>
                      </a:r>
                    </a:p>
                  </a:txBody>
                  <a:tcPr>
                    <a:solidFill>
                      <a:schemeClr val="accent4">
                        <a:lumMod val="8000"/>
                        <a:lumOff val="92000"/>
                      </a:schemeClr>
                    </a:solidFill>
                  </a:tcPr>
                </a:tc>
                <a:tc>
                  <a:txBody>
                    <a:bodyPr/>
                    <a:lstStyle/>
                    <a:p>
                      <a:pPr>
                        <a:buNone/>
                        <a:defRPr sz="1600" b="0">
                          <a:solidFill>
                            <a:schemeClr val="tx1"/>
                          </a:solidFill>
                        </a:defRPr>
                      </a:pPr>
                      <a:r>
                        <a:rPr sz="1600" b="0" i="0" u="none"/>
                        <a:t>AI Guardrails: Prompts, Copilot for Teams, Models and Context, LLMs</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Wednesday</a:t>
                      </a:r>
                    </a:p>
                  </a:txBody>
                  <a:tcPr>
                    <a:solidFill>
                      <a:schemeClr val="accent4">
                        <a:lumMod val="20000"/>
                        <a:lumOff val="80000"/>
                      </a:schemeClr>
                    </a:solidFill>
                  </a:tcPr>
                </a:tc>
                <a:tc>
                  <a:txBody>
                    <a:bodyPr/>
                    <a:lstStyle/>
                    <a:p>
                      <a:pPr>
                        <a:buNone/>
                        <a:defRPr sz="1600" b="0">
                          <a:solidFill>
                            <a:schemeClr val="tx1"/>
                          </a:solidFill>
                        </a:defRPr>
                      </a:pPr>
                      <a:r>
                        <a:rPr sz="1600" b="1" i="0" u="none"/>
                        <a:t>AI Guardrails: Agents, Skills, Managing Context, Instructions vs Prompts vs Agents, Test Automation and Code Quality, MCP</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Thursday</a:t>
                      </a:r>
                    </a:p>
                  </a:txBody>
                  <a:tcPr>
                    <a:solidFill>
                      <a:schemeClr val="accent4">
                        <a:lumMod val="8000"/>
                        <a:lumOff val="92000"/>
                      </a:schemeClr>
                    </a:solidFill>
                  </a:tcPr>
                </a:tc>
                <a:tc>
                  <a:txBody>
                    <a:bodyPr/>
                    <a:lstStyle/>
                    <a:p>
                      <a:pPr>
                        <a:buNone/>
                        <a:defRPr sz="1600" b="0">
                          <a:solidFill>
                            <a:schemeClr val="tx1"/>
                          </a:solidFill>
                        </a:defRPr>
                      </a:pPr>
                      <a:r>
                        <a:rPr sz="1600" b="0" i="0" u="none"/>
                        <a:t>AI Assisted Brownfield SD: AI Implementation Workflow, Addressing Technical Debt, Building a Backlog, Multi-Implementation Comparison, AI Practitioner Resources</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Friday</a:t>
                      </a:r>
                    </a:p>
                  </a:txBody>
                  <a:tcPr>
                    <a:solidFill>
                      <a:schemeClr val="accent4">
                        <a:lumMod val="20000"/>
                        <a:lumOff val="80000"/>
                      </a:schemeClr>
                    </a:solidFill>
                  </a:tcPr>
                </a:tc>
                <a:tc>
                  <a:txBody>
                    <a:bodyPr/>
                    <a:lstStyle/>
                    <a:p>
                      <a:pPr>
                        <a:buNone/>
                        <a:defRPr sz="1600" b="0">
                          <a:solidFill>
                            <a:schemeClr val="tx1"/>
                          </a:solidFill>
                        </a:defRPr>
                      </a:pPr>
                      <a:r>
                        <a:rPr sz="1600" b="0" i="0" u="none"/>
                        <a:t>AI Assisted Greenfield SD: Specification Driven Software Development, Architecture Specification, Technology Specification, Implementation Specification, Implementation Planning, Implementation Prompts, Vertical Slice Implementation, Code Review with GitHub Copilot</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Test Automation and Code Quality</a:t>
            </a:r>
          </a:p>
          <a:p>
            <a:r>
              <a:rPr b="0" i="0" u="none"/>
              <a:t>Custom Agents</a:t>
            </a:r>
          </a:p>
          <a:p>
            <a:r>
              <a:rPr b="0" i="0" u="none"/>
              <a:t>Skills</a:t>
            </a:r>
          </a:p>
          <a:p>
            <a:r>
              <a:rPr b="0" i="0" u="none"/>
              <a:t>Instructions vs Prompts vs Agents vs Skills</a:t>
            </a:r>
          </a:p>
          <a:p>
            <a:r>
              <a:rPr b="0" i="0" u="none"/>
              <a:t>MCP</a:t>
            </a:r>
          </a:p>
          <a:p>
            <a:r>
              <a:rPr b="0" i="0" u="none"/>
              <a:t>Copilot Memory Feature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Test Automation and Code Quality</a:t>
            </a:r>
          </a:p>
        </p:txBody>
      </p:sp>
      <p:sp>
        <p:nvSpPr>
          <p:cNvPr id="3" name="Subtitle 2"/>
          <p:cNvSpPr>
            <a:spLocks noGrp="1"/>
          </p:cNvSpPr>
          <p:nvPr>
            <p:ph type="subTitle" idx="1"/>
          </p:nvPr>
        </p:nvSpPr>
        <p:spPr/>
        <p:txBody>
          <a:bodyPr wrap="square">
            <a:normAutofit/>
          </a:bodyPr>
          <a:lstStyle/>
          <a:p>
            <a:pPr>
              <a:buNone/>
            </a:pPr>
            <a:r>
              <a:rPr b="0" i="0" u="none"/>
              <a:t>The Test Suite You Deserved All Along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Automated Quality Gates</a:t>
            </a:r>
          </a:p>
        </p:txBody>
      </p:sp>
      <p:sp>
        <p:nvSpPr>
          <p:cNvPr id="3" name="Content Placeholder 2"/>
          <p:cNvSpPr>
            <a:spLocks noGrp="1"/>
          </p:cNvSpPr>
          <p:nvPr>
            <p:ph idx="1"/>
          </p:nvPr>
        </p:nvSpPr>
        <p:spPr/>
        <p:txBody>
          <a:bodyPr wrap="square">
            <a:normAutofit/>
          </a:bodyPr>
          <a:lstStyle/>
          <a:p>
            <a:pPr>
              <a:buNone/>
            </a:pPr>
            <a:r>
              <a:rPr sz="1350" b="0" i="0" u="none"/>
              <a:t>Quality gates can enforce:</a:t>
            </a:r>
            <a:endParaRPr sz="1350" b="0" i="0">
              <a:latin typeface="Arial"/>
            </a:endParaRPr>
          </a:p>
          <a:p>
            <a:pPr>
              <a:buNone/>
            </a:pPr>
            <a:endParaRPr sz="1350" b="0" i="0">
              <a:latin typeface="Arial"/>
            </a:endParaRPr>
          </a:p>
          <a:p>
            <a:r>
              <a:rPr sz="1350" b="0" i="0" u="none"/>
              <a:t>Minimum test coverage</a:t>
            </a:r>
            <a:endParaRPr sz="1350" b="0" i="0">
              <a:latin typeface="Arial"/>
            </a:endParaRPr>
          </a:p>
          <a:p>
            <a:r>
              <a:rPr sz="1350" b="0" i="0" u="none"/>
              <a:t>Linting and architectural checks</a:t>
            </a:r>
            <a:endParaRPr sz="1350" b="0" i="0">
              <a:latin typeface="Arial"/>
            </a:endParaRPr>
          </a:p>
          <a:p>
            <a:r>
              <a:rPr sz="1350" b="0" i="0" u="none"/>
              <a:t>Provenance requirements</a:t>
            </a:r>
            <a:endParaRPr sz="1350" b="0" i="0">
              <a:latin typeface="Arial"/>
            </a:endParaRPr>
          </a:p>
          <a:p>
            <a:r>
              <a:rPr sz="1350" b="0" i="0" u="none"/>
              <a:t>PR-level test generation</a:t>
            </a:r>
            <a:endParaRPr sz="1350" b="0" i="0">
              <a:latin typeface="Arial"/>
            </a:endParaRPr>
          </a:p>
          <a:p>
            <a:r>
              <a:rPr sz="1350" b="0" i="0" u="none"/>
              <a:t>Risk scoring for changes</a:t>
            </a:r>
            <a:endParaRPr sz="1350" b="0" i="0">
              <a:latin typeface="Arial"/>
            </a:endParaRPr>
          </a:p>
          <a:p>
            <a:pPr>
              <a:buNone/>
            </a:pPr>
            <a:endParaRPr sz="1350" b="0" i="0">
              <a:latin typeface="Arial"/>
            </a:endParaRPr>
          </a:p>
          <a:p>
            <a:pPr>
              <a:buNone/>
            </a:pPr>
            <a:r>
              <a:rPr sz="1350" b="0" i="0" u="none"/>
              <a:t>Benefits</a:t>
            </a:r>
            <a:endParaRPr sz="1350" b="0" i="0">
              <a:latin typeface="Arial"/>
            </a:endParaRPr>
          </a:p>
          <a:p>
            <a:pPr>
              <a:buNone/>
            </a:pPr>
            <a:endParaRPr sz="1350" b="0" i="0">
              <a:latin typeface="Arial"/>
            </a:endParaRPr>
          </a:p>
          <a:p>
            <a:r>
              <a:rPr sz="1350" b="0" i="0" u="none"/>
              <a:t>Prevents regressions</a:t>
            </a:r>
            <a:endParaRPr sz="1350" b="0" i="0">
              <a:latin typeface="Arial"/>
            </a:endParaRPr>
          </a:p>
          <a:p>
            <a:r>
              <a:rPr sz="1350" b="0" i="0" u="none"/>
              <a:t>Ensures consistent quality</a:t>
            </a:r>
            <a:endParaRPr sz="1350" b="0" i="0">
              <a:latin typeface="Arial"/>
            </a:endParaRPr>
          </a:p>
          <a:p>
            <a:r>
              <a:rPr sz="1350" b="0" i="0" u="none"/>
              <a:t>Supports evergreen development</a:t>
            </a:r>
            <a:endParaRPr sz="1350" b="0" i="0">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Implementing Quality Gates</a:t>
            </a:r>
          </a:p>
        </p:txBody>
      </p:sp>
      <p:sp>
        <p:nvSpPr>
          <p:cNvPr id="3" name="Content Placeholder 2"/>
          <p:cNvSpPr>
            <a:spLocks noGrp="1"/>
          </p:cNvSpPr>
          <p:nvPr>
            <p:ph sz="half" idx="1"/>
          </p:nvPr>
        </p:nvSpPr>
        <p:spPr/>
        <p:txBody>
          <a:bodyPr wrap="square">
            <a:noAutofit/>
          </a:bodyPr>
          <a:lstStyle/>
          <a:p>
            <a:pPr>
              <a:buNone/>
            </a:pPr>
            <a:r>
              <a:rPr sz="900" b="0" i="0" u="none" dirty="0"/>
              <a:t>1. Define pass/fail thresholds</a:t>
            </a:r>
            <a:endParaRPr sz="900" b="0" i="0" dirty="0">
              <a:latin typeface="Consolas"/>
            </a:endParaRPr>
          </a:p>
          <a:p>
            <a:r>
              <a:rPr sz="900" b="0" i="0" u="none" dirty="0"/>
              <a:t>Coverage: e.g., line coverage &gt;= 80%</a:t>
            </a:r>
            <a:endParaRPr sz="900" b="0" i="0" dirty="0">
              <a:latin typeface="Consolas"/>
            </a:endParaRPr>
          </a:p>
          <a:p>
            <a:r>
              <a:rPr sz="900" b="0" i="0" u="none" dirty="0"/>
              <a:t>Lint/type checks: zero errors, zero high-severity warnings</a:t>
            </a:r>
            <a:endParaRPr sz="900" b="0" i="0" dirty="0">
              <a:latin typeface="Consolas"/>
            </a:endParaRPr>
          </a:p>
          <a:p>
            <a:pPr>
              <a:buNone/>
            </a:pPr>
            <a:endParaRPr sz="900" b="0" i="0" dirty="0">
              <a:latin typeface="Consolas"/>
            </a:endParaRPr>
          </a:p>
          <a:p>
            <a:pPr>
              <a:buNone/>
            </a:pPr>
            <a:r>
              <a:rPr sz="900" b="0" i="0" u="none" dirty="0"/>
              <a:t>2. Build a CI workflow</a:t>
            </a:r>
            <a:endParaRPr sz="900" b="0" i="0" dirty="0">
              <a:latin typeface="Consolas"/>
            </a:endParaRPr>
          </a:p>
          <a:p>
            <a:r>
              <a:rPr sz="900" b="0" i="0" u="none" dirty="0"/>
              <a:t>Run unit/integration tests on every pull request</a:t>
            </a:r>
            <a:endParaRPr sz="900" b="0" i="0" dirty="0">
              <a:latin typeface="Consolas"/>
            </a:endParaRPr>
          </a:p>
          <a:p>
            <a:r>
              <a:rPr sz="900" b="0" i="0" u="none" dirty="0"/>
              <a:t>Run static analysis and security scans</a:t>
            </a:r>
            <a:endParaRPr sz="900" b="0" i="0" dirty="0">
              <a:latin typeface="Consolas"/>
            </a:endParaRPr>
          </a:p>
          <a:p>
            <a:pPr>
              <a:buNone/>
            </a:pPr>
            <a:endParaRPr sz="900" b="0" i="0" dirty="0">
              <a:latin typeface="Consolas"/>
            </a:endParaRPr>
          </a:p>
          <a:p>
            <a:pPr>
              <a:buNone/>
            </a:pPr>
            <a:r>
              <a:rPr sz="900" b="0" i="0" u="none" dirty="0"/>
              <a:t>3. Enforce branch protection</a:t>
            </a:r>
            <a:endParaRPr sz="900" b="0" i="0" dirty="0">
              <a:latin typeface="Consolas"/>
            </a:endParaRPr>
          </a:p>
          <a:p>
            <a:r>
              <a:rPr sz="900" b="0" i="0" u="none" dirty="0"/>
              <a:t>Require all checks to pass before merge</a:t>
            </a:r>
            <a:endParaRPr sz="900" b="0" i="0" dirty="0">
              <a:latin typeface="Consolas"/>
            </a:endParaRPr>
          </a:p>
          <a:p>
            <a:r>
              <a:rPr sz="900" b="0" i="0" u="none" dirty="0"/>
              <a:t>Block force-push and direct pushes to main</a:t>
            </a:r>
            <a:endParaRPr sz="900" b="0" i="0" dirty="0">
              <a:latin typeface="Consolas"/>
            </a:endParaRPr>
          </a:p>
          <a:p>
            <a:pPr>
              <a:buNone/>
            </a:pPr>
            <a:endParaRPr sz="900" b="0" i="0" dirty="0">
              <a:latin typeface="Consolas"/>
            </a:endParaRPr>
          </a:p>
          <a:p>
            <a:pPr>
              <a:buNone/>
            </a:pPr>
            <a:r>
              <a:rPr sz="900" b="0" i="0" u="none" dirty="0"/>
              <a:t>4. Add policy checks</a:t>
            </a:r>
            <a:endParaRPr sz="900" b="0" i="0" dirty="0">
              <a:latin typeface="Consolas"/>
            </a:endParaRPr>
          </a:p>
          <a:p>
            <a:r>
              <a:rPr sz="900" b="0" i="0" u="none" dirty="0"/>
              <a:t>Validate AI provenance metadata where required</a:t>
            </a:r>
            <a:endParaRPr sz="900" b="0" i="0" dirty="0">
              <a:latin typeface="Consolas"/>
            </a:endParaRPr>
          </a:p>
          <a:p>
            <a:r>
              <a:rPr sz="900" b="0" i="0" u="none" dirty="0"/>
              <a:t>Fail builds when required metadata is missing</a:t>
            </a:r>
            <a:endParaRPr sz="900" b="0" i="0" dirty="0">
              <a:latin typeface="Consolas"/>
            </a:endParaRPr>
          </a:p>
          <a:p>
            <a:pPr>
              <a:buNone/>
            </a:pPr>
            <a:endParaRPr sz="900" b="0" i="0" dirty="0">
              <a:latin typeface="Consolas"/>
            </a:endParaRPr>
          </a:p>
        </p:txBody>
      </p:sp>
      <p:sp>
        <p:nvSpPr>
          <p:cNvPr id="4" name="Content Placeholder 3">
            <a:extLst>
              <a:ext uri="{FF2B5EF4-FFF2-40B4-BE49-F238E27FC236}">
                <a16:creationId xmlns:a16="http://schemas.microsoft.com/office/drawing/2014/main" id="{537A116C-7610-72E2-3A5A-CDE918F3A141}"/>
              </a:ext>
            </a:extLst>
          </p:cNvPr>
          <p:cNvSpPr>
            <a:spLocks noGrp="1"/>
          </p:cNvSpPr>
          <p:nvPr>
            <p:ph sz="half" idx="2"/>
          </p:nvPr>
        </p:nvSpPr>
        <p:spPr/>
        <p:txBody>
          <a:bodyPr>
            <a:normAutofit fontScale="55000" lnSpcReduction="20000"/>
          </a:bodyPr>
          <a:lstStyle/>
          <a:p>
            <a:pPr>
              <a:buNone/>
            </a:pPr>
            <a:r>
              <a:rPr lang="en-US" dirty="0"/>
              <a:t>Example GitHub Actions flow:</a:t>
            </a:r>
            <a:endParaRPr lang="en-US" dirty="0">
              <a:latin typeface="Consolas"/>
            </a:endParaRPr>
          </a:p>
          <a:p>
            <a:pPr>
              <a:buNone/>
            </a:pPr>
            <a:endParaRPr lang="en-US" dirty="0">
              <a:latin typeface="Consolas"/>
            </a:endParaRPr>
          </a:p>
          <a:p>
            <a:pPr>
              <a:buNone/>
            </a:pPr>
            <a:r>
              <a:rPr lang="en-US" dirty="0">
                <a:latin typeface="Consolas"/>
              </a:rPr>
              <a:t>name: quality-gates</a:t>
            </a:r>
          </a:p>
          <a:p>
            <a:pPr>
              <a:buNone/>
            </a:pPr>
            <a:r>
              <a:rPr lang="en-US" dirty="0">
                <a:latin typeface="Consolas"/>
              </a:rPr>
              <a:t>on: [</a:t>
            </a:r>
            <a:r>
              <a:rPr lang="en-US" dirty="0" err="1">
                <a:latin typeface="Consolas"/>
              </a:rPr>
              <a:t>pull_request</a:t>
            </a:r>
            <a:r>
              <a:rPr lang="en-US" dirty="0">
                <a:latin typeface="Consolas"/>
              </a:rPr>
              <a:t>]</a:t>
            </a:r>
          </a:p>
          <a:p>
            <a:pPr>
              <a:buNone/>
            </a:pPr>
            <a:r>
              <a:rPr lang="en-US" dirty="0">
                <a:latin typeface="Consolas"/>
              </a:rPr>
              <a:t>jobs:</a:t>
            </a:r>
          </a:p>
          <a:p>
            <a:pPr>
              <a:buNone/>
            </a:pPr>
            <a:r>
              <a:rPr lang="en-US" dirty="0">
                <a:latin typeface="Consolas"/>
              </a:rPr>
              <a:t>  gates:</a:t>
            </a:r>
          </a:p>
          <a:p>
            <a:pPr>
              <a:buNone/>
            </a:pPr>
            <a:r>
              <a:rPr lang="en-US" dirty="0">
                <a:latin typeface="Consolas"/>
              </a:rPr>
              <a:t>    runs-on: ubuntu-latest</a:t>
            </a:r>
          </a:p>
          <a:p>
            <a:pPr>
              <a:buNone/>
            </a:pPr>
            <a:r>
              <a:rPr lang="en-US" dirty="0">
                <a:latin typeface="Consolas"/>
              </a:rPr>
              <a:t>    steps:</a:t>
            </a:r>
          </a:p>
          <a:p>
            <a:pPr>
              <a:buNone/>
            </a:pPr>
            <a:r>
              <a:rPr lang="en-US" dirty="0">
                <a:latin typeface="Consolas"/>
              </a:rPr>
              <a:t>      - uses: actions/checkout@v4</a:t>
            </a:r>
          </a:p>
          <a:p>
            <a:pPr>
              <a:buNone/>
            </a:pPr>
            <a:r>
              <a:rPr lang="en-US" dirty="0">
                <a:latin typeface="Consolas"/>
              </a:rPr>
              <a:t>      - run: </a:t>
            </a:r>
            <a:r>
              <a:rPr lang="en-US" dirty="0" err="1">
                <a:latin typeface="Consolas"/>
              </a:rPr>
              <a:t>npm</a:t>
            </a:r>
            <a:r>
              <a:rPr lang="en-US" dirty="0">
                <a:latin typeface="Consolas"/>
              </a:rPr>
              <a:t> ci</a:t>
            </a:r>
          </a:p>
          <a:p>
            <a:pPr>
              <a:buNone/>
            </a:pPr>
            <a:r>
              <a:rPr lang="en-US" dirty="0">
                <a:latin typeface="Consolas"/>
              </a:rPr>
              <a:t>      - run: </a:t>
            </a:r>
            <a:r>
              <a:rPr lang="en-US" dirty="0" err="1">
                <a:latin typeface="Consolas"/>
              </a:rPr>
              <a:t>npm</a:t>
            </a:r>
            <a:r>
              <a:rPr lang="en-US" dirty="0">
                <a:latin typeface="Consolas"/>
              </a:rPr>
              <a:t> run lint</a:t>
            </a:r>
          </a:p>
          <a:p>
            <a:pPr>
              <a:buNone/>
            </a:pPr>
            <a:r>
              <a:rPr lang="en-US" dirty="0">
                <a:latin typeface="Consolas"/>
              </a:rPr>
              <a:t>      - run: </a:t>
            </a:r>
            <a:r>
              <a:rPr lang="en-US" dirty="0" err="1">
                <a:latin typeface="Consolas"/>
              </a:rPr>
              <a:t>npm</a:t>
            </a:r>
            <a:r>
              <a:rPr lang="en-US" dirty="0">
                <a:latin typeface="Consolas"/>
              </a:rPr>
              <a:t> test -- --coverage</a:t>
            </a:r>
          </a:p>
          <a:p>
            <a:pPr>
              <a:buNone/>
            </a:pPr>
            <a:r>
              <a:rPr lang="en-US" dirty="0">
                <a:latin typeface="Consolas"/>
              </a:rPr>
              <a:t>      - run: </a:t>
            </a:r>
            <a:r>
              <a:rPr lang="en-US" dirty="0" err="1">
                <a:latin typeface="Consolas"/>
              </a:rPr>
              <a:t>npm</a:t>
            </a:r>
            <a:r>
              <a:rPr lang="en-US" dirty="0">
                <a:latin typeface="Consolas"/>
              </a:rPr>
              <a:t> run </a:t>
            </a:r>
            <a:r>
              <a:rPr lang="en-US" dirty="0" err="1">
                <a:latin typeface="Consolas"/>
              </a:rPr>
              <a:t>security:scan</a:t>
            </a:r>
            <a:endParaRPr lang="en-US" dirty="0">
              <a:latin typeface="Consolas"/>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Red, Green, Refactor</a:t>
            </a:r>
          </a:p>
        </p:txBody>
      </p:sp>
      <p:sp>
        <p:nvSpPr>
          <p:cNvPr id="3" name="Content Placeholder 2"/>
          <p:cNvSpPr>
            <a:spLocks noGrp="1"/>
          </p:cNvSpPr>
          <p:nvPr>
            <p:ph idx="1"/>
          </p:nvPr>
        </p:nvSpPr>
        <p:spPr/>
        <p:txBody>
          <a:bodyPr wrap="square">
            <a:normAutofit/>
          </a:bodyPr>
          <a:lstStyle/>
          <a:p>
            <a:pPr>
              <a:buNone/>
            </a:pPr>
            <a:r>
              <a:rPr sz="2800" b="0" i="0" u="none"/>
              <a:t>Test-first development that keeps feedback fast and design intentional.</a:t>
            </a:r>
            <a:endParaRPr sz="280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TDD Cycle</a:t>
            </a:r>
          </a:p>
        </p:txBody>
      </p:sp>
      <p:sp>
        <p:nvSpPr>
          <p:cNvPr id="3" name="Content Placeholder 2"/>
          <p:cNvSpPr>
            <a:spLocks noGrp="1"/>
          </p:cNvSpPr>
          <p:nvPr>
            <p:ph sz="half" idx="1"/>
          </p:nvPr>
        </p:nvSpPr>
        <p:spPr/>
        <p:txBody>
          <a:bodyPr wrap="square">
            <a:normAutofit fontScale="77500" lnSpcReduction="20000"/>
          </a:bodyPr>
          <a:lstStyle/>
          <a:p>
            <a:pPr>
              <a:buNone/>
            </a:pPr>
            <a:r>
              <a:rPr sz="2600" b="0" i="0" u="none"/>
              <a:t>1. Red</a:t>
            </a:r>
            <a:endParaRPr sz="2600" b="0" i="0">
              <a:latin typeface="Arial"/>
            </a:endParaRPr>
          </a:p>
          <a:p>
            <a:pPr lvl="1"/>
            <a:r>
              <a:rPr sz="2600" b="0" i="0" u="none"/>
              <a:t>Write a small test for a single behavior</a:t>
            </a:r>
            <a:endParaRPr sz="2600" b="0" i="0">
              <a:latin typeface="Arial"/>
            </a:endParaRPr>
          </a:p>
          <a:p>
            <a:pPr lvl="1"/>
            <a:r>
              <a:rPr sz="2600" b="0" i="0" u="none"/>
              <a:t>Confirm it fails for the right reason</a:t>
            </a:r>
            <a:endParaRPr sz="2600" b="0" i="0">
              <a:latin typeface="Arial"/>
            </a:endParaRPr>
          </a:p>
          <a:p>
            <a:pPr>
              <a:buNone/>
            </a:pPr>
            <a:r>
              <a:rPr sz="2600" b="0" i="0" u="none"/>
              <a:t>2. Green</a:t>
            </a:r>
            <a:endParaRPr sz="2600" b="0" i="0">
              <a:latin typeface="Arial"/>
            </a:endParaRPr>
          </a:p>
          <a:p>
            <a:pPr lvl="1"/>
            <a:r>
              <a:rPr sz="2600" b="0" i="0" u="none"/>
              <a:t>Implement the minimum code to pass</a:t>
            </a:r>
            <a:endParaRPr sz="2600" b="0" i="0">
              <a:latin typeface="Arial"/>
            </a:endParaRPr>
          </a:p>
          <a:p>
            <a:pPr lvl="1"/>
            <a:r>
              <a:rPr sz="2600" b="0" i="0" u="none"/>
              <a:t>Avoid over-engineering in this step</a:t>
            </a:r>
            <a:endParaRPr sz="2600" b="0" i="0">
              <a:latin typeface="Arial"/>
            </a:endParaRPr>
          </a:p>
          <a:p>
            <a:pPr>
              <a:buNone/>
            </a:pPr>
            <a:r>
              <a:rPr sz="2600" b="0" i="0" u="none"/>
              <a:t>3. Refactor</a:t>
            </a:r>
            <a:endParaRPr sz="2600" b="0" i="0">
              <a:latin typeface="Arial"/>
            </a:endParaRPr>
          </a:p>
          <a:p>
            <a:pPr lvl="1"/>
            <a:r>
              <a:rPr sz="2600" b="0" i="0" u="none"/>
              <a:t>Improve naming, structure, and duplication</a:t>
            </a:r>
            <a:endParaRPr sz="2600" b="0" i="0">
              <a:latin typeface="Arial"/>
            </a:endParaRPr>
          </a:p>
          <a:p>
            <a:pPr lvl="1"/>
            <a:r>
              <a:rPr sz="2600" b="0" i="0" u="none"/>
              <a:t>Keep tests green while cleaning design</a:t>
            </a:r>
            <a:endParaRPr sz="2600" b="0" i="0">
              <a:latin typeface="Arial"/>
            </a:endParaRPr>
          </a:p>
        </p:txBody>
      </p:sp>
      <p:pic>
        <p:nvPicPr>
          <p:cNvPr id="11" name="Content Placeholder 10">
            <a:extLst>
              <a:ext uri="{FF2B5EF4-FFF2-40B4-BE49-F238E27FC236}">
                <a16:creationId xmlns:a16="http://schemas.microsoft.com/office/drawing/2014/main" id="{1259B13A-968B-2FAF-A2FF-DAD38D7E3872}"/>
              </a:ext>
            </a:extLst>
          </p:cNvPr>
          <p:cNvPicPr>
            <a:picLocks noGrp="1" noChangeAspect="1"/>
          </p:cNvPicPr>
          <p:nvPr>
            <p:ph sz="half" idx="2"/>
          </p:nvPr>
        </p:nvPicPr>
        <p:blipFill>
          <a:blip r:embed="rId3"/>
          <a:stretch>
            <a:fillRect/>
          </a:stretch>
        </p:blipFill>
        <p:spPr>
          <a:xfrm>
            <a:off x="7451657" y="2213695"/>
            <a:ext cx="2622685" cy="285129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to Apply TDD in Practice</a:t>
            </a:r>
          </a:p>
        </p:txBody>
      </p:sp>
      <p:sp>
        <p:nvSpPr>
          <p:cNvPr id="3" name="Content Placeholder 2"/>
          <p:cNvSpPr>
            <a:spLocks noGrp="1"/>
          </p:cNvSpPr>
          <p:nvPr>
            <p:ph idx="1"/>
          </p:nvPr>
        </p:nvSpPr>
        <p:spPr/>
        <p:txBody>
          <a:bodyPr wrap="square">
            <a:normAutofit/>
          </a:bodyPr>
          <a:lstStyle/>
          <a:p>
            <a:r>
              <a:rPr sz="1200" b="0" i="0" u="none" dirty="0"/>
              <a:t>Start with behavior-focused test names</a:t>
            </a:r>
            <a:endParaRPr sz="1200" b="0" i="0" dirty="0">
              <a:latin typeface="Arial"/>
            </a:endParaRPr>
          </a:p>
          <a:p>
            <a:pPr lvl="1"/>
            <a:r>
              <a:rPr sz="1200" b="0" i="0" u="none" dirty="0"/>
              <a:t>Example: </a:t>
            </a:r>
            <a:r>
              <a:rPr sz="1200" b="0" i="0" u="none" dirty="0" err="1"/>
              <a:t>should</a:t>
            </a:r>
            <a:r>
              <a:rPr sz="1200" b="0" i="1" u="none" dirty="0" err="1"/>
              <a:t>reject</a:t>
            </a:r>
            <a:r>
              <a:rPr sz="1200" b="0" i="0" u="none" dirty="0" err="1"/>
              <a:t>withdrawal</a:t>
            </a:r>
            <a:r>
              <a:rPr sz="1200" b="0" i="1" u="none" dirty="0" err="1"/>
              <a:t>when</a:t>
            </a:r>
            <a:r>
              <a:rPr sz="1200" b="0" i="0" u="none" dirty="0" err="1"/>
              <a:t>balance</a:t>
            </a:r>
            <a:r>
              <a:rPr sz="1200" b="0" i="1" u="none" dirty="0" err="1"/>
              <a:t>is</a:t>
            </a:r>
            <a:r>
              <a:rPr sz="1200" b="0" i="0" u="none" dirty="0" err="1"/>
              <a:t>insufficient</a:t>
            </a:r>
            <a:endParaRPr sz="1200" b="0" i="0" dirty="0">
              <a:latin typeface="Arial"/>
            </a:endParaRPr>
          </a:p>
          <a:p>
            <a:r>
              <a:rPr sz="1200" b="0" i="0" u="none" dirty="0"/>
              <a:t>Keep each cycle short</a:t>
            </a:r>
            <a:endParaRPr sz="1200" b="0" i="0" dirty="0">
              <a:latin typeface="Arial"/>
            </a:endParaRPr>
          </a:p>
          <a:p>
            <a:pPr lvl="1"/>
            <a:r>
              <a:rPr sz="1200" b="0" i="0" u="none" dirty="0"/>
              <a:t>Target 2 to 10 minutes per test cycle</a:t>
            </a:r>
            <a:endParaRPr sz="1200" b="0" i="0" dirty="0">
              <a:latin typeface="Arial"/>
            </a:endParaRPr>
          </a:p>
          <a:p>
            <a:r>
              <a:rPr sz="1200" b="0" i="0" u="none" dirty="0"/>
              <a:t>Use CI quality gates</a:t>
            </a:r>
            <a:endParaRPr sz="1200" b="0" i="0" dirty="0">
              <a:latin typeface="Arial"/>
            </a:endParaRPr>
          </a:p>
          <a:p>
            <a:pPr lvl="1"/>
            <a:r>
              <a:rPr sz="1200" b="0" i="0" u="none" dirty="0"/>
              <a:t>Run tests, linting, and coverage checks on every PR</a:t>
            </a:r>
            <a:endParaRPr sz="1200" b="0" i="0" dirty="0">
              <a:latin typeface="Arial"/>
            </a:endParaRPr>
          </a:p>
          <a:p>
            <a:r>
              <a:rPr sz="1200" b="0" i="0" u="none" dirty="0"/>
              <a:t>Pair TDD with AI tools carefully</a:t>
            </a:r>
            <a:endParaRPr sz="1200" b="0" i="0" dirty="0">
              <a:latin typeface="Arial"/>
            </a:endParaRPr>
          </a:p>
          <a:p>
            <a:pPr lvl="1"/>
            <a:r>
              <a:rPr sz="1200" b="0" i="0" u="none" dirty="0"/>
              <a:t>Prompt for tests first, then implementation</a:t>
            </a:r>
            <a:endParaRPr sz="1200" b="0" i="0" dirty="0">
              <a:latin typeface="Arial"/>
            </a:endParaRPr>
          </a:p>
          <a:p>
            <a:pPr lvl="1"/>
            <a:r>
              <a:rPr sz="1200" b="0" i="0" u="none" dirty="0"/>
              <a:t>Review generated tests for clarity and intent</a:t>
            </a:r>
            <a:endParaRPr sz="1200" b="0" i="0" dirty="0">
              <a:latin typeface="Arial"/>
            </a:endParaRPr>
          </a:p>
          <a:p>
            <a:pPr>
              <a:buNone/>
            </a:pPr>
            <a:endParaRPr sz="1200" b="0" i="0" dirty="0">
              <a:latin typeface="Arial"/>
            </a:endParaRPr>
          </a:p>
          <a:p>
            <a:pPr>
              <a:buNone/>
            </a:pPr>
            <a:r>
              <a:rPr sz="1200" b="0" i="0" u="none" dirty="0"/>
              <a:t>Success signals:</a:t>
            </a:r>
            <a:endParaRPr sz="1200" b="0" i="0" dirty="0">
              <a:latin typeface="Arial"/>
            </a:endParaRPr>
          </a:p>
          <a:p>
            <a:r>
              <a:rPr sz="1200" b="0" i="0" u="none" dirty="0"/>
              <a:t>High confidence in refactoring</a:t>
            </a:r>
            <a:endParaRPr sz="1200" b="0" i="0" dirty="0">
              <a:latin typeface="Arial"/>
            </a:endParaRPr>
          </a:p>
          <a:p>
            <a:r>
              <a:rPr sz="1200" b="0" i="0" u="none" dirty="0"/>
              <a:t>Lower regression rate</a:t>
            </a:r>
            <a:endParaRPr sz="1200" b="0" i="0" dirty="0">
              <a:latin typeface="Arial"/>
            </a:endParaRPr>
          </a:p>
          <a:p>
            <a:r>
              <a:rPr sz="1200" b="0" i="0" u="none" dirty="0"/>
              <a:t>Faster code reviews with clearer intent</a:t>
            </a:r>
            <a:endParaRPr sz="1200" b="0" i="0" dirty="0">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00" b="0" i="0" u="none"/>
              <a:t>Repository TDD Standard: Instruction File</a:t>
            </a:r>
          </a:p>
        </p:txBody>
      </p:sp>
      <p:sp>
        <p:nvSpPr>
          <p:cNvPr id="3" name="Content Placeholder 2"/>
          <p:cNvSpPr>
            <a:spLocks noGrp="1"/>
          </p:cNvSpPr>
          <p:nvPr>
            <p:ph idx="1"/>
          </p:nvPr>
        </p:nvSpPr>
        <p:spPr/>
        <p:txBody>
          <a:bodyPr wrap="square">
            <a:normAutofit fontScale="92500" lnSpcReduction="10000"/>
          </a:bodyPr>
          <a:lstStyle/>
          <a:p>
            <a:pPr>
              <a:buNone/>
            </a:pPr>
            <a:r>
              <a:rPr sz="1200" b="0" i="0" u="none" dirty="0"/>
              <a:t>Reference:</a:t>
            </a:r>
            <a:endParaRPr sz="1200" b="0" i="0" dirty="0">
              <a:latin typeface="Arial"/>
            </a:endParaRPr>
          </a:p>
          <a:p>
            <a:r>
              <a:rPr sz="1200" b="0" i="0" u="none" dirty="0"/>
              <a:t>.</a:t>
            </a:r>
            <a:r>
              <a:rPr sz="1200" b="0" i="0" u="none" dirty="0" err="1"/>
              <a:t>github</a:t>
            </a:r>
            <a:r>
              <a:rPr sz="1200" b="0" i="0" u="none" dirty="0"/>
              <a:t>/instructions/test-driven-development.instructions.md</a:t>
            </a:r>
            <a:endParaRPr sz="1200" b="0" i="0" dirty="0">
              <a:latin typeface="Arial"/>
            </a:endParaRPr>
          </a:p>
          <a:p>
            <a:pPr>
              <a:buNone/>
            </a:pPr>
            <a:endParaRPr sz="1200" b="0" i="0" dirty="0">
              <a:latin typeface="Arial"/>
            </a:endParaRPr>
          </a:p>
          <a:p>
            <a:pPr>
              <a:buNone/>
            </a:pPr>
            <a:r>
              <a:rPr sz="1200" b="0" i="0" u="none" dirty="0"/>
              <a:t>What it formalizes:</a:t>
            </a:r>
            <a:endParaRPr sz="1200" b="0" i="0" dirty="0">
              <a:latin typeface="Arial"/>
            </a:endParaRPr>
          </a:p>
          <a:p>
            <a:r>
              <a:rPr sz="1200" b="0" i="0" u="none" dirty="0"/>
              <a:t>Red-Green-Refactor workflow as the default development loop</a:t>
            </a:r>
            <a:endParaRPr sz="1200" b="0" i="0" dirty="0">
              <a:latin typeface="Arial"/>
            </a:endParaRPr>
          </a:p>
          <a:p>
            <a:r>
              <a:rPr sz="1200" b="0" i="0" u="none" dirty="0"/>
              <a:t>Test anatomy using Arrange-Act-Assert and behavior-first naming</a:t>
            </a:r>
            <a:endParaRPr sz="1200" b="0" i="0" dirty="0">
              <a:latin typeface="Arial"/>
            </a:endParaRPr>
          </a:p>
          <a:p>
            <a:r>
              <a:rPr sz="1200" b="0" i="0" u="none" dirty="0"/>
              <a:t>Coverage expectations across unit, integration, and E2E tests</a:t>
            </a:r>
            <a:endParaRPr sz="1200" b="0" i="0" dirty="0">
              <a:latin typeface="Arial"/>
            </a:endParaRPr>
          </a:p>
          <a:p>
            <a:r>
              <a:rPr sz="1200" b="0" i="0" u="none" dirty="0"/>
              <a:t>AI-assisted test authoring prompts with explicit constraints</a:t>
            </a:r>
            <a:endParaRPr sz="1200" b="0" i="0" dirty="0">
              <a:latin typeface="Arial"/>
            </a:endParaRPr>
          </a:p>
          <a:p>
            <a:r>
              <a:rPr sz="1200" b="0" i="0" u="none" dirty="0"/>
              <a:t>Anti-patterns to avoid (brittle tests, interdependent tests, implementation-only assertions)</a:t>
            </a:r>
            <a:endParaRPr sz="1200" b="0" i="0" dirty="0">
              <a:latin typeface="Arial"/>
            </a:endParaRPr>
          </a:p>
          <a:p>
            <a:pPr>
              <a:buNone/>
            </a:pPr>
            <a:endParaRPr sz="1200" b="0" i="0" dirty="0">
              <a:latin typeface="Arial"/>
            </a:endParaRPr>
          </a:p>
          <a:p>
            <a:pPr>
              <a:buNone/>
            </a:pPr>
            <a:r>
              <a:rPr sz="1200" b="0" i="0" u="none" dirty="0"/>
              <a:t>How to use it in daily work:</a:t>
            </a:r>
            <a:endParaRPr sz="1200" b="0" i="0" dirty="0">
              <a:latin typeface="Arial"/>
            </a:endParaRPr>
          </a:p>
          <a:p>
            <a:pPr>
              <a:buNone/>
            </a:pPr>
            <a:r>
              <a:rPr sz="1200" b="0" i="0" u="none" dirty="0"/>
              <a:t>1. Derive tests directly from business rules and acceptance criteria</a:t>
            </a:r>
            <a:endParaRPr sz="1200" b="0" i="0" dirty="0">
              <a:latin typeface="Arial"/>
            </a:endParaRPr>
          </a:p>
          <a:p>
            <a:pPr>
              <a:buNone/>
            </a:pPr>
            <a:r>
              <a:rPr sz="1200" b="0" i="0" u="none" dirty="0"/>
              <a:t>2. Write the failing test first and validate the failure reason</a:t>
            </a:r>
            <a:endParaRPr sz="1200" b="0" i="0" dirty="0">
              <a:latin typeface="Arial"/>
            </a:endParaRPr>
          </a:p>
          <a:p>
            <a:pPr>
              <a:buNone/>
            </a:pPr>
            <a:r>
              <a:rPr sz="1200" b="0" i="0" u="none" dirty="0"/>
              <a:t>3. Implement minimum code to pass, then refactor safely</a:t>
            </a:r>
            <a:endParaRPr sz="1200" b="0" i="0" dirty="0">
              <a:latin typeface="Arial"/>
            </a:endParaRPr>
          </a:p>
          <a:p>
            <a:pPr>
              <a:buNone/>
            </a:pPr>
            <a:r>
              <a:rPr sz="1200" b="0" i="0" u="none" dirty="0"/>
              <a:t>4. Keep quality gates in CI aligned with instruction-file thresholds</a:t>
            </a:r>
            <a:endParaRPr sz="1200" b="0" i="0" dirty="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Test-Driven Development with Copilot</a:t>
            </a:r>
          </a:p>
        </p:txBody>
      </p:sp>
      <p:sp>
        <p:nvSpPr>
          <p:cNvPr id="3" name="Subtitle 2"/>
          <p:cNvSpPr>
            <a:spLocks noGrp="1"/>
          </p:cNvSpPr>
          <p:nvPr>
            <p:ph type="subTitle" idx="1"/>
          </p:nvPr>
        </p:nvSpPr>
        <p:spPr/>
        <p:txBody>
          <a:bodyPr wrap="square">
            <a:normAutofit/>
          </a:bodyPr>
          <a:lstStyle/>
          <a:p>
            <a:pPr>
              <a:buNone/>
            </a:pPr>
            <a:r>
              <a:rPr b="0" i="0" u="none"/>
              <a:t>Write the Test First. Trust the Process.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700" b="0" i="0" u="none"/>
              <a:t>Exercise: Test-Driven Development (TDD) with Copilot</a:t>
            </a:r>
          </a:p>
        </p:txBody>
      </p:sp>
      <p:sp>
        <p:nvSpPr>
          <p:cNvPr id="3" name="Content Placeholder 2"/>
          <p:cNvSpPr>
            <a:spLocks noGrp="1"/>
          </p:cNvSpPr>
          <p:nvPr>
            <p:ph sz="half" idx="1"/>
          </p:nvPr>
        </p:nvSpPr>
        <p:spPr/>
        <p:txBody>
          <a:bodyPr wrap="square">
            <a:normAutofit fontScale="70000" lnSpcReduction="20000"/>
          </a:bodyPr>
          <a:lstStyle/>
          <a:p>
            <a:pPr>
              <a:buNone/>
            </a:pPr>
            <a:r>
              <a:rPr sz="1200" b="0" i="0" u="none"/>
              <a:t>Objectives</a:t>
            </a:r>
            <a:endParaRPr sz="1200" b="0" i="0">
              <a:latin typeface="Arial"/>
            </a:endParaRPr>
          </a:p>
          <a:p>
            <a:pPr lvl="1"/>
            <a:r>
              <a:rPr sz="1200" b="0" i="0" u="none"/>
              <a:t>Practice TDD workflow with AI assistance</a:t>
            </a:r>
            <a:endParaRPr sz="1200" b="0" i="0">
              <a:latin typeface="Arial"/>
            </a:endParaRPr>
          </a:p>
          <a:p>
            <a:pPr lvl="1"/>
            <a:r>
              <a:rPr sz="1200" b="0" i="0" u="none"/>
              <a:t>Write failing tests before implementation</a:t>
            </a:r>
            <a:endParaRPr sz="1200" b="0" i="0">
              <a:latin typeface="Arial"/>
            </a:endParaRPr>
          </a:p>
          <a:p>
            <a:pPr lvl="1"/>
            <a:r>
              <a:rPr sz="1200" b="0" i="0" u="none"/>
              <a:t>Use tests to drive design decisions</a:t>
            </a:r>
            <a:endParaRPr sz="1200" b="0" i="0">
              <a:latin typeface="Arial"/>
            </a:endParaRPr>
          </a:p>
          <a:p>
            <a:pPr lvl="1"/>
            <a:r>
              <a:rPr sz="1200" b="0" i="0" u="none"/>
              <a:t>Understand red-green-refactor cycle</a:t>
            </a:r>
            <a:endParaRPr sz="1200" b="0" i="0">
              <a:latin typeface="Arial"/>
            </a:endParaRPr>
          </a:p>
          <a:p>
            <a:pPr>
              <a:buNone/>
            </a:pPr>
            <a:endParaRPr sz="1200" b="0" i="0">
              <a:latin typeface="Arial"/>
            </a:endParaRPr>
          </a:p>
          <a:p>
            <a:pPr>
              <a:buNone/>
            </a:pPr>
            <a:r>
              <a:rPr sz="1200" b="0" i="0" u="none"/>
              <a:t>Activities</a:t>
            </a:r>
            <a:endParaRPr sz="1200" b="0" i="0">
              <a:latin typeface="Arial"/>
            </a:endParaRPr>
          </a:p>
          <a:p>
            <a:pPr>
              <a:buNone/>
            </a:pPr>
            <a:endParaRPr sz="1200" b="0" i="0">
              <a:latin typeface="Arial"/>
            </a:endParaRPr>
          </a:p>
          <a:p>
            <a:pPr>
              <a:buNone/>
            </a:pPr>
            <a:r>
              <a:rPr sz="1200" b="0" i="0" u="none"/>
              <a:t>1. Define New Feature:</a:t>
            </a:r>
            <a:endParaRPr sz="1200" b="0" i="0">
              <a:latin typeface="Arial"/>
            </a:endParaRPr>
          </a:p>
          <a:p>
            <a:pPr lvl="1"/>
            <a:r>
              <a:rPr sz="1200" b="0" i="0" u="none"/>
              <a:t>Choose a feature (for example, memory operations for calculator)</a:t>
            </a:r>
            <a:endParaRPr sz="1200" b="0" i="0">
              <a:latin typeface="Arial"/>
            </a:endParaRPr>
          </a:p>
          <a:p>
            <a:pPr lvl="1"/>
            <a:r>
              <a:rPr sz="1200" b="0" i="0" u="none"/>
              <a:t>Store current result (ANS/answer functionality)</a:t>
            </a:r>
            <a:endParaRPr sz="1200" b="0" i="0">
              <a:latin typeface="Arial"/>
            </a:endParaRPr>
          </a:p>
          <a:p>
            <a:pPr lvl="1"/>
            <a:r>
              <a:rPr sz="1200" b="0" i="0" u="none"/>
              <a:t>Recall previous result</a:t>
            </a:r>
            <a:endParaRPr sz="1200" b="0" i="0">
              <a:latin typeface="Arial"/>
            </a:endParaRPr>
          </a:p>
          <a:p>
            <a:pPr lvl="1"/>
            <a:r>
              <a:rPr sz="1200" b="0" i="0" u="none"/>
              <a:t>Handle "ANS + 5" style operations</a:t>
            </a:r>
            <a:endParaRPr sz="1200" b="0" i="0">
              <a:latin typeface="Arial"/>
            </a:endParaRPr>
          </a:p>
          <a:p>
            <a:pPr>
              <a:buNone/>
            </a:pPr>
            <a:endParaRPr sz="1200" b="0" i="0">
              <a:latin typeface="Arial"/>
            </a:endParaRPr>
          </a:p>
          <a:p>
            <a:pPr>
              <a:buNone/>
            </a:pPr>
            <a:r>
              <a:rPr sz="1200" b="0" i="0" u="none"/>
              <a:t>2. Write Failing Tests First:</a:t>
            </a:r>
            <a:endParaRPr sz="1200" b="0" i="0">
              <a:latin typeface="Arial"/>
            </a:endParaRPr>
          </a:p>
          <a:p>
            <a:pPr lvl="1"/>
            <a:r>
              <a:rPr sz="1200" b="0" i="0" u="none"/>
              <a:t>Prompt: "Using TDD, create tests for a memory/answer feature in the calculator. DO NOT implement the feature yet."</a:t>
            </a:r>
            <a:endParaRPr sz="1200" b="0" i="0">
              <a:latin typeface="Arial"/>
            </a:endParaRPr>
          </a:p>
          <a:p>
            <a:pPr lvl="1"/>
            <a:r>
              <a:rPr sz="1200" b="0" i="0" u="none"/>
              <a:t>Review generated tests</a:t>
            </a:r>
            <a:endParaRPr sz="1200" b="0" i="0">
              <a:latin typeface="Arial"/>
            </a:endParaRPr>
          </a:p>
          <a:p>
            <a:pPr lvl="1"/>
            <a:r>
              <a:rPr sz="1200" b="0" i="0" u="none"/>
              <a:t>Verify tests reference methods that do not exist yet</a:t>
            </a:r>
            <a:endParaRPr sz="1200" b="0" i="0">
              <a:latin typeface="Arial"/>
            </a:endParaRPr>
          </a:p>
          <a:p>
            <a:pPr>
              <a:buNone/>
            </a:pPr>
            <a:endParaRPr sz="1200" b="0" i="0">
              <a:latin typeface="Arial"/>
            </a:endParaRPr>
          </a:p>
          <a:p>
            <a:pPr>
              <a:buNone/>
            </a:pPr>
            <a:r>
              <a:rPr sz="1200" b="0" i="0" u="none"/>
              <a:t>3. Run Tests (Expect Failures):</a:t>
            </a:r>
            <a:endParaRPr sz="1200" b="0" i="0">
              <a:latin typeface="Arial"/>
            </a:endParaRPr>
          </a:p>
          <a:p>
            <a:pPr lvl="1"/>
            <a:r>
              <a:rPr sz="1200" b="0" i="0" u="none"/>
              <a:t>Execute test suite</a:t>
            </a:r>
            <a:endParaRPr sz="1200" b="0" i="0">
              <a:latin typeface="Arial"/>
            </a:endParaRPr>
          </a:p>
          <a:p>
            <a:pPr lvl="1"/>
            <a:r>
              <a:rPr sz="1200" b="0" i="0" u="none"/>
              <a:t>Observe compilation errors or test failures</a:t>
            </a:r>
            <a:endParaRPr sz="1200" b="0" i="0">
              <a:latin typeface="Arial"/>
            </a:endParaRPr>
          </a:p>
          <a:p>
            <a:pPr lvl="1"/>
            <a:r>
              <a:rPr sz="1200" b="0" i="0" u="none"/>
              <a:t>Document what is missing</a:t>
            </a:r>
            <a:endParaRPr sz="1200" b="0" i="0">
              <a:latin typeface="Arial"/>
            </a:endParaRPr>
          </a:p>
        </p:txBody>
      </p:sp>
      <p:sp>
        <p:nvSpPr>
          <p:cNvPr id="4" name="Content Placeholder 3"/>
          <p:cNvSpPr>
            <a:spLocks noGrp="1"/>
          </p:cNvSpPr>
          <p:nvPr>
            <p:ph sz="half" idx="2"/>
          </p:nvPr>
        </p:nvSpPr>
        <p:spPr/>
        <p:txBody>
          <a:bodyPr wrap="square">
            <a:normAutofit fontScale="70000" lnSpcReduction="20000"/>
          </a:bodyPr>
          <a:lstStyle/>
          <a:p>
            <a:pPr>
              <a:buNone/>
            </a:pPr>
            <a:r>
              <a:rPr sz="1200" b="0" i="0" u="none"/>
              <a:t>4. Implement Feature to Pass Tests:</a:t>
            </a:r>
            <a:endParaRPr sz="1200" b="0" i="0">
              <a:latin typeface="Arial"/>
            </a:endParaRPr>
          </a:p>
          <a:p>
            <a:pPr lvl="1"/>
            <a:r>
              <a:rPr sz="1200" b="0" i="0" u="none"/>
              <a:t>Prompt: "Implement the memory/answer feature to make the tests pass"</a:t>
            </a:r>
            <a:endParaRPr sz="1200" b="0" i="0">
              <a:latin typeface="Arial"/>
            </a:endParaRPr>
          </a:p>
          <a:p>
            <a:pPr lvl="1"/>
            <a:r>
              <a:rPr sz="1200" b="0" i="0" u="none"/>
              <a:t>Review generated implementation</a:t>
            </a:r>
            <a:endParaRPr sz="1200" b="0" i="0">
              <a:latin typeface="Arial"/>
            </a:endParaRPr>
          </a:p>
          <a:p>
            <a:pPr lvl="1"/>
            <a:r>
              <a:rPr sz="1200" b="0" i="0" u="none"/>
              <a:t>Run tests again</a:t>
            </a:r>
            <a:endParaRPr sz="1200" b="0" i="0">
              <a:latin typeface="Arial"/>
            </a:endParaRPr>
          </a:p>
          <a:p>
            <a:pPr lvl="1"/>
            <a:r>
              <a:rPr sz="1200" b="0" i="0" u="none"/>
              <a:t>Verify all tests now pass</a:t>
            </a:r>
            <a:endParaRPr sz="1200" b="0" i="0">
              <a:latin typeface="Arial"/>
            </a:endParaRPr>
          </a:p>
          <a:p>
            <a:pPr>
              <a:buNone/>
            </a:pPr>
            <a:endParaRPr sz="1200" b="0" i="0">
              <a:latin typeface="Arial"/>
            </a:endParaRPr>
          </a:p>
          <a:p>
            <a:pPr>
              <a:buNone/>
            </a:pPr>
            <a:r>
              <a:rPr sz="1200" b="0" i="0" u="none"/>
              <a:t>5. Refactor:</a:t>
            </a:r>
            <a:endParaRPr sz="1200" b="0" i="0">
              <a:latin typeface="Arial"/>
            </a:endParaRPr>
          </a:p>
          <a:p>
            <a:pPr lvl="1"/>
            <a:r>
              <a:rPr sz="1200" b="0" i="0" u="none"/>
              <a:t>With tests passing, ask for improvements</a:t>
            </a:r>
            <a:endParaRPr sz="1200" b="0" i="0">
              <a:latin typeface="Arial"/>
            </a:endParaRPr>
          </a:p>
          <a:p>
            <a:pPr lvl="1"/>
            <a:r>
              <a:rPr sz="1200" b="0" i="0" u="none"/>
              <a:t>Prompt: "Refactor the answer implementation for better readability"</a:t>
            </a:r>
            <a:endParaRPr sz="1200" b="0" i="0">
              <a:latin typeface="Arial"/>
            </a:endParaRPr>
          </a:p>
          <a:p>
            <a:pPr lvl="1"/>
            <a:r>
              <a:rPr sz="1200" b="0" i="0" u="none"/>
              <a:t>Verify tests still pass after refactoring</a:t>
            </a:r>
            <a:endParaRPr sz="1200" b="0" i="0">
              <a:latin typeface="Arial"/>
            </a:endParaRPr>
          </a:p>
          <a:p>
            <a:pPr>
              <a:buNone/>
            </a:pPr>
            <a:endParaRPr sz="1200" b="0" i="0">
              <a:latin typeface="Arial"/>
            </a:endParaRPr>
          </a:p>
          <a:p>
            <a:pPr>
              <a:buNone/>
            </a:pPr>
            <a:r>
              <a:rPr sz="1200" b="0" i="0" u="none"/>
              <a:t>Success Criteria</a:t>
            </a:r>
            <a:endParaRPr sz="1200" b="0" i="0">
              <a:latin typeface="Arial"/>
            </a:endParaRPr>
          </a:p>
          <a:p>
            <a:pPr lvl="1"/>
            <a:r>
              <a:rPr sz="1200" b="0" i="0" u="none"/>
              <a:t>Tests written before implementation</a:t>
            </a:r>
            <a:endParaRPr sz="1200" b="0" i="0">
              <a:latin typeface="Arial"/>
            </a:endParaRPr>
          </a:p>
          <a:p>
            <a:pPr lvl="1"/>
            <a:r>
              <a:rPr sz="1200" b="0" i="0" u="none"/>
              <a:t>Initial test run shows failures (red phase)</a:t>
            </a:r>
            <a:endParaRPr sz="1200" b="0" i="0">
              <a:latin typeface="Arial"/>
            </a:endParaRPr>
          </a:p>
          <a:p>
            <a:pPr lvl="1"/>
            <a:r>
              <a:rPr sz="1200" b="0" i="0" u="none"/>
              <a:t>Implementation makes all tests pass (green phase)</a:t>
            </a:r>
            <a:endParaRPr sz="1200" b="0" i="0">
              <a:latin typeface="Arial"/>
            </a:endParaRPr>
          </a:p>
          <a:p>
            <a:pPr lvl="1"/>
            <a:r>
              <a:rPr sz="1200" b="0" i="0" u="none"/>
              <a:t>Code refactored while maintaining passing tests</a:t>
            </a:r>
            <a:endParaRPr sz="1200" b="0" i="0">
              <a:latin typeface="Arial"/>
            </a:endParaRPr>
          </a:p>
          <a:p>
            <a:pPr lvl="1"/>
            <a:r>
              <a:rPr sz="1200" b="0" i="0" u="none"/>
              <a:t>Understanding of TDD benefits and workflow</a:t>
            </a:r>
            <a:endParaRPr sz="1200" b="0" i="0">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Creating Robust Testing Frameworks</a:t>
            </a:r>
          </a:p>
        </p:txBody>
      </p:sp>
      <p:sp>
        <p:nvSpPr>
          <p:cNvPr id="3" name="Subtitle 2"/>
          <p:cNvSpPr>
            <a:spLocks noGrp="1"/>
          </p:cNvSpPr>
          <p:nvPr>
            <p:ph type="subTitle" idx="1"/>
          </p:nvPr>
        </p:nvSpPr>
        <p:spPr/>
        <p:txBody>
          <a:bodyPr wrap="square">
            <a:normAutofit/>
          </a:bodyPr>
          <a:lstStyle/>
          <a:p>
            <a:pPr>
              <a:buNone/>
            </a:pPr>
            <a:r>
              <a:rPr b="0" i="0" u="none"/>
              <a:t>Tests So Comprehensive Even You'd Be Impressed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Managing Test Suites Over Time</a:t>
            </a:r>
          </a:p>
        </p:txBody>
      </p:sp>
      <p:sp>
        <p:nvSpPr>
          <p:cNvPr id="3" name="Content Placeholder 2"/>
          <p:cNvSpPr>
            <a:spLocks noGrp="1"/>
          </p:cNvSpPr>
          <p:nvPr>
            <p:ph idx="1"/>
          </p:nvPr>
        </p:nvSpPr>
        <p:spPr/>
        <p:txBody>
          <a:bodyPr wrap="square">
            <a:normAutofit/>
          </a:bodyPr>
          <a:lstStyle/>
          <a:p>
            <a:pPr>
              <a:buNone/>
            </a:pPr>
            <a:r>
              <a:rPr sz="2800" b="0" i="0" u="none"/>
              <a:t>Key Practices</a:t>
            </a:r>
            <a:endParaRPr sz="2800" b="0" i="0">
              <a:latin typeface="Arial"/>
            </a:endParaRPr>
          </a:p>
          <a:p>
            <a:pPr lvl="1"/>
            <a:r>
              <a:rPr sz="2800" b="0" i="0" u="none"/>
              <a:t>Regularly prune obsolete tests</a:t>
            </a:r>
            <a:endParaRPr sz="2800" b="0" i="0">
              <a:latin typeface="Arial"/>
            </a:endParaRPr>
          </a:p>
          <a:p>
            <a:pPr lvl="1"/>
            <a:r>
              <a:rPr sz="2800" b="0" i="0" u="none"/>
              <a:t>Update tests alongside code changes</a:t>
            </a:r>
            <a:endParaRPr sz="2800" b="0" i="0">
              <a:latin typeface="Arial"/>
            </a:endParaRPr>
          </a:p>
          <a:p>
            <a:pPr lvl="1"/>
            <a:r>
              <a:rPr sz="2800" b="0" i="0" u="none"/>
              <a:t>Maintain clear naming and structure</a:t>
            </a:r>
            <a:endParaRPr sz="2800" b="0" i="0">
              <a:latin typeface="Arial"/>
            </a:endParaRPr>
          </a:p>
          <a:p>
            <a:pPr lvl="1"/>
            <a:r>
              <a:rPr sz="2800" b="0" i="0" u="none"/>
              <a:t>Use coverage reports to guide improvements</a:t>
            </a:r>
            <a:endParaRPr sz="2800" b="0" i="0">
              <a:latin typeface="Arial"/>
            </a:endParaRPr>
          </a:p>
          <a:p>
            <a:pPr lvl="1"/>
            <a:r>
              <a:rPr sz="2800" b="0" i="0" u="none"/>
              <a:t>Version-control test strategy documents</a:t>
            </a:r>
            <a:endParaRPr sz="2800" b="0" i="0">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Test Review &amp; Validation Strategies</a:t>
            </a:r>
          </a:p>
        </p:txBody>
      </p:sp>
      <p:sp>
        <p:nvSpPr>
          <p:cNvPr id="3" name="Content Placeholder 2"/>
          <p:cNvSpPr>
            <a:spLocks noGrp="1"/>
          </p:cNvSpPr>
          <p:nvPr>
            <p:ph idx="1"/>
          </p:nvPr>
        </p:nvSpPr>
        <p:spPr/>
        <p:txBody>
          <a:bodyPr wrap="square">
            <a:normAutofit/>
          </a:bodyPr>
          <a:lstStyle/>
          <a:p>
            <a:pPr>
              <a:buNone/>
            </a:pPr>
            <a:r>
              <a:rPr sz="2300" b="0" i="0" u="none"/>
              <a:t>AI-assisted review can:</a:t>
            </a:r>
            <a:endParaRPr sz="2300" b="0" i="0">
              <a:latin typeface="Arial"/>
            </a:endParaRPr>
          </a:p>
          <a:p>
            <a:pPr lvl="1"/>
            <a:r>
              <a:rPr sz="2300" b="0" i="0" u="none"/>
              <a:t>Detect missing assertions</a:t>
            </a:r>
            <a:endParaRPr sz="2300" b="0" i="0">
              <a:latin typeface="Arial"/>
            </a:endParaRPr>
          </a:p>
          <a:p>
            <a:pPr lvl="1"/>
            <a:r>
              <a:rPr sz="2300" b="0" i="0" u="none"/>
              <a:t>Identify redundant tests</a:t>
            </a:r>
            <a:endParaRPr sz="2300" b="0" i="0">
              <a:latin typeface="Arial"/>
            </a:endParaRPr>
          </a:p>
          <a:p>
            <a:pPr lvl="1"/>
            <a:r>
              <a:rPr sz="2300" b="0" i="0" u="none"/>
              <a:t>Suggest edge cases</a:t>
            </a:r>
            <a:endParaRPr sz="2300" b="0" i="0">
              <a:latin typeface="Arial"/>
            </a:endParaRPr>
          </a:p>
          <a:p>
            <a:pPr lvl="1"/>
            <a:r>
              <a:rPr sz="2300" b="0" i="0" u="none"/>
              <a:t>Flag inconsistent patterns</a:t>
            </a:r>
            <a:endParaRPr sz="2300" b="0" i="0">
              <a:latin typeface="Arial"/>
            </a:endParaRPr>
          </a:p>
          <a:p>
            <a:pPr>
              <a:buNone/>
            </a:pPr>
            <a:endParaRPr sz="2300" b="0" i="0">
              <a:latin typeface="Arial"/>
            </a:endParaRPr>
          </a:p>
          <a:p>
            <a:pPr>
              <a:buNone/>
            </a:pPr>
            <a:r>
              <a:rPr sz="2300" b="0" i="0" u="none"/>
              <a:t>Human reviewers focus on:</a:t>
            </a:r>
            <a:endParaRPr sz="2300" b="0" i="0">
              <a:latin typeface="Arial"/>
            </a:endParaRPr>
          </a:p>
          <a:p>
            <a:pPr lvl="1"/>
            <a:r>
              <a:rPr sz="2300" b="0" i="0" u="none"/>
              <a:t>Intent correctness</a:t>
            </a:r>
            <a:endParaRPr sz="2300" b="0" i="0">
              <a:latin typeface="Arial"/>
            </a:endParaRPr>
          </a:p>
          <a:p>
            <a:pPr lvl="1"/>
            <a:r>
              <a:rPr sz="2300" b="0" i="0" u="none"/>
              <a:t>Business logic validation</a:t>
            </a:r>
            <a:endParaRPr sz="2300" b="0" i="0">
              <a:latin typeface="Arial"/>
            </a:endParaRPr>
          </a:p>
          <a:p>
            <a:pPr lvl="1"/>
            <a:r>
              <a:rPr sz="2300" b="0" i="0" u="none"/>
              <a:t>Architectural alignment</a:t>
            </a:r>
            <a:endParaRPr sz="230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50" b="0" i="0" u="none"/>
              <a:t>Balancing Test Coverage with Maintainability</a:t>
            </a:r>
          </a:p>
        </p:txBody>
      </p:sp>
      <p:sp>
        <p:nvSpPr>
          <p:cNvPr id="3" name="Content Placeholder 2"/>
          <p:cNvSpPr>
            <a:spLocks noGrp="1"/>
          </p:cNvSpPr>
          <p:nvPr>
            <p:ph idx="1"/>
          </p:nvPr>
        </p:nvSpPr>
        <p:spPr/>
        <p:txBody>
          <a:bodyPr wrap="square">
            <a:normAutofit/>
          </a:bodyPr>
          <a:lstStyle/>
          <a:p>
            <a:pPr>
              <a:buNone/>
            </a:pPr>
            <a:r>
              <a:rPr sz="2800" b="0" i="0" u="none"/>
              <a:t>Principles</a:t>
            </a:r>
            <a:endParaRPr sz="2800" b="0" i="0">
              <a:latin typeface="Arial"/>
            </a:endParaRPr>
          </a:p>
          <a:p>
            <a:pPr lvl="1"/>
            <a:r>
              <a:rPr sz="2800" b="0" i="0" u="none"/>
              <a:t>Aim for meaningful coverage, not maximal coverage</a:t>
            </a:r>
            <a:endParaRPr sz="2800" b="0" i="0">
              <a:latin typeface="Arial"/>
            </a:endParaRPr>
          </a:p>
          <a:p>
            <a:pPr lvl="1"/>
            <a:r>
              <a:rPr sz="2800" b="0" i="0" u="none"/>
              <a:t>Prioritize high-risk and high-change areas</a:t>
            </a:r>
            <a:endParaRPr sz="2800" b="0" i="0">
              <a:latin typeface="Arial"/>
            </a:endParaRPr>
          </a:p>
          <a:p>
            <a:pPr lvl="1"/>
            <a:r>
              <a:rPr sz="2800" b="0" i="0" u="none"/>
              <a:t>Avoid over-testing implementation details</a:t>
            </a:r>
            <a:endParaRPr sz="2800" b="0" i="0">
              <a:latin typeface="Arial"/>
            </a:endParaRPr>
          </a:p>
          <a:p>
            <a:pPr lvl="1"/>
            <a:r>
              <a:rPr sz="2800" b="0" i="0" u="none"/>
              <a:t>Keep tests readable and maintainable</a:t>
            </a:r>
            <a:endParaRPr sz="2800" b="0" i="0">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and Test Suites</a:t>
            </a:r>
          </a:p>
        </p:txBody>
      </p:sp>
      <p:sp>
        <p:nvSpPr>
          <p:cNvPr id="3" name="Subtitle 2"/>
          <p:cNvSpPr>
            <a:spLocks noGrp="1"/>
          </p:cNvSpPr>
          <p:nvPr>
            <p:ph type="subTitle" idx="1"/>
          </p:nvPr>
        </p:nvSpPr>
        <p:spPr/>
        <p:txBody>
          <a:bodyPr wrap="square">
            <a:normAutofit/>
          </a:bodyPr>
          <a:lstStyle/>
          <a:p>
            <a:pPr>
              <a:buNone/>
            </a:pPr>
            <a:r>
              <a:rPr b="0" i="0" u="none"/>
              <a:t>Ship It Behind a Flag and Pretend It's Not There Yet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Feature Flags &amp; Test Suites</a:t>
            </a:r>
          </a:p>
        </p:txBody>
      </p:sp>
      <p:sp>
        <p:nvSpPr>
          <p:cNvPr id="3" name="Content Placeholder 2"/>
          <p:cNvSpPr>
            <a:spLocks noGrp="1"/>
          </p:cNvSpPr>
          <p:nvPr>
            <p:ph idx="1"/>
          </p:nvPr>
        </p:nvSpPr>
        <p:spPr/>
        <p:txBody>
          <a:bodyPr wrap="square">
            <a:normAutofit/>
          </a:bodyPr>
          <a:lstStyle/>
          <a:p>
            <a:pPr>
              <a:buNone/>
            </a:pPr>
            <a:r>
              <a:rPr sz="2800" b="0" i="0" u="none"/>
              <a:t>Safe deployment strategies for brownfield modernization</a:t>
            </a:r>
            <a:endParaRPr sz="2800" b="0" i="0">
              <a:latin typeface="Arial"/>
            </a:endParaRPr>
          </a:p>
          <a:p>
            <a:pPr lvl="1"/>
            <a:r>
              <a:rPr sz="2800" b="0" i="0" u="none"/>
              <a:t>Feature flags for managing work-in-progress</a:t>
            </a:r>
            <a:endParaRPr sz="2800" b="0" i="0">
              <a:latin typeface="Arial"/>
            </a:endParaRPr>
          </a:p>
          <a:p>
            <a:pPr lvl="1"/>
            <a:r>
              <a:rPr sz="2800" b="0" i="0" u="none"/>
              <a:t>As-Is vs. To-Be test suites</a:t>
            </a:r>
            <a:endParaRPr sz="2800" b="0" i="0">
              <a:latin typeface="Arial"/>
            </a:endParaRPr>
          </a:p>
          <a:p>
            <a:pPr lvl="1"/>
            <a:r>
              <a:rPr sz="2800" b="0" i="0" u="none"/>
              <a:t>Retiring flags with AI assistance</a:t>
            </a:r>
            <a:endParaRPr sz="2800" b="0" i="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Purpose</a:t>
            </a:r>
          </a:p>
        </p:txBody>
      </p:sp>
      <p:sp>
        <p:nvSpPr>
          <p:cNvPr id="3" name="Content Placeholder 2"/>
          <p:cNvSpPr>
            <a:spLocks noGrp="1"/>
          </p:cNvSpPr>
          <p:nvPr>
            <p:ph idx="1"/>
          </p:nvPr>
        </p:nvSpPr>
        <p:spPr/>
        <p:txBody>
          <a:bodyPr wrap="square">
            <a:normAutofit/>
          </a:bodyPr>
          <a:lstStyle/>
          <a:p>
            <a:pPr>
              <a:buNone/>
            </a:pPr>
            <a:r>
              <a:rPr sz="2800" b="0" i="0" u="none"/>
              <a:t>Capture what your system does </a:t>
            </a:r>
            <a:r>
              <a:rPr sz="2800" b="0" i="1" u="none"/>
              <a:t>right now</a:t>
            </a:r>
            <a:endParaRPr sz="2800" b="0" i="0">
              <a:latin typeface="Arial"/>
            </a:endParaRPr>
          </a:p>
          <a:p>
            <a:pPr>
              <a:buNone/>
            </a:pPr>
            <a:endParaRPr sz="2800" b="0" i="0">
              <a:latin typeface="Arial"/>
            </a:endParaRPr>
          </a:p>
          <a:p>
            <a:r>
              <a:rPr sz="2800" b="1" i="0" u="none"/>
              <a:t>Freeze current behavior</a:t>
            </a:r>
            <a:r>
              <a:rPr sz="2800" b="0" i="0" u="none"/>
              <a:t> - tests describe production</a:t>
            </a:r>
            <a:endParaRPr sz="2800" b="0" i="0">
              <a:latin typeface="Arial"/>
            </a:endParaRPr>
          </a:p>
          <a:p>
            <a:r>
              <a:rPr sz="2800" b="1" i="0" u="none"/>
              <a:t>Protect against regressions</a:t>
            </a:r>
            <a:r>
              <a:rPr sz="2800" b="0" i="0" u="none"/>
              <a:t> - know when something breaks</a:t>
            </a:r>
            <a:endParaRPr sz="2800" b="0" i="0">
              <a:latin typeface="Arial"/>
            </a:endParaRPr>
          </a:p>
          <a:p>
            <a:r>
              <a:rPr sz="2800" b="1" i="0" u="none"/>
              <a:t>Document expectations</a:t>
            </a:r>
            <a:r>
              <a:rPr sz="2800" b="0" i="0" u="none"/>
              <a:t> - living spec of legacy behavior</a:t>
            </a:r>
            <a:endParaRPr sz="2800" b="0" i="0">
              <a:latin typeface="Arial"/>
            </a:endParaRPr>
          </a:p>
          <a:p>
            <a:r>
              <a:rPr sz="2800" b="1" i="0" u="none"/>
              <a:t>Production gate</a:t>
            </a:r>
            <a:r>
              <a:rPr sz="2800" b="0" i="0" u="none"/>
              <a:t> - go to production anytime As-Is tests pass</a:t>
            </a:r>
            <a:endParaRPr sz="280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50" b="0" i="0" u="none"/>
              <a:t>As-Is Test Suites - Building Confidence</a:t>
            </a:r>
          </a:p>
        </p:txBody>
      </p:sp>
      <p:sp>
        <p:nvSpPr>
          <p:cNvPr id="3" name="Content Placeholder 2"/>
          <p:cNvSpPr>
            <a:spLocks noGrp="1"/>
          </p:cNvSpPr>
          <p:nvPr>
            <p:ph idx="1"/>
          </p:nvPr>
        </p:nvSpPr>
        <p:spPr/>
        <p:txBody>
          <a:bodyPr wrap="square">
            <a:normAutofit/>
          </a:bodyPr>
          <a:lstStyle/>
          <a:p>
            <a:pPr>
              <a:buNone/>
            </a:pPr>
            <a:r>
              <a:rPr sz="2800" b="0" i="0" u="none"/>
              <a:t>Grow coverage incrementally before making changes</a:t>
            </a:r>
            <a:endParaRPr sz="2800" b="0" i="0">
              <a:latin typeface="Arial"/>
            </a:endParaRPr>
          </a:p>
          <a:p>
            <a:pPr>
              <a:buNone/>
            </a:pPr>
            <a:endParaRPr sz="2800" b="0" i="0">
              <a:latin typeface="Arial"/>
            </a:endParaRPr>
          </a:p>
          <a:p>
            <a:r>
              <a:rPr sz="2800" b="0" i="0" u="none"/>
              <a:t>Add tests </a:t>
            </a:r>
            <a:r>
              <a:rPr sz="2800" b="1" i="0" u="none"/>
              <a:t>before</a:t>
            </a:r>
            <a:r>
              <a:rPr sz="2800" b="0" i="0" u="none"/>
              <a:t> modifying code</a:t>
            </a:r>
            <a:endParaRPr sz="2800" b="0" i="0">
              <a:latin typeface="Arial"/>
            </a:endParaRPr>
          </a:p>
          <a:p>
            <a:r>
              <a:rPr sz="2800" b="0" i="0" u="none"/>
              <a:t>Increase coverage as changes are identified</a:t>
            </a:r>
            <a:endParaRPr sz="2800" b="0" i="0">
              <a:latin typeface="Arial"/>
            </a:endParaRPr>
          </a:p>
          <a:p>
            <a:r>
              <a:rPr sz="2800" b="0" i="0" u="none"/>
              <a:t>Build trust in the suite over time</a:t>
            </a:r>
            <a:endParaRPr sz="2800" b="0" i="0">
              <a:latin typeface="Arial"/>
            </a:endParaRPr>
          </a:p>
          <a:p>
            <a:r>
              <a:rPr sz="2800" b="0" i="0" u="none"/>
              <a:t>New implementations hidden behind </a:t>
            </a:r>
            <a:r>
              <a:rPr sz="2800" b="1" i="0" u="none"/>
              <a:t>feature flags</a:t>
            </a:r>
            <a:endParaRPr sz="2800" b="0" i="0">
              <a:latin typeface="Arial"/>
            </a:endParaRPr>
          </a:p>
          <a:p>
            <a:r>
              <a:rPr sz="2800" b="0" i="0" u="none"/>
              <a:t>Compiled code + passing As-Is tests = high confidence</a:t>
            </a:r>
            <a:endParaRPr sz="280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As-Is Test Suites - Critical Rules</a:t>
            </a:r>
          </a:p>
        </p:txBody>
      </p:sp>
      <p:graphicFrame>
        <p:nvGraphicFramePr>
          <p:cNvPr id="3" name="Table 2"/>
          <p:cNvGraphicFramePr>
            <a:graphicFrameLocks noGrp="1"/>
          </p:cNvGraphicFramePr>
          <p:nvPr/>
        </p:nvGraphicFramePr>
        <p:xfrm>
          <a:off x="1219200" y="1828800"/>
          <a:ext cx="9753600" cy="182880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457200">
                <a:tc>
                  <a:txBody>
                    <a:bodyPr/>
                    <a:lstStyle/>
                    <a:p>
                      <a:pPr>
                        <a:buNone/>
                        <a:defRPr sz="1600" b="1">
                          <a:solidFill>
                            <a:schemeClr val="bg1"/>
                          </a:solidFill>
                        </a:defRPr>
                      </a:pPr>
                      <a:r>
                        <a:rPr sz="1600" b="0" i="0" u="none"/>
                        <a:t>Rule</a:t>
                      </a:r>
                    </a:p>
                  </a:txBody>
                  <a:tcPr>
                    <a:solidFill>
                      <a:schemeClr val="accent4"/>
                    </a:solidFill>
                  </a:tcPr>
                </a:tc>
                <a:tc>
                  <a:txBody>
                    <a:bodyPr/>
                    <a:lstStyle/>
                    <a:p>
                      <a:pPr>
                        <a:buNone/>
                        <a:defRPr sz="1600" b="1">
                          <a:solidFill>
                            <a:schemeClr val="bg1"/>
                          </a:solidFill>
                        </a:defRPr>
                      </a:pPr>
                      <a:r>
                        <a:rPr sz="1600" b="0" i="0" u="none"/>
                        <a:t>Details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Feature flag discipline</a:t>
                      </a:r>
                    </a:p>
                  </a:txBody>
                  <a:tcPr>
                    <a:solidFill>
                      <a:schemeClr val="accent4">
                        <a:lumMod val="20000"/>
                        <a:lumOff val="80000"/>
                      </a:schemeClr>
                    </a:solidFill>
                  </a:tcPr>
                </a:tc>
                <a:tc>
                  <a:txBody>
                    <a:bodyPr/>
                    <a:lstStyle/>
                    <a:p>
                      <a:pPr>
                        <a:buNone/>
                        <a:defRPr sz="1600" b="0">
                          <a:solidFill>
                            <a:schemeClr val="tx1"/>
                          </a:solidFill>
                        </a:defRPr>
                      </a:pPr>
                      <a:r>
                        <a:rPr sz="1600" b="0" i="0" u="none"/>
                        <a:t>All new code MUST be wrapped by flags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1" i="0" u="none"/>
                        <a:t>Watch for bleed</a:t>
                      </a:r>
                    </a:p>
                  </a:txBody>
                  <a:tcPr>
                    <a:solidFill>
                      <a:schemeClr val="accent4">
                        <a:lumMod val="8000"/>
                        <a:lumOff val="92000"/>
                      </a:schemeClr>
                    </a:solidFill>
                  </a:tcPr>
                </a:tc>
                <a:tc>
                  <a:txBody>
                    <a:bodyPr/>
                    <a:lstStyle/>
                    <a:p>
                      <a:pPr>
                        <a:buNone/>
                        <a:defRPr sz="1600" b="0">
                          <a:solidFill>
                            <a:schemeClr val="tx1"/>
                          </a:solidFill>
                        </a:defRPr>
                      </a:pPr>
                      <a:r>
                        <a:rPr sz="1600" b="0" i="0" u="none"/>
                        <a:t>Unwrapped code goes straight to production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1" i="0" u="none"/>
                        <a:t>As-Is tests as gate</a:t>
                      </a:r>
                    </a:p>
                  </a:txBody>
                  <a:tcPr>
                    <a:solidFill>
                      <a:schemeClr val="accent4">
                        <a:lumMod val="20000"/>
                        <a:lumOff val="80000"/>
                      </a:schemeClr>
                    </a:solidFill>
                  </a:tcPr>
                </a:tc>
                <a:tc>
                  <a:txBody>
                    <a:bodyPr/>
                    <a:lstStyle/>
                    <a:p>
                      <a:pPr>
                        <a:buNone/>
                        <a:defRPr sz="1600" b="0">
                          <a:solidFill>
                            <a:schemeClr val="tx1"/>
                          </a:solidFill>
                        </a:defRPr>
                      </a:pPr>
                      <a:r>
                        <a:rPr sz="1600" b="0" i="0" u="none"/>
                        <a:t>These tests define production readiness</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Purpose</a:t>
            </a:r>
          </a:p>
        </p:txBody>
      </p:sp>
      <p:sp>
        <p:nvSpPr>
          <p:cNvPr id="3" name="Content Placeholder 2"/>
          <p:cNvSpPr>
            <a:spLocks noGrp="1"/>
          </p:cNvSpPr>
          <p:nvPr>
            <p:ph idx="1"/>
          </p:nvPr>
        </p:nvSpPr>
        <p:spPr/>
        <p:txBody>
          <a:bodyPr wrap="square">
            <a:normAutofit/>
          </a:bodyPr>
          <a:lstStyle/>
          <a:p>
            <a:pPr>
              <a:buNone/>
            </a:pPr>
            <a:r>
              <a:rPr sz="2750" b="0" i="0" u="none"/>
              <a:t>Define and track the future state</a:t>
            </a:r>
            <a:endParaRPr sz="2750" b="0" i="0">
              <a:latin typeface="Arial"/>
            </a:endParaRPr>
          </a:p>
          <a:p>
            <a:pPr>
              <a:buNone/>
            </a:pPr>
            <a:endParaRPr sz="2750" b="0" i="0">
              <a:latin typeface="Arial"/>
            </a:endParaRPr>
          </a:p>
          <a:p>
            <a:r>
              <a:rPr sz="2750" b="1" i="0" u="none"/>
              <a:t>Define future behavior</a:t>
            </a:r>
            <a:r>
              <a:rPr sz="2750" b="0" i="0" u="none"/>
              <a:t> - tests describe what you're building</a:t>
            </a:r>
            <a:endParaRPr sz="2750" b="0" i="0">
              <a:latin typeface="Arial"/>
            </a:endParaRPr>
          </a:p>
          <a:p>
            <a:r>
              <a:rPr sz="2750" b="1" i="0" u="none"/>
              <a:t>Validate work-in-progress</a:t>
            </a:r>
            <a:r>
              <a:rPr sz="2750" b="0" i="0" u="none"/>
              <a:t> - confidence during development</a:t>
            </a:r>
            <a:endParaRPr sz="2750" b="0" i="0">
              <a:latin typeface="Arial"/>
            </a:endParaRPr>
          </a:p>
          <a:p>
            <a:r>
              <a:rPr sz="2750" b="1" i="0" u="none"/>
              <a:t>Track implementation progress</a:t>
            </a:r>
            <a:r>
              <a:rPr sz="2750" b="0" i="0" u="none"/>
              <a:t> - know how far you've come</a:t>
            </a:r>
            <a:endParaRPr sz="2750" b="0" i="0">
              <a:latin typeface="Arial"/>
            </a:endParaRPr>
          </a:p>
          <a:p>
            <a:r>
              <a:rPr sz="2750" b="0" i="0" u="none"/>
              <a:t>Run only when feature flag is </a:t>
            </a:r>
            <a:r>
              <a:rPr sz="2750" b="1" i="0" u="none"/>
              <a:t>ON</a:t>
            </a:r>
            <a:endParaRPr sz="275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To-Be Test Suites - Workflow</a:t>
            </a:r>
          </a:p>
        </p:txBody>
      </p:sp>
      <p:sp>
        <p:nvSpPr>
          <p:cNvPr id="3" name="Content Placeholder 2"/>
          <p:cNvSpPr>
            <a:spLocks noGrp="1"/>
          </p:cNvSpPr>
          <p:nvPr>
            <p:ph idx="1"/>
          </p:nvPr>
        </p:nvSpPr>
        <p:spPr/>
        <p:txBody>
          <a:bodyPr wrap="square">
            <a:normAutofit/>
          </a:bodyPr>
          <a:lstStyle/>
          <a:p>
            <a:pPr>
              <a:buNone/>
            </a:pPr>
            <a:r>
              <a:rPr sz="1550" b="0" i="0" u="none"/>
              <a:t>Step-by-step implementation pattern</a:t>
            </a:r>
            <a:endParaRPr sz="1550" b="0" i="0">
              <a:latin typeface="Consolas"/>
            </a:endParaRPr>
          </a:p>
          <a:p>
            <a:pPr>
              <a:buNone/>
            </a:pPr>
            <a:endParaRPr sz="1550" b="0" i="0">
              <a:latin typeface="Consolas"/>
            </a:endParaRPr>
          </a:p>
          <a:p>
            <a:pPr>
              <a:buNone/>
            </a:pPr>
            <a:r>
              <a:rPr sz="1550" b="0" i="0" u="none"/>
              <a:t>1. Implement feature flag around code to modify</a:t>
            </a:r>
            <a:endParaRPr sz="1550" b="0" i="0">
              <a:latin typeface="Consolas"/>
            </a:endParaRPr>
          </a:p>
          <a:p>
            <a:pPr>
              <a:buNone/>
            </a:pPr>
            <a:r>
              <a:rPr sz="1550" b="0" i="0" u="none"/>
              <a:t>2. When flag </a:t>
            </a:r>
            <a:r>
              <a:rPr sz="1550" b="1" i="0" u="none"/>
              <a:t>ON</a:t>
            </a:r>
            <a:r>
              <a:rPr sz="1550" b="0" i="0" u="none"/>
              <a:t> → execute new behavior</a:t>
            </a:r>
            <a:endParaRPr sz="1550" b="0" i="0">
              <a:latin typeface="Consolas"/>
            </a:endParaRPr>
          </a:p>
          <a:p>
            <a:pPr>
              <a:buNone/>
            </a:pPr>
            <a:r>
              <a:rPr sz="1550" b="0" i="0" u="none"/>
              <a:t>3. Write tests that only run when flag is </a:t>
            </a:r>
            <a:r>
              <a:rPr sz="1550" b="1" i="0" u="none"/>
              <a:t>ON</a:t>
            </a:r>
            <a:endParaRPr sz="1550" b="0" i="0">
              <a:latin typeface="Consolas"/>
            </a:endParaRPr>
          </a:p>
          <a:p>
            <a:pPr>
              <a:buNone/>
            </a:pPr>
            <a:r>
              <a:rPr sz="1550" b="0" i="0" u="none"/>
              <a:t>4. Separate test execution strategy in CI/CD pipeline</a:t>
            </a:r>
            <a:endParaRPr sz="1550" b="0" i="0">
              <a:latin typeface="Consolas"/>
            </a:endParaRPr>
          </a:p>
          <a:p>
            <a:pPr>
              <a:buNone/>
            </a:pPr>
            <a:endParaRPr sz="1550" b="0" i="0">
              <a:latin typeface="Consolas"/>
            </a:endParaRPr>
          </a:p>
          <a:p>
            <a:pPr>
              <a:buNone/>
            </a:pPr>
            <a:r>
              <a:rPr sz="1550">
                <a:latin typeface="Consolas"/>
              </a:rPr>
              <a:t>if (featureFlag.IsEnabled("new-checkout")) {</a:t>
            </a:r>
            <a:endParaRPr sz="1550" b="0" i="0">
              <a:latin typeface="Consolas"/>
            </a:endParaRPr>
          </a:p>
          <a:p>
            <a:pPr>
              <a:buNone/>
            </a:pPr>
            <a:r>
              <a:rPr sz="1550">
                <a:latin typeface="Consolas"/>
              </a:rPr>
              <a:t>    // new behavior - covered by To-Be tests</a:t>
            </a:r>
            <a:endParaRPr sz="1550" b="0" i="0">
              <a:latin typeface="Consolas"/>
            </a:endParaRPr>
          </a:p>
          <a:p>
            <a:pPr>
              <a:buNone/>
            </a:pPr>
            <a:r>
              <a:rPr sz="1550">
                <a:latin typeface="Consolas"/>
              </a:rPr>
              <a:t>} else {</a:t>
            </a:r>
            <a:endParaRPr sz="1550" b="0" i="0">
              <a:latin typeface="Consolas"/>
            </a:endParaRPr>
          </a:p>
          <a:p>
            <a:pPr>
              <a:buNone/>
            </a:pPr>
            <a:r>
              <a:rPr sz="1550">
                <a:latin typeface="Consolas"/>
              </a:rPr>
              <a:t>    // old behavior - covered by As-Is tests</a:t>
            </a:r>
            <a:endParaRPr sz="1550" b="0" i="0">
              <a:latin typeface="Consolas"/>
            </a:endParaRPr>
          </a:p>
          <a:p>
            <a:pPr>
              <a:buNone/>
            </a:pPr>
            <a:r>
              <a:rPr sz="1550">
                <a:latin typeface="Consolas"/>
              </a:rPr>
              <a:t>}</a:t>
            </a:r>
            <a:endParaRPr sz="1550" b="0" i="0">
              <a:latin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Two-phase CI/CD pipeline</a:t>
            </a:r>
          </a:p>
        </p:txBody>
      </p:sp>
      <p:sp>
        <p:nvSpPr>
          <p:cNvPr id="3" name="Content Placeholder 2"/>
          <p:cNvSpPr>
            <a:spLocks noGrp="1"/>
          </p:cNvSpPr>
          <p:nvPr>
            <p:ph sz="half" idx="1"/>
          </p:nvPr>
        </p:nvSpPr>
        <p:spPr/>
        <p:txBody>
          <a:bodyPr wrap="square">
            <a:normAutofit/>
          </a:bodyPr>
          <a:lstStyle/>
          <a:p>
            <a:pPr>
              <a:buNone/>
            </a:pPr>
            <a:r>
              <a:rPr sz="1400" b="1" i="0" u="none"/>
              <a:t>Phase 1 - As-Is Tests</a:t>
            </a:r>
            <a:endParaRPr sz="2800" b="0" i="0">
              <a:latin typeface="Arial"/>
            </a:endParaRPr>
          </a:p>
          <a:p>
            <a:pPr lvl="1"/>
            <a:r>
              <a:rPr sz="1400" b="0" i="0" u="none"/>
              <a:t>Set flags to match </a:t>
            </a:r>
            <a:r>
              <a:rPr sz="1400" b="1" i="0" u="none"/>
              <a:t>production state</a:t>
            </a:r>
            <a:endParaRPr sz="2800" b="0" i="0">
              <a:latin typeface="Arial"/>
            </a:endParaRPr>
          </a:p>
          <a:p>
            <a:pPr lvl="1"/>
            <a:r>
              <a:rPr sz="1400" b="0" i="0" u="none"/>
              <a:t>Run regression tests</a:t>
            </a:r>
            <a:endParaRPr sz="2800" b="0" i="0">
              <a:latin typeface="Arial"/>
            </a:endParaRPr>
          </a:p>
          <a:p>
            <a:pPr lvl="1"/>
            <a:r>
              <a:rPr sz="1400" b="0" i="0" u="none"/>
              <a:t>Block merge if failures detected</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Phase 2 - To-Be Tests</a:t>
            </a:r>
            <a:endParaRPr sz="2800" b="0" i="0">
              <a:latin typeface="Arial"/>
            </a:endParaRPr>
          </a:p>
          <a:p>
            <a:pPr lvl="1"/>
            <a:r>
              <a:rPr sz="1400" b="0" i="0" u="none"/>
              <a:t>Turn on appropriate feature flags</a:t>
            </a:r>
            <a:endParaRPr sz="2800" b="0" i="0">
              <a:latin typeface="Arial"/>
            </a:endParaRPr>
          </a:p>
          <a:p>
            <a:pPr lvl="1"/>
            <a:r>
              <a:rPr sz="1400" b="0" i="0" u="none"/>
              <a:t>Execute To-Be test suite</a:t>
            </a:r>
            <a:endParaRPr sz="2800" b="0" i="0">
              <a:latin typeface="Arial"/>
            </a:endParaRPr>
          </a:p>
          <a:p>
            <a:pPr lvl="1"/>
            <a:r>
              <a:rPr sz="1400" b="0" i="0" u="none"/>
              <a:t>Assess progress toward completion</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Benefits of the Dual-Suite Approach</a:t>
            </a:r>
          </a:p>
        </p:txBody>
      </p:sp>
      <p:sp>
        <p:nvSpPr>
          <p:cNvPr id="3" name="Content Placeholder 2"/>
          <p:cNvSpPr>
            <a:spLocks noGrp="1"/>
          </p:cNvSpPr>
          <p:nvPr>
            <p:ph idx="1"/>
          </p:nvPr>
        </p:nvSpPr>
        <p:spPr/>
        <p:txBody>
          <a:bodyPr wrap="square">
            <a:normAutofit/>
          </a:bodyPr>
          <a:lstStyle/>
          <a:p>
            <a:pPr>
              <a:buNone/>
            </a:pPr>
            <a:r>
              <a:rPr sz="2800" b="0" i="0" u="none"/>
              <a:t>Why this strategy pays off</a:t>
            </a:r>
            <a:endParaRPr sz="2800" b="0" i="0">
              <a:latin typeface="Arial"/>
            </a:endParaRPr>
          </a:p>
          <a:p>
            <a:pPr>
              <a:buNone/>
            </a:pPr>
            <a:endParaRPr sz="2800" b="0" i="0">
              <a:latin typeface="Arial"/>
            </a:endParaRPr>
          </a:p>
          <a:p>
            <a:pPr>
              <a:buNone/>
            </a:pPr>
            <a:r>
              <a:rPr sz="2800" b="0" i="0" u="none"/>
              <a:t>✅ Smaller To-Be suite keeps check-in procedures fast</a:t>
            </a:r>
            <a:endParaRPr sz="2800" b="0" i="0">
              <a:latin typeface="Arial"/>
            </a:endParaRPr>
          </a:p>
          <a:p>
            <a:pPr>
              <a:buNone/>
            </a:pPr>
            <a:r>
              <a:rPr sz="2800" b="0" i="0" u="none"/>
              <a:t>✅ Guides modernization efforts with clear milestones</a:t>
            </a:r>
            <a:endParaRPr sz="2800" b="0" i="0">
              <a:latin typeface="Arial"/>
            </a:endParaRPr>
          </a:p>
          <a:p>
            <a:pPr>
              <a:buNone/>
            </a:pPr>
            <a:r>
              <a:rPr sz="2800" b="0" i="0" u="none"/>
              <a:t>✅ Validates new practices and architectures incrementally</a:t>
            </a:r>
            <a:endParaRPr sz="2800" b="0" i="0">
              <a:latin typeface="Arial"/>
            </a:endParaRPr>
          </a:p>
          <a:p>
            <a:pPr>
              <a:buNone/>
            </a:pPr>
            <a:r>
              <a:rPr sz="2800" b="0" i="0" u="none"/>
              <a:t>✅ Safe continuous deployment throughout the project</a:t>
            </a:r>
            <a:endParaRPr sz="2800" b="0" i="0">
              <a:latin typeface="Arial"/>
            </a:endParaRPr>
          </a:p>
          <a:p>
            <a:pPr>
              <a:buNone/>
            </a:pPr>
            <a:r>
              <a:rPr sz="2800" b="0" i="0" u="none"/>
              <a:t>✅ Clear signal for when a feature is production-ready</a:t>
            </a:r>
            <a:endParaRPr sz="2800" b="0" i="0">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Maintenance - After Production Release</a:t>
            </a:r>
          </a:p>
        </p:txBody>
      </p:sp>
      <p:sp>
        <p:nvSpPr>
          <p:cNvPr id="3" name="Content Placeholder 2"/>
          <p:cNvSpPr>
            <a:spLocks noGrp="1"/>
          </p:cNvSpPr>
          <p:nvPr>
            <p:ph idx="1"/>
          </p:nvPr>
        </p:nvSpPr>
        <p:spPr/>
        <p:txBody>
          <a:bodyPr wrap="square">
            <a:normAutofit/>
          </a:bodyPr>
          <a:lstStyle/>
          <a:p>
            <a:pPr>
              <a:buNone/>
            </a:pPr>
            <a:r>
              <a:rPr sz="2750" b="1" i="0" u="none"/>
              <a:t>When a feature goes live:</a:t>
            </a:r>
            <a:endParaRPr sz="2750" b="0" i="0">
              <a:latin typeface="Arial"/>
            </a:endParaRPr>
          </a:p>
          <a:p>
            <a:pPr>
              <a:buNone/>
            </a:pPr>
            <a:endParaRPr sz="2750" b="0" i="0">
              <a:latin typeface="Arial"/>
            </a:endParaRPr>
          </a:p>
          <a:p>
            <a:pPr>
              <a:buNone/>
            </a:pPr>
            <a:r>
              <a:rPr sz="2750" b="0" i="0" u="none"/>
              <a:t>1. Move To-Be tests → </a:t>
            </a:r>
            <a:r>
              <a:rPr sz="2750" b="1" i="0" u="none"/>
              <a:t>As-Is suite</a:t>
            </a:r>
            <a:endParaRPr sz="2750" b="0" i="0">
              <a:latin typeface="Arial"/>
            </a:endParaRPr>
          </a:p>
          <a:p>
            <a:pPr>
              <a:buNone/>
            </a:pPr>
            <a:r>
              <a:rPr sz="2750" b="0" i="0" u="none"/>
              <a:t>2. Tests become part of the regression suite</a:t>
            </a:r>
            <a:endParaRPr sz="2750" b="0" i="0">
              <a:latin typeface="Arial"/>
            </a:endParaRPr>
          </a:p>
          <a:p>
            <a:pPr>
              <a:buNone/>
            </a:pPr>
            <a:r>
              <a:rPr sz="2750" b="0" i="0" u="none"/>
              <a:t>3. Maintain consistency with production state</a:t>
            </a:r>
            <a:endParaRPr sz="2750" b="0" i="0">
              <a:latin typeface="Arial"/>
            </a:endParaRPr>
          </a:p>
          <a:p>
            <a:pPr>
              <a:buNone/>
            </a:pPr>
            <a:r>
              <a:rPr sz="2750" b="0" i="0" u="none"/>
              <a:t>4. </a:t>
            </a:r>
            <a:r>
              <a:rPr sz="2750" b="1" i="0" u="none"/>
              <a:t>Retire the feature flag</a:t>
            </a:r>
            <a:r>
              <a:rPr sz="2750" b="0" i="0" u="none"/>
              <a:t> (remove dead code paths)</a:t>
            </a:r>
            <a:endParaRPr sz="2750" b="0" i="0">
              <a:latin typeface="Arial"/>
            </a:endParaRPr>
          </a:p>
          <a:p>
            <a:pPr>
              <a:buNone/>
            </a:pPr>
            <a:endParaRPr sz="2750" b="0" i="0">
              <a:latin typeface="Arial"/>
            </a:endParaRPr>
          </a:p>
          <a:p>
            <a:pPr>
              <a:buNone/>
            </a:pPr>
            <a:r>
              <a:rPr sz="2750" b="0" i="1" u="none"/>
              <a:t>The To-Be suite of today becomes the As-Is suite of tomorrow</a:t>
            </a:r>
            <a:endParaRPr sz="2750" b="0" i="0">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AI Assisted Flag Removal</a:t>
            </a:r>
          </a:p>
        </p:txBody>
      </p:sp>
      <p:sp>
        <p:nvSpPr>
          <p:cNvPr id="3" name="Content Placeholder 2"/>
          <p:cNvSpPr>
            <a:spLocks noGrp="1"/>
          </p:cNvSpPr>
          <p:nvPr>
            <p:ph sz="half" idx="1"/>
          </p:nvPr>
        </p:nvSpPr>
        <p:spPr/>
        <p:txBody>
          <a:bodyPr wrap="square">
            <a:normAutofit/>
          </a:bodyPr>
          <a:lstStyle/>
          <a:p>
            <a:pPr>
              <a:buNone/>
            </a:pPr>
            <a:r>
              <a:rPr sz="1400" b="1" i="0" u="none"/>
              <a:t>Before AI:</a:t>
            </a:r>
            <a:endParaRPr sz="2800" b="0" i="0">
              <a:latin typeface="Arial"/>
            </a:endParaRPr>
          </a:p>
          <a:p>
            <a:pPr lvl="1">
              <a:buNone/>
            </a:pPr>
            <a:r>
              <a:rPr sz="1400" b="0" i="0" u="none"/>
              <a:t>  1. Create a pull request to implement the flag</a:t>
            </a:r>
            <a:endParaRPr sz="2800" b="0" i="0">
              <a:latin typeface="Arial"/>
            </a:endParaRPr>
          </a:p>
          <a:p>
            <a:pPr lvl="1">
              <a:buNone/>
            </a:pPr>
            <a:r>
              <a:rPr sz="1400" b="0" i="0" u="none"/>
              <a:t>  2. Merge the changes</a:t>
            </a:r>
            <a:endParaRPr sz="2800" b="0" i="0">
              <a:latin typeface="Arial"/>
            </a:endParaRPr>
          </a:p>
          <a:p>
            <a:pPr lvl="1">
              <a:buNone/>
            </a:pPr>
            <a:r>
              <a:rPr sz="1400" b="0" i="0" u="none"/>
              <a:t>  3. Schedule flag retirement for a later sprint</a:t>
            </a:r>
            <a:endParaRPr sz="2800" b="0" i="0">
              <a:latin typeface="Arial"/>
            </a:endParaRPr>
          </a:p>
          <a:p>
            <a:pPr lvl="1">
              <a:buNone/>
            </a:pPr>
            <a:r>
              <a:rPr sz="1400" b="0" i="0" u="none"/>
              <a:t>  4. Manually trace all code paths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With AI:</a:t>
            </a:r>
            <a:endParaRPr sz="2800" b="0" i="0">
              <a:latin typeface="Arial"/>
            </a:endParaRPr>
          </a:p>
          <a:p>
            <a:pPr lvl="1"/>
            <a:r>
              <a:rPr sz="1400" b="0" i="0" u="none"/>
              <a:t>Prompt: </a:t>
            </a:r>
            <a:r>
              <a:rPr sz="1400" b="0" i="1" u="none"/>
              <a:t>"Identify all changes needed to remove this feature flag"</a:t>
            </a:r>
            <a:endParaRPr sz="2800" b="0" i="0">
              <a:latin typeface="Arial"/>
            </a:endParaRPr>
          </a:p>
          <a:p>
            <a:pPr lvl="1"/>
            <a:r>
              <a:rPr sz="1400" b="0" i="0" u="none"/>
              <a:t>AI traces every code path controlled by the flag</a:t>
            </a:r>
            <a:endParaRPr sz="2800" b="0" i="0">
              <a:latin typeface="Arial"/>
            </a:endParaRPr>
          </a:p>
          <a:p>
            <a:pPr lvl="1"/>
            <a:r>
              <a:rPr sz="1400" b="0" i="0" u="none"/>
              <a:t>AI generates the complete removal diff</a:t>
            </a:r>
            <a:endParaRPr sz="2800" b="0" i="0">
              <a:latin typeface="Arial"/>
            </a:endParaRPr>
          </a:p>
          <a:p>
            <a:pPr lvl="1"/>
            <a:r>
              <a:rPr sz="1400" b="0" i="0" u="none"/>
              <a:t>Retirement becomes a routine, low-effort task</a:t>
            </a:r>
            <a:endParaRPr sz="28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200" b="0" i="0" u="none"/>
              <a:t>Exercise: Evaluate Feature Flag Approaches and Author Instructions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200" b="0" i="0" u="none"/>
              <a:t>Exercise: Evaluate Feature Flag Approaches and Author Instructions</a:t>
            </a:r>
          </a:p>
        </p:txBody>
      </p:sp>
      <p:sp>
        <p:nvSpPr>
          <p:cNvPr id="3" name="Content Placeholder 2"/>
          <p:cNvSpPr>
            <a:spLocks noGrp="1"/>
          </p:cNvSpPr>
          <p:nvPr>
            <p:ph sz="half" idx="1"/>
          </p:nvPr>
        </p:nvSpPr>
        <p:spPr/>
        <p:txBody>
          <a:bodyPr wrap="square">
            <a:normAutofit fontScale="92500" lnSpcReduction="10000"/>
          </a:bodyPr>
          <a:lstStyle/>
          <a:p>
            <a:pPr>
              <a:buNone/>
            </a:pPr>
            <a:r>
              <a:rPr sz="1200" b="1" i="0" u="none"/>
              <a:t>Objectives</a:t>
            </a:r>
            <a:endParaRPr sz="1200" b="0" i="0">
              <a:latin typeface="Arial"/>
            </a:endParaRPr>
          </a:p>
          <a:p>
            <a:pPr>
              <a:buNone/>
            </a:pPr>
            <a:endParaRPr sz="1200" b="0" i="0">
              <a:latin typeface="Arial"/>
            </a:endParaRPr>
          </a:p>
          <a:p>
            <a:r>
              <a:rPr sz="1200" b="0" i="0" u="none"/>
              <a:t>Compare implementation approaches for feature flags</a:t>
            </a:r>
            <a:endParaRPr sz="1200" b="0" i="0">
              <a:latin typeface="Arial"/>
            </a:endParaRPr>
          </a:p>
          <a:p>
            <a:r>
              <a:rPr sz="1200" b="0" i="0" u="none"/>
              <a:t>Select one approach using explicit trade-offs</a:t>
            </a:r>
            <a:endParaRPr sz="1200" b="0" i="0">
              <a:latin typeface="Arial"/>
            </a:endParaRPr>
          </a:p>
          <a:p>
            <a:r>
              <a:rPr sz="1200" b="0" i="0" u="none"/>
              <a:t>Author a reusable instruction file for consistent usage</a:t>
            </a:r>
            <a:endParaRPr sz="1200" b="0" i="0">
              <a:latin typeface="Arial"/>
            </a:endParaRPr>
          </a:p>
          <a:p>
            <a:pPr>
              <a:buNone/>
            </a:pPr>
            <a:endParaRPr sz="1200" b="0" i="0">
              <a:latin typeface="Arial"/>
            </a:endParaRPr>
          </a:p>
          <a:p>
            <a:pPr>
              <a:buNone/>
            </a:pPr>
            <a:r>
              <a:rPr sz="1200" b="1" i="0" u="none"/>
              <a:t>Activities</a:t>
            </a:r>
            <a:endParaRPr sz="1200" b="0" i="0">
              <a:latin typeface="Arial"/>
            </a:endParaRPr>
          </a:p>
          <a:p>
            <a:pPr>
              <a:buNone/>
            </a:pPr>
            <a:endParaRPr sz="1200" b="0" i="0">
              <a:latin typeface="Arial"/>
            </a:endParaRPr>
          </a:p>
          <a:p>
            <a:pPr>
              <a:buNone/>
            </a:pPr>
            <a:r>
              <a:rPr sz="1200" b="0" i="0" u="none"/>
              <a:t>1. Evaluate three implementation approaches:</a:t>
            </a:r>
            <a:endParaRPr sz="1200" b="0" i="0">
              <a:latin typeface="Arial"/>
            </a:endParaRPr>
          </a:p>
          <a:p>
            <a:pPr lvl="1"/>
            <a:r>
              <a:rPr sz="1200" b="0" i="0" u="none"/>
              <a:t>In-code config flags (environment variables)</a:t>
            </a:r>
            <a:endParaRPr sz="1200" b="0" i="0">
              <a:latin typeface="Arial"/>
            </a:endParaRPr>
          </a:p>
          <a:p>
            <a:pPr lvl="1"/>
            <a:r>
              <a:rPr sz="1200" b="0" i="0" u="none"/>
              <a:t>Database-driven flags</a:t>
            </a:r>
            <a:endParaRPr sz="1200" b="0" i="0">
              <a:latin typeface="Arial"/>
            </a:endParaRPr>
          </a:p>
          <a:p>
            <a:pPr lvl="1"/>
            <a:r>
              <a:rPr sz="1200" b="0" i="0" u="none"/>
              <a:t>External flag service/SDK</a:t>
            </a:r>
            <a:endParaRPr sz="1200" b="0" i="0">
              <a:latin typeface="Arial"/>
            </a:endParaRPr>
          </a:p>
          <a:p>
            <a:pPr>
              <a:buNone/>
            </a:pPr>
            <a:r>
              <a:rPr sz="1200" b="0" i="0" u="none"/>
              <a:t>2. Score each approach against:</a:t>
            </a:r>
            <a:endParaRPr sz="1200" b="0" i="0">
              <a:latin typeface="Arial"/>
            </a:endParaRPr>
          </a:p>
          <a:p>
            <a:pPr lvl="1"/>
            <a:r>
              <a:rPr sz="1200" b="0" i="0" u="none"/>
              <a:t>rollout safety</a:t>
            </a:r>
            <a:endParaRPr sz="1200" b="0" i="0">
              <a:latin typeface="Arial"/>
            </a:endParaRPr>
          </a:p>
          <a:p>
            <a:pPr lvl="1"/>
            <a:r>
              <a:rPr sz="1200" b="0" i="0" u="none"/>
              <a:t>operational complexity</a:t>
            </a:r>
            <a:endParaRPr sz="1200" b="0" i="0">
              <a:latin typeface="Arial"/>
            </a:endParaRPr>
          </a:p>
          <a:p>
            <a:pPr lvl="1"/>
            <a:r>
              <a:rPr sz="1200" b="0" i="0" u="none"/>
              <a:t>observability</a:t>
            </a:r>
            <a:endParaRPr sz="1200" b="0" i="0">
              <a:latin typeface="Arial"/>
            </a:endParaRPr>
          </a:p>
          <a:p>
            <a:pPr lvl="1"/>
            <a:r>
              <a:rPr sz="1200" b="0" i="0" u="none"/>
              <a:t>cost and vendor risk</a:t>
            </a:r>
            <a:endParaRPr sz="1200" b="0" i="0">
              <a:latin typeface="Arial"/>
            </a:endParaRPr>
          </a:p>
        </p:txBody>
      </p:sp>
      <p:sp>
        <p:nvSpPr>
          <p:cNvPr id="4" name="Content Placeholder 3"/>
          <p:cNvSpPr>
            <a:spLocks noGrp="1"/>
          </p:cNvSpPr>
          <p:nvPr>
            <p:ph sz="half" idx="2"/>
          </p:nvPr>
        </p:nvSpPr>
        <p:spPr/>
        <p:txBody>
          <a:bodyPr wrap="square">
            <a:normAutofit fontScale="92500" lnSpcReduction="10000"/>
          </a:bodyPr>
          <a:lstStyle/>
          <a:p>
            <a:pPr>
              <a:buNone/>
            </a:pPr>
            <a:r>
              <a:rPr sz="1300" b="0" i="0" u="none"/>
              <a:t>3. Select one approach and justify the decision</a:t>
            </a:r>
          </a:p>
          <a:p>
            <a:pPr>
              <a:buNone/>
            </a:pPr>
            <a:r>
              <a:rPr sz="1300" b="0" i="0" u="none"/>
              <a:t>4. Create </a:t>
            </a:r>
            <a:r>
              <a:rPr sz="1300" b="0" i="0" u="none">
                <a:latin typeface="Consolas"/>
              </a:rPr>
              <a:t>.github/instructions/feature-flags.instructions.md</a:t>
            </a:r>
            <a:r>
              <a:rPr sz="1300" b="0" i="0" u="none"/>
              <a:t> with:</a:t>
            </a:r>
          </a:p>
          <a:p>
            <a:pPr lvl="1"/>
            <a:r>
              <a:rPr sz="1300" b="0" i="0" u="none"/>
              <a:t>naming standard</a:t>
            </a:r>
          </a:p>
          <a:p>
            <a:pPr lvl="1"/>
            <a:r>
              <a:rPr sz="1300" b="0" i="0" u="none"/>
              <a:t>rollout/rollback checklist</a:t>
            </a:r>
          </a:p>
          <a:p>
            <a:pPr lvl="1"/>
            <a:r>
              <a:rPr sz="1300" b="0" i="0" u="none"/>
              <a:t>testing requirements</a:t>
            </a:r>
          </a:p>
          <a:p>
            <a:pPr lvl="1"/>
            <a:r>
              <a:rPr sz="1300" b="0" i="0" u="none"/>
              <a:t>retirement criteria</a:t>
            </a:r>
          </a:p>
          <a:p>
            <a:pPr lvl="1"/>
            <a:r>
              <a:rPr sz="1300" b="0" i="0" u="none"/>
              <a:t>implementation guidance</a:t>
            </a:r>
          </a:p>
          <a:p>
            <a:pPr lvl="1"/>
            <a:r>
              <a:rPr sz="1300" b="0" i="0" u="none"/>
              <a:t>example usage snippet</a:t>
            </a:r>
          </a:p>
          <a:p>
            <a:pPr>
              <a:buNone/>
            </a:pPr>
            <a:endParaRPr sz="1300" b="0" i="0" u="none"/>
          </a:p>
          <a:p>
            <a:pPr>
              <a:buNone/>
            </a:pPr>
            <a:r>
              <a:rPr sz="1300" b="1" i="0" u="none"/>
              <a:t>Success Criteria</a:t>
            </a:r>
          </a:p>
          <a:p>
            <a:pPr>
              <a:buNone/>
            </a:pPr>
            <a:endParaRPr sz="1300" b="1" i="0" u="none"/>
          </a:p>
          <a:p>
            <a:r>
              <a:rPr sz="1300" b="0" i="0" u="none"/>
              <a:t>Comparison includes measurable trade-offs</a:t>
            </a:r>
          </a:p>
          <a:p>
            <a:r>
              <a:rPr sz="1300" b="0" i="0" u="none"/>
              <a:t>Selected approach is justified for current architecture</a:t>
            </a:r>
          </a:p>
          <a:p>
            <a:r>
              <a:rPr sz="1300" b="0" i="0" u="none"/>
              <a:t>Instruction file is specific, actionable, and reusable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Exercise: Implement a New Feature Under a Feature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550" b="0" i="0" u="none"/>
              <a:t>Exercise: Implement a New Feature Under a Feature Flag</a:t>
            </a:r>
          </a:p>
        </p:txBody>
      </p:sp>
      <p:sp>
        <p:nvSpPr>
          <p:cNvPr id="3" name="Content Placeholder 2"/>
          <p:cNvSpPr>
            <a:spLocks noGrp="1"/>
          </p:cNvSpPr>
          <p:nvPr>
            <p:ph sz="half" idx="1"/>
          </p:nvPr>
        </p:nvSpPr>
        <p:spPr/>
        <p:txBody>
          <a:bodyPr wrap="square">
            <a:normAutofit/>
          </a:bodyPr>
          <a:lstStyle/>
          <a:p>
            <a:pPr>
              <a:buNone/>
            </a:pPr>
            <a:r>
              <a:rPr sz="1200" b="1" i="0" u="none"/>
              <a:t>Objectives</a:t>
            </a:r>
            <a:endParaRPr sz="1200" b="0" i="0">
              <a:latin typeface="Consolas"/>
            </a:endParaRPr>
          </a:p>
          <a:p>
            <a:pPr>
              <a:buNone/>
            </a:pPr>
            <a:endParaRPr sz="1200" b="0" i="0">
              <a:latin typeface="Consolas"/>
            </a:endParaRPr>
          </a:p>
          <a:p>
            <a:r>
              <a:rPr sz="1200" b="0" i="0" u="none"/>
              <a:t>Ship a new capability without exposing it to all users immediately</a:t>
            </a:r>
            <a:endParaRPr sz="1200" b="0" i="0">
              <a:latin typeface="Consolas"/>
            </a:endParaRPr>
          </a:p>
          <a:p>
            <a:r>
              <a:rPr sz="1200" b="0" i="0" u="none"/>
              <a:t>Validate behavior through As-Is and To-Be tests</a:t>
            </a:r>
            <a:endParaRPr sz="1200" b="0" i="0">
              <a:latin typeface="Consolas"/>
            </a:endParaRPr>
          </a:p>
          <a:p>
            <a:r>
              <a:rPr sz="1200" b="0" i="0" u="none"/>
              <a:t>Practice progressive rollout and rollback</a:t>
            </a:r>
            <a:endParaRPr sz="1200" b="0" i="0">
              <a:latin typeface="Consolas"/>
            </a:endParaRPr>
          </a:p>
          <a:p>
            <a:pPr>
              <a:buNone/>
            </a:pPr>
            <a:endParaRPr sz="1200" b="0" i="0">
              <a:latin typeface="Consolas"/>
            </a:endParaRPr>
          </a:p>
          <a:p>
            <a:pPr>
              <a:buNone/>
            </a:pPr>
            <a:r>
              <a:rPr sz="1200" b="1" i="0" u="none"/>
              <a:t>Activities</a:t>
            </a:r>
            <a:endParaRPr sz="1200" b="0" i="0">
              <a:latin typeface="Consolas"/>
            </a:endParaRPr>
          </a:p>
          <a:p>
            <a:pPr>
              <a:buNone/>
            </a:pPr>
            <a:endParaRPr sz="1200" b="0" i="0">
              <a:latin typeface="Consolas"/>
            </a:endParaRPr>
          </a:p>
          <a:p>
            <a:pPr>
              <a:buNone/>
            </a:pPr>
            <a:r>
              <a:rPr sz="1200" b="0" i="0" u="none"/>
              <a:t>1. Choose a small feature (for example: enhanced search ranking)</a:t>
            </a:r>
            <a:endParaRPr sz="1200" b="0" i="0">
              <a:latin typeface="Consolas"/>
            </a:endParaRPr>
          </a:p>
          <a:p>
            <a:pPr>
              <a:buNone/>
            </a:pPr>
            <a:r>
              <a:rPr sz="1200" b="0" i="0" u="none"/>
              <a:t>2. Add a flag (example: </a:t>
            </a:r>
            <a:r>
              <a:rPr sz="1200" b="0" i="0" u="none">
                <a:latin typeface="Consolas"/>
              </a:rPr>
              <a:t>ff.search.ranking.v2</a:t>
            </a:r>
            <a:r>
              <a:rPr sz="1200" b="0" i="0" u="none"/>
              <a:t>)</a:t>
            </a:r>
            <a:endParaRPr sz="1200" b="0" i="0">
              <a:latin typeface="Consolas"/>
            </a:endParaRPr>
          </a:p>
          <a:p>
            <a:pPr>
              <a:buNone/>
            </a:pPr>
            <a:r>
              <a:rPr sz="1200" b="0" i="0" u="none"/>
              <a:t>3. Implement behavior split:</a:t>
            </a:r>
            <a:endParaRPr sz="1200" b="0" i="0">
              <a:latin typeface="Consolas"/>
            </a:endParaRPr>
          </a:p>
          <a:p>
            <a:pPr lvl="1"/>
            <a:r>
              <a:rPr sz="1200" b="0" i="0" u="none"/>
              <a:t>flag off: existing path (As-Is)</a:t>
            </a:r>
            <a:endParaRPr sz="1200" b="0" i="0">
              <a:latin typeface="Consolas"/>
            </a:endParaRPr>
          </a:p>
          <a:p>
            <a:pPr lvl="1"/>
            <a:r>
              <a:rPr sz="1200" b="0" i="0" u="none"/>
              <a:t>flag on: new path (To-Be)</a:t>
            </a:r>
            <a:endParaRPr sz="1200" b="0" i="0">
              <a:latin typeface="Consolas"/>
            </a:endParaRPr>
          </a:p>
          <a:p>
            <a:pPr>
              <a:buNone/>
            </a:pPr>
            <a:r>
              <a:rPr sz="1200" b="0" i="0" u="none"/>
              <a:t>4. Write tests for both paths</a:t>
            </a:r>
            <a:endParaRPr sz="12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0" i="0" u="none"/>
              <a:t>5. Add telemetry and release controls:</a:t>
            </a:r>
            <a:endParaRPr sz="2800" b="0" i="0">
              <a:latin typeface="Arial"/>
            </a:endParaRPr>
          </a:p>
          <a:p>
            <a:pPr lvl="1"/>
            <a:r>
              <a:rPr sz="1400" b="0" i="0" u="none"/>
              <a:t>exposure percentage</a:t>
            </a:r>
            <a:endParaRPr sz="2800" b="0" i="0">
              <a:latin typeface="Arial"/>
            </a:endParaRPr>
          </a:p>
          <a:p>
            <a:pPr lvl="1"/>
            <a:r>
              <a:rPr sz="1400" b="0" i="0" u="none"/>
              <a:t>error rate and latency guardrails</a:t>
            </a:r>
            <a:endParaRPr sz="2800" b="0" i="0">
              <a:latin typeface="Arial"/>
            </a:endParaRPr>
          </a:p>
          <a:p>
            <a:pPr>
              <a:buNone/>
            </a:pPr>
            <a:r>
              <a:rPr sz="1400" b="0" i="0" u="none"/>
              <a:t>6. Run a rollout simulation:</a:t>
            </a:r>
            <a:endParaRPr sz="2800" b="0" i="0">
              <a:latin typeface="Arial"/>
            </a:endParaRPr>
          </a:p>
          <a:p>
            <a:pPr lvl="1"/>
            <a:r>
              <a:rPr sz="1400" b="0" i="0" u="none"/>
              <a:t>1% -&gt; 10% -&gt; 50% -&gt; 100%</a:t>
            </a:r>
            <a:endParaRPr sz="2800" b="0" i="0">
              <a:latin typeface="Arial"/>
            </a:endParaRPr>
          </a:p>
          <a:p>
            <a:pPr lvl="1"/>
            <a:r>
              <a:rPr sz="1400" b="0" i="0" u="none"/>
              <a:t>trigger rollback if guardrails fail</a:t>
            </a:r>
            <a:endParaRPr sz="2800" b="0" i="0">
              <a:latin typeface="Arial"/>
            </a:endParaRPr>
          </a:p>
          <a:p>
            <a:pPr>
              <a:buNone/>
            </a:pPr>
            <a:endParaRPr sz="2800" b="0" i="0">
              <a:latin typeface="Arial"/>
            </a:endParaRPr>
          </a:p>
          <a:p>
            <a:pPr>
              <a:buNone/>
            </a:pPr>
            <a:r>
              <a:rPr sz="1400" b="1" i="0" u="none"/>
              <a:t>Success Criteria</a:t>
            </a:r>
            <a:endParaRPr sz="2800" b="0" i="0">
              <a:latin typeface="Arial"/>
            </a:endParaRPr>
          </a:p>
          <a:p>
            <a:pPr>
              <a:buNone/>
            </a:pPr>
            <a:endParaRPr sz="2800" b="0" i="0">
              <a:latin typeface="Arial"/>
            </a:endParaRPr>
          </a:p>
          <a:p>
            <a:r>
              <a:rPr sz="1400" b="0" i="0" u="none"/>
              <a:t>Both code paths are covered by tests</a:t>
            </a:r>
            <a:endParaRPr sz="2800" b="0" i="0">
              <a:latin typeface="Arial"/>
            </a:endParaRPr>
          </a:p>
          <a:p>
            <a:r>
              <a:rPr sz="1400" b="0" i="0" u="none"/>
              <a:t>Rollout and rollback are operationally clear</a:t>
            </a:r>
            <a:endParaRPr sz="2800" b="0" i="0">
              <a:latin typeface="Arial"/>
            </a:endParaRPr>
          </a:p>
          <a:p>
            <a:r>
              <a:rPr sz="1400" b="0" i="0" u="none"/>
              <a:t>Feature can be retired by removing flag and old branch</a:t>
            </a:r>
            <a:endParaRPr sz="280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Subtitle 2"/>
          <p:cNvSpPr>
            <a:spLocks noGrp="1"/>
          </p:cNvSpPr>
          <p:nvPr>
            <p:ph type="subTitle" idx="1"/>
          </p:nvPr>
        </p:nvSpPr>
        <p:spPr/>
        <p:txBody>
          <a:bodyPr wrap="square">
            <a:normAutofit/>
          </a:bodyPr>
          <a:lstStyle/>
          <a:p>
            <a:pPr>
              <a:buNone/>
            </a:pPr>
            <a:r>
              <a:rPr b="0" i="0" u="none"/>
              <a:t>Bravery or Bravado?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Testing in Production</a:t>
            </a:r>
          </a:p>
        </p:txBody>
      </p:sp>
      <p:sp>
        <p:nvSpPr>
          <p:cNvPr id="3" name="Content Placeholder 2"/>
          <p:cNvSpPr>
            <a:spLocks noGrp="1"/>
          </p:cNvSpPr>
          <p:nvPr>
            <p:ph idx="1"/>
          </p:nvPr>
        </p:nvSpPr>
        <p:spPr/>
        <p:txBody>
          <a:bodyPr wrap="square">
            <a:normAutofit/>
          </a:bodyPr>
          <a:lstStyle/>
          <a:p>
            <a:r>
              <a:rPr sz="2800" b="0" i="0" u="none"/>
              <a:t>Safe production testing strategies</a:t>
            </a:r>
            <a:endParaRPr sz="2800" b="0" i="0">
              <a:latin typeface="Arial"/>
            </a:endParaRPr>
          </a:p>
          <a:p>
            <a:r>
              <a:rPr sz="2800" b="0" i="0" u="none"/>
              <a:t>Shadow traffic and canary releases</a:t>
            </a:r>
            <a:endParaRPr sz="2800" b="0" i="0">
              <a:latin typeface="Arial"/>
            </a:endParaRPr>
          </a:p>
          <a:p>
            <a:r>
              <a:rPr sz="2800" b="0" i="0" u="none"/>
              <a:t>A/B testing for behavioral and KPI validation</a:t>
            </a:r>
            <a:endParaRPr sz="2800" b="0" i="0">
              <a:latin typeface="Arial"/>
            </a:endParaRPr>
          </a:p>
          <a:p>
            <a:r>
              <a:rPr sz="2800" b="0" i="0" u="none"/>
              <a:t>Observability and automated rollback</a:t>
            </a:r>
            <a:endParaRPr sz="2800" b="0" i="0">
              <a:latin typeface="Arial"/>
            </a:endParaRPr>
          </a:p>
          <a:p>
            <a:r>
              <a:rPr sz="2800" b="0" i="0" u="none"/>
              <a:t>Beta testing groups</a:t>
            </a:r>
            <a:endParaRPr sz="2800" b="0" i="0">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Test in Production?</a:t>
            </a:r>
          </a:p>
        </p:txBody>
      </p:sp>
      <p:sp>
        <p:nvSpPr>
          <p:cNvPr id="3" name="Content Placeholder 2"/>
          <p:cNvSpPr>
            <a:spLocks noGrp="1"/>
          </p:cNvSpPr>
          <p:nvPr>
            <p:ph sz="half" idx="1"/>
          </p:nvPr>
        </p:nvSpPr>
        <p:spPr/>
        <p:txBody>
          <a:bodyPr wrap="square">
            <a:normAutofit/>
          </a:bodyPr>
          <a:lstStyle/>
          <a:p>
            <a:pPr>
              <a:buNone/>
            </a:pPr>
            <a:r>
              <a:rPr sz="1400" b="1" i="0" u="none"/>
              <a:t>The Reality Gap</a:t>
            </a:r>
            <a:endParaRPr sz="2800" b="0" i="0">
              <a:latin typeface="Arial"/>
            </a:endParaRPr>
          </a:p>
          <a:p>
            <a:pPr lvl="1"/>
            <a:r>
              <a:rPr sz="1400" b="0" i="0" u="none"/>
              <a:t>Staging can't replicate production scale</a:t>
            </a:r>
            <a:endParaRPr sz="2800" b="0" i="0">
              <a:latin typeface="Arial"/>
            </a:endParaRPr>
          </a:p>
          <a:p>
            <a:pPr lvl="1"/>
            <a:r>
              <a:rPr sz="1400" b="0" i="0" u="none"/>
              <a:t>Real user behavior is unpredictable</a:t>
            </a:r>
            <a:endParaRPr sz="2800" b="0" i="0">
              <a:latin typeface="Arial"/>
            </a:endParaRPr>
          </a:p>
          <a:p>
            <a:pPr lvl="1"/>
            <a:r>
              <a:rPr sz="1400" b="0" i="0" u="none"/>
              <a:t>Production data reveals edge cases</a:t>
            </a:r>
            <a:endParaRPr sz="2800" b="0" i="0">
              <a:latin typeface="Arial"/>
            </a:endParaRPr>
          </a:p>
          <a:p>
            <a:pPr lvl="1"/>
            <a:r>
              <a:rPr sz="1400" b="0" i="0" u="none"/>
              <a:t>Load patterns differ between environments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The Risk Without It</a:t>
            </a:r>
            <a:endParaRPr sz="2800" b="0" i="0">
              <a:latin typeface="Arial"/>
            </a:endParaRPr>
          </a:p>
          <a:p>
            <a:pPr lvl="1"/>
            <a:r>
              <a:rPr sz="1400" b="0" i="0" u="none"/>
              <a:t>Mass failures on release day</a:t>
            </a:r>
            <a:endParaRPr sz="2800" b="0" i="0">
              <a:latin typeface="Arial"/>
            </a:endParaRPr>
          </a:p>
          <a:p>
            <a:pPr lvl="1"/>
            <a:r>
              <a:rPr sz="1400" b="0" i="0" u="none"/>
              <a:t>No rollback strategy</a:t>
            </a:r>
            <a:endParaRPr sz="2800" b="0" i="0">
              <a:latin typeface="Arial"/>
            </a:endParaRPr>
          </a:p>
          <a:p>
            <a:pPr lvl="1"/>
            <a:r>
              <a:rPr sz="1400" b="0" i="0" u="none"/>
              <a:t>Customer-facing incidents</a:t>
            </a:r>
            <a:endParaRPr sz="2800" b="0" i="0">
              <a:latin typeface="Arial"/>
            </a:endParaRPr>
          </a:p>
          <a:p>
            <a:pPr lvl="1"/>
            <a:r>
              <a:rPr sz="1400" b="0" i="0" u="none"/>
              <a:t>Extended downtime</a:t>
            </a:r>
            <a:endParaRPr sz="2800" b="0" i="0">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Principle</a:t>
            </a:r>
          </a:p>
        </p:txBody>
      </p:sp>
      <p:sp>
        <p:nvSpPr>
          <p:cNvPr id="3" name="Content Placeholder 2"/>
          <p:cNvSpPr>
            <a:spLocks noGrp="1"/>
          </p:cNvSpPr>
          <p:nvPr>
            <p:ph sz="half" idx="1"/>
          </p:nvPr>
        </p:nvSpPr>
        <p:spPr/>
        <p:txBody>
          <a:bodyPr wrap="square">
            <a:normAutofit/>
          </a:bodyPr>
          <a:lstStyle/>
          <a:p>
            <a:pPr>
              <a:buNone/>
            </a:pPr>
            <a:r>
              <a:rPr sz="1400" b="1" i="0" u="none"/>
              <a:t>Hide features behind flags until ready</a:t>
            </a:r>
            <a:endParaRPr sz="2800" b="0" i="0">
              <a:latin typeface="Arial"/>
            </a:endParaRPr>
          </a:p>
          <a:p>
            <a:pPr lvl="1"/>
            <a:r>
              <a:rPr sz="1400" b="0" i="0" u="none"/>
              <a:t>Deploy code without activating behavior</a:t>
            </a:r>
            <a:endParaRPr sz="2800" b="0" i="0">
              <a:latin typeface="Arial"/>
            </a:endParaRPr>
          </a:p>
          <a:p>
            <a:pPr lvl="1"/>
            <a:r>
              <a:rPr sz="1400" b="0" i="0" u="none"/>
              <a:t>Control exposure programmatically</a:t>
            </a:r>
            <a:endParaRPr sz="2800" b="0" i="0">
              <a:latin typeface="Arial"/>
            </a:endParaRPr>
          </a:p>
          <a:p>
            <a:pPr lvl="1"/>
            <a:r>
              <a:rPr sz="1400" b="0" i="0" u="none"/>
              <a:t>Enable instant rollback</a:t>
            </a:r>
            <a:endParaRPr sz="2800" b="0" i="0">
              <a:latin typeface="Arial"/>
            </a:endParaRPr>
          </a:p>
          <a:p>
            <a:pPr lvl="1"/>
            <a:r>
              <a:rPr sz="1400" b="0" i="0" u="none"/>
              <a:t>Test incrementally with real infrastructure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Test in real environment with real loads</a:t>
            </a:r>
            <a:endParaRPr sz="2800" b="0" i="0">
              <a:latin typeface="Arial"/>
            </a:endParaRPr>
          </a:p>
          <a:p>
            <a:pPr lvl="1"/>
            <a:r>
              <a:rPr sz="1400" b="0" i="0" u="none"/>
              <a:t>Production data and integration points</a:t>
            </a:r>
            <a:endParaRPr sz="2800" b="0" i="0">
              <a:latin typeface="Arial"/>
            </a:endParaRPr>
          </a:p>
          <a:p>
            <a:pPr lvl="1"/>
            <a:r>
              <a:rPr sz="1400" b="0" i="0" u="none"/>
              <a:t>Actual traffic patterns and volumes</a:t>
            </a:r>
            <a:endParaRPr sz="2800" b="0" i="0">
              <a:latin typeface="Arial"/>
            </a:endParaRPr>
          </a:p>
          <a:p>
            <a:pPr lvl="1"/>
            <a:r>
              <a:rPr sz="1400" b="0" i="0" u="none"/>
              <a:t>Real-world latency and failure modes</a:t>
            </a:r>
            <a:endParaRPr sz="2800" b="0" i="0">
              <a:latin typeface="Arial"/>
            </a:endParaRPr>
          </a:p>
          <a:p>
            <a:pPr lvl="1"/>
            <a:r>
              <a:rPr sz="1400" b="0" i="0" u="none"/>
              <a:t>Genuine user behavior</a:t>
            </a:r>
            <a:endParaRPr sz="280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1: Shadow Traffic</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Route a copy of production traffic to new code path</a:t>
            </a:r>
            <a:endParaRPr sz="2800" b="0" i="0">
              <a:latin typeface="Arial"/>
            </a:endParaRPr>
          </a:p>
          <a:p>
            <a:pPr lvl="1"/>
            <a:r>
              <a:rPr sz="1400" b="0" i="0" u="none"/>
              <a:t>Original code serves the actual response</a:t>
            </a:r>
            <a:endParaRPr sz="2800" b="0" i="0">
              <a:latin typeface="Arial"/>
            </a:endParaRPr>
          </a:p>
          <a:p>
            <a:pPr lvl="1"/>
            <a:r>
              <a:rPr sz="1400" b="0" i="0" u="none"/>
              <a:t>No user impact—shadow results are discarded</a:t>
            </a:r>
            <a:endParaRPr sz="2800" b="0" i="0">
              <a:latin typeface="Arial"/>
            </a:endParaRPr>
          </a:p>
          <a:p>
            <a:pPr>
              <a:buNone/>
            </a:pPr>
            <a:endParaRPr sz="2800" b="0" i="0">
              <a:latin typeface="Arial"/>
            </a:endParaRPr>
          </a:p>
          <a:p>
            <a:pPr>
              <a:buNone/>
            </a:pPr>
            <a:r>
              <a:rPr sz="1400" b="1" i="0" u="none"/>
              <a:t>Benefits</a:t>
            </a:r>
            <a:endParaRPr sz="2800" b="0" i="0">
              <a:latin typeface="Arial"/>
            </a:endParaRPr>
          </a:p>
          <a:p>
            <a:pPr lvl="1"/>
            <a:r>
              <a:rPr sz="1400" b="0" i="0" u="none"/>
              <a:t>Zero risk to users</a:t>
            </a:r>
            <a:endParaRPr sz="2800" b="0" i="0">
              <a:latin typeface="Arial"/>
            </a:endParaRPr>
          </a:p>
          <a:p>
            <a:pPr lvl="1"/>
            <a:r>
              <a:rPr sz="1400" b="0" i="0" u="none"/>
              <a:t>Production-scale load testing</a:t>
            </a:r>
            <a:endParaRPr sz="2800" b="0" i="0">
              <a:latin typeface="Arial"/>
            </a:endParaRPr>
          </a:p>
          <a:p>
            <a:pPr lvl="1"/>
            <a:r>
              <a:rPr sz="1400" b="0" i="0" u="none"/>
              <a:t>Compare old vs. new behavior</a:t>
            </a:r>
            <a:endParaRPr sz="2800" b="0" i="0">
              <a:latin typeface="Arial"/>
            </a:endParaRPr>
          </a:p>
          <a:p>
            <a:pPr lvl="1"/>
            <a:r>
              <a:rPr sz="1400" b="0" i="0" u="none"/>
              <a:t>Identify performance regressions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Implementation</a:t>
            </a:r>
            <a:endParaRPr sz="1800" b="0" i="0">
              <a:latin typeface="Consolas"/>
            </a:endParaRPr>
          </a:p>
          <a:p>
            <a:pPr>
              <a:buNone/>
            </a:pPr>
            <a:endParaRPr sz="1800" b="0" i="0">
              <a:latin typeface="Consolas"/>
            </a:endParaRPr>
          </a:p>
          <a:p>
            <a:pPr>
              <a:buNone/>
            </a:pPr>
            <a:r>
              <a:rPr sz="1400">
                <a:latin typeface="Consolas"/>
              </a:rPr>
              <a:t>Incoming Request</a:t>
            </a:r>
            <a:endParaRPr sz="1800" b="0" i="0">
              <a:latin typeface="Consolas"/>
            </a:endParaRPr>
          </a:p>
          <a:p>
            <a:pPr>
              <a:buNone/>
            </a:pPr>
            <a:r>
              <a:rPr sz="1400">
                <a:latin typeface="Consolas"/>
              </a:rPr>
              <a:t>  ├─&gt; Old Code (serves response)</a:t>
            </a:r>
            <a:endParaRPr sz="1800" b="0" i="0">
              <a:latin typeface="Consolas"/>
            </a:endParaRPr>
          </a:p>
          <a:p>
            <a:pPr>
              <a:buNone/>
            </a:pPr>
            <a:r>
              <a:rPr sz="1400">
                <a:latin typeface="Consolas"/>
              </a:rPr>
              <a:t>  └─&gt; New Code (logged/monitored, discarded)</a:t>
            </a:r>
            <a:endParaRPr sz="1800" b="0" i="0">
              <a:latin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2: Canary Releases</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Gradual rollout to increasing percentage of users</a:t>
            </a:r>
            <a:endParaRPr sz="2800" b="0" i="0">
              <a:latin typeface="Arial"/>
            </a:endParaRPr>
          </a:p>
          <a:p>
            <a:pPr lvl="1"/>
            <a:r>
              <a:rPr sz="1400" b="0" i="0" u="none"/>
              <a:t>Monitor health metrics at each stage</a:t>
            </a:r>
            <a:endParaRPr sz="2800" b="0" i="0">
              <a:latin typeface="Arial"/>
            </a:endParaRPr>
          </a:p>
          <a:p>
            <a:pPr lvl="1"/>
            <a:r>
              <a:rPr sz="1400" b="0" i="0" u="none"/>
              <a:t>Expand exposure only if metrics are healthy</a:t>
            </a:r>
            <a:endParaRPr sz="2800" b="0" i="0">
              <a:latin typeface="Arial"/>
            </a:endParaRPr>
          </a:p>
          <a:p>
            <a:pPr>
              <a:buNone/>
            </a:pPr>
            <a:endParaRPr sz="2800" b="0" i="0">
              <a:latin typeface="Arial"/>
            </a:endParaRPr>
          </a:p>
          <a:p>
            <a:pPr>
              <a:buNone/>
            </a:pPr>
            <a:r>
              <a:rPr sz="1400" b="1" i="0" u="none"/>
              <a:t>Rollout Stages</a:t>
            </a:r>
            <a:endParaRPr sz="2800" b="0" i="0">
              <a:latin typeface="Arial"/>
            </a:endParaRPr>
          </a:p>
          <a:p>
            <a:pPr lvl="1"/>
            <a:r>
              <a:rPr sz="1400" b="1" i="0" u="none"/>
              <a:t>1%</a:t>
            </a:r>
            <a:r>
              <a:rPr sz="1400" b="0" i="0" u="none"/>
              <a:t>: Internal employees, beta users</a:t>
            </a:r>
            <a:endParaRPr sz="2800" b="0" i="0">
              <a:latin typeface="Arial"/>
            </a:endParaRPr>
          </a:p>
          <a:p>
            <a:pPr lvl="1"/>
            <a:r>
              <a:rPr sz="1400" b="1" i="0" u="none"/>
              <a:t>5%</a:t>
            </a:r>
            <a:r>
              <a:rPr sz="1400" b="0" i="0" u="none"/>
              <a:t>: Expand to low-risk segments</a:t>
            </a:r>
            <a:endParaRPr sz="2800" b="0" i="0">
              <a:latin typeface="Arial"/>
            </a:endParaRPr>
          </a:p>
          <a:p>
            <a:pPr lvl="1"/>
            <a:r>
              <a:rPr sz="1400" b="1" i="0" u="none"/>
              <a:t>25%</a:t>
            </a:r>
            <a:r>
              <a:rPr sz="1400" b="0" i="0" u="none"/>
              <a:t>: Quarter of production traffic</a:t>
            </a:r>
            <a:endParaRPr sz="2800" b="0" i="0">
              <a:latin typeface="Arial"/>
            </a:endParaRPr>
          </a:p>
          <a:p>
            <a:pPr lvl="1"/>
            <a:r>
              <a:rPr sz="1400" b="1" i="0" u="none"/>
              <a:t>100%</a:t>
            </a:r>
            <a:r>
              <a:rPr sz="1400" b="0" i="0" u="none"/>
              <a:t>: Full rollout after validation</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Health Checks</a:t>
            </a:r>
            <a:endParaRPr sz="2800" b="0" i="0">
              <a:latin typeface="Arial"/>
            </a:endParaRPr>
          </a:p>
          <a:p>
            <a:pPr lvl="1"/>
            <a:r>
              <a:rPr sz="1400" b="0" i="0" u="none"/>
              <a:t>Error rate within budget</a:t>
            </a:r>
            <a:endParaRPr sz="2800" b="0" i="0">
              <a:latin typeface="Arial"/>
            </a:endParaRPr>
          </a:p>
          <a:p>
            <a:pPr lvl="1"/>
            <a:r>
              <a:rPr sz="1400" b="0" i="0" u="none"/>
              <a:t>Latency acceptable</a:t>
            </a:r>
            <a:endParaRPr sz="2800" b="0" i="0">
              <a:latin typeface="Arial"/>
            </a:endParaRPr>
          </a:p>
          <a:p>
            <a:pPr lvl="1"/>
            <a:r>
              <a:rPr sz="1400" b="0" i="0" u="none"/>
              <a:t>No spike in support tickets</a:t>
            </a:r>
            <a:endParaRPr sz="280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Technique 3: Observability Dashboards</a:t>
            </a:r>
          </a:p>
        </p:txBody>
      </p:sp>
      <p:sp>
        <p:nvSpPr>
          <p:cNvPr id="3" name="Content Placeholder 2"/>
          <p:cNvSpPr>
            <a:spLocks noGrp="1"/>
          </p:cNvSpPr>
          <p:nvPr>
            <p:ph sz="half" idx="1"/>
          </p:nvPr>
        </p:nvSpPr>
        <p:spPr/>
        <p:txBody>
          <a:bodyPr wrap="square">
            <a:normAutofit/>
          </a:bodyPr>
          <a:lstStyle/>
          <a:p>
            <a:pPr>
              <a:buNone/>
            </a:pPr>
            <a:r>
              <a:rPr sz="1400" b="1" i="0" u="none"/>
              <a:t>Real-time monitoring</a:t>
            </a:r>
            <a:endParaRPr sz="2800" b="0" i="0">
              <a:latin typeface="Arial"/>
            </a:endParaRPr>
          </a:p>
          <a:p>
            <a:pPr lvl="1"/>
            <a:r>
              <a:rPr sz="1400" b="0" i="0" u="none"/>
              <a:t>Feature-specific error rates</a:t>
            </a:r>
            <a:endParaRPr sz="2800" b="0" i="0">
              <a:latin typeface="Arial"/>
            </a:endParaRPr>
          </a:p>
          <a:p>
            <a:pPr lvl="1"/>
            <a:r>
              <a:rPr sz="1400" b="0" i="0" u="none"/>
              <a:t>Latency percentiles such as p50, p95, p99</a:t>
            </a:r>
            <a:endParaRPr sz="2800" b="0" i="0">
              <a:latin typeface="Arial"/>
            </a:endParaRPr>
          </a:p>
          <a:p>
            <a:pPr lvl="1"/>
            <a:r>
              <a:rPr sz="1400" b="0" i="0" u="none"/>
              <a:t>Resource utilization including CPU and memory</a:t>
            </a:r>
            <a:endParaRPr sz="2800" b="0" i="0">
              <a:latin typeface="Arial"/>
            </a:endParaRPr>
          </a:p>
          <a:p>
            <a:pPr lvl="1"/>
            <a:r>
              <a:rPr sz="1400" b="0" i="0" u="none"/>
              <a:t>User impact metrics such as conversion and engagement</a:t>
            </a:r>
            <a:endParaRPr sz="2800" b="0" i="0">
              <a:latin typeface="Arial"/>
            </a:endParaRPr>
          </a:p>
          <a:p>
            <a:pPr>
              <a:buNone/>
            </a:pPr>
            <a:endParaRPr sz="2800" b="0" i="0">
              <a:latin typeface="Arial"/>
            </a:endParaRPr>
          </a:p>
          <a:p>
            <a:pPr>
              <a:buNone/>
            </a:pPr>
            <a:r>
              <a:rPr sz="1400" b="1" i="0" u="none"/>
              <a:t>Essential alerts</a:t>
            </a:r>
            <a:endParaRPr sz="2800" b="0" i="0">
              <a:latin typeface="Arial"/>
            </a:endParaRPr>
          </a:p>
          <a:p>
            <a:pPr lvl="1"/>
            <a:r>
              <a:rPr sz="1400" b="0" i="0" u="none"/>
              <a:t>Threshold violations</a:t>
            </a:r>
            <a:endParaRPr sz="2800" b="0" i="0">
              <a:latin typeface="Arial"/>
            </a:endParaRPr>
          </a:p>
          <a:p>
            <a:pPr lvl="1"/>
            <a:r>
              <a:rPr sz="1400" b="0" i="0" u="none"/>
              <a:t>Anomaly detection</a:t>
            </a:r>
            <a:endParaRPr sz="2800" b="0" i="0">
              <a:latin typeface="Arial"/>
            </a:endParaRPr>
          </a:p>
          <a:p>
            <a:pPr lvl="1"/>
            <a:r>
              <a:rPr sz="1400" b="0" i="0" u="none"/>
              <a:t>Baseline comparisons</a:t>
            </a:r>
            <a:endParaRPr sz="2800" b="0" i="0">
              <a:latin typeface="Arial"/>
            </a:endParaRPr>
          </a:p>
          <a:p>
            <a:pPr lvl="1"/>
            <a:r>
              <a:rPr sz="1400" b="0" i="0" u="none"/>
              <a:t>Correlated multi-signal alerts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Dashboard example</a:t>
            </a:r>
            <a:endParaRPr sz="1800" b="0" i="0">
              <a:latin typeface="Consolas"/>
            </a:endParaRPr>
          </a:p>
          <a:p>
            <a:pPr>
              <a:buNone/>
            </a:pPr>
            <a:endParaRPr sz="1800" b="0" i="0">
              <a:latin typeface="Consolas"/>
            </a:endParaRPr>
          </a:p>
          <a:p>
            <a:pPr>
              <a:buNone/>
            </a:pPr>
            <a:r>
              <a:rPr sz="1400">
                <a:latin typeface="Consolas"/>
              </a:rPr>
              <a:t>Feature: Payment Processing v2</a:t>
            </a:r>
            <a:endParaRPr sz="1800" b="0" i="0">
              <a:latin typeface="Consolas"/>
            </a:endParaRPr>
          </a:p>
          <a:p>
            <a:pPr>
              <a:buNone/>
            </a:pPr>
            <a:r>
              <a:rPr sz="1400">
                <a:latin typeface="Consolas"/>
              </a:rPr>
              <a:t>├─ Error Rate: 0.8% (baseline: 0.5%) ⚠️</a:t>
            </a:r>
            <a:endParaRPr sz="1800" b="0" i="0">
              <a:latin typeface="Consolas"/>
            </a:endParaRPr>
          </a:p>
          <a:p>
            <a:pPr>
              <a:buNone/>
            </a:pPr>
            <a:r>
              <a:rPr sz="1400">
                <a:latin typeface="Consolas"/>
              </a:rPr>
              <a:t>├─ p95 Latency: 320ms (baseline: 280ms) ⚠️</a:t>
            </a:r>
            <a:endParaRPr sz="1800" b="0" i="0">
              <a:latin typeface="Consolas"/>
            </a:endParaRPr>
          </a:p>
          <a:p>
            <a:pPr>
              <a:buNone/>
            </a:pPr>
            <a:r>
              <a:rPr sz="1400">
                <a:latin typeface="Consolas"/>
              </a:rPr>
              <a:t>├─ Canary Coverage: 5%</a:t>
            </a:r>
            <a:endParaRPr sz="1800" b="0" i="0">
              <a:latin typeface="Consolas"/>
            </a:endParaRPr>
          </a:p>
          <a:p>
            <a:pPr>
              <a:buNone/>
            </a:pPr>
            <a:r>
              <a:rPr sz="1400">
                <a:latin typeface="Consolas"/>
              </a:rPr>
              <a:t>└─ Auto-rollback: ARMED</a:t>
            </a:r>
            <a:endParaRPr sz="1800" b="0" i="0">
              <a:latin typeface="Consola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Technique 4: Automated Rollback</a:t>
            </a:r>
          </a:p>
        </p:txBody>
      </p:sp>
      <p:sp>
        <p:nvSpPr>
          <p:cNvPr id="3" name="Content Placeholder 2"/>
          <p:cNvSpPr>
            <a:spLocks noGrp="1"/>
          </p:cNvSpPr>
          <p:nvPr>
            <p:ph sz="half" idx="1"/>
          </p:nvPr>
        </p:nvSpPr>
        <p:spPr/>
        <p:txBody>
          <a:bodyPr wrap="square">
            <a:normAutofit/>
          </a:bodyPr>
          <a:lstStyle/>
          <a:p>
            <a:pPr>
              <a:buNone/>
            </a:pPr>
            <a:r>
              <a:rPr sz="1400" b="1" i="0" u="none"/>
              <a:t>Automated response to failures</a:t>
            </a:r>
            <a:endParaRPr sz="2800" b="0" i="0">
              <a:latin typeface="Arial"/>
            </a:endParaRPr>
          </a:p>
          <a:p>
            <a:pPr lvl="1"/>
            <a:r>
              <a:rPr sz="1400" b="0" i="0" u="none"/>
              <a:t>Define error budgets per feature</a:t>
            </a:r>
            <a:endParaRPr sz="2800" b="0" i="0">
              <a:latin typeface="Arial"/>
            </a:endParaRPr>
          </a:p>
          <a:p>
            <a:pPr lvl="1"/>
            <a:r>
              <a:rPr sz="1400" b="0" i="0" u="none"/>
              <a:t>Monitor continuously in real time</a:t>
            </a:r>
            <a:endParaRPr sz="2800" b="0" i="0">
              <a:latin typeface="Arial"/>
            </a:endParaRPr>
          </a:p>
          <a:p>
            <a:pPr lvl="1"/>
            <a:r>
              <a:rPr sz="1400" b="0" i="0" u="none"/>
              <a:t>Auto-disable a feature if the budget is exceeded</a:t>
            </a:r>
            <a:endParaRPr sz="2800" b="0" i="0">
              <a:latin typeface="Arial"/>
            </a:endParaRPr>
          </a:p>
          <a:p>
            <a:pPr lvl="1"/>
            <a:r>
              <a:rPr sz="1400" b="0" i="0" u="none"/>
              <a:t>Alert the team for investigation</a:t>
            </a:r>
            <a:endParaRPr sz="2800" b="0" i="0">
              <a:latin typeface="Arial"/>
            </a:endParaRPr>
          </a:p>
          <a:p>
            <a:pPr>
              <a:buNone/>
            </a:pPr>
            <a:endParaRPr sz="2800" b="0" i="0">
              <a:latin typeface="Arial"/>
            </a:endParaRPr>
          </a:p>
          <a:p>
            <a:pPr>
              <a:buNone/>
            </a:pPr>
            <a:r>
              <a:rPr sz="1400" b="1" i="0" u="none"/>
              <a:t>Why automation matters</a:t>
            </a:r>
            <a:endParaRPr sz="2800" b="0" i="0">
              <a:latin typeface="Arial"/>
            </a:endParaRPr>
          </a:p>
          <a:p>
            <a:pPr lvl="1"/>
            <a:r>
              <a:rPr sz="1400" b="0" i="0" u="none"/>
              <a:t>Humans are too slow</a:t>
            </a:r>
            <a:endParaRPr sz="2800" b="0" i="0">
              <a:latin typeface="Arial"/>
            </a:endParaRPr>
          </a:p>
          <a:p>
            <a:pPr lvl="1"/>
            <a:r>
              <a:rPr sz="1400" b="0" i="0" u="none"/>
              <a:t>Response stays consistent</a:t>
            </a:r>
            <a:endParaRPr sz="2800" b="0" i="0">
              <a:latin typeface="Arial"/>
            </a:endParaRPr>
          </a:p>
          <a:p>
            <a:pPr lvl="1"/>
            <a:r>
              <a:rPr sz="1400" b="0" i="0" u="none"/>
              <a:t>Blast radius stays smaller</a:t>
            </a:r>
            <a:endParaRPr sz="2800" b="0" i="0">
              <a:latin typeface="Arial"/>
            </a:endParaRPr>
          </a:p>
          <a:p>
            <a:pPr lvl="1"/>
            <a:r>
              <a:rPr sz="1400" b="0" i="0" u="none"/>
              <a:t>MTTR drops quickly</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Rollback conditions</a:t>
            </a:r>
            <a:endParaRPr sz="1800" b="0" i="0">
              <a:latin typeface="Consolas"/>
            </a:endParaRPr>
          </a:p>
          <a:p>
            <a:pPr>
              <a:buNone/>
            </a:pPr>
            <a:endParaRPr sz="1800" b="0" i="0">
              <a:latin typeface="Consolas"/>
            </a:endParaRPr>
          </a:p>
          <a:p>
            <a:pPr>
              <a:buNone/>
            </a:pPr>
            <a:r>
              <a:rPr sz="1400">
                <a:latin typeface="Consolas"/>
              </a:rPr>
              <a:t>feature: payment_processing_v2</a:t>
            </a:r>
            <a:endParaRPr sz="1800" b="0" i="0">
              <a:latin typeface="Consolas"/>
            </a:endParaRPr>
          </a:p>
          <a:p>
            <a:pPr>
              <a:buNone/>
            </a:pPr>
            <a:r>
              <a:rPr sz="1400">
                <a:latin typeface="Consolas"/>
              </a:rPr>
              <a:t>error_budget:</a:t>
            </a:r>
            <a:endParaRPr sz="1800" b="0" i="0">
              <a:latin typeface="Consolas"/>
            </a:endParaRPr>
          </a:p>
          <a:p>
            <a:pPr>
              <a:buNone/>
            </a:pPr>
            <a:r>
              <a:rPr sz="1400">
                <a:latin typeface="Consolas"/>
              </a:rPr>
              <a:t>  threshold: 1.0% # max allowed error rate</a:t>
            </a:r>
            <a:endParaRPr sz="1800" b="0" i="0">
              <a:latin typeface="Consolas"/>
            </a:endParaRPr>
          </a:p>
          <a:p>
            <a:pPr>
              <a:buNone/>
            </a:pPr>
            <a:r>
              <a:rPr sz="1400">
                <a:latin typeface="Consolas"/>
              </a:rPr>
              <a:t>  window: 5min # measurement period</a:t>
            </a:r>
            <a:endParaRPr sz="1800" b="0" i="0">
              <a:latin typeface="Consolas"/>
            </a:endParaRPr>
          </a:p>
          <a:p>
            <a:pPr>
              <a:buNone/>
            </a:pPr>
            <a:r>
              <a:rPr sz="1400">
                <a:latin typeface="Consolas"/>
              </a:rPr>
              <a:t>  action: disable # auto-disable if exceeded</a:t>
            </a:r>
            <a:endParaRPr sz="1800" b="0" i="0">
              <a:latin typeface="Consolas"/>
            </a:endParaRPr>
          </a:p>
          <a:p>
            <a:pPr>
              <a:buNone/>
            </a:pPr>
            <a:r>
              <a:rPr sz="1400">
                <a:latin typeface="Consolas"/>
              </a:rPr>
              <a:t>  notify: [oncall-team, slack-alerts]</a:t>
            </a:r>
            <a:endParaRPr sz="1800" b="0" i="0">
              <a:latin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5: A/B Testing</a:t>
            </a:r>
          </a:p>
        </p:txBody>
      </p:sp>
      <p:sp>
        <p:nvSpPr>
          <p:cNvPr id="3" name="Content Placeholder 2"/>
          <p:cNvSpPr>
            <a:spLocks noGrp="1"/>
          </p:cNvSpPr>
          <p:nvPr>
            <p:ph sz="half" idx="1"/>
          </p:nvPr>
        </p:nvSpPr>
        <p:spPr/>
        <p:txBody>
          <a:bodyPr wrap="square">
            <a:normAutofit/>
          </a:bodyPr>
          <a:lstStyle/>
          <a:p>
            <a:pPr>
              <a:buNone/>
            </a:pPr>
            <a:r>
              <a:rPr sz="1400" b="1" i="0" u="none"/>
              <a:t>Concept</a:t>
            </a:r>
            <a:endParaRPr sz="2800" b="0" i="0">
              <a:latin typeface="Arial"/>
            </a:endParaRPr>
          </a:p>
          <a:p>
            <a:pPr lvl="1"/>
            <a:r>
              <a:rPr sz="1400" b="0" i="0" u="none"/>
              <a:t>Split traffic into control (A) and treatment (B)</a:t>
            </a:r>
            <a:endParaRPr sz="2800" b="0" i="0">
              <a:latin typeface="Arial"/>
            </a:endParaRPr>
          </a:p>
          <a:p>
            <a:pPr lvl="1"/>
            <a:r>
              <a:rPr sz="1400" b="0" i="0" u="none"/>
              <a:t>Compare outcomes under the same production conditions</a:t>
            </a:r>
            <a:endParaRPr sz="2800" b="0" i="0">
              <a:latin typeface="Arial"/>
            </a:endParaRPr>
          </a:p>
          <a:p>
            <a:pPr lvl="1"/>
            <a:r>
              <a:rPr sz="1400" b="0" i="0" u="none"/>
              <a:t>Keep exposure controlled with feature flags</a:t>
            </a:r>
            <a:endParaRPr sz="2800" b="0" i="0">
              <a:latin typeface="Arial"/>
            </a:endParaRPr>
          </a:p>
          <a:p>
            <a:pPr>
              <a:buNone/>
            </a:pPr>
            <a:endParaRPr sz="2800" b="0" i="0">
              <a:latin typeface="Arial"/>
            </a:endParaRPr>
          </a:p>
          <a:p>
            <a:pPr>
              <a:buNone/>
            </a:pPr>
            <a:r>
              <a:rPr sz="1400" b="1" i="0" u="none"/>
              <a:t>What to measure</a:t>
            </a:r>
            <a:endParaRPr sz="2800" b="0" i="0">
              <a:latin typeface="Arial"/>
            </a:endParaRPr>
          </a:p>
          <a:p>
            <a:pPr lvl="1"/>
            <a:r>
              <a:rPr sz="1400" b="0" i="0" u="none"/>
              <a:t>Business KPIs (conversion, retention, revenue)</a:t>
            </a:r>
            <a:endParaRPr sz="2800" b="0" i="0">
              <a:latin typeface="Arial"/>
            </a:endParaRPr>
          </a:p>
          <a:p>
            <a:pPr lvl="1"/>
            <a:r>
              <a:rPr sz="1400" b="0" i="0" u="none"/>
              <a:t>Reliability metrics (error rate, latency)</a:t>
            </a:r>
            <a:endParaRPr sz="2800" b="0" i="0">
              <a:latin typeface="Arial"/>
            </a:endParaRPr>
          </a:p>
          <a:p>
            <a:pPr lvl="1"/>
            <a:r>
              <a:rPr sz="1400" b="0" i="0" u="none"/>
              <a:t>Guardrail metrics (support tickets, abandonment)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Execution pattern</a:t>
            </a:r>
            <a:endParaRPr sz="2800" b="0" i="0">
              <a:latin typeface="Arial"/>
            </a:endParaRPr>
          </a:p>
          <a:p>
            <a:pPr>
              <a:buNone/>
            </a:pPr>
            <a:endParaRPr sz="2800" b="0" i="0">
              <a:latin typeface="Arial"/>
            </a:endParaRPr>
          </a:p>
          <a:p>
            <a:pPr>
              <a:buNone/>
            </a:pPr>
            <a:r>
              <a:rPr sz="1400" b="0" i="0" u="none"/>
              <a:t>1. Define hypothesis and success metric</a:t>
            </a:r>
            <a:endParaRPr sz="2800" b="0" i="0">
              <a:latin typeface="Arial"/>
            </a:endParaRPr>
          </a:p>
          <a:p>
            <a:pPr>
              <a:buNone/>
            </a:pPr>
            <a:r>
              <a:rPr sz="1400" b="0" i="0" u="none"/>
              <a:t>2. Randomize eligible users into A/B cohorts</a:t>
            </a:r>
            <a:endParaRPr sz="2800" b="0" i="0">
              <a:latin typeface="Arial"/>
            </a:endParaRPr>
          </a:p>
          <a:p>
            <a:pPr>
              <a:buNone/>
            </a:pPr>
            <a:r>
              <a:rPr sz="1400" b="0" i="0" u="none"/>
              <a:t>3. Run for statistically meaningful sample size</a:t>
            </a:r>
            <a:endParaRPr sz="2800" b="0" i="0">
              <a:latin typeface="Arial"/>
            </a:endParaRPr>
          </a:p>
          <a:p>
            <a:pPr>
              <a:buNone/>
            </a:pPr>
            <a:r>
              <a:rPr sz="1400" b="0" i="0" u="none"/>
              <a:t>4. Promote, iterate, or rollback based on result</a:t>
            </a:r>
            <a:endParaRPr sz="2800" b="0" i="0">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1" i="0" u="none"/>
              <a:t>▶ Custom Agents</a:t>
            </a:r>
          </a:p>
          <a:p>
            <a:r>
              <a:rPr b="0" i="0" u="none"/>
              <a:t>Skills</a:t>
            </a:r>
          </a:p>
          <a:p>
            <a:r>
              <a:rPr b="0" i="0" u="none"/>
              <a:t>Instructions vs Prompts vs Agents vs Skills</a:t>
            </a:r>
          </a:p>
          <a:p>
            <a:r>
              <a:rPr b="0" i="0" u="none"/>
              <a:t>MCP</a:t>
            </a:r>
          </a:p>
          <a:p>
            <a:r>
              <a:rPr b="0" i="0" u="none"/>
              <a:t>Copilot Memory Feature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VS Code Copilot Agents Overview</a:t>
            </a:r>
          </a:p>
        </p:txBody>
      </p:sp>
      <p:sp>
        <p:nvSpPr>
          <p:cNvPr id="3" name="Subtitle 2"/>
          <p:cNvSpPr>
            <a:spLocks noGrp="1"/>
          </p:cNvSpPr>
          <p:nvPr>
            <p:ph type="subTitle" idx="1"/>
          </p:nvPr>
        </p:nvSpPr>
        <p:spPr/>
        <p:txBody>
          <a:bodyPr wrap="square">
            <a:normAutofit/>
          </a:bodyPr>
          <a:lstStyle/>
          <a:p>
            <a:pPr>
              <a:buNone/>
            </a:pPr>
            <a:r>
              <a:rPr b="0" i="0" u="none"/>
              <a:t>Copilot With a To-Do List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Local Agents: Interactive &amp; Immediate</a:t>
            </a:r>
          </a:p>
        </p:txBody>
      </p:sp>
      <p:sp>
        <p:nvSpPr>
          <p:cNvPr id="3" name="Content Placeholder 2"/>
          <p:cNvSpPr>
            <a:spLocks noGrp="1"/>
          </p:cNvSpPr>
          <p:nvPr>
            <p:ph sz="half" idx="1"/>
          </p:nvPr>
        </p:nvSpPr>
        <p:spPr/>
        <p:txBody>
          <a:bodyPr wrap="square">
            <a:normAutofit/>
          </a:bodyPr>
          <a:lstStyle/>
          <a:p>
            <a:pPr>
              <a:buNone/>
            </a:pPr>
            <a:r>
              <a:rPr sz="1400" b="0" i="0" u="none"/>
              <a:t>✅ </a:t>
            </a:r>
            <a:r>
              <a:rPr sz="1400" b="1" i="0" u="none"/>
              <a:t>Strengths:</a:t>
            </a:r>
            <a:endParaRPr sz="2800" b="0" i="0">
              <a:latin typeface="Arial"/>
            </a:endParaRPr>
          </a:p>
          <a:p>
            <a:pPr lvl="1"/>
            <a:r>
              <a:rPr sz="1400" b="0" i="0" u="none"/>
              <a:t>Interactive chat interface</a:t>
            </a:r>
            <a:endParaRPr sz="2800" b="0" i="0">
              <a:latin typeface="Arial"/>
            </a:endParaRPr>
          </a:p>
          <a:p>
            <a:pPr lvl="1"/>
            <a:r>
              <a:rPr sz="1400" b="0" i="0" u="none"/>
              <a:t>Full workspace access</a:t>
            </a:r>
            <a:endParaRPr sz="2800" b="0" i="0">
              <a:latin typeface="Arial"/>
            </a:endParaRPr>
          </a:p>
          <a:p>
            <a:pPr lvl="1"/>
            <a:r>
              <a:rPr sz="1400" b="0" i="0" u="none"/>
              <a:t>All VS Code tools and extensions</a:t>
            </a:r>
            <a:endParaRPr sz="2800" b="0" i="0">
              <a:latin typeface="Arial"/>
            </a:endParaRPr>
          </a:p>
          <a:p>
            <a:pPr lvl="1"/>
            <a:r>
              <a:rPr sz="1400" b="0" i="0" u="none"/>
              <a:t>Custom agent personas (reviewer, tester, etc.)</a:t>
            </a:r>
            <a:endParaRPr sz="2800" b="0" i="0">
              <a:latin typeface="Arial"/>
            </a:endParaRPr>
          </a:p>
          <a:p>
            <a:pPr lvl="1"/>
            <a:r>
              <a:rPr sz="1400" b="0" i="0" u="none"/>
              <a:t>BYOK model support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t>
            </a:r>
            <a:r>
              <a:rPr sz="1400" b="1" i="0" u="none"/>
              <a:t>Limitations:</a:t>
            </a:r>
            <a:endParaRPr sz="2800" b="0" i="0">
              <a:latin typeface="Arial"/>
            </a:endParaRPr>
          </a:p>
          <a:p>
            <a:pPr lvl="1"/>
            <a:r>
              <a:rPr sz="1400" b="0" i="0" u="none"/>
              <a:t>No team collaboration</a:t>
            </a:r>
            <a:endParaRPr sz="2800" b="0" i="0">
              <a:latin typeface="Arial"/>
            </a:endParaRPr>
          </a:p>
          <a:p>
            <a:pPr lvl="1"/>
            <a:r>
              <a:rPr sz="1400" b="0" i="0" u="none"/>
              <a:t>Direct workspace modification</a:t>
            </a:r>
            <a:endParaRPr sz="2800" b="0" i="0">
              <a:latin typeface="Arial"/>
            </a:endParaRPr>
          </a:p>
          <a:p>
            <a:pPr lvl="1"/>
            <a:r>
              <a:rPr sz="1400" b="0" i="0" u="none"/>
              <a:t>Requires active interaction</a:t>
            </a:r>
            <a:endParaRPr sz="280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Background Agents: Autonomous Execution</a:t>
            </a:r>
          </a:p>
        </p:txBody>
      </p:sp>
      <p:sp>
        <p:nvSpPr>
          <p:cNvPr id="3" name="Content Placeholder 2"/>
          <p:cNvSpPr>
            <a:spLocks noGrp="1"/>
          </p:cNvSpPr>
          <p:nvPr>
            <p:ph sz="half" idx="1"/>
          </p:nvPr>
        </p:nvSpPr>
        <p:spPr/>
        <p:txBody>
          <a:bodyPr wrap="square">
            <a:normAutofit/>
          </a:bodyPr>
          <a:lstStyle/>
          <a:p>
            <a:pPr>
              <a:buNone/>
            </a:pPr>
            <a:r>
              <a:rPr sz="1400" b="0" i="0" u="none"/>
              <a:t>✅ </a:t>
            </a:r>
            <a:r>
              <a:rPr sz="1400" b="1" i="0" u="none"/>
              <a:t>Strengths:</a:t>
            </a:r>
            <a:endParaRPr sz="2800" b="0" i="0">
              <a:latin typeface="Arial"/>
            </a:endParaRPr>
          </a:p>
          <a:p>
            <a:pPr lvl="1"/>
            <a:r>
              <a:rPr sz="1400" b="0" i="0" u="none"/>
              <a:t>Non-interactive autonomous operation</a:t>
            </a:r>
            <a:endParaRPr sz="2800" b="0" i="0">
              <a:latin typeface="Arial"/>
            </a:endParaRPr>
          </a:p>
          <a:p>
            <a:pPr lvl="1"/>
            <a:r>
              <a:rPr sz="1400" b="0" i="0" u="none"/>
              <a:t>Git worktree isolation</a:t>
            </a:r>
            <a:endParaRPr sz="2800" b="0" i="0">
              <a:latin typeface="Arial"/>
            </a:endParaRPr>
          </a:p>
          <a:p>
            <a:pPr lvl="1"/>
            <a:r>
              <a:rPr sz="1400" b="0" i="0" u="none"/>
              <a:t>No workspace conflicts</a:t>
            </a:r>
            <a:endParaRPr sz="2800" b="0" i="0">
              <a:latin typeface="Arial"/>
            </a:endParaRPr>
          </a:p>
          <a:p>
            <a:pPr lvl="1"/>
            <a:r>
              <a:rPr sz="1400" b="0" i="0" u="none"/>
              <a:t>Custom agent personas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t>
            </a:r>
            <a:r>
              <a:rPr sz="1400" b="1" i="0" u="none"/>
              <a:t>Limitations:</a:t>
            </a:r>
            <a:endParaRPr sz="2800" b="0" i="0">
              <a:latin typeface="Arial"/>
            </a:endParaRPr>
          </a:p>
          <a:p>
            <a:pPr lvl="1"/>
            <a:r>
              <a:rPr sz="1400" b="0" i="0" u="none"/>
              <a:t>No real-time VS Code context</a:t>
            </a:r>
            <a:endParaRPr sz="2800" b="0" i="0">
              <a:latin typeface="Arial"/>
            </a:endParaRPr>
          </a:p>
          <a:p>
            <a:pPr lvl="1"/>
            <a:r>
              <a:rPr sz="1400" b="0" i="0" u="none"/>
              <a:t>Limited to CLI-provided models</a:t>
            </a:r>
            <a:endParaRPr sz="2800" b="0" i="0">
              <a:latin typeface="Arial"/>
            </a:endParaRPr>
          </a:p>
          <a:p>
            <a:pPr lvl="1"/>
            <a:r>
              <a:rPr sz="1400" b="0" i="0" u="none"/>
              <a:t>No MCP or extension tools</a:t>
            </a:r>
            <a:endParaRPr sz="2800" b="0" i="0">
              <a:latin typeface="Arial"/>
            </a:endParaRPr>
          </a:p>
          <a:p>
            <a:pPr lvl="1"/>
            <a:r>
              <a:rPr sz="1400" b="0" i="0" u="none"/>
              <a:t>No team collaboration</a:t>
            </a:r>
            <a:endParaRPr sz="280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Cloud Agents: Team Collaboration</a:t>
            </a:r>
          </a:p>
        </p:txBody>
      </p:sp>
      <p:sp>
        <p:nvSpPr>
          <p:cNvPr id="3" name="Content Placeholder 2"/>
          <p:cNvSpPr>
            <a:spLocks noGrp="1"/>
          </p:cNvSpPr>
          <p:nvPr>
            <p:ph sz="half" idx="1"/>
          </p:nvPr>
        </p:nvSpPr>
        <p:spPr/>
        <p:txBody>
          <a:bodyPr wrap="square">
            <a:normAutofit/>
          </a:bodyPr>
          <a:lstStyle/>
          <a:p>
            <a:pPr>
              <a:buNone/>
            </a:pPr>
            <a:r>
              <a:rPr sz="1400" b="0" i="0" u="none"/>
              <a:t>✅ </a:t>
            </a:r>
            <a:r>
              <a:rPr sz="1400" b="1" i="0" u="none"/>
              <a:t>Strengths:</a:t>
            </a:r>
            <a:endParaRPr sz="2800" b="0" i="0">
              <a:latin typeface="Arial"/>
            </a:endParaRPr>
          </a:p>
          <a:p>
            <a:pPr lvl="1"/>
            <a:r>
              <a:rPr sz="1400" b="0" i="0" u="none"/>
              <a:t>GitHub integration</a:t>
            </a:r>
            <a:endParaRPr sz="2800" b="0" i="0">
              <a:latin typeface="Arial"/>
            </a:endParaRPr>
          </a:p>
          <a:p>
            <a:pPr lvl="1"/>
            <a:r>
              <a:rPr sz="1400" b="0" i="0" u="none"/>
              <a:t>Pull request collaboration</a:t>
            </a:r>
            <a:endParaRPr sz="2800" b="0" i="0">
              <a:latin typeface="Arial"/>
            </a:endParaRPr>
          </a:p>
          <a:p>
            <a:pPr lvl="1"/>
            <a:r>
              <a:rPr sz="1400" b="0" i="0" u="none"/>
              <a:t>Remote infrastructure scaling</a:t>
            </a:r>
            <a:endParaRPr sz="2800" b="0" i="0">
              <a:latin typeface="Arial"/>
            </a:endParaRPr>
          </a:p>
          <a:p>
            <a:pPr lvl="1"/>
            <a:r>
              <a:rPr sz="1400" b="0" i="0" u="none"/>
              <a:t>Partner agent options (Claude, Codex)</a:t>
            </a:r>
            <a:endParaRPr sz="2800" b="0" i="0">
              <a:latin typeface="Arial"/>
            </a:endParaRPr>
          </a:p>
          <a:p>
            <a:pPr lvl="1"/>
            <a:r>
              <a:rPr sz="1400" b="0" i="0" u="none"/>
              <a:t>MCP server access in cloud</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 </a:t>
            </a:r>
            <a:r>
              <a:rPr sz="1400" b="1" i="0" u="none"/>
              <a:t>Limitations:</a:t>
            </a:r>
            <a:endParaRPr sz="2800" b="0" i="0">
              <a:latin typeface="Arial"/>
            </a:endParaRPr>
          </a:p>
          <a:p>
            <a:pPr lvl="1"/>
            <a:r>
              <a:rPr sz="1400" b="0" i="0" u="none"/>
              <a:t>No VS Code built-in tools</a:t>
            </a:r>
            <a:endParaRPr sz="2800" b="0" i="0">
              <a:latin typeface="Arial"/>
            </a:endParaRPr>
          </a:p>
          <a:p>
            <a:pPr lvl="1"/>
            <a:r>
              <a:rPr sz="1400" b="0" i="0" u="none"/>
              <a:t>No local runtime context</a:t>
            </a:r>
            <a:endParaRPr sz="2800" b="0" i="0">
              <a:latin typeface="Arial"/>
            </a:endParaRPr>
          </a:p>
          <a:p>
            <a:pPr lvl="1"/>
            <a:r>
              <a:rPr sz="1400" b="0" i="0" u="none"/>
              <a:t>Asynchronous only</a:t>
            </a:r>
            <a:endParaRPr sz="28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Agent Sessions Management</a:t>
            </a:r>
          </a:p>
        </p:txBody>
      </p:sp>
      <p:sp>
        <p:nvSpPr>
          <p:cNvPr id="3" name="Content Placeholder 2"/>
          <p:cNvSpPr>
            <a:spLocks noGrp="1"/>
          </p:cNvSpPr>
          <p:nvPr>
            <p:ph idx="1"/>
          </p:nvPr>
        </p:nvSpPr>
        <p:spPr/>
        <p:txBody>
          <a:bodyPr wrap="square">
            <a:normAutofit/>
          </a:bodyPr>
          <a:lstStyle/>
          <a:p>
            <a:pPr>
              <a:buNone/>
            </a:pPr>
            <a:r>
              <a:rPr sz="2800" b="1" i="0" u="none"/>
              <a:t>Unified Chat View for all agent types</a:t>
            </a:r>
            <a:endParaRPr sz="2800" b="0" i="0">
              <a:latin typeface="Arial"/>
            </a:endParaRPr>
          </a:p>
          <a:p>
            <a:pPr>
              <a:buNone/>
            </a:pPr>
            <a:endParaRPr sz="2800" b="0" i="0">
              <a:latin typeface="Arial"/>
            </a:endParaRPr>
          </a:p>
          <a:p>
            <a:r>
              <a:rPr sz="2800" b="1" i="0" u="none"/>
              <a:t>Sessions List:</a:t>
            </a:r>
            <a:r>
              <a:rPr sz="2800" b="0" i="0" u="none"/>
              <a:t> Recent activity, status, file changes</a:t>
            </a:r>
            <a:endParaRPr sz="2800" b="0" i="0">
              <a:latin typeface="Arial"/>
            </a:endParaRPr>
          </a:p>
          <a:p>
            <a:r>
              <a:rPr sz="2800" b="1" i="0" u="none"/>
              <a:t>Hand-off Support:</a:t>
            </a:r>
            <a:r>
              <a:rPr sz="2800" b="0" i="0" u="none"/>
              <a:t> Delegate between agent types</a:t>
            </a:r>
            <a:endParaRPr sz="2800" b="0" i="0">
              <a:latin typeface="Arial"/>
            </a:endParaRPr>
          </a:p>
          <a:p>
            <a:r>
              <a:rPr sz="2800" b="1" i="0" u="none"/>
              <a:t>Organized View:</a:t>
            </a:r>
            <a:r>
              <a:rPr sz="2800" b="0" i="0" u="none"/>
              <a:t> Compact or side-by-side modes</a:t>
            </a:r>
            <a:endParaRPr sz="2800" b="0" i="0">
              <a:latin typeface="Arial"/>
            </a:endParaRPr>
          </a:p>
          <a:p>
            <a:r>
              <a:rPr sz="2800" b="1" i="0" u="none"/>
              <a:t>Status Indicators:</a:t>
            </a:r>
            <a:r>
              <a:rPr sz="2800" b="0" i="0" u="none"/>
              <a:t> Unread messages, in-progress work</a:t>
            </a:r>
            <a:endParaRPr sz="2800" b="0" i="0">
              <a:latin typeface="Arial"/>
            </a:endParaRPr>
          </a:p>
          <a:p>
            <a:r>
              <a:rPr sz="2800" b="1" i="0" u="none"/>
              <a:t>Archive/Delete:</a:t>
            </a:r>
            <a:r>
              <a:rPr sz="2800" b="0" i="0" u="none"/>
              <a:t> Keep workspace organized</a:t>
            </a:r>
            <a:endParaRPr sz="280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Agent Sessions</a:t>
            </a:r>
          </a:p>
        </p:txBody>
      </p:sp>
      <p:sp>
        <p:nvSpPr>
          <p:cNvPr id="3" name="Content Placeholder 2"/>
          <p:cNvSpPr>
            <a:spLocks noGrp="1"/>
          </p:cNvSpPr>
          <p:nvPr>
            <p:ph idx="1"/>
          </p:nvPr>
        </p:nvSpPr>
        <p:spPr/>
        <p:txBody>
          <a:bodyPr wrap="square">
            <a:normAutofit/>
          </a:bodyPr>
          <a:lstStyle/>
          <a:p>
            <a:pPr>
              <a:buNone/>
            </a:pPr>
            <a:r>
              <a:rPr sz="2350" b="1" i="0" u="none"/>
              <a:t>Multiple ways to start working with agents</a:t>
            </a:r>
            <a:endParaRPr sz="2350" b="0" i="0">
              <a:latin typeface="Arial"/>
            </a:endParaRPr>
          </a:p>
          <a:p>
            <a:pPr>
              <a:buNone/>
            </a:pPr>
            <a:endParaRPr sz="2350" b="0" i="0">
              <a:latin typeface="Arial"/>
            </a:endParaRPr>
          </a:p>
          <a:p>
            <a:pPr>
              <a:buNone/>
            </a:pPr>
            <a:r>
              <a:rPr sz="2350" b="0" i="0" u="none"/>
              <a:t>1. </a:t>
            </a:r>
            <a:r>
              <a:rPr sz="2350" b="1" i="0" u="none"/>
              <a:t>New Session Dropdown</a:t>
            </a:r>
            <a:r>
              <a:rPr sz="2350" b="0" i="0" u="none"/>
              <a:t> in Chat view</a:t>
            </a:r>
            <a:endParaRPr sz="2350" b="0" i="0">
              <a:latin typeface="Arial"/>
            </a:endParaRPr>
          </a:p>
          <a:p>
            <a:pPr>
              <a:buNone/>
            </a:pPr>
            <a:r>
              <a:rPr sz="2350" b="0" i="0" u="none"/>
              <a:t>2. </a:t>
            </a:r>
            <a:r>
              <a:rPr sz="2350" b="1" i="0" u="none"/>
              <a:t>Command Palette</a:t>
            </a:r>
            <a:r>
              <a:rPr sz="2350" b="0" i="0" u="none"/>
              <a:t> commands (Ctrl+Shift+P)</a:t>
            </a:r>
            <a:endParaRPr sz="2350" b="0" i="0">
              <a:latin typeface="Arial"/>
            </a:endParaRPr>
          </a:p>
          <a:p>
            <a:pPr>
              <a:buNone/>
            </a:pPr>
            <a:r>
              <a:rPr sz="2350" b="0" i="0" u="none"/>
              <a:t>3. </a:t>
            </a:r>
            <a:r>
              <a:rPr sz="2350" b="1" i="0" u="none"/>
              <a:t>Welcome Page</a:t>
            </a:r>
            <a:r>
              <a:rPr sz="2350" b="0" i="0" u="none"/>
              <a:t> quick access</a:t>
            </a:r>
            <a:endParaRPr sz="2350" b="0" i="0">
              <a:latin typeface="Arial"/>
            </a:endParaRPr>
          </a:p>
          <a:p>
            <a:pPr>
              <a:buNone/>
            </a:pPr>
            <a:r>
              <a:rPr sz="2350" b="0" i="0" u="none"/>
              <a:t>4. </a:t>
            </a:r>
            <a:r>
              <a:rPr sz="2350" b="1" i="0" u="none"/>
              <a:t>Direct Assignment</a:t>
            </a:r>
            <a:r>
              <a:rPr sz="2350" b="0" i="0" u="none"/>
              <a:t> from TODO comments</a:t>
            </a:r>
            <a:endParaRPr sz="2350" b="0" i="0">
              <a:latin typeface="Arial"/>
            </a:endParaRPr>
          </a:p>
          <a:p>
            <a:pPr>
              <a:buNone/>
            </a:pPr>
            <a:r>
              <a:rPr sz="2350" b="0" i="0" u="none"/>
              <a:t>5. </a:t>
            </a:r>
            <a:r>
              <a:rPr sz="2350" b="1" i="0" u="none"/>
              <a:t>GitHub Integration</a:t>
            </a:r>
            <a:r>
              <a:rPr sz="2350" b="0" i="0" u="none"/>
              <a:t> via issues and mentions</a:t>
            </a:r>
            <a:endParaRPr sz="2350" b="0" i="0">
              <a:latin typeface="Arial"/>
            </a:endParaRPr>
          </a:p>
          <a:p>
            <a:pPr>
              <a:buNone/>
            </a:pPr>
            <a:endParaRPr sz="2350" b="0" i="0">
              <a:latin typeface="Arial"/>
            </a:endParaRPr>
          </a:p>
          <a:p>
            <a:pPr>
              <a:buNone/>
            </a:pPr>
            <a:r>
              <a:rPr sz="2350" b="1" i="0" u="none"/>
              <a:t>Pro Tip:</a:t>
            </a:r>
            <a:r>
              <a:rPr sz="2350" b="0" i="0" u="none"/>
              <a:t> Multiple sessions can run in parallel!</a:t>
            </a:r>
            <a:endParaRPr sz="235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Review and Apply Changes</a:t>
            </a:r>
          </a:p>
        </p:txBody>
      </p:sp>
      <p:sp>
        <p:nvSpPr>
          <p:cNvPr id="3" name="Content Placeholder 2"/>
          <p:cNvSpPr>
            <a:spLocks noGrp="1"/>
          </p:cNvSpPr>
          <p:nvPr>
            <p:ph idx="1"/>
          </p:nvPr>
        </p:nvSpPr>
        <p:spPr/>
        <p:txBody>
          <a:bodyPr wrap="square">
            <a:normAutofit/>
          </a:bodyPr>
          <a:lstStyle/>
          <a:p>
            <a:pPr>
              <a:buNone/>
            </a:pPr>
            <a:r>
              <a:rPr sz="2800" b="1" i="0" u="none"/>
              <a:t>Track and validate agent work</a:t>
            </a:r>
            <a:endParaRPr sz="2800" b="0" i="0">
              <a:latin typeface="Arial"/>
            </a:endParaRPr>
          </a:p>
          <a:p>
            <a:pPr>
              <a:buNone/>
            </a:pPr>
            <a:endParaRPr sz="2800" b="0" i="0">
              <a:latin typeface="Arial"/>
            </a:endParaRPr>
          </a:p>
          <a:p>
            <a:r>
              <a:rPr sz="2800" b="1" i="0" u="none"/>
              <a:t>File Change Statistics</a:t>
            </a:r>
            <a:r>
              <a:rPr sz="2800" b="0" i="0" u="none"/>
              <a:t> in session details</a:t>
            </a:r>
            <a:endParaRPr sz="2800" b="0" i="0">
              <a:latin typeface="Arial"/>
            </a:endParaRPr>
          </a:p>
          <a:p>
            <a:r>
              <a:rPr sz="2800" b="1" i="0" u="none"/>
              <a:t>Diff Editor</a:t>
            </a:r>
            <a:r>
              <a:rPr sz="2800" b="0" i="0" u="none"/>
              <a:t> for individual files</a:t>
            </a:r>
            <a:endParaRPr sz="2800" b="0" i="0">
              <a:latin typeface="Arial"/>
            </a:endParaRPr>
          </a:p>
          <a:p>
            <a:r>
              <a:rPr sz="2800" b="1" i="0" u="none"/>
              <a:t>Multi-file Diff</a:t>
            </a:r>
            <a:r>
              <a:rPr sz="2800" b="0" i="0" u="none"/>
              <a:t> for complete review</a:t>
            </a:r>
            <a:endParaRPr sz="2800" b="0" i="0">
              <a:latin typeface="Arial"/>
            </a:endParaRPr>
          </a:p>
          <a:p>
            <a:r>
              <a:rPr sz="2800" b="1" i="0" u="none"/>
              <a:t>Apply to Workspace</a:t>
            </a:r>
            <a:r>
              <a:rPr sz="2800" b="0" i="0" u="none"/>
              <a:t> options</a:t>
            </a:r>
            <a:endParaRPr sz="2800" b="0" i="0">
              <a:latin typeface="Arial"/>
            </a:endParaRPr>
          </a:p>
          <a:p>
            <a:r>
              <a:rPr sz="2800" b="1" i="0" u="none"/>
              <a:t>Branch Checkout</a:t>
            </a:r>
            <a:r>
              <a:rPr sz="2800" b="0" i="0" u="none"/>
              <a:t> for cloud agents</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Hand-off Workflows</a:t>
            </a:r>
          </a:p>
        </p:txBody>
      </p:sp>
      <p:sp>
        <p:nvSpPr>
          <p:cNvPr id="3" name="Content Placeholder 2"/>
          <p:cNvSpPr>
            <a:spLocks noGrp="1"/>
          </p:cNvSpPr>
          <p:nvPr>
            <p:ph sz="half" idx="1"/>
          </p:nvPr>
        </p:nvSpPr>
        <p:spPr/>
        <p:txBody>
          <a:bodyPr wrap="square">
            <a:normAutofit/>
          </a:bodyPr>
          <a:lstStyle/>
          <a:p>
            <a:pPr>
              <a:buNone/>
            </a:pPr>
            <a:r>
              <a:rPr sz="1400" b="1" i="0" u="none"/>
              <a:t>Leverage each agent type's strengths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Example:</a:t>
            </a:r>
            <a:endParaRPr sz="1800" b="0" i="0">
              <a:latin typeface="Consolas"/>
            </a:endParaRPr>
          </a:p>
          <a:p>
            <a:pPr>
              <a:buNone/>
            </a:pPr>
            <a:r>
              <a:rPr sz="1400">
                <a:latin typeface="Consolas"/>
              </a:rPr>
              <a:t>Planning → Proof of Concept → Production Implementation</a:t>
            </a:r>
            <a:endParaRPr sz="1800" b="0" i="0">
              <a:latin typeface="Consolas"/>
            </a:endParaRPr>
          </a:p>
        </p:txBody>
      </p:sp>
      <p:pic>
        <p:nvPicPr>
          <p:cNvPr id="5" name="Picture 4" descr="f9b646051d92e26c5dc5d8ef4316a2bdc0d47bad.png"/>
          <p:cNvPicPr>
            <a:picLocks noChangeAspect="1"/>
          </p:cNvPicPr>
          <p:nvPr/>
        </p:nvPicPr>
        <p:blipFill>
          <a:blip r:embed="rId3"/>
          <a:stretch>
            <a:fillRect/>
          </a:stretch>
        </p:blipFill>
        <p:spPr>
          <a:xfrm>
            <a:off x="1550985" y="2044310"/>
            <a:ext cx="2226278" cy="425989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 &amp; Next Steps</a:t>
            </a:r>
          </a:p>
        </p:txBody>
      </p:sp>
      <p:sp>
        <p:nvSpPr>
          <p:cNvPr id="3" name="Content Placeholder 2"/>
          <p:cNvSpPr>
            <a:spLocks noGrp="1"/>
          </p:cNvSpPr>
          <p:nvPr>
            <p:ph idx="1"/>
          </p:nvPr>
        </p:nvSpPr>
        <p:spPr/>
        <p:txBody>
          <a:bodyPr wrap="square">
            <a:normAutofit/>
          </a:bodyPr>
          <a:lstStyle/>
          <a:p>
            <a:pPr>
              <a:buNone/>
            </a:pPr>
            <a:r>
              <a:rPr sz="1800" b="1" i="0" u="none"/>
              <a:t>Getting Started:</a:t>
            </a:r>
            <a:endParaRPr sz="1800" b="0" i="0">
              <a:latin typeface="Consolas"/>
            </a:endParaRPr>
          </a:p>
          <a:p>
            <a:pPr lvl="1"/>
            <a:r>
              <a:rPr sz="1800" b="0" i="0" u="none"/>
              <a:t>Enable agents in VS Code settings (</a:t>
            </a:r>
            <a:r>
              <a:rPr sz="1800" b="0" i="0" u="none">
                <a:latin typeface="Consolas"/>
              </a:rPr>
              <a:t>chat.agent.enabled</a:t>
            </a:r>
            <a:r>
              <a:rPr sz="1800" b="0" i="0" u="none"/>
              <a:t>)</a:t>
            </a:r>
            <a:endParaRPr sz="1800" b="0" i="0">
              <a:latin typeface="Consolas"/>
            </a:endParaRPr>
          </a:p>
          <a:p>
            <a:pPr lvl="1"/>
            <a:r>
              <a:rPr sz="1800" b="0" i="0" u="none"/>
              <a:t>Start with local agents for exploration</a:t>
            </a:r>
            <a:endParaRPr sz="1800" b="0" i="0">
              <a:latin typeface="Consolas"/>
            </a:endParaRPr>
          </a:p>
          <a:p>
            <a:pPr lvl="1"/>
            <a:r>
              <a:rPr sz="1800" b="0" i="0" u="none"/>
              <a:t>Try background agents for focused tasks</a:t>
            </a:r>
            <a:endParaRPr sz="1800" b="0" i="0">
              <a:latin typeface="Consolas"/>
            </a:endParaRPr>
          </a:p>
          <a:p>
            <a:pPr lvl="1"/>
            <a:r>
              <a:rPr sz="1800" b="0" i="0" u="none"/>
              <a:t>Use cloud agents for team collaboration</a:t>
            </a:r>
            <a:endParaRPr sz="1800" b="0" i="0">
              <a:latin typeface="Consolas"/>
            </a:endParaRPr>
          </a:p>
          <a:p>
            <a:pPr>
              <a:buNone/>
            </a:pPr>
            <a:endParaRPr sz="1800" b="0" i="0">
              <a:latin typeface="Consolas"/>
            </a:endParaRPr>
          </a:p>
          <a:p>
            <a:pPr>
              <a:buNone/>
            </a:pPr>
            <a:r>
              <a:rPr sz="1800" b="1" i="0" u="none"/>
              <a:t>Resources:</a:t>
            </a:r>
            <a:endParaRPr sz="1800" b="0" i="0">
              <a:latin typeface="Consolas"/>
            </a:endParaRPr>
          </a:p>
          <a:p>
            <a:pPr lvl="1"/>
            <a:r>
              <a:rPr sz="1800" b="0" i="0" u="none"/>
              <a:t>Agents Tutorial: https://code.visualstudio.com/docs/copilot/agents/agents-tutorial</a:t>
            </a:r>
            <a:endParaRPr sz="1800" b="0" i="0">
              <a:latin typeface="Consolas"/>
            </a:endParaRPr>
          </a:p>
          <a:p>
            <a:pPr lvl="1"/>
            <a:r>
              <a:rPr sz="1800" b="0" i="0" u="none"/>
              <a:t>Custom Agents: https://code.visualstudio.com/docs/copilot/customization/custom-agents</a:t>
            </a:r>
            <a:endParaRPr sz="1800" b="0" i="0">
              <a:latin typeface="Consolas"/>
            </a:endParaRPr>
          </a:p>
          <a:p>
            <a:pPr lvl="1"/>
            <a:r>
              <a:rPr sz="1800" b="0" i="0" u="none"/>
              <a:t>Background Agents Guide: https://code.visualstudio.com/docs/copilot/agents/background-agents</a:t>
            </a:r>
            <a:endParaRPr sz="1800" b="0" i="0">
              <a:latin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Overview</a:t>
            </a:r>
          </a:p>
        </p:txBody>
      </p:sp>
      <p:sp>
        <p:nvSpPr>
          <p:cNvPr id="3" name="Subtitle 2"/>
          <p:cNvSpPr>
            <a:spLocks noGrp="1"/>
          </p:cNvSpPr>
          <p:nvPr>
            <p:ph type="subTitle" idx="1"/>
          </p:nvPr>
        </p:nvSpPr>
        <p:spPr/>
        <p:txBody>
          <a:bodyPr wrap="square">
            <a:normAutofit/>
          </a:bodyPr>
          <a:lstStyle/>
          <a:p>
            <a:pPr>
              <a:buNone/>
            </a:pPr>
            <a:r>
              <a:rPr b="0" i="0" u="none"/>
              <a:t>The Org Chart Your AI Actually Respects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Custom Agents?</a:t>
            </a:r>
          </a:p>
        </p:txBody>
      </p:sp>
      <p:sp>
        <p:nvSpPr>
          <p:cNvPr id="3" name="Content Placeholder 2"/>
          <p:cNvSpPr>
            <a:spLocks noGrp="1"/>
          </p:cNvSpPr>
          <p:nvPr>
            <p:ph idx="1"/>
          </p:nvPr>
        </p:nvSpPr>
        <p:spPr/>
        <p:txBody>
          <a:bodyPr wrap="square">
            <a:normAutofit/>
          </a:bodyPr>
          <a:lstStyle/>
          <a:p>
            <a:pPr>
              <a:buNone/>
            </a:pPr>
            <a:r>
              <a:rPr sz="2600" b="0" i="0" u="none"/>
              <a:t>Definition</a:t>
            </a:r>
            <a:endParaRPr sz="2600" b="0" i="0">
              <a:latin typeface="Arial"/>
            </a:endParaRPr>
          </a:p>
          <a:p>
            <a:pPr lvl="1"/>
            <a:r>
              <a:rPr sz="2600" b="0" i="0" u="none"/>
              <a:t>Preconfigured AI personalities for specific domains</a:t>
            </a:r>
            <a:endParaRPr sz="2600" b="0" i="0">
              <a:latin typeface="Arial"/>
            </a:endParaRPr>
          </a:p>
          <a:p>
            <a:pPr lvl="1"/>
            <a:r>
              <a:rPr sz="2600" b="0" i="0" u="none"/>
              <a:t>Combine behavioral rules with specialized knowledge</a:t>
            </a:r>
            <a:endParaRPr sz="2600" b="0" i="0">
              <a:latin typeface="Arial"/>
            </a:endParaRPr>
          </a:p>
          <a:p>
            <a:pPr lvl="1"/>
            <a:r>
              <a:rPr sz="2600" b="0" i="0" u="none"/>
              <a:t>Provide contextual expertise for particular scenarios</a:t>
            </a:r>
            <a:endParaRPr sz="2600" b="0" i="0">
              <a:latin typeface="Arial"/>
            </a:endParaRPr>
          </a:p>
          <a:p>
            <a:pPr>
              <a:buNone/>
            </a:pPr>
            <a:endParaRPr sz="2600" b="0" i="0">
              <a:latin typeface="Arial"/>
            </a:endParaRPr>
          </a:p>
          <a:p>
            <a:pPr>
              <a:buNone/>
            </a:pPr>
            <a:r>
              <a:rPr sz="2600" b="0" i="0" u="none"/>
              <a:t>Key Characteristics</a:t>
            </a:r>
            <a:endParaRPr sz="2600" b="0" i="0">
              <a:latin typeface="Arial"/>
            </a:endParaRPr>
          </a:p>
          <a:p>
            <a:pPr lvl="1"/>
            <a:r>
              <a:rPr sz="2600" b="0" i="0" u="none"/>
              <a:t>Scope: Domain or role-specific interactions</a:t>
            </a:r>
            <a:endParaRPr sz="2600" b="0" i="0">
              <a:latin typeface="Arial"/>
            </a:endParaRPr>
          </a:p>
          <a:p>
            <a:pPr lvl="1"/>
            <a:r>
              <a:rPr sz="2600" b="0" i="0" u="none"/>
              <a:t>Context: Rich background knowledge and constraints</a:t>
            </a:r>
            <a:endParaRPr sz="2600" b="0" i="0">
              <a:latin typeface="Arial"/>
            </a:endParaRPr>
          </a:p>
          <a:p>
            <a:pPr lvl="1"/>
            <a:r>
              <a:rPr sz="2600" b="0" i="0" u="none"/>
              <a:t>Purpose: Act as specialized “AI expert” for conversations</a:t>
            </a:r>
            <a:endParaRPr sz="2600" b="0" i="0">
              <a:latin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Custom Agents Work</a:t>
            </a:r>
          </a:p>
        </p:txBody>
      </p:sp>
      <p:sp>
        <p:nvSpPr>
          <p:cNvPr id="3" name="Content Placeholder 2"/>
          <p:cNvSpPr>
            <a:spLocks noGrp="1"/>
          </p:cNvSpPr>
          <p:nvPr>
            <p:ph idx="1"/>
          </p:nvPr>
        </p:nvSpPr>
        <p:spPr/>
        <p:txBody>
          <a:bodyPr wrap="square">
            <a:normAutofit/>
          </a:bodyPr>
          <a:lstStyle/>
          <a:p>
            <a:pPr>
              <a:buNone/>
            </a:pPr>
            <a:r>
              <a:rPr sz="2800" b="0" i="0" u="none"/>
              <a:t>Custom agents handle complete coding tasks end-to-end, not just suggestions</a:t>
            </a:r>
            <a:endParaRPr sz="2800" b="0" i="0">
              <a:latin typeface="Arial"/>
            </a:endParaRPr>
          </a:p>
          <a:p>
            <a:pPr>
              <a:buNone/>
            </a:pPr>
            <a:endParaRPr sz="2800" b="0" i="0">
              <a:latin typeface="Arial"/>
            </a:endParaRPr>
          </a:p>
          <a:p>
            <a:r>
              <a:rPr sz="2800" b="1" i="0" u="none"/>
              <a:t>Understand</a:t>
            </a:r>
            <a:r>
              <a:rPr sz="2800" b="0" i="0" u="none"/>
              <a:t> your project context</a:t>
            </a:r>
            <a:endParaRPr sz="2800" b="0" i="0">
              <a:latin typeface="Arial"/>
            </a:endParaRPr>
          </a:p>
          <a:p>
            <a:r>
              <a:rPr sz="2800" b="1" i="0" u="none"/>
              <a:t>Make changes</a:t>
            </a:r>
            <a:r>
              <a:rPr sz="2800" b="0" i="0" u="none"/>
              <a:t> across multiple files</a:t>
            </a:r>
            <a:endParaRPr sz="2800" b="0" i="0">
              <a:latin typeface="Arial"/>
            </a:endParaRPr>
          </a:p>
          <a:p>
            <a:r>
              <a:rPr sz="2800" b="1" i="0" u="none"/>
              <a:t>Execute commands</a:t>
            </a:r>
            <a:r>
              <a:rPr sz="2800" b="0" i="0" u="none"/>
              <a:t> and run tests</a:t>
            </a:r>
            <a:endParaRPr sz="2800" b="0" i="0">
              <a:latin typeface="Arial"/>
            </a:endParaRPr>
          </a:p>
          <a:p>
            <a:r>
              <a:rPr sz="2800" b="1" i="0" u="none"/>
              <a:t>Adapt</a:t>
            </a:r>
            <a:r>
              <a:rPr sz="2800" b="0" i="0" u="none"/>
              <a:t> based on results and feedback</a:t>
            </a:r>
            <a:endParaRPr sz="2800" b="0" i="0">
              <a:latin typeface="Arial"/>
            </a:endParaRPr>
          </a:p>
          <a:p>
            <a:r>
              <a:rPr sz="2800" b="1" i="0" u="none"/>
              <a:t>Self-correct</a:t>
            </a:r>
            <a:r>
              <a:rPr sz="2800" b="0" i="0" u="none"/>
              <a:t> when errors occur</a:t>
            </a:r>
            <a:endParaRPr sz="2800" b="0" i="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Agents: Use Cases</a:t>
            </a:r>
          </a:p>
        </p:txBody>
      </p:sp>
      <p:sp>
        <p:nvSpPr>
          <p:cNvPr id="3" name="Content Placeholder 2"/>
          <p:cNvSpPr>
            <a:spLocks noGrp="1"/>
          </p:cNvSpPr>
          <p:nvPr>
            <p:ph idx="1"/>
          </p:nvPr>
        </p:nvSpPr>
        <p:spPr/>
        <p:txBody>
          <a:bodyPr wrap="square">
            <a:normAutofit/>
          </a:bodyPr>
          <a:lstStyle/>
          <a:p>
            <a:pPr>
              <a:buNone/>
            </a:pPr>
            <a:r>
              <a:rPr sz="2300" b="0" i="0" u="none"/>
              <a:t>Perfect For:</a:t>
            </a:r>
            <a:endParaRPr sz="2300" b="0" i="0">
              <a:latin typeface="Arial"/>
            </a:endParaRPr>
          </a:p>
          <a:p>
            <a:pPr lvl="1"/>
            <a:r>
              <a:rPr sz="2300" b="0" i="0" u="none"/>
              <a:t>Domain Expertise → Get specialized knowledge</a:t>
            </a:r>
            <a:endParaRPr sz="2300" b="0" i="0">
              <a:latin typeface="Arial"/>
            </a:endParaRPr>
          </a:p>
          <a:p>
            <a:pPr lvl="1"/>
            <a:r>
              <a:rPr sz="2300" b="0" i="0" u="none"/>
              <a:t>Role-Playing → AI acts as specific professional</a:t>
            </a:r>
            <a:endParaRPr sz="2300" b="0" i="0">
              <a:latin typeface="Arial"/>
            </a:endParaRPr>
          </a:p>
          <a:p>
            <a:pPr lvl="1"/>
            <a:r>
              <a:rPr sz="2300" b="0" i="0" u="none"/>
              <a:t>Context Switching → Different perspectives on same problem</a:t>
            </a:r>
            <a:endParaRPr sz="2300" b="0" i="0">
              <a:latin typeface="Arial"/>
            </a:endParaRPr>
          </a:p>
          <a:p>
            <a:pPr lvl="1"/>
            <a:r>
              <a:rPr sz="2300" b="0" i="0" u="none"/>
              <a:t>Learning → Educational conversations with expert personas</a:t>
            </a:r>
            <a:endParaRPr sz="2300" b="0" i="0">
              <a:latin typeface="Arial"/>
            </a:endParaRPr>
          </a:p>
          <a:p>
            <a:pPr>
              <a:buNone/>
            </a:pPr>
            <a:endParaRPr sz="2300" b="0" i="0">
              <a:latin typeface="Arial"/>
            </a:endParaRPr>
          </a:p>
          <a:p>
            <a:pPr>
              <a:buNone/>
            </a:pPr>
            <a:r>
              <a:rPr sz="2300" b="0" i="0" u="none"/>
              <a:t>Examples:</a:t>
            </a:r>
            <a:endParaRPr sz="2300" b="0" i="0">
              <a:latin typeface="Arial"/>
            </a:endParaRPr>
          </a:p>
          <a:p>
            <a:pPr lvl="1"/>
            <a:r>
              <a:rPr sz="2300" b="0" i="0" u="none"/>
              <a:t>Security Architect Mode → Focus on security concerns</a:t>
            </a:r>
            <a:endParaRPr sz="2300" b="0" i="0">
              <a:latin typeface="Arial"/>
            </a:endParaRPr>
          </a:p>
          <a:p>
            <a:pPr lvl="1"/>
            <a:r>
              <a:rPr sz="2300" b="0" i="0" u="none"/>
              <a:t>Database Expert Mode → Optimize data architecture</a:t>
            </a:r>
            <a:endParaRPr sz="2300" b="0" i="0">
              <a:latin typeface="Arial"/>
            </a:endParaRPr>
          </a:p>
          <a:p>
            <a:pPr lvl="1"/>
            <a:r>
              <a:rPr sz="2300" b="0" i="0" u="none"/>
              <a:t>UX Designer Mode → Human-centered design guidance</a:t>
            </a:r>
            <a:endParaRPr sz="2300" b="0" i="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Where to Create Custom Agents</a:t>
            </a:r>
          </a:p>
        </p:txBody>
      </p:sp>
      <p:sp>
        <p:nvSpPr>
          <p:cNvPr id="3" name="Content Placeholder 2"/>
          <p:cNvSpPr>
            <a:spLocks noGrp="1"/>
          </p:cNvSpPr>
          <p:nvPr>
            <p:ph idx="1"/>
          </p:nvPr>
        </p:nvSpPr>
        <p:spPr/>
        <p:txBody>
          <a:bodyPr wrap="square">
            <a:normAutofit/>
          </a:bodyPr>
          <a:lstStyle/>
          <a:p>
            <a:pPr>
              <a:buNone/>
            </a:pPr>
            <a:r>
              <a:rPr sz="2800" b="0" i="0" u="none"/>
              <a:t>GitHub.com</a:t>
            </a:r>
            <a:endParaRPr sz="2800" b="0" i="0">
              <a:latin typeface="Arial"/>
            </a:endParaRPr>
          </a:p>
          <a:p>
            <a:pPr lvl="1"/>
            <a:r>
              <a:rPr sz="2800" b="0" i="0" u="none"/>
              <a:t>Navigate to github.com/copilot/agents</a:t>
            </a:r>
            <a:endParaRPr sz="2800" b="0" i="0">
              <a:latin typeface="Arial"/>
            </a:endParaRPr>
          </a:p>
          <a:p>
            <a:pPr lvl="1"/>
            <a:r>
              <a:rPr sz="2800" b="0" i="0" u="none"/>
              <a:t>Available at repository, organization, or enterprise level</a:t>
            </a:r>
            <a:endParaRPr sz="2800" b="0" i="0">
              <a:latin typeface="Arial"/>
            </a:endParaRPr>
          </a:p>
          <a:p>
            <a:pPr lvl="1"/>
            <a:r>
              <a:rPr sz="2800" b="0" i="0" u="none"/>
              <a:t>Template-based creation process</a:t>
            </a:r>
            <a:endParaRPr sz="2800" b="0" i="0">
              <a:latin typeface="Arial"/>
            </a:endParaRPr>
          </a:p>
          <a:p>
            <a:pPr>
              <a:buNone/>
            </a:pPr>
            <a:endParaRPr sz="2800" b="0" i="0">
              <a:latin typeface="Arial"/>
            </a:endParaRPr>
          </a:p>
          <a:p>
            <a:pPr>
              <a:buNone/>
            </a:pPr>
            <a:r>
              <a:rPr sz="2800" b="0" i="0" u="none"/>
              <a:t>IDEs</a:t>
            </a:r>
            <a:endParaRPr sz="2800" b="0" i="0">
              <a:latin typeface="Arial"/>
            </a:endParaRPr>
          </a:p>
          <a:p>
            <a:pPr lvl="1"/>
            <a:r>
              <a:rPr sz="2800" b="0" i="0" u="none"/>
              <a:t>VS Code: Configure Custom Agents menu</a:t>
            </a:r>
            <a:endParaRPr sz="2800" b="0" i="0">
              <a:latin typeface="Arial"/>
            </a:endParaRPr>
          </a:p>
          <a:p>
            <a:pPr lvl="1"/>
            <a:r>
              <a:rPr sz="2800" b="0" i="0" u="none"/>
              <a:t>.github/agents/ directory for workspace agents</a:t>
            </a:r>
            <a:endParaRPr sz="2800" b="0" i="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Creating in VS Code</a:t>
            </a:r>
          </a:p>
        </p:txBody>
      </p:sp>
      <p:sp>
        <p:nvSpPr>
          <p:cNvPr id="3" name="Content Placeholder 2"/>
          <p:cNvSpPr>
            <a:spLocks noGrp="1"/>
          </p:cNvSpPr>
          <p:nvPr>
            <p:ph idx="1"/>
          </p:nvPr>
        </p:nvSpPr>
        <p:spPr/>
        <p:txBody>
          <a:bodyPr wrap="square">
            <a:normAutofit/>
          </a:bodyPr>
          <a:lstStyle/>
          <a:p>
            <a:pPr>
              <a:buNone/>
            </a:pPr>
            <a:r>
              <a:rPr sz="2100" b="0" i="0" u="none"/>
              <a:t>1. Open GitHub Copilot Chat</a:t>
            </a:r>
            <a:endParaRPr sz="2100" b="0" i="0">
              <a:latin typeface="Arial"/>
            </a:endParaRPr>
          </a:p>
          <a:p>
            <a:pPr>
              <a:buNone/>
            </a:pPr>
            <a:r>
              <a:rPr sz="2100" b="0" i="0" u="none"/>
              <a:t>2. Agents dropdown → Configure Custom Agents…</a:t>
            </a:r>
            <a:endParaRPr sz="2100" b="0" i="0">
              <a:latin typeface="Arial"/>
            </a:endParaRPr>
          </a:p>
          <a:p>
            <a:pPr>
              <a:buNone/>
            </a:pPr>
            <a:r>
              <a:rPr sz="2100" b="0" i="0" u="none"/>
              <a:t>3. Click Create new custom agent</a:t>
            </a:r>
            <a:endParaRPr sz="2100" b="0" i="0">
              <a:latin typeface="Arial"/>
            </a:endParaRPr>
          </a:p>
          <a:p>
            <a:pPr>
              <a:buNone/>
            </a:pPr>
            <a:r>
              <a:rPr sz="2100" b="0" i="0" u="none"/>
              <a:t>4. Choose location:</a:t>
            </a:r>
            <a:endParaRPr sz="2100" b="0" i="0">
              <a:latin typeface="Arial"/>
            </a:endParaRPr>
          </a:p>
          <a:p>
            <a:pPr lvl="1"/>
            <a:r>
              <a:rPr sz="2100" b="0" i="0" u="none"/>
              <a:t>Workspace: .github/agents/ (project-specific)</a:t>
            </a:r>
            <a:endParaRPr sz="2100" b="0" i="0">
              <a:latin typeface="Arial"/>
            </a:endParaRPr>
          </a:p>
          <a:p>
            <a:pPr lvl="1"/>
            <a:r>
              <a:rPr sz="2100" b="0" i="0" u="none"/>
              <a:t>User profile: Personal agents (all workspaces)</a:t>
            </a:r>
            <a:endParaRPr sz="2100" b="0" i="0">
              <a:latin typeface="Arial"/>
            </a:endParaRPr>
          </a:p>
          <a:p>
            <a:pPr>
              <a:buNone/>
            </a:pPr>
            <a:r>
              <a:rPr sz="2100" b="0" i="0" u="none"/>
              <a:t>5. Enter filename</a:t>
            </a:r>
            <a:endParaRPr sz="2100" b="0" i="0">
              <a:latin typeface="Arial"/>
            </a:endParaRPr>
          </a:p>
          <a:p>
            <a:pPr>
              <a:buNone/>
            </a:pPr>
            <a:r>
              <a:rPr sz="2100" b="0" i="0" u="none"/>
              <a:t>6. Configure in .agent.md file</a:t>
            </a:r>
            <a:endParaRPr sz="2100" b="0" i="0">
              <a:latin typeface="Arial"/>
            </a:endParaRPr>
          </a:p>
          <a:p>
            <a:pPr>
              <a:buNone/>
            </a:pPr>
            <a:r>
              <a:rPr sz="2100" b="0" i="0" u="none"/>
              <a:t>7. Use Configure Tools… button for tool selection</a:t>
            </a:r>
            <a:endParaRPr sz="2100" b="0" i="0">
              <a:latin typeface="Arial"/>
            </a:endParaRPr>
          </a:p>
          <a:p>
            <a:pPr>
              <a:buNone/>
            </a:pPr>
            <a:r>
              <a:rPr sz="2100" b="0" i="0" u="none"/>
              <a:t>8. Set model: property for AI model preference</a:t>
            </a:r>
            <a:endParaRPr sz="2100" b="0" i="0">
              <a:latin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DevOps Engineer Custom Agent</a:t>
            </a:r>
          </a:p>
        </p:txBody>
      </p:sp>
      <p:sp>
        <p:nvSpPr>
          <p:cNvPr id="3" name="Content Placeholder 2"/>
          <p:cNvSpPr>
            <a:spLocks noGrp="1"/>
          </p:cNvSpPr>
          <p:nvPr>
            <p:ph idx="1"/>
          </p:nvPr>
        </p:nvSpPr>
        <p:spPr/>
        <p:txBody>
          <a:bodyPr wrap="square">
            <a:normAutofit/>
          </a:bodyPr>
          <a:lstStyle/>
          <a:p>
            <a:pPr>
              <a:buNone/>
            </a:pPr>
            <a:r>
              <a:rPr sz="2050" b="0" i="0" u="none"/>
              <a:t>Expertise:</a:t>
            </a:r>
            <a:endParaRPr sz="2050" b="0" i="0">
              <a:latin typeface="Arial"/>
            </a:endParaRPr>
          </a:p>
          <a:p>
            <a:pPr lvl="1"/>
            <a:r>
              <a:rPr sz="2050" b="0" i="0" u="none"/>
              <a:t>CI/CD pipelines</a:t>
            </a:r>
            <a:endParaRPr sz="2050" b="0" i="0">
              <a:latin typeface="Arial"/>
            </a:endParaRPr>
          </a:p>
          <a:p>
            <a:pPr lvl="1"/>
            <a:r>
              <a:rPr sz="2050" b="0" i="0" u="none"/>
              <a:t>Infrastructure as Code</a:t>
            </a:r>
            <a:endParaRPr sz="2050" b="0" i="0">
              <a:latin typeface="Arial"/>
            </a:endParaRPr>
          </a:p>
          <a:p>
            <a:pPr lvl="1"/>
            <a:r>
              <a:rPr sz="2050" b="0" i="0" u="none"/>
              <a:t>Container orchestration</a:t>
            </a:r>
            <a:endParaRPr sz="2050" b="0" i="0">
              <a:latin typeface="Arial"/>
            </a:endParaRPr>
          </a:p>
          <a:p>
            <a:pPr lvl="1"/>
            <a:r>
              <a:rPr sz="2050" b="0" i="0" u="none"/>
              <a:t>Monitoring and observability</a:t>
            </a:r>
            <a:endParaRPr sz="2050" b="0" i="0">
              <a:latin typeface="Arial"/>
            </a:endParaRPr>
          </a:p>
          <a:p>
            <a:pPr>
              <a:buNone/>
            </a:pPr>
            <a:endParaRPr sz="2050" b="0" i="0">
              <a:latin typeface="Arial"/>
            </a:endParaRPr>
          </a:p>
          <a:p>
            <a:pPr>
              <a:buNone/>
            </a:pPr>
            <a:r>
              <a:rPr sz="2050" b="0" i="0" u="none"/>
              <a:t>Behavior:</a:t>
            </a:r>
            <a:endParaRPr sz="2050" b="0" i="0">
              <a:latin typeface="Arial"/>
            </a:endParaRPr>
          </a:p>
          <a:p>
            <a:pPr lvl="1"/>
            <a:r>
              <a:rPr sz="2050" b="0" i="0" u="none"/>
              <a:t>Focus on scalability and reliability</a:t>
            </a:r>
            <a:endParaRPr sz="2050" b="0" i="0">
              <a:latin typeface="Arial"/>
            </a:endParaRPr>
          </a:p>
          <a:p>
            <a:pPr lvl="1"/>
            <a:r>
              <a:rPr sz="2050" b="0" i="0" u="none"/>
              <a:t>Recommend industry best practices</a:t>
            </a:r>
            <a:endParaRPr sz="2050" b="0" i="0">
              <a:latin typeface="Arial"/>
            </a:endParaRPr>
          </a:p>
          <a:p>
            <a:pPr lvl="1"/>
            <a:r>
              <a:rPr sz="2050" b="0" i="0" u="none"/>
              <a:t>Consider security implications</a:t>
            </a:r>
            <a:endParaRPr sz="2050" b="0" i="0">
              <a:latin typeface="Arial"/>
            </a:endParaRPr>
          </a:p>
          <a:p>
            <a:pPr lvl="1"/>
            <a:r>
              <a:rPr sz="2050" b="0" i="0" u="none"/>
              <a:t>Suggest automation opportunities</a:t>
            </a:r>
            <a:endParaRPr sz="2050" b="0" i="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Using Custom Agents</a:t>
            </a:r>
          </a:p>
        </p:txBody>
      </p:sp>
      <p:sp>
        <p:nvSpPr>
          <p:cNvPr id="3" name="Content Placeholder 2"/>
          <p:cNvSpPr>
            <a:spLocks noGrp="1"/>
          </p:cNvSpPr>
          <p:nvPr>
            <p:ph idx="1"/>
          </p:nvPr>
        </p:nvSpPr>
        <p:spPr/>
        <p:txBody>
          <a:bodyPr wrap="square">
            <a:normAutofit/>
          </a:bodyPr>
          <a:lstStyle/>
          <a:p>
            <a:pPr>
              <a:buNone/>
            </a:pPr>
            <a:r>
              <a:rPr sz="1450" b="0" i="0" u="none"/>
              <a:t>On GitHub.com</a:t>
            </a:r>
            <a:endParaRPr sz="1450" b="0" i="0">
              <a:latin typeface="Consolas"/>
            </a:endParaRPr>
          </a:p>
          <a:p>
            <a:pPr lvl="1"/>
            <a:r>
              <a:rPr sz="1450" b="0" i="0" u="none"/>
              <a:t>Agents panel/tab dropdown → Select your custom agent</a:t>
            </a:r>
            <a:endParaRPr sz="1450" b="0" i="0">
              <a:latin typeface="Consolas"/>
            </a:endParaRPr>
          </a:p>
          <a:p>
            <a:pPr lvl="1"/>
            <a:r>
              <a:rPr sz="1450" b="0" i="0" u="none"/>
              <a:t>Assign custom agent to issues</a:t>
            </a:r>
            <a:endParaRPr sz="1450" b="0" i="0">
              <a:latin typeface="Consolas"/>
            </a:endParaRPr>
          </a:p>
          <a:p>
            <a:pPr lvl="1"/>
            <a:r>
              <a:rPr sz="1450" b="0" i="0" u="none"/>
              <a:t>Noted in PR descriptions when used</a:t>
            </a:r>
            <a:endParaRPr sz="1450" b="0" i="0">
              <a:latin typeface="Consolas"/>
            </a:endParaRPr>
          </a:p>
          <a:p>
            <a:pPr>
              <a:buNone/>
            </a:pPr>
            <a:endParaRPr sz="1450" b="0" i="0">
              <a:latin typeface="Consolas"/>
            </a:endParaRPr>
          </a:p>
          <a:p>
            <a:pPr>
              <a:buNone/>
            </a:pPr>
            <a:r>
              <a:rPr sz="1450" b="0" i="0" u="none"/>
              <a:t>In IDEs</a:t>
            </a:r>
            <a:endParaRPr sz="1450" b="0" i="0">
              <a:latin typeface="Consolas"/>
            </a:endParaRPr>
          </a:p>
          <a:p>
            <a:pPr lvl="1"/>
            <a:r>
              <a:rPr sz="1450" b="0" i="0" u="none"/>
              <a:t>Chat window dropdown → Select agent</a:t>
            </a:r>
            <a:endParaRPr sz="1450" b="0" i="0">
              <a:latin typeface="Consolas"/>
            </a:endParaRPr>
          </a:p>
          <a:p>
            <a:pPr lvl="1"/>
            <a:r>
              <a:rPr sz="1450" b="0" i="0" u="none"/>
              <a:t>Switch agents mid-conversation</a:t>
            </a:r>
            <a:endParaRPr sz="1450" b="0" i="0">
              <a:latin typeface="Consolas"/>
            </a:endParaRPr>
          </a:p>
          <a:p>
            <a:pPr lvl="1"/>
            <a:r>
              <a:rPr sz="1450" b="0" i="0" u="none"/>
              <a:t>Access specialized configurations per task</a:t>
            </a:r>
            <a:endParaRPr sz="1450" b="0" i="0">
              <a:latin typeface="Consolas"/>
            </a:endParaRPr>
          </a:p>
          <a:p>
            <a:pPr>
              <a:buNone/>
            </a:pPr>
            <a:endParaRPr sz="1450" b="0" i="0">
              <a:latin typeface="Consolas"/>
            </a:endParaRPr>
          </a:p>
          <a:p>
            <a:pPr>
              <a:buNone/>
            </a:pPr>
            <a:r>
              <a:rPr sz="1450" b="0" i="0" u="none"/>
              <a:t>GitHub Copilot CLI</a:t>
            </a:r>
            <a:endParaRPr sz="1450" b="0" i="0">
              <a:latin typeface="Consolas"/>
            </a:endParaRPr>
          </a:p>
          <a:p>
            <a:pPr lvl="1"/>
            <a:r>
              <a:rPr sz="1450" b="0" i="0" u="none">
                <a:latin typeface="Consolas"/>
              </a:rPr>
              <a:t>/agent</a:t>
            </a:r>
            <a:r>
              <a:rPr sz="1450" b="0" i="0" u="none"/>
              <a:t> command to select agent</a:t>
            </a:r>
            <a:endParaRPr sz="1450" b="0" i="0">
              <a:latin typeface="Consolas"/>
            </a:endParaRPr>
          </a:p>
          <a:p>
            <a:pPr lvl="1"/>
            <a:r>
              <a:rPr sz="1450" b="0" i="0" u="none"/>
              <a:t>Reference agent in prompts</a:t>
            </a:r>
            <a:endParaRPr sz="1450" b="0" i="0">
              <a:latin typeface="Consolas"/>
            </a:endParaRPr>
          </a:p>
          <a:p>
            <a:pPr lvl="1"/>
            <a:r>
              <a:rPr sz="1450" b="0" i="0" u="none"/>
              <a:t>Command-line argument support</a:t>
            </a:r>
            <a:endParaRPr sz="1450" b="0" i="0">
              <a:latin typeface="Consola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and Use a Custom Agent</a:t>
            </a:r>
          </a:p>
        </p:txBody>
      </p:sp>
      <p:sp>
        <p:nvSpPr>
          <p:cNvPr id="3" name="Subtitle 2"/>
          <p:cNvSpPr>
            <a:spLocks noGrp="1"/>
          </p:cNvSpPr>
          <p:nvPr>
            <p:ph type="subTitle" idx="1"/>
          </p:nvPr>
        </p:nvSpPr>
        <p:spPr/>
        <p:txBody>
          <a:bodyPr wrap="square">
            <a:normAutofit/>
          </a:bodyPr>
          <a:lstStyle/>
          <a:p>
            <a:pPr>
              <a:buNone/>
            </a:pPr>
            <a:r>
              <a:rPr b="0" i="0" u="none"/>
              <a:t>Build the AI That Does Your Job (Just This One Task)</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Exercise: Create and Use a Custom Agent</a:t>
            </a:r>
          </a:p>
        </p:txBody>
      </p:sp>
      <p:sp>
        <p:nvSpPr>
          <p:cNvPr id="3" name="Content Placeholder 2"/>
          <p:cNvSpPr>
            <a:spLocks noGrp="1"/>
          </p:cNvSpPr>
          <p:nvPr>
            <p:ph sz="half" idx="1"/>
          </p:nvPr>
        </p:nvSpPr>
        <p:spPr/>
        <p:txBody>
          <a:bodyPr wrap="square">
            <a:normAutofit/>
          </a:bodyPr>
          <a:lstStyle/>
          <a:p>
            <a:pPr>
              <a:buNone/>
            </a:pPr>
            <a:r>
              <a:rPr sz="1300" b="1" i="0" u="none"/>
              <a:t>Objectives</a:t>
            </a:r>
            <a:endParaRPr sz="1300" b="0" i="0">
              <a:latin typeface="Consolas"/>
            </a:endParaRPr>
          </a:p>
          <a:p>
            <a:pPr lvl="1"/>
            <a:r>
              <a:rPr sz="1300" b="0" i="0" u="none"/>
              <a:t>Create a repository-scoped custom agent file in </a:t>
            </a:r>
            <a:r>
              <a:rPr sz="1300" b="0" i="0" u="none">
                <a:latin typeface="Consolas"/>
              </a:rPr>
              <a:t>.github/agents/</a:t>
            </a:r>
            <a:endParaRPr sz="1300" b="0" i="0">
              <a:latin typeface="Consolas"/>
            </a:endParaRPr>
          </a:p>
          <a:p>
            <a:pPr lvl="1"/>
            <a:r>
              <a:rPr sz="1300" b="0" i="0" u="none"/>
              <a:t>Configure a clear agent role, description, and tool scope</a:t>
            </a:r>
            <a:endParaRPr sz="1300" b="0" i="0">
              <a:latin typeface="Consolas"/>
            </a:endParaRPr>
          </a:p>
          <a:p>
            <a:pPr lvl="1"/>
            <a:r>
              <a:rPr sz="1300" b="0" i="0" u="none"/>
              <a:t>Use the agent in Copilot Chat to complete a targeted task</a:t>
            </a:r>
            <a:endParaRPr sz="1300" b="0" i="0">
              <a:latin typeface="Consolas"/>
            </a:endParaRPr>
          </a:p>
          <a:p>
            <a:pPr>
              <a:buNone/>
            </a:pPr>
            <a:endParaRPr sz="1300" b="0" i="0">
              <a:latin typeface="Consolas"/>
            </a:endParaRPr>
          </a:p>
          <a:p>
            <a:pPr>
              <a:buNone/>
            </a:pPr>
            <a:r>
              <a:rPr sz="1300" b="1" i="0" u="none"/>
              <a:t>Activities</a:t>
            </a:r>
            <a:endParaRPr sz="1300" b="0" i="0">
              <a:latin typeface="Consolas"/>
            </a:endParaRPr>
          </a:p>
          <a:p>
            <a:pPr lvl="1">
              <a:buNone/>
            </a:pPr>
            <a:r>
              <a:rPr sz="1300" b="0" i="0" u="none"/>
              <a:t>  1. Create: Add </a:t>
            </a:r>
            <a:r>
              <a:rPr sz="1300" b="0" i="0" u="none">
                <a:latin typeface="Consolas"/>
              </a:rPr>
              <a:t>.github/agents/test-specialist.agent.md</a:t>
            </a:r>
            <a:r>
              <a:rPr sz="1300" b="0" i="0" u="none"/>
              <a:t> with frontmatter (</a:t>
            </a:r>
            <a:r>
              <a:rPr sz="1300" b="0" i="0" u="none">
                <a:latin typeface="Consolas"/>
              </a:rPr>
              <a:t>name</a:t>
            </a:r>
            <a:r>
              <a:rPr sz="1300" b="0" i="0" u="none"/>
              <a:t>, </a:t>
            </a:r>
            <a:r>
              <a:rPr sz="1300" b="0" i="0" u="none">
                <a:latin typeface="Consolas"/>
              </a:rPr>
              <a:t>description</a:t>
            </a:r>
            <a:r>
              <a:rPr sz="1300" b="0" i="0" u="none"/>
              <a:t>, </a:t>
            </a:r>
            <a:r>
              <a:rPr sz="1300" b="0" i="0" u="none">
                <a:latin typeface="Consolas"/>
              </a:rPr>
              <a:t>tools</a:t>
            </a:r>
            <a:r>
              <a:rPr sz="1300" b="0" i="0" u="none"/>
              <a:t>) and focused behavior instructions</a:t>
            </a:r>
            <a:endParaRPr sz="1300" b="0" i="0">
              <a:latin typeface="Consolas"/>
            </a:endParaRPr>
          </a:p>
          <a:p>
            <a:pPr lvl="1">
              <a:buNone/>
            </a:pPr>
            <a:r>
              <a:rPr sz="1300" b="0" i="0" u="none"/>
              <a:t>  2. Refine: Tighten scope by clarifying what the agent should do and refuse, then save and re-open chat</a:t>
            </a:r>
            <a:endParaRPr sz="1300" b="0" i="0">
              <a:latin typeface="Consolas"/>
            </a:endParaRPr>
          </a:p>
          <a:p>
            <a:pPr lvl="1">
              <a:buNone/>
            </a:pPr>
            <a:r>
              <a:rPr sz="1300" b="0" i="0" u="none"/>
              <a:t>  3. Use: Select the new custom agent in Copilot Chat and run a prompt such as “Review this feature and propose a test plan with unit and integration tests”</a:t>
            </a:r>
            <a:endParaRPr sz="13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Success Criteria</a:t>
            </a:r>
            <a:endParaRPr sz="2800" b="0" i="0">
              <a:latin typeface="Arial"/>
            </a:endParaRPr>
          </a:p>
          <a:p>
            <a:pPr lvl="1"/>
            <a:r>
              <a:rPr sz="1400" b="0" i="0" u="none"/>
              <a:t>Agent appears in Copilot Chat agent picker after file creation</a:t>
            </a:r>
            <a:endParaRPr sz="2800" b="0" i="0">
              <a:latin typeface="Arial"/>
            </a:endParaRPr>
          </a:p>
          <a:p>
            <a:pPr lvl="1"/>
            <a:r>
              <a:rPr sz="1400" b="0" i="0" u="none"/>
              <a:t>Agent responses stay within the declared role and tool boundaries</a:t>
            </a:r>
            <a:endParaRPr sz="2800" b="0" i="0">
              <a:latin typeface="Arial"/>
            </a:endParaRPr>
          </a:p>
          <a:p>
            <a:pPr lvl="1"/>
            <a:r>
              <a:rPr sz="1400" b="0" i="0" u="none"/>
              <a:t>Student receives a usable, structured output aligned to the prompt goal</a:t>
            </a:r>
            <a:endParaRPr sz="2800" b="0" i="0">
              <a:latin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Custom Agent Best Practices</a:t>
            </a:r>
          </a:p>
        </p:txBody>
      </p:sp>
      <p:sp>
        <p:nvSpPr>
          <p:cNvPr id="3" name="Subtitle 2"/>
          <p:cNvSpPr>
            <a:spLocks noGrp="1"/>
          </p:cNvSpPr>
          <p:nvPr>
            <p:ph type="subTitle" idx="1"/>
          </p:nvPr>
        </p:nvSpPr>
        <p:spPr/>
        <p:txBody>
          <a:bodyPr wrap="square">
            <a:normAutofit/>
          </a:bodyPr>
          <a:lstStyle/>
          <a:p>
            <a:pPr>
              <a:buNone/>
            </a:pPr>
            <a:r>
              <a:rPr b="0" i="0" u="none"/>
              <a:t>Your AI Agent Is Not a Swiss Army Knife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Start Simple</a:t>
            </a:r>
          </a:p>
        </p:txBody>
      </p:sp>
      <p:sp>
        <p:nvSpPr>
          <p:cNvPr id="3" name="Content Placeholder 2"/>
          <p:cNvSpPr>
            <a:spLocks noGrp="1"/>
          </p:cNvSpPr>
          <p:nvPr>
            <p:ph sz="half" idx="1"/>
          </p:nvPr>
        </p:nvSpPr>
        <p:spPr/>
        <p:txBody>
          <a:bodyPr wrap="square">
            <a:normAutofit/>
          </a:bodyPr>
          <a:lstStyle/>
          <a:p>
            <a:r>
              <a:rPr sz="1400" b="0" i="0" u="none"/>
              <a:t>Create one agent for one specific pain point</a:t>
            </a:r>
            <a:endParaRPr sz="2800" b="0" i="0">
              <a:latin typeface="Arial"/>
            </a:endParaRPr>
          </a:p>
          <a:p>
            <a:pPr lvl="1"/>
            <a:r>
              <a:rPr sz="1400" b="0" i="0" u="none"/>
              <a:t>Avoid trying to solve every workflow with a single "super agent"</a:t>
            </a:r>
            <a:endParaRPr sz="2800" b="0" i="0">
              <a:latin typeface="Arial"/>
            </a:endParaRPr>
          </a:p>
          <a:p>
            <a:pPr lvl="1"/>
            <a:r>
              <a:rPr sz="1400" b="0" i="0" u="none"/>
              <a:t>Narrow scope makes behavior easier to predict and improve</a:t>
            </a:r>
            <a:endParaRPr sz="2800" b="0" i="0">
              <a:latin typeface="Arial"/>
            </a:endParaRPr>
          </a:p>
          <a:p>
            <a:pPr lvl="1"/>
            <a:r>
              <a:rPr sz="1400" b="0" i="0" u="none"/>
              <a:t>Simpler agents are easier to explain to teammates</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53345bcdb00c1129af9426f0e3b2f8862659eb90.png"/>
          <p:cNvPicPr>
            <a:picLocks noChangeAspect="1"/>
          </p:cNvPicPr>
          <p:nvPr/>
        </p:nvPicPr>
        <p:blipFill>
          <a:blip r:embed="rId3"/>
          <a:stretch>
            <a:fillRect/>
          </a:stretch>
        </p:blipFill>
        <p:spPr>
          <a:xfrm>
            <a:off x="680953" y="3439919"/>
            <a:ext cx="10627127" cy="83303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Define Clear Responsibilities</a:t>
            </a:r>
          </a:p>
        </p:txBody>
      </p:sp>
      <p:sp>
        <p:nvSpPr>
          <p:cNvPr id="3" name="Content Placeholder 2"/>
          <p:cNvSpPr>
            <a:spLocks noGrp="1"/>
          </p:cNvSpPr>
          <p:nvPr>
            <p:ph idx="1"/>
          </p:nvPr>
        </p:nvSpPr>
        <p:spPr/>
        <p:txBody>
          <a:bodyPr wrap="square">
            <a:normAutofit/>
          </a:bodyPr>
          <a:lstStyle/>
          <a:p>
            <a:r>
              <a:rPr sz="2750" b="0" i="0" u="none"/>
              <a:t>State the agent's purpose explicitly</a:t>
            </a:r>
            <a:endParaRPr sz="2750" b="0" i="0">
              <a:latin typeface="Arial"/>
            </a:endParaRPr>
          </a:p>
          <a:p>
            <a:r>
              <a:rPr sz="2750" b="0" i="0" u="none"/>
              <a:t>Define what is in scope and what is out of scope</a:t>
            </a:r>
            <a:endParaRPr sz="2750" b="0" i="0">
              <a:latin typeface="Arial"/>
            </a:endParaRPr>
          </a:p>
          <a:p>
            <a:r>
              <a:rPr sz="2750" b="0" i="0" u="none"/>
              <a:t>Make responsibilities visible in the agent instructions</a:t>
            </a:r>
            <a:endParaRPr sz="2750" b="0" i="0">
              <a:latin typeface="Arial"/>
            </a:endParaRPr>
          </a:p>
          <a:p>
            <a:r>
              <a:rPr sz="2750" b="0" i="0" u="none"/>
              <a:t>Clear boundaries reduce surprising responses and misuse</a:t>
            </a:r>
            <a:endParaRPr sz="2750" b="0" i="0">
              <a:latin typeface="Arial"/>
            </a:endParaRPr>
          </a:p>
          <a:p>
            <a:pPr>
              <a:buNone/>
            </a:pPr>
            <a:endParaRPr sz="2750" b="0" i="0">
              <a:latin typeface="Arial"/>
            </a:endParaRPr>
          </a:p>
          <a:p>
            <a:pPr>
              <a:buNone/>
            </a:pPr>
            <a:r>
              <a:rPr sz="2750" b="1" i="0" u="none"/>
              <a:t>Good boundary question</a:t>
            </a:r>
            <a:endParaRPr sz="2750" b="0" i="0">
              <a:latin typeface="Arial"/>
            </a:endParaRPr>
          </a:p>
          <a:p>
            <a:pPr>
              <a:buNone/>
            </a:pPr>
            <a:endParaRPr sz="2750" b="0" i="0">
              <a:latin typeface="Arial"/>
            </a:endParaRPr>
          </a:p>
          <a:p>
            <a:r>
              <a:rPr sz="2750" b="0" i="0" u="none"/>
              <a:t>"What should this agent refuse or defer?"</a:t>
            </a:r>
            <a:endParaRPr sz="275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Restrict Tools Appropriately</a:t>
            </a:r>
          </a:p>
        </p:txBody>
      </p:sp>
      <p:sp>
        <p:nvSpPr>
          <p:cNvPr id="3" name="Content Placeholder 2"/>
          <p:cNvSpPr>
            <a:spLocks noGrp="1"/>
          </p:cNvSpPr>
          <p:nvPr>
            <p:ph sz="half" idx="1"/>
          </p:nvPr>
        </p:nvSpPr>
        <p:spPr/>
        <p:txBody>
          <a:bodyPr wrap="square">
            <a:normAutofit/>
          </a:bodyPr>
          <a:lstStyle/>
          <a:p>
            <a:r>
              <a:rPr sz="1400" b="0" i="0" u="none"/>
              <a:t>Give the agent the minimum tools needed for its job</a:t>
            </a:r>
            <a:endParaRPr sz="2800" b="0" i="0">
              <a:latin typeface="Arial"/>
            </a:endParaRPr>
          </a:p>
          <a:p>
            <a:pPr lvl="1"/>
            <a:r>
              <a:rPr sz="1400" b="0" i="0" u="none"/>
              <a:t>Avoid broad tool access unless the workflow genuinely requires it</a:t>
            </a:r>
            <a:endParaRPr sz="2800" b="0" i="0">
              <a:latin typeface="Arial"/>
            </a:endParaRPr>
          </a:p>
          <a:p>
            <a:pPr lvl="1"/>
            <a:r>
              <a:rPr sz="1400" b="0" i="0" u="none"/>
              <a:t>Tool restrictions reduce accidental misuse and security exposure</a:t>
            </a:r>
            <a:endParaRPr sz="2800" b="0" i="0">
              <a:latin typeface="Arial"/>
            </a:endParaRPr>
          </a:p>
          <a:p>
            <a:pPr lvl="1"/>
            <a:r>
              <a:rPr sz="1400" b="0" i="0" u="none"/>
              <a:t>Least-privilege design keeps behavior aligned with agent intent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endParaRPr sz="1400" b="0" i="0" u="none" dirty="0"/>
          </a:p>
        </p:txBody>
      </p:sp>
      <p:pic>
        <p:nvPicPr>
          <p:cNvPr id="5" name="Picture 4" descr="e3a97f98621fe41d031fa62e32f722c4cd83e48f.png"/>
          <p:cNvPicPr>
            <a:picLocks noChangeAspect="1"/>
          </p:cNvPicPr>
          <p:nvPr/>
        </p:nvPicPr>
        <p:blipFill>
          <a:blip r:embed="rId3"/>
          <a:stretch>
            <a:fillRect/>
          </a:stretch>
        </p:blipFill>
        <p:spPr>
          <a:xfrm>
            <a:off x="7636692" y="2055811"/>
            <a:ext cx="2252616" cy="4259898"/>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Refine Based on Usage</a:t>
            </a:r>
          </a:p>
        </p:txBody>
      </p:sp>
      <p:sp>
        <p:nvSpPr>
          <p:cNvPr id="3" name="Content Placeholder 2"/>
          <p:cNvSpPr>
            <a:spLocks noGrp="1"/>
          </p:cNvSpPr>
          <p:nvPr>
            <p:ph idx="1"/>
          </p:nvPr>
        </p:nvSpPr>
        <p:spPr/>
        <p:txBody>
          <a:bodyPr wrap="square">
            <a:normAutofit/>
          </a:bodyPr>
          <a:lstStyle/>
          <a:p>
            <a:r>
              <a:rPr sz="2800" b="0" i="0" u="none"/>
              <a:t>Watch how people actually use the agent</a:t>
            </a:r>
            <a:endParaRPr sz="2800" b="0" i="0">
              <a:latin typeface="Arial"/>
            </a:endParaRPr>
          </a:p>
          <a:p>
            <a:r>
              <a:rPr sz="2800" b="0" i="0" u="none"/>
              <a:t>Look for recurring confusion, failure modes, or missing guidance</a:t>
            </a:r>
            <a:endParaRPr sz="2800" b="0" i="0">
              <a:latin typeface="Arial"/>
            </a:endParaRPr>
          </a:p>
          <a:p>
            <a:r>
              <a:rPr sz="2800" b="0" i="0" u="none"/>
              <a:t>Update instructions, examples, and tools based on real feedback</a:t>
            </a:r>
            <a:endParaRPr sz="2800" b="0" i="0">
              <a:latin typeface="Arial"/>
            </a:endParaRPr>
          </a:p>
          <a:p>
            <a:r>
              <a:rPr sz="2800" b="0" i="0" u="none"/>
              <a:t>Treat the first version as a starting point, not a final product</a:t>
            </a:r>
            <a:endParaRPr sz="2800" b="0" i="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00" b="0" i="0" u="none"/>
              <a:t>Share Common Work Through Org or Enterprise Agents</a:t>
            </a:r>
          </a:p>
        </p:txBody>
      </p:sp>
      <p:sp>
        <p:nvSpPr>
          <p:cNvPr id="3" name="Content Placeholder 2"/>
          <p:cNvSpPr>
            <a:spLocks noGrp="1"/>
          </p:cNvSpPr>
          <p:nvPr>
            <p:ph idx="1"/>
          </p:nvPr>
        </p:nvSpPr>
        <p:spPr/>
        <p:txBody>
          <a:bodyPr wrap="square">
            <a:normAutofit/>
          </a:bodyPr>
          <a:lstStyle/>
          <a:p>
            <a:r>
              <a:rPr sz="2200" b="0" i="0" u="none"/>
              <a:t>Promote frequently used workflows into shared agents</a:t>
            </a:r>
            <a:endParaRPr sz="2200" b="0" i="0">
              <a:latin typeface="Arial"/>
            </a:endParaRPr>
          </a:p>
          <a:p>
            <a:r>
              <a:rPr sz="2200" b="0" i="0" u="none"/>
              <a:t>Use org or enterprise scope for common tasks across teams</a:t>
            </a:r>
            <a:endParaRPr sz="2200" b="0" i="0">
              <a:latin typeface="Arial"/>
            </a:endParaRPr>
          </a:p>
          <a:p>
            <a:r>
              <a:rPr sz="2200" b="0" i="0" u="none"/>
              <a:t>Shared agents improve consistency and reduce duplicated setup</a:t>
            </a:r>
            <a:endParaRPr sz="2200" b="0" i="0">
              <a:latin typeface="Arial"/>
            </a:endParaRPr>
          </a:p>
          <a:p>
            <a:r>
              <a:rPr sz="2200" b="0" i="0" u="none"/>
              <a:t>Team-wide agents should have stronger review and ownership</a:t>
            </a:r>
            <a:endParaRPr sz="2200" b="0" i="0">
              <a:latin typeface="Arial"/>
            </a:endParaRPr>
          </a:p>
          <a:p>
            <a:pPr>
              <a:buNone/>
            </a:pPr>
            <a:endParaRPr sz="2200" b="0" i="0">
              <a:latin typeface="Arial"/>
            </a:endParaRPr>
          </a:p>
          <a:p>
            <a:pPr>
              <a:buNone/>
            </a:pPr>
            <a:r>
              <a:rPr sz="2200" b="1" i="0" u="none"/>
              <a:t>Typical shared scenarios</a:t>
            </a:r>
            <a:endParaRPr sz="2200" b="0" i="0">
              <a:latin typeface="Arial"/>
            </a:endParaRPr>
          </a:p>
          <a:p>
            <a:pPr lvl="1"/>
            <a:r>
              <a:rPr sz="2200" b="0" i="0" u="none"/>
              <a:t>security review</a:t>
            </a:r>
            <a:endParaRPr sz="2200" b="0" i="0">
              <a:latin typeface="Arial"/>
            </a:endParaRPr>
          </a:p>
          <a:p>
            <a:pPr lvl="1"/>
            <a:r>
              <a:rPr sz="2200" b="0" i="0" u="none"/>
              <a:t>documentation updates</a:t>
            </a:r>
            <a:endParaRPr sz="2200" b="0" i="0">
              <a:latin typeface="Arial"/>
            </a:endParaRPr>
          </a:p>
          <a:p>
            <a:pPr lvl="1"/>
            <a:r>
              <a:rPr sz="2200" b="0" i="0" u="none"/>
              <a:t>testing guidance</a:t>
            </a:r>
            <a:endParaRPr sz="2200" b="0" i="0">
              <a:latin typeface="Arial"/>
            </a:endParaRPr>
          </a:p>
          <a:p>
            <a:pPr lvl="1"/>
            <a:r>
              <a:rPr sz="2200" b="0" i="0" u="none"/>
              <a:t>implementation planning</a:t>
            </a:r>
            <a:endParaRPr sz="2200" b="0" i="0">
              <a:latin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Include Examples and Validate Before Rollout</a:t>
            </a:r>
          </a:p>
        </p:txBody>
      </p:sp>
      <p:sp>
        <p:nvSpPr>
          <p:cNvPr id="3" name="Content Placeholder 2"/>
          <p:cNvSpPr>
            <a:spLocks noGrp="1"/>
          </p:cNvSpPr>
          <p:nvPr>
            <p:ph idx="1"/>
          </p:nvPr>
        </p:nvSpPr>
        <p:spPr/>
        <p:txBody>
          <a:bodyPr wrap="square">
            <a:normAutofit/>
          </a:bodyPr>
          <a:lstStyle/>
          <a:p>
            <a:r>
              <a:rPr sz="2000" b="0" i="0" u="none"/>
              <a:t>Add example prompts or usage patterns to show what "good" looks like</a:t>
            </a:r>
            <a:endParaRPr sz="2000" b="0" i="0">
              <a:latin typeface="Arial"/>
            </a:endParaRPr>
          </a:p>
          <a:p>
            <a:r>
              <a:rPr sz="2000" b="0" i="0" u="none"/>
              <a:t>Test the agent in realistic production-like scenarios</a:t>
            </a:r>
            <a:endParaRPr sz="2000" b="0" i="0">
              <a:latin typeface="Arial"/>
            </a:endParaRPr>
          </a:p>
          <a:p>
            <a:r>
              <a:rPr sz="2000" b="0" i="0" u="none"/>
              <a:t>Validate both behavior and boundaries before broad adoption</a:t>
            </a:r>
            <a:endParaRPr sz="2000" b="0" i="0">
              <a:latin typeface="Arial"/>
            </a:endParaRPr>
          </a:p>
          <a:p>
            <a:r>
              <a:rPr sz="2000" b="0" i="0" u="none"/>
              <a:t>Roll out only after the team can predict how the agent responds</a:t>
            </a:r>
            <a:endParaRPr sz="2000" b="0" i="0">
              <a:latin typeface="Arial"/>
            </a:endParaRPr>
          </a:p>
          <a:p>
            <a:pPr>
              <a:buNone/>
            </a:pPr>
            <a:endParaRPr sz="2000" b="0" i="0">
              <a:latin typeface="Arial"/>
            </a:endParaRPr>
          </a:p>
          <a:p>
            <a:pPr>
              <a:buNone/>
            </a:pPr>
            <a:r>
              <a:rPr sz="2000" b="1" i="0" u="none"/>
              <a:t>Validation checklist</a:t>
            </a:r>
            <a:endParaRPr sz="2000" b="0" i="0">
              <a:latin typeface="Arial"/>
            </a:endParaRPr>
          </a:p>
          <a:p>
            <a:pPr>
              <a:buNone/>
            </a:pPr>
            <a:r>
              <a:rPr sz="2000" b="0" i="0" u="none"/>
              <a:t>  [ ] prompt examples work as expected</a:t>
            </a:r>
            <a:endParaRPr sz="2000" b="0" i="0">
              <a:latin typeface="Arial"/>
            </a:endParaRPr>
          </a:p>
          <a:p>
            <a:pPr>
              <a:buNone/>
            </a:pPr>
            <a:r>
              <a:rPr sz="2000" b="0" i="0" u="none"/>
              <a:t>  [ ] tool access matches intended scope</a:t>
            </a:r>
            <a:endParaRPr sz="2000" b="0" i="0">
              <a:latin typeface="Arial"/>
            </a:endParaRPr>
          </a:p>
          <a:p>
            <a:pPr>
              <a:buNone/>
            </a:pPr>
            <a:r>
              <a:rPr sz="2000" b="0" i="0" u="none"/>
              <a:t>  [ ] outputs are useful and consistent</a:t>
            </a:r>
            <a:endParaRPr sz="2000" b="0" i="0">
              <a:latin typeface="Arial"/>
            </a:endParaRPr>
          </a:p>
          <a:p>
            <a:pPr>
              <a:buNone/>
            </a:pPr>
            <a:r>
              <a:rPr sz="2000" b="0" i="0" u="none"/>
              <a:t>  [ ] failure cases are acceptable</a:t>
            </a:r>
            <a:endParaRPr sz="2000" b="0" i="0">
              <a:latin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Custom Agents</a:t>
            </a:r>
          </a:p>
          <a:p>
            <a:r>
              <a:rPr b="1" i="0" u="none"/>
              <a:t>▶ Skills</a:t>
            </a:r>
          </a:p>
          <a:p>
            <a:r>
              <a:rPr b="0" i="0" u="none"/>
              <a:t>Instructions vs Prompts vs Agents vs Skills</a:t>
            </a:r>
          </a:p>
          <a:p>
            <a:r>
              <a:rPr b="0" i="0" u="none"/>
              <a:t>MCP</a:t>
            </a:r>
          </a:p>
          <a:p>
            <a:r>
              <a:rPr b="0" i="0" u="none"/>
              <a:t>Copilot Memory Feature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GitHub Copilot Skills: A Practical Introduction</a:t>
            </a:r>
          </a:p>
        </p:txBody>
      </p:sp>
      <p:sp>
        <p:nvSpPr>
          <p:cNvPr id="3" name="Subtitle 2"/>
          <p:cNvSpPr>
            <a:spLocks noGrp="1"/>
          </p:cNvSpPr>
          <p:nvPr>
            <p:ph type="subTitle" idx="1"/>
          </p:nvPr>
        </p:nvSpPr>
        <p:spPr/>
        <p:txBody>
          <a:bodyPr wrap="square">
            <a:normAutofit/>
          </a:bodyPr>
          <a:lstStyle/>
          <a:p>
            <a:pPr>
              <a:buNone/>
            </a:pPr>
            <a:r>
              <a:rPr b="0" i="0" u="none"/>
              <a:t>The API for Telling Copilot How to Think</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Skills</a:t>
            </a:r>
          </a:p>
        </p:txBody>
      </p:sp>
      <p:sp>
        <p:nvSpPr>
          <p:cNvPr id="3" name="Subtitle 2"/>
          <p:cNvSpPr>
            <a:spLocks noGrp="1"/>
          </p:cNvSpPr>
          <p:nvPr>
            <p:ph type="subTitle" idx="1"/>
          </p:nvPr>
        </p:nvSpPr>
        <p:spPr/>
        <p:txBody>
          <a:bodyPr wrap="square">
            <a:normAutofit/>
          </a:bodyPr>
          <a:lstStyle/>
          <a:p>
            <a:pPr>
              <a:buNone/>
            </a:pPr>
            <a:r>
              <a:rPr sz="1850" b="0" i="0" u="none"/>
              <a:t>What They Are, How to Define Them, and How They Change Copilot's Behavior</a:t>
            </a:r>
            <a:endParaRPr sz="1850" b="0" i="0">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Copilot Skills?</a:t>
            </a:r>
          </a:p>
        </p:txBody>
      </p:sp>
      <p:sp>
        <p:nvSpPr>
          <p:cNvPr id="3" name="Content Placeholder 2"/>
          <p:cNvSpPr>
            <a:spLocks noGrp="1"/>
          </p:cNvSpPr>
          <p:nvPr>
            <p:ph idx="1"/>
          </p:nvPr>
        </p:nvSpPr>
        <p:spPr/>
        <p:txBody>
          <a:bodyPr wrap="square">
            <a:normAutofit/>
          </a:bodyPr>
          <a:lstStyle/>
          <a:p>
            <a:r>
              <a:rPr sz="1550" b="0" i="0" u="none"/>
              <a:t>Self-contained capability modules for specialized tasks</a:t>
            </a:r>
            <a:endParaRPr sz="1550" b="0" i="0">
              <a:latin typeface="Arial"/>
            </a:endParaRPr>
          </a:p>
          <a:p>
            <a:r>
              <a:rPr sz="1550" b="0" i="0" u="none"/>
              <a:t>Stored as folders with instructions, scripts, examples, and resources</a:t>
            </a:r>
            <a:endParaRPr sz="1550" b="0" i="0">
              <a:latin typeface="Arial"/>
            </a:endParaRPr>
          </a:p>
          <a:p>
            <a:r>
              <a:rPr sz="1550" b="0" i="0" u="none"/>
              <a:t>Loaded automatically when Copilot determines they are relevant</a:t>
            </a:r>
            <a:endParaRPr sz="1550" b="0" i="0">
              <a:latin typeface="Arial"/>
            </a:endParaRPr>
          </a:p>
          <a:p>
            <a:r>
              <a:rPr sz="1550" b="0" i="0" u="none"/>
              <a:t>Intended for repeatable, domain-specific workflows</a:t>
            </a:r>
            <a:endParaRPr sz="1550" b="0" i="0">
              <a:latin typeface="Arial"/>
            </a:endParaRPr>
          </a:p>
          <a:p>
            <a:r>
              <a:rPr sz="1550" b="0" i="0" u="none"/>
              <a:t>Can be used across Copilot-compatible environments</a:t>
            </a:r>
            <a:endParaRPr sz="1550" b="0" i="0">
              <a:latin typeface="Arial"/>
            </a:endParaRPr>
          </a:p>
          <a:p>
            <a:pPr>
              <a:buNone/>
            </a:pPr>
            <a:endParaRPr sz="1550" b="0" i="0">
              <a:latin typeface="Arial"/>
            </a:endParaRPr>
          </a:p>
          <a:p>
            <a:pPr>
              <a:buNone/>
            </a:pPr>
            <a:r>
              <a:rPr sz="1550" b="1" i="0" u="none"/>
              <a:t>Typical environments</a:t>
            </a:r>
            <a:endParaRPr sz="1550" b="0" i="0">
              <a:latin typeface="Arial"/>
            </a:endParaRPr>
          </a:p>
          <a:p>
            <a:pPr>
              <a:buNone/>
            </a:pPr>
            <a:endParaRPr sz="1550" b="0" i="0">
              <a:latin typeface="Arial"/>
            </a:endParaRPr>
          </a:p>
          <a:p>
            <a:r>
              <a:rPr sz="1550" b="0" i="0" u="none"/>
              <a:t>GitHub Copilot in VS Code</a:t>
            </a:r>
            <a:endParaRPr sz="1550" b="0" i="0">
              <a:latin typeface="Arial"/>
            </a:endParaRPr>
          </a:p>
          <a:p>
            <a:r>
              <a:rPr sz="1550" b="0" i="0" u="none"/>
              <a:t>GitHub Copilot CLI</a:t>
            </a:r>
            <a:endParaRPr sz="1550" b="0" i="0">
              <a:latin typeface="Arial"/>
            </a:endParaRPr>
          </a:p>
          <a:p>
            <a:r>
              <a:rPr sz="1550" b="0" i="0" u="none"/>
              <a:t>GitHub Copilot coding agent</a:t>
            </a:r>
            <a:endParaRPr sz="1550" b="0" i="0">
              <a:latin typeface="Arial"/>
            </a:endParaRPr>
          </a:p>
          <a:p>
            <a:r>
              <a:rPr sz="1550" b="0" i="0" u="none"/>
              <a:t>other skills-compatible agents</a:t>
            </a:r>
            <a:endParaRPr sz="155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Skills Exist</a:t>
            </a:r>
          </a:p>
        </p:txBody>
      </p:sp>
      <p:sp>
        <p:nvSpPr>
          <p:cNvPr id="3" name="Content Placeholder 2"/>
          <p:cNvSpPr>
            <a:spLocks noGrp="1"/>
          </p:cNvSpPr>
          <p:nvPr>
            <p:ph idx="1"/>
          </p:nvPr>
        </p:nvSpPr>
        <p:spPr/>
        <p:txBody>
          <a:bodyPr wrap="square">
            <a:normAutofit/>
          </a:bodyPr>
          <a:lstStyle/>
          <a:p>
            <a:r>
              <a:rPr sz="2800" b="0" i="0" u="none"/>
              <a:t>Reduce repeated explanation of domain workflows</a:t>
            </a:r>
            <a:endParaRPr sz="2800" b="0" i="0">
              <a:latin typeface="Arial"/>
            </a:endParaRPr>
          </a:p>
          <a:p>
            <a:r>
              <a:rPr sz="2800" b="0" i="0" u="none"/>
              <a:t>Store procedural knowledge in portable, version-controlled form</a:t>
            </a:r>
            <a:endParaRPr sz="2800" b="0" i="0">
              <a:latin typeface="Arial"/>
            </a:endParaRPr>
          </a:p>
          <a:p>
            <a:r>
              <a:rPr sz="2800" b="0" i="0" u="none"/>
              <a:t>Support multi-step, tool-assisted, or script-assisted tasks</a:t>
            </a:r>
            <a:endParaRPr sz="2800" b="0" i="0">
              <a:latin typeface="Arial"/>
            </a:endParaRPr>
          </a:p>
          <a:p>
            <a:r>
              <a:rPr sz="2800" b="0" i="0" u="none"/>
              <a:t>Encode team guardrails and best practices</a:t>
            </a:r>
            <a:endParaRPr sz="2800" b="0" i="0">
              <a:latin typeface="Arial"/>
            </a:endParaRPr>
          </a:p>
          <a:p>
            <a:r>
              <a:rPr sz="2800" b="0" i="0" u="none"/>
              <a:t>Allow multiple skills to contribute to complex workflows</a:t>
            </a:r>
            <a:endParaRPr sz="280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Skill Folder Structure</a:t>
            </a:r>
          </a:p>
        </p:txBody>
      </p:sp>
      <p:sp>
        <p:nvSpPr>
          <p:cNvPr id="3" name="Content Placeholder 2"/>
          <p:cNvSpPr>
            <a:spLocks noGrp="1"/>
          </p:cNvSpPr>
          <p:nvPr>
            <p:ph idx="1"/>
          </p:nvPr>
        </p:nvSpPr>
        <p:spPr/>
        <p:txBody>
          <a:bodyPr wrap="square">
            <a:normAutofit/>
          </a:bodyPr>
          <a:lstStyle/>
          <a:p>
            <a:pPr>
              <a:buNone/>
            </a:pPr>
            <a:r>
              <a:rPr sz="1750" b="0" i="0" u="none"/>
              <a:t>A typical skill folder:</a:t>
            </a:r>
            <a:endParaRPr sz="1750" b="0" i="0">
              <a:latin typeface="Consolas"/>
            </a:endParaRPr>
          </a:p>
          <a:p>
            <a:pPr>
              <a:buNone/>
            </a:pPr>
            <a:endParaRPr sz="1750" b="0" i="0">
              <a:latin typeface="Consolas"/>
            </a:endParaRPr>
          </a:p>
          <a:p>
            <a:pPr>
              <a:buNone/>
            </a:pPr>
            <a:r>
              <a:rPr sz="1750">
                <a:latin typeface="Consolas"/>
              </a:rPr>
              <a:t>.github/</a:t>
            </a:r>
            <a:endParaRPr sz="1750" b="0" i="0">
              <a:latin typeface="Consolas"/>
            </a:endParaRPr>
          </a:p>
          <a:p>
            <a:pPr>
              <a:buNone/>
            </a:pPr>
            <a:r>
              <a:rPr sz="1750">
                <a:latin typeface="Consolas"/>
              </a:rPr>
              <a:t>  skills/</a:t>
            </a:r>
            <a:endParaRPr sz="1750" b="0" i="0">
              <a:latin typeface="Consolas"/>
            </a:endParaRPr>
          </a:p>
          <a:p>
            <a:pPr>
              <a:buNone/>
            </a:pPr>
            <a:r>
              <a:rPr sz="1750">
                <a:latin typeface="Consolas"/>
              </a:rPr>
              <a:t>    webapp-testing/</a:t>
            </a:r>
            <a:endParaRPr sz="1750" b="0" i="0">
              <a:latin typeface="Consolas"/>
            </a:endParaRPr>
          </a:p>
          <a:p>
            <a:pPr>
              <a:buNone/>
            </a:pPr>
            <a:r>
              <a:rPr sz="1750">
                <a:latin typeface="Consolas"/>
              </a:rPr>
              <a:t>      SKILL.md</a:t>
            </a:r>
            <a:endParaRPr sz="1750" b="0" i="0">
              <a:latin typeface="Consolas"/>
            </a:endParaRPr>
          </a:p>
          <a:p>
            <a:pPr>
              <a:buNone/>
            </a:pPr>
            <a:r>
              <a:rPr sz="1750">
                <a:latin typeface="Consolas"/>
              </a:rPr>
              <a:t>      scripts/</a:t>
            </a:r>
            <a:endParaRPr sz="1750" b="0" i="0">
              <a:latin typeface="Consolas"/>
            </a:endParaRPr>
          </a:p>
          <a:p>
            <a:pPr>
              <a:buNone/>
            </a:pPr>
            <a:r>
              <a:rPr sz="1750">
                <a:latin typeface="Consolas"/>
              </a:rPr>
              <a:t>      examples/</a:t>
            </a:r>
            <a:endParaRPr sz="1750" b="0" i="0">
              <a:latin typeface="Consolas"/>
            </a:endParaRPr>
          </a:p>
          <a:p>
            <a:pPr>
              <a:buNone/>
            </a:pPr>
            <a:r>
              <a:rPr sz="1750">
                <a:latin typeface="Consolas"/>
              </a:rPr>
              <a:t>      resources/</a:t>
            </a:r>
            <a:endParaRPr sz="1750" b="0" i="0">
              <a:latin typeface="Consolas"/>
            </a:endParaRPr>
          </a:p>
          <a:p>
            <a:pPr>
              <a:buNone/>
            </a:pPr>
            <a:endParaRPr sz="1750" b="0" i="0">
              <a:latin typeface="Consolas"/>
            </a:endParaRPr>
          </a:p>
          <a:p>
            <a:pPr>
              <a:buNone/>
            </a:pPr>
            <a:r>
              <a:rPr sz="1750" b="0" i="0" u="none">
                <a:latin typeface="Consolas"/>
              </a:rPr>
              <a:t>SKILL.md</a:t>
            </a:r>
            <a:r>
              <a:rPr sz="1750" b="0" i="0" u="none"/>
              <a:t> is the required entry point.</a:t>
            </a:r>
            <a:endParaRPr sz="1750" b="0" i="0">
              <a:latin typeface="Consola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Anatomy of </a:t>
            </a:r>
            <a:r>
              <a:rPr b="0" i="0" u="none">
                <a:latin typeface="Consolas"/>
              </a:rPr>
              <a:t>SKILL.md</a:t>
            </a:r>
          </a:p>
        </p:txBody>
      </p:sp>
      <p:sp>
        <p:nvSpPr>
          <p:cNvPr id="3" name="Content Placeholder 2"/>
          <p:cNvSpPr>
            <a:spLocks noGrp="1"/>
          </p:cNvSpPr>
          <p:nvPr>
            <p:ph idx="1"/>
          </p:nvPr>
        </p:nvSpPr>
        <p:spPr/>
        <p:txBody>
          <a:bodyPr wrap="square">
            <a:normAutofit/>
          </a:bodyPr>
          <a:lstStyle/>
          <a:p>
            <a:pPr>
              <a:buNone/>
            </a:pPr>
            <a:r>
              <a:rPr sz="1350" b="0" i="0" u="none"/>
              <a:t>Minimal example:</a:t>
            </a:r>
            <a:endParaRPr sz="1350" b="0" i="0">
              <a:latin typeface="Consolas"/>
            </a:endParaRPr>
          </a:p>
          <a:p>
            <a:pPr>
              <a:buNone/>
            </a:pPr>
            <a:endParaRPr sz="1350" b="0" i="0">
              <a:latin typeface="Consolas"/>
            </a:endParaRPr>
          </a:p>
          <a:p>
            <a:pPr>
              <a:buNone/>
            </a:pPr>
            <a:r>
              <a:rPr sz="1350">
                <a:latin typeface="Consolas"/>
              </a:rPr>
              <a:t>---</a:t>
            </a:r>
            <a:endParaRPr sz="1350" b="0" i="0">
              <a:latin typeface="Consolas"/>
            </a:endParaRPr>
          </a:p>
          <a:p>
            <a:pPr>
              <a:buNone/>
            </a:pPr>
            <a:r>
              <a:rPr sz="1350">
                <a:latin typeface="Consolas"/>
              </a:rPr>
              <a:t>name: webapp-testing</a:t>
            </a:r>
            <a:endParaRPr sz="1350" b="0" i="0">
              <a:latin typeface="Consolas"/>
            </a:endParaRPr>
          </a:p>
          <a:p>
            <a:pPr>
              <a:buNone/>
            </a:pPr>
            <a:r>
              <a:rPr sz="1350">
                <a:latin typeface="Consolas"/>
              </a:rPr>
              <a:t>description: &gt;</a:t>
            </a:r>
            <a:endParaRPr sz="1350" b="0" i="0">
              <a:latin typeface="Consolas"/>
            </a:endParaRPr>
          </a:p>
          <a:p>
            <a:pPr>
              <a:buNone/>
            </a:pPr>
            <a:r>
              <a:rPr sz="1350">
                <a:latin typeface="Consolas"/>
              </a:rPr>
              <a:t>  Assists with web application test strategies and automated test creation.</a:t>
            </a:r>
            <a:endParaRPr sz="1350" b="0" i="0">
              <a:latin typeface="Consolas"/>
            </a:endParaRPr>
          </a:p>
          <a:p>
            <a:pPr>
              <a:buNone/>
            </a:pPr>
            <a:r>
              <a:rPr sz="1350">
                <a:latin typeface="Consolas"/>
              </a:rPr>
              <a:t>  Use for topics related to testing, test, E2E.</a:t>
            </a:r>
            <a:endParaRPr sz="1350" b="0" i="0">
              <a:latin typeface="Consolas"/>
            </a:endParaRPr>
          </a:p>
          <a:p>
            <a:pPr>
              <a:buNone/>
            </a:pPr>
            <a:r>
              <a:rPr sz="1350">
                <a:latin typeface="Consolas"/>
              </a:rPr>
              <a:t>---</a:t>
            </a:r>
            <a:endParaRPr sz="1350" b="0" i="0">
              <a:latin typeface="Consolas"/>
            </a:endParaRPr>
          </a:p>
          <a:p>
            <a:pPr>
              <a:buNone/>
            </a:pPr>
            <a:endParaRPr sz="1350" b="0" i="0">
              <a:latin typeface="Consolas"/>
            </a:endParaRPr>
          </a:p>
          <a:p>
            <a:pPr>
              <a:buNone/>
            </a:pPr>
            <a:endParaRPr sz="1350" b="0" i="0">
              <a:latin typeface="Consolas"/>
            </a:endParaRPr>
          </a:p>
          <a:p>
            <a:pPr>
              <a:buNone/>
            </a:pPr>
            <a:r>
              <a:rPr sz="1350">
                <a:latin typeface="Consolas"/>
              </a:rPr>
              <a:t>1. Analyze the target code and determine testing strategy</a:t>
            </a:r>
            <a:endParaRPr sz="1350" b="0" i="0">
              <a:latin typeface="Consolas"/>
            </a:endParaRPr>
          </a:p>
          <a:p>
            <a:pPr>
              <a:buNone/>
            </a:pPr>
            <a:r>
              <a:rPr sz="1350">
                <a:latin typeface="Consolas"/>
              </a:rPr>
              <a:t>2. Create test files following the AAA pattern</a:t>
            </a:r>
            <a:endParaRPr sz="1350" b="0" i="0">
              <a:latin typeface="Consolas"/>
            </a:endParaRPr>
          </a:p>
          <a:p>
            <a:pPr>
              <a:buNone/>
            </a:pPr>
            <a:r>
              <a:rPr sz="1350">
                <a:latin typeface="Consolas"/>
              </a:rPr>
              <a:t>3. Run tests and verify results</a:t>
            </a:r>
            <a:endParaRPr sz="1350" b="0" i="0">
              <a:latin typeface="Consola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Copilot Loads Skills</a:t>
            </a:r>
          </a:p>
        </p:txBody>
      </p:sp>
      <p:sp>
        <p:nvSpPr>
          <p:cNvPr id="3" name="Content Placeholder 2"/>
          <p:cNvSpPr>
            <a:spLocks noGrp="1"/>
          </p:cNvSpPr>
          <p:nvPr>
            <p:ph idx="1"/>
          </p:nvPr>
        </p:nvSpPr>
        <p:spPr/>
        <p:txBody>
          <a:bodyPr wrap="square">
            <a:normAutofit/>
          </a:bodyPr>
          <a:lstStyle/>
          <a:p>
            <a:pPr>
              <a:buNone/>
            </a:pPr>
            <a:r>
              <a:rPr sz="1750" b="0" i="0" u="none"/>
              <a:t>Copilot loads a skill when:</a:t>
            </a:r>
            <a:endParaRPr sz="1750" b="0" i="0">
              <a:latin typeface="Arial"/>
            </a:endParaRPr>
          </a:p>
          <a:p>
            <a:pPr>
              <a:buNone/>
            </a:pPr>
            <a:endParaRPr sz="1750" b="0" i="0">
              <a:latin typeface="Arial"/>
            </a:endParaRPr>
          </a:p>
          <a:p>
            <a:r>
              <a:rPr sz="1750" b="0" i="0" u="none"/>
              <a:t>the prompt matches the skill name, keywords, or description</a:t>
            </a:r>
            <a:endParaRPr sz="1750" b="0" i="0">
              <a:latin typeface="Arial"/>
            </a:endParaRPr>
          </a:p>
          <a:p>
            <a:r>
              <a:rPr sz="1750" b="0" i="0" u="none"/>
              <a:t>the task aligns with the defined procedure</a:t>
            </a:r>
            <a:endParaRPr sz="1750" b="0" i="0">
              <a:latin typeface="Arial"/>
            </a:endParaRPr>
          </a:p>
          <a:p>
            <a:r>
              <a:rPr sz="1750" b="0" i="0" u="none"/>
              <a:t>the agent judges the skill to be relevant to the current goal</a:t>
            </a:r>
            <a:endParaRPr sz="1750" b="0" i="0">
              <a:latin typeface="Arial"/>
            </a:endParaRPr>
          </a:p>
          <a:p>
            <a:pPr>
              <a:buNone/>
            </a:pPr>
            <a:endParaRPr sz="1750" b="0" i="0">
              <a:latin typeface="Arial"/>
            </a:endParaRPr>
          </a:p>
          <a:p>
            <a:pPr>
              <a:buNone/>
            </a:pPr>
            <a:r>
              <a:rPr sz="1750" b="0" i="0" u="none"/>
              <a:t>When loaded:</a:t>
            </a:r>
            <a:endParaRPr sz="1750" b="0" i="0">
              <a:latin typeface="Arial"/>
            </a:endParaRPr>
          </a:p>
          <a:p>
            <a:pPr>
              <a:buNone/>
            </a:pPr>
            <a:endParaRPr sz="1750" b="0" i="0">
              <a:latin typeface="Arial"/>
            </a:endParaRPr>
          </a:p>
          <a:p>
            <a:r>
              <a:rPr sz="1750" b="0" i="0" u="none"/>
              <a:t>the instructions are injected into context</a:t>
            </a:r>
            <a:endParaRPr sz="1750" b="0" i="0">
              <a:latin typeface="Arial"/>
            </a:endParaRPr>
          </a:p>
          <a:p>
            <a:r>
              <a:rPr sz="1750" b="0" i="0" u="none"/>
              <a:t>Copilot follows the procedure</a:t>
            </a:r>
            <a:endParaRPr sz="1750" b="0" i="0">
              <a:latin typeface="Arial"/>
            </a:endParaRPr>
          </a:p>
          <a:p>
            <a:r>
              <a:rPr sz="1750" b="0" i="0" u="none"/>
              <a:t>scripts or resources can be used as part of the workflow</a:t>
            </a:r>
            <a:endParaRPr sz="1750" b="0" i="0">
              <a:latin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How Skills Change Copilot's Behavior</a:t>
            </a:r>
          </a:p>
        </p:txBody>
      </p:sp>
      <p:sp>
        <p:nvSpPr>
          <p:cNvPr id="3" name="Content Placeholder 2"/>
          <p:cNvSpPr>
            <a:spLocks noGrp="1"/>
          </p:cNvSpPr>
          <p:nvPr>
            <p:ph sz="half" idx="1"/>
          </p:nvPr>
        </p:nvSpPr>
        <p:spPr/>
        <p:txBody>
          <a:bodyPr wrap="square">
            <a:normAutofit/>
          </a:bodyPr>
          <a:lstStyle/>
          <a:p>
            <a:pPr>
              <a:buNone/>
            </a:pPr>
            <a:r>
              <a:rPr sz="1400" b="0" i="0" u="none"/>
              <a:t>1. Procedural behavior</a:t>
            </a:r>
            <a:endParaRPr sz="2800" b="0" i="0">
              <a:latin typeface="Arial"/>
            </a:endParaRPr>
          </a:p>
          <a:p>
            <a:pPr>
              <a:buNone/>
            </a:pPr>
            <a:endParaRPr sz="2800" b="0" i="0">
              <a:latin typeface="Arial"/>
            </a:endParaRPr>
          </a:p>
          <a:p>
            <a:r>
              <a:rPr sz="1400" b="0" i="0" u="none"/>
              <a:t>Copilot follows the skill's steps to produce more consistent results.</a:t>
            </a:r>
            <a:endParaRPr sz="2800" b="0" i="0">
              <a:latin typeface="Arial"/>
            </a:endParaRPr>
          </a:p>
          <a:p>
            <a:pPr>
              <a:buNone/>
            </a:pPr>
            <a:endParaRPr sz="2800" b="0" i="0">
              <a:latin typeface="Arial"/>
            </a:endParaRPr>
          </a:p>
          <a:p>
            <a:pPr>
              <a:buNone/>
            </a:pPr>
            <a:r>
              <a:rPr sz="1400" b="0" i="0" u="none"/>
              <a:t>2. Expanded capabilities</a:t>
            </a:r>
            <a:endParaRPr sz="2800" b="0" i="0">
              <a:latin typeface="Arial"/>
            </a:endParaRPr>
          </a:p>
          <a:p>
            <a:pPr>
              <a:buNone/>
            </a:pPr>
            <a:endParaRPr sz="2800" b="0" i="0">
              <a:latin typeface="Arial"/>
            </a:endParaRPr>
          </a:p>
          <a:p>
            <a:r>
              <a:rPr sz="1400" b="0" i="0" u="none"/>
              <a:t>Skills can bring in:</a:t>
            </a:r>
            <a:endParaRPr sz="2800" b="0" i="0">
              <a:latin typeface="Arial"/>
            </a:endParaRPr>
          </a:p>
          <a:p>
            <a:pPr lvl="1"/>
            <a:r>
              <a:rPr sz="1400" b="0" i="0" u="none"/>
              <a:t>scripts</a:t>
            </a:r>
            <a:endParaRPr sz="2800" b="0" i="0">
              <a:latin typeface="Arial"/>
            </a:endParaRPr>
          </a:p>
          <a:p>
            <a:pPr lvl="1"/>
            <a:r>
              <a:rPr sz="1400" b="0" i="0" u="none"/>
              <a:t>templates</a:t>
            </a:r>
            <a:endParaRPr sz="2800" b="0" i="0">
              <a:latin typeface="Arial"/>
            </a:endParaRPr>
          </a:p>
          <a:p>
            <a:pPr lvl="1"/>
            <a:r>
              <a:rPr sz="1400" b="0" i="0" u="none"/>
              <a:t>examples</a:t>
            </a:r>
            <a:endParaRPr sz="2800" b="0" i="0">
              <a:latin typeface="Arial"/>
            </a:endParaRPr>
          </a:p>
          <a:p>
            <a:pPr lvl="1"/>
            <a:r>
              <a:rPr sz="1400" b="0" i="0" u="none"/>
              <a:t>domain-specific rules</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3. Context efficiency</a:t>
            </a:r>
            <a:endParaRPr sz="2800" b="0" i="0">
              <a:latin typeface="Arial"/>
            </a:endParaRPr>
          </a:p>
          <a:p>
            <a:pPr>
              <a:buNone/>
            </a:pPr>
            <a:endParaRPr sz="2800" b="0" i="0">
              <a:latin typeface="Arial"/>
            </a:endParaRPr>
          </a:p>
          <a:p>
            <a:r>
              <a:rPr sz="1400" b="0" i="0" u="none"/>
              <a:t>Only relevant skills load, keeping context smaller and more focused.</a:t>
            </a:r>
            <a:endParaRPr sz="2800" b="0" i="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Use Cases</a:t>
            </a:r>
          </a:p>
        </p:txBody>
      </p:sp>
      <p:sp>
        <p:nvSpPr>
          <p:cNvPr id="3" name="Content Placeholder 2"/>
          <p:cNvSpPr>
            <a:spLocks noGrp="1"/>
          </p:cNvSpPr>
          <p:nvPr>
            <p:ph idx="1"/>
          </p:nvPr>
        </p:nvSpPr>
        <p:spPr/>
        <p:txBody>
          <a:bodyPr wrap="square">
            <a:normAutofit/>
          </a:bodyPr>
          <a:lstStyle/>
          <a:p>
            <a:r>
              <a:rPr sz="2750" b="0" i="0" u="none"/>
              <a:t>Test generation and automation</a:t>
            </a:r>
            <a:endParaRPr sz="2750" b="0" i="0">
              <a:latin typeface="Arial"/>
            </a:endParaRPr>
          </a:p>
          <a:p>
            <a:r>
              <a:rPr sz="2750" b="0" i="0" u="none"/>
              <a:t>Code migrations</a:t>
            </a:r>
            <a:endParaRPr sz="2750" b="0" i="0">
              <a:latin typeface="Arial"/>
            </a:endParaRPr>
          </a:p>
          <a:p>
            <a:r>
              <a:rPr sz="2750" b="0" i="0" u="none"/>
              <a:t>Security scanning workflows</a:t>
            </a:r>
            <a:endParaRPr sz="2750" b="0" i="0">
              <a:latin typeface="Arial"/>
            </a:endParaRPr>
          </a:p>
          <a:p>
            <a:r>
              <a:rPr sz="2750" b="0" i="0" u="none"/>
              <a:t>Documentation generation</a:t>
            </a:r>
            <a:endParaRPr sz="2750" b="0" i="0">
              <a:latin typeface="Arial"/>
            </a:endParaRPr>
          </a:p>
          <a:p>
            <a:r>
              <a:rPr sz="2750" b="0" i="0" u="none"/>
              <a:t>Data pipeline validation</a:t>
            </a:r>
            <a:endParaRPr sz="2750" b="0" i="0">
              <a:latin typeface="Arial"/>
            </a:endParaRPr>
          </a:p>
          <a:p>
            <a:r>
              <a:rPr sz="2750" b="0" i="0" u="none"/>
              <a:t>Infrastructure provisioning patterns</a:t>
            </a:r>
            <a:endParaRPr sz="2750" b="0" i="0">
              <a:latin typeface="Arial"/>
            </a:endParaRPr>
          </a:p>
          <a:p>
            <a:r>
              <a:rPr sz="2750" b="0" i="0" u="none"/>
              <a:t>Compliance checklists</a:t>
            </a:r>
            <a:endParaRPr sz="2750" b="0" i="0">
              <a:latin typeface="Arial"/>
            </a:endParaRPr>
          </a:p>
          <a:p>
            <a:r>
              <a:rPr sz="2750" b="0" i="0" u="none"/>
              <a:t>Onboarding workflows</a:t>
            </a:r>
            <a:endParaRPr sz="2750" b="0" i="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Best Practices for Skill Authoring</a:t>
            </a:r>
          </a:p>
        </p:txBody>
      </p:sp>
      <p:sp>
        <p:nvSpPr>
          <p:cNvPr id="3" name="Content Placeholder 2"/>
          <p:cNvSpPr>
            <a:spLocks noGrp="1"/>
          </p:cNvSpPr>
          <p:nvPr>
            <p:ph idx="1"/>
          </p:nvPr>
        </p:nvSpPr>
        <p:spPr/>
        <p:txBody>
          <a:bodyPr wrap="square">
            <a:normAutofit/>
          </a:bodyPr>
          <a:lstStyle/>
          <a:p>
            <a:r>
              <a:rPr sz="2800" b="0" i="0" u="none"/>
              <a:t>Use </a:t>
            </a:r>
            <a:r>
              <a:rPr sz="2800" b="1" i="0" u="none"/>
              <a:t>clear, imperative steps</a:t>
            </a:r>
            <a:r>
              <a:rPr sz="2800" b="0" i="0" u="none"/>
              <a:t> ("Do X, then Y")</a:t>
            </a:r>
            <a:endParaRPr sz="2800" b="0" i="0">
              <a:latin typeface="Arial"/>
            </a:endParaRPr>
          </a:p>
          <a:p>
            <a:r>
              <a:rPr sz="2800" b="0" i="0" u="none"/>
              <a:t>Keep procedures </a:t>
            </a:r>
            <a:r>
              <a:rPr sz="2800" b="1" i="0" u="none"/>
              <a:t>short and deterministic</a:t>
            </a:r>
            <a:endParaRPr sz="2800" b="0" i="0">
              <a:latin typeface="Arial"/>
            </a:endParaRPr>
          </a:p>
          <a:p>
            <a:r>
              <a:rPr sz="2800" b="0" i="0" u="none"/>
              <a:t>Include </a:t>
            </a:r>
            <a:r>
              <a:rPr sz="2800" b="1" i="0" u="none"/>
              <a:t>examples</a:t>
            </a:r>
            <a:r>
              <a:rPr sz="2800" b="0" i="0" u="none"/>
              <a:t> for complex tasks</a:t>
            </a:r>
            <a:endParaRPr sz="2800" b="0" i="0">
              <a:latin typeface="Arial"/>
            </a:endParaRPr>
          </a:p>
          <a:p>
            <a:r>
              <a:rPr sz="2800" b="0" i="0" u="none"/>
              <a:t>Use </a:t>
            </a:r>
            <a:r>
              <a:rPr sz="2800" b="1" i="0" u="none"/>
              <a:t>scripts</a:t>
            </a:r>
            <a:r>
              <a:rPr sz="2800" b="0" i="0" u="none"/>
              <a:t> for repeatable automation</a:t>
            </a:r>
            <a:endParaRPr sz="2800" b="0" i="0">
              <a:latin typeface="Arial"/>
            </a:endParaRPr>
          </a:p>
          <a:p>
            <a:r>
              <a:rPr sz="2800" b="0" i="0" u="none"/>
              <a:t>Add </a:t>
            </a:r>
            <a:r>
              <a:rPr sz="2800" b="1" i="0" u="none"/>
              <a:t>keywords</a:t>
            </a:r>
            <a:r>
              <a:rPr sz="2800" b="0" i="0" u="none"/>
              <a:t> in the description for better relevance matching</a:t>
            </a:r>
            <a:endParaRPr sz="2800" b="0" i="0">
              <a:latin typeface="Arial"/>
            </a:endParaRPr>
          </a:p>
          <a:p>
            <a:r>
              <a:rPr sz="2800" b="0" i="0" u="none"/>
              <a:t>Test skills by prompting Copilot with expected triggers</a:t>
            </a:r>
            <a:endParaRPr sz="28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Your First Skill</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Your First Skill</a:t>
            </a:r>
          </a:p>
        </p:txBody>
      </p:sp>
      <p:sp>
        <p:nvSpPr>
          <p:cNvPr id="3" name="Content Placeholder 2"/>
          <p:cNvSpPr>
            <a:spLocks noGrp="1"/>
          </p:cNvSpPr>
          <p:nvPr>
            <p:ph sz="half" idx="1"/>
          </p:nvPr>
        </p:nvSpPr>
        <p:spPr/>
        <p:txBody>
          <a:bodyPr wrap="square">
            <a:normAutofit fontScale="77500" lnSpcReduction="20000"/>
          </a:bodyPr>
          <a:lstStyle/>
          <a:p>
            <a:pPr>
              <a:buNone/>
            </a:pPr>
            <a:r>
              <a:rPr sz="1200" b="0" i="0" u="none" dirty="0"/>
              <a:t>Objective</a:t>
            </a:r>
          </a:p>
          <a:p>
            <a:r>
              <a:rPr sz="1200" b="0" i="0" u="none" dirty="0"/>
              <a:t>Build a real Copilot skill: </a:t>
            </a:r>
            <a:r>
              <a:rPr sz="1200" b="0" i="0" u="none" dirty="0">
                <a:latin typeface="Consolas"/>
              </a:rPr>
              <a:t>code-smell-review</a:t>
            </a:r>
            <a:r>
              <a:rPr sz="1200" b="0" i="0" u="none" dirty="0"/>
              <a:t> for identifying bad code smells and refactoring targets.</a:t>
            </a:r>
          </a:p>
          <a:p>
            <a:pPr>
              <a:buNone/>
            </a:pPr>
            <a:r>
              <a:rPr sz="1200" b="0" i="0" u="none" dirty="0"/>
              <a:t>Activities</a:t>
            </a:r>
          </a:p>
          <a:p>
            <a:pPr>
              <a:buNone/>
            </a:pPr>
            <a:r>
              <a:rPr sz="1200" b="0" i="0" u="none" dirty="0"/>
              <a:t>1. Create folder and file</a:t>
            </a:r>
          </a:p>
          <a:p>
            <a:pPr>
              <a:buNone/>
            </a:pPr>
            <a:r>
              <a:rPr sz="1200" b="0" i="0" u="none" dirty="0"/>
              <a:t>  Create </a:t>
            </a:r>
            <a:r>
              <a:rPr sz="1200" b="0" i="0" u="none" dirty="0">
                <a:latin typeface="Consolas"/>
              </a:rPr>
              <a:t>.</a:t>
            </a:r>
            <a:r>
              <a:rPr sz="1200" b="0" i="0" u="none" dirty="0" err="1">
                <a:latin typeface="Consolas"/>
              </a:rPr>
              <a:t>github</a:t>
            </a:r>
            <a:r>
              <a:rPr sz="1200" b="0" i="0" u="none" dirty="0">
                <a:latin typeface="Consolas"/>
              </a:rPr>
              <a:t>/skills/code-smell-review/SKILL.md</a:t>
            </a:r>
            <a:r>
              <a:rPr sz="1200" b="0" i="0" u="none" dirty="0"/>
              <a:t> with this starter:</a:t>
            </a:r>
          </a:p>
          <a:p>
            <a:pPr>
              <a:lnSpc>
                <a:spcPct val="120000"/>
              </a:lnSpc>
              <a:spcBef>
                <a:spcPts val="0"/>
              </a:spcBef>
              <a:buNone/>
            </a:pPr>
            <a:r>
              <a:rPr sz="1200" dirty="0">
                <a:latin typeface="Consolas"/>
              </a:rPr>
              <a:t>   ---</a:t>
            </a:r>
            <a:endParaRPr lang="en-US" sz="1200" dirty="0">
              <a:latin typeface="Consolas"/>
            </a:endParaRPr>
          </a:p>
          <a:p>
            <a:pPr>
              <a:lnSpc>
                <a:spcPct val="120000"/>
              </a:lnSpc>
              <a:spcBef>
                <a:spcPts val="0"/>
              </a:spcBef>
              <a:buNone/>
            </a:pPr>
            <a:r>
              <a:rPr lang="en-US" sz="1200" dirty="0">
                <a:latin typeface="Consolas"/>
              </a:rPr>
              <a:t>   </a:t>
            </a:r>
            <a:r>
              <a:rPr sz="1200" dirty="0">
                <a:latin typeface="Consolas"/>
              </a:rPr>
              <a:t>name: code-smell-review</a:t>
            </a:r>
          </a:p>
          <a:p>
            <a:pPr>
              <a:lnSpc>
                <a:spcPct val="120000"/>
              </a:lnSpc>
              <a:spcBef>
                <a:spcPts val="0"/>
              </a:spcBef>
              <a:buNone/>
            </a:pPr>
            <a:r>
              <a:rPr sz="1200" dirty="0">
                <a:latin typeface="Consolas"/>
              </a:rPr>
              <a:t>   description: Identify high-risk code smells and suggest prioritized, low-risk refactoring steps.</a:t>
            </a:r>
          </a:p>
          <a:p>
            <a:pPr>
              <a:lnSpc>
                <a:spcPct val="120000"/>
              </a:lnSpc>
              <a:spcBef>
                <a:spcPts val="0"/>
              </a:spcBef>
              <a:buNone/>
            </a:pPr>
            <a:r>
              <a:rPr sz="1200" dirty="0">
                <a:latin typeface="Consolas"/>
              </a:rPr>
              <a:t>   keywords:</a:t>
            </a:r>
          </a:p>
          <a:p>
            <a:pPr>
              <a:lnSpc>
                <a:spcPct val="120000"/>
              </a:lnSpc>
              <a:spcBef>
                <a:spcPts val="0"/>
              </a:spcBef>
              <a:buNone/>
            </a:pPr>
            <a:r>
              <a:rPr sz="1200" dirty="0">
                <a:latin typeface="Consolas"/>
              </a:rPr>
              <a:t>     [code-smell, refactor, maintainability, complexity, duplication, legacy]</a:t>
            </a:r>
          </a:p>
          <a:p>
            <a:pPr>
              <a:lnSpc>
                <a:spcPct val="120000"/>
              </a:lnSpc>
              <a:spcBef>
                <a:spcPts val="0"/>
              </a:spcBef>
              <a:buNone/>
            </a:pPr>
            <a:r>
              <a:rPr sz="1200" dirty="0">
                <a:latin typeface="Consolas"/>
              </a:rPr>
              <a:t>   ---</a:t>
            </a:r>
          </a:p>
          <a:p>
            <a:pPr>
              <a:spcBef>
                <a:spcPts val="0"/>
              </a:spcBef>
              <a:buNone/>
            </a:pPr>
            <a:r>
              <a:rPr sz="1200" dirty="0">
                <a:latin typeface="Consolas"/>
              </a:rPr>
              <a:t>   # Code Smell Review Skill</a:t>
            </a:r>
          </a:p>
          <a:p>
            <a:pPr>
              <a:spcBef>
                <a:spcPts val="0"/>
              </a:spcBef>
              <a:buNone/>
            </a:pPr>
            <a:r>
              <a:rPr sz="1200" dirty="0">
                <a:latin typeface="Consolas"/>
              </a:rPr>
              <a:t>   Use this skill when reviewing modules with rising complexity, brittle tests, or frequent defects.</a:t>
            </a:r>
          </a:p>
          <a:p>
            <a:pPr>
              <a:spcBef>
                <a:spcPts val="0"/>
              </a:spcBef>
              <a:buNone/>
            </a:pPr>
            <a:r>
              <a:rPr sz="1200" dirty="0">
                <a:latin typeface="Consolas"/>
              </a:rPr>
              <a:t>   ## Procedure</a:t>
            </a:r>
          </a:p>
          <a:p>
            <a:pPr>
              <a:spcBef>
                <a:spcPts val="0"/>
              </a:spcBef>
              <a:buNone/>
            </a:pPr>
            <a:r>
              <a:rPr sz="1200" dirty="0">
                <a:latin typeface="Consolas"/>
              </a:rPr>
              <a:t>   1. Identify top code smells (long methods, duplication, large classes, deep nesting, shotgun changes).</a:t>
            </a:r>
          </a:p>
          <a:p>
            <a:pPr>
              <a:spcBef>
                <a:spcPts val="0"/>
              </a:spcBef>
              <a:buNone/>
            </a:pPr>
            <a:r>
              <a:rPr sz="1200" dirty="0">
                <a:latin typeface="Consolas"/>
              </a:rPr>
              <a:t>   2. Rank each smell by risk and maintenance impact.</a:t>
            </a:r>
          </a:p>
          <a:p>
            <a:pPr>
              <a:spcBef>
                <a:spcPts val="0"/>
              </a:spcBef>
              <a:buNone/>
            </a:pPr>
            <a:r>
              <a:rPr sz="1200" dirty="0">
                <a:latin typeface="Consolas"/>
              </a:rPr>
              <a:t>   3. Point to concrete locations and explain why each smell is harmful.</a:t>
            </a:r>
          </a:p>
          <a:p>
            <a:pPr>
              <a:spcBef>
                <a:spcPts val="0"/>
              </a:spcBef>
              <a:buNone/>
            </a:pPr>
            <a:r>
              <a:rPr sz="1200" dirty="0">
                <a:latin typeface="Consolas"/>
              </a:rPr>
              <a:t>   4. Propose safe refactoring steps in smallest-change order.</a:t>
            </a:r>
          </a:p>
          <a:p>
            <a:pPr>
              <a:spcBef>
                <a:spcPts val="0"/>
              </a:spcBef>
              <a:buNone/>
            </a:pPr>
            <a:r>
              <a:rPr sz="1200" dirty="0">
                <a:latin typeface="Consolas"/>
              </a:rPr>
              <a:t>   5. Produce a summary with quick wins vs. deeper refactors.</a:t>
            </a:r>
          </a:p>
          <a:p>
            <a:pPr>
              <a:buNone/>
            </a:pPr>
            <a:endParaRPr sz="1200" dirty="0">
              <a:latin typeface="Consolas"/>
            </a:endParaRPr>
          </a:p>
          <a:p>
            <a:pPr>
              <a:buNone/>
            </a:pPr>
            <a:r>
              <a:rPr sz="1200" b="0" i="0" u="none" dirty="0"/>
              <a:t>2. Add one sample prompt for users</a:t>
            </a:r>
          </a:p>
          <a:p>
            <a:pPr lvl="1"/>
            <a:r>
              <a:rPr sz="1200" b="0" i="0" u="none" dirty="0"/>
              <a:t>Example prompt:</a:t>
            </a:r>
          </a:p>
          <a:p>
            <a:pPr>
              <a:buNone/>
            </a:pPr>
            <a:r>
              <a:rPr sz="1200" b="0" i="0" u="none" dirty="0"/>
              <a:t>  </a:t>
            </a:r>
            <a:r>
              <a:rPr sz="1200" b="0" i="0" u="none" dirty="0">
                <a:latin typeface="Consolas"/>
              </a:rPr>
              <a:t>Use code-smell-review on this module and list the top 5 smells with refactoring steps.</a:t>
            </a:r>
          </a:p>
        </p:txBody>
      </p:sp>
      <p:sp>
        <p:nvSpPr>
          <p:cNvPr id="4" name="Content Placeholder 3"/>
          <p:cNvSpPr>
            <a:spLocks noGrp="1"/>
          </p:cNvSpPr>
          <p:nvPr>
            <p:ph sz="half" idx="2"/>
          </p:nvPr>
        </p:nvSpPr>
        <p:spPr/>
        <p:txBody>
          <a:bodyPr wrap="square">
            <a:normAutofit fontScale="77500" lnSpcReduction="20000"/>
          </a:bodyPr>
          <a:lstStyle/>
          <a:p>
            <a:pPr>
              <a:buNone/>
            </a:pPr>
            <a:r>
              <a:rPr sz="1200" b="0" i="0" u="none" dirty="0"/>
              <a:t>3. Commit and test with a concrete scenario</a:t>
            </a:r>
          </a:p>
          <a:p>
            <a:pPr>
              <a:buNone/>
            </a:pPr>
            <a:endParaRPr sz="1200" b="0" i="0" u="none" dirty="0"/>
          </a:p>
          <a:p>
            <a:pPr>
              <a:buNone/>
            </a:pPr>
            <a:r>
              <a:rPr sz="1200" dirty="0">
                <a:latin typeface="Consolas"/>
              </a:rPr>
              <a:t>  git add .</a:t>
            </a:r>
            <a:r>
              <a:rPr sz="1200" dirty="0" err="1">
                <a:latin typeface="Consolas"/>
              </a:rPr>
              <a:t>github</a:t>
            </a:r>
            <a:r>
              <a:rPr sz="1200" dirty="0">
                <a:latin typeface="Consolas"/>
              </a:rPr>
              <a:t>/skills/code-smell-review/</a:t>
            </a:r>
          </a:p>
          <a:p>
            <a:pPr>
              <a:buNone/>
            </a:pPr>
            <a:r>
              <a:rPr sz="1200" dirty="0">
                <a:latin typeface="Consolas"/>
              </a:rPr>
              <a:t>  git commit -m "Add code-smell-review skill"</a:t>
            </a:r>
          </a:p>
          <a:p>
            <a:pPr>
              <a:buNone/>
            </a:pPr>
            <a:endParaRPr sz="1200" dirty="0">
              <a:latin typeface="Consolas"/>
            </a:endParaRPr>
          </a:p>
          <a:p>
            <a:pPr>
              <a:buNone/>
            </a:pPr>
            <a:r>
              <a:rPr sz="1200" b="0" i="0" u="none" dirty="0"/>
              <a:t>   Ask Copilot:</a:t>
            </a:r>
          </a:p>
          <a:p>
            <a:pPr lvl="1"/>
            <a:r>
              <a:rPr sz="1200" b="0" i="0" u="none" dirty="0">
                <a:latin typeface="Consolas"/>
              </a:rPr>
              <a:t>Review src/order_service.py using code-smell-review and identify top smells by impact.</a:t>
            </a:r>
          </a:p>
          <a:p>
            <a:pPr lvl="1"/>
            <a:r>
              <a:rPr sz="1200" b="0" i="0" u="none" dirty="0">
                <a:latin typeface="Consolas"/>
              </a:rPr>
              <a:t>Give me a step-by-step refactor plan that keeps behavior unchanged.</a:t>
            </a:r>
          </a:p>
          <a:p>
            <a:pPr>
              <a:buNone/>
            </a:pPr>
            <a:endParaRPr sz="1200" b="0" i="0" u="none" dirty="0">
              <a:latin typeface="Consolas"/>
            </a:endParaRPr>
          </a:p>
          <a:p>
            <a:pPr>
              <a:buNone/>
            </a:pPr>
            <a:r>
              <a:rPr sz="1200" b="0" i="0" u="none" dirty="0"/>
              <a:t>Success Criteria</a:t>
            </a:r>
          </a:p>
          <a:p>
            <a:pPr>
              <a:buNone/>
            </a:pPr>
            <a:endParaRPr sz="1200" b="0" i="0" u="none" dirty="0"/>
          </a:p>
          <a:p>
            <a:r>
              <a:rPr sz="1200" b="0" i="0" u="none" dirty="0">
                <a:latin typeface="Consolas"/>
              </a:rPr>
              <a:t>.</a:t>
            </a:r>
            <a:r>
              <a:rPr sz="1200" b="0" i="0" u="none" dirty="0" err="1">
                <a:latin typeface="Consolas"/>
              </a:rPr>
              <a:t>github</a:t>
            </a:r>
            <a:r>
              <a:rPr sz="1200" b="0" i="0" u="none" dirty="0">
                <a:latin typeface="Consolas"/>
              </a:rPr>
              <a:t>/skills/code-smell-review/SKILL.md</a:t>
            </a:r>
            <a:r>
              <a:rPr sz="1200" b="0" i="0" u="none" dirty="0"/>
              <a:t> exists and is valid markdown</a:t>
            </a:r>
          </a:p>
          <a:p>
            <a:r>
              <a:rPr sz="1200" b="0" i="0" u="none" dirty="0"/>
              <a:t>Copilot response identifies concrete smells with file-level evidence</a:t>
            </a:r>
          </a:p>
          <a:p>
            <a:r>
              <a:rPr sz="1200" b="0" i="0" u="none" dirty="0"/>
              <a:t>Copilot provides prioritized, behavior-safe refactoring guidance</a:t>
            </a:r>
          </a:p>
          <a:p>
            <a:r>
              <a:rPr sz="1200" b="0" i="0" u="none" dirty="0"/>
              <a:t>Skill is committed and reviewable in git history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Custom Agents</a:t>
            </a:r>
          </a:p>
          <a:p>
            <a:r>
              <a:rPr b="0" i="0" u="none"/>
              <a:t>Skills</a:t>
            </a:r>
          </a:p>
          <a:p>
            <a:r>
              <a:rPr b="1" i="0" u="none"/>
              <a:t>▶ Instructions vs Prompts vs Agents vs Skills</a:t>
            </a:r>
          </a:p>
          <a:p>
            <a:r>
              <a:rPr b="0" i="0" u="none"/>
              <a:t>MCP</a:t>
            </a:r>
          </a:p>
          <a:p>
            <a:r>
              <a:rPr b="0" i="0" u="none"/>
              <a:t>Copilot Memory Feature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Comparing AI Development Approaches</a:t>
            </a:r>
          </a:p>
        </p:txBody>
      </p:sp>
      <p:sp>
        <p:nvSpPr>
          <p:cNvPr id="3" name="Subtitle 2"/>
          <p:cNvSpPr>
            <a:spLocks noGrp="1"/>
          </p:cNvSpPr>
          <p:nvPr>
            <p:ph type="subTitle" idx="1"/>
          </p:nvPr>
        </p:nvSpPr>
        <p:spPr/>
        <p:txBody>
          <a:bodyPr wrap="square">
            <a:normAutofit/>
          </a:bodyPr>
          <a:lstStyle/>
          <a:p>
            <a:pPr>
              <a:buNone/>
            </a:pPr>
            <a:r>
              <a:rPr b="0" i="0" u="none"/>
              <a:t>Know Thy Copilot: Context, Artifacts, and Agent Files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Comparison Matrix</a:t>
            </a:r>
          </a:p>
        </p:txBody>
      </p:sp>
      <p:graphicFrame>
        <p:nvGraphicFramePr>
          <p:cNvPr id="3" name="Table 2"/>
          <p:cNvGraphicFramePr>
            <a:graphicFrameLocks noGrp="1"/>
          </p:cNvGraphicFramePr>
          <p:nvPr/>
        </p:nvGraphicFramePr>
        <p:xfrm>
          <a:off x="1219200" y="1828800"/>
          <a:ext cx="9753600" cy="3352800"/>
        </p:xfrm>
        <a:graphic>
          <a:graphicData uri="http://schemas.openxmlformats.org/drawingml/2006/table">
            <a:tbl>
              <a:tblPr firstRow="1" bandRow="1">
                <a:tableStyleId>{5C22544A-7EE6-4342-B048-85BDC9FD1C3A}</a:tableStyleId>
              </a:tblPr>
              <a:tblGrid>
                <a:gridCol w="1950720">
                  <a:extLst>
                    <a:ext uri="{9D8B030D-6E8A-4147-A177-3AD203B41FA5}">
                      <a16:colId xmlns:a16="http://schemas.microsoft.com/office/drawing/2014/main" val="20000"/>
                    </a:ext>
                  </a:extLst>
                </a:gridCol>
                <a:gridCol w="1950720">
                  <a:extLst>
                    <a:ext uri="{9D8B030D-6E8A-4147-A177-3AD203B41FA5}">
                      <a16:colId xmlns:a16="http://schemas.microsoft.com/office/drawing/2014/main" val="20001"/>
                    </a:ext>
                  </a:extLst>
                </a:gridCol>
                <a:gridCol w="1950720">
                  <a:extLst>
                    <a:ext uri="{9D8B030D-6E8A-4147-A177-3AD203B41FA5}">
                      <a16:colId xmlns:a16="http://schemas.microsoft.com/office/drawing/2014/main" val="20002"/>
                    </a:ext>
                  </a:extLst>
                </a:gridCol>
                <a:gridCol w="1950720">
                  <a:extLst>
                    <a:ext uri="{9D8B030D-6E8A-4147-A177-3AD203B41FA5}">
                      <a16:colId xmlns:a16="http://schemas.microsoft.com/office/drawing/2014/main" val="20003"/>
                    </a:ext>
                  </a:extLst>
                </a:gridCol>
                <a:gridCol w="1950720">
                  <a:extLst>
                    <a:ext uri="{9D8B030D-6E8A-4147-A177-3AD203B41FA5}">
                      <a16:colId xmlns:a16="http://schemas.microsoft.com/office/drawing/2014/main" val="20004"/>
                    </a:ext>
                  </a:extLst>
                </a:gridCol>
              </a:tblGrid>
              <a:tr h="457200">
                <a:tc>
                  <a:txBody>
                    <a:bodyPr/>
                    <a:lstStyle/>
                    <a:p>
                      <a:pPr>
                        <a:buNone/>
                        <a:defRPr sz="1600" b="1">
                          <a:solidFill>
                            <a:schemeClr val="bg1"/>
                          </a:solidFill>
                        </a:defRPr>
                      </a:pPr>
                      <a:r>
                        <a:rPr sz="1600" b="0" i="0" u="none"/>
                        <a:t>Aspect</a:t>
                      </a:r>
                    </a:p>
                  </a:txBody>
                  <a:tcPr>
                    <a:solidFill>
                      <a:schemeClr val="accent4"/>
                    </a:solidFill>
                  </a:tcPr>
                </a:tc>
                <a:tc>
                  <a:txBody>
                    <a:bodyPr/>
                    <a:lstStyle/>
                    <a:p>
                      <a:pPr>
                        <a:buNone/>
                        <a:defRPr sz="1600" b="1">
                          <a:solidFill>
                            <a:schemeClr val="bg1"/>
                          </a:solidFill>
                        </a:defRPr>
                      </a:pPr>
                      <a:r>
                        <a:rPr sz="1600" b="0" i="0" u="none"/>
                        <a:t>Instruction Files</a:t>
                      </a:r>
                    </a:p>
                  </a:txBody>
                  <a:tcPr>
                    <a:solidFill>
                      <a:schemeClr val="accent4"/>
                    </a:solidFill>
                  </a:tcPr>
                </a:tc>
                <a:tc>
                  <a:txBody>
                    <a:bodyPr/>
                    <a:lstStyle/>
                    <a:p>
                      <a:pPr>
                        <a:buNone/>
                        <a:defRPr sz="1600" b="1">
                          <a:solidFill>
                            <a:schemeClr val="bg1"/>
                          </a:solidFill>
                        </a:defRPr>
                      </a:pPr>
                      <a:r>
                        <a:rPr sz="1600" b="0" i="0" u="none"/>
                        <a:t>Prompt Files</a:t>
                      </a:r>
                    </a:p>
                  </a:txBody>
                  <a:tcPr>
                    <a:solidFill>
                      <a:schemeClr val="accent4"/>
                    </a:solidFill>
                  </a:tcPr>
                </a:tc>
                <a:tc>
                  <a:txBody>
                    <a:bodyPr/>
                    <a:lstStyle/>
                    <a:p>
                      <a:pPr>
                        <a:buNone/>
                        <a:defRPr sz="1600" b="1">
                          <a:solidFill>
                            <a:schemeClr val="bg1"/>
                          </a:solidFill>
                        </a:defRPr>
                      </a:pPr>
                      <a:r>
                        <a:rPr sz="1600" b="0" i="0" u="none"/>
                        <a:t>Skills</a:t>
                      </a:r>
                    </a:p>
                  </a:txBody>
                  <a:tcPr>
                    <a:solidFill>
                      <a:schemeClr val="accent4"/>
                    </a:solidFill>
                  </a:tcPr>
                </a:tc>
                <a:tc>
                  <a:txBody>
                    <a:bodyPr/>
                    <a:lstStyle/>
                    <a:p>
                      <a:pPr>
                        <a:buNone/>
                        <a:defRPr sz="1600" b="1">
                          <a:solidFill>
                            <a:schemeClr val="bg1"/>
                          </a:solidFill>
                        </a:defRPr>
                      </a:pPr>
                      <a:r>
                        <a:rPr sz="1600" b="0" i="0" u="none"/>
                        <a:t>Custom Agents</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Purpose</a:t>
                      </a:r>
                    </a:p>
                  </a:txBody>
                  <a:tcPr>
                    <a:solidFill>
                      <a:schemeClr val="accent4">
                        <a:lumMod val="20000"/>
                        <a:lumOff val="80000"/>
                      </a:schemeClr>
                    </a:solidFill>
                  </a:tcPr>
                </a:tc>
                <a:tc>
                  <a:txBody>
                    <a:bodyPr/>
                    <a:lstStyle/>
                    <a:p>
                      <a:pPr>
                        <a:buNone/>
                        <a:defRPr sz="1600" b="0">
                          <a:solidFill>
                            <a:schemeClr val="tx1"/>
                          </a:solidFill>
                        </a:defRPr>
                      </a:pPr>
                      <a:r>
                        <a:rPr sz="1600" b="0" i="0" u="none"/>
                        <a:t>Define AI behavior</a:t>
                      </a:r>
                    </a:p>
                  </a:txBody>
                  <a:tcPr>
                    <a:solidFill>
                      <a:schemeClr val="accent4">
                        <a:lumMod val="20000"/>
                        <a:lumOff val="80000"/>
                      </a:schemeClr>
                    </a:solidFill>
                  </a:tcPr>
                </a:tc>
                <a:tc>
                  <a:txBody>
                    <a:bodyPr/>
                    <a:lstStyle/>
                    <a:p>
                      <a:pPr>
                        <a:buNone/>
                        <a:defRPr sz="1600" b="0">
                          <a:solidFill>
                            <a:schemeClr val="tx1"/>
                          </a:solidFill>
                        </a:defRPr>
                      </a:pPr>
                      <a:r>
                        <a:rPr sz="1600" b="0" i="0" u="none"/>
                        <a:t>Execute specific tasks</a:t>
                      </a:r>
                    </a:p>
                  </a:txBody>
                  <a:tcPr>
                    <a:solidFill>
                      <a:schemeClr val="accent4">
                        <a:lumMod val="20000"/>
                        <a:lumOff val="80000"/>
                      </a:schemeClr>
                    </a:solidFill>
                  </a:tcPr>
                </a:tc>
                <a:tc>
                  <a:txBody>
                    <a:bodyPr/>
                    <a:lstStyle/>
                    <a:p>
                      <a:pPr>
                        <a:buNone/>
                        <a:defRPr sz="1600" b="0">
                          <a:solidFill>
                            <a:schemeClr val="tx1"/>
                          </a:solidFill>
                        </a:defRPr>
                      </a:pPr>
                      <a:r>
                        <a:rPr sz="1600" b="0" i="0" u="none"/>
                        <a:t>Package domain workflows</a:t>
                      </a:r>
                    </a:p>
                  </a:txBody>
                  <a:tcPr>
                    <a:solidFill>
                      <a:schemeClr val="accent4">
                        <a:lumMod val="20000"/>
                        <a:lumOff val="80000"/>
                      </a:schemeClr>
                    </a:solidFill>
                  </a:tcPr>
                </a:tc>
                <a:tc>
                  <a:txBody>
                    <a:bodyPr/>
                    <a:lstStyle/>
                    <a:p>
                      <a:pPr>
                        <a:buNone/>
                        <a:defRPr sz="1600" b="0">
                          <a:solidFill>
                            <a:schemeClr val="tx1"/>
                          </a:solidFill>
                        </a:defRPr>
                      </a:pPr>
                      <a:r>
                        <a:rPr sz="1600" b="0" i="0" u="none"/>
                        <a:t>Provide specialized expertise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Scope</a:t>
                      </a:r>
                    </a:p>
                  </a:txBody>
                  <a:tcPr>
                    <a:solidFill>
                      <a:schemeClr val="accent4">
                        <a:lumMod val="8000"/>
                        <a:lumOff val="92000"/>
                      </a:schemeClr>
                    </a:solidFill>
                  </a:tcPr>
                </a:tc>
                <a:tc>
                  <a:txBody>
                    <a:bodyPr/>
                    <a:lstStyle/>
                    <a:p>
                      <a:pPr>
                        <a:buNone/>
                        <a:defRPr sz="1600" b="0">
                          <a:solidFill>
                            <a:schemeClr val="tx1"/>
                          </a:solidFill>
                        </a:defRPr>
                      </a:pPr>
                      <a:r>
                        <a:rPr sz="1600" b="0" i="0" u="none"/>
                        <a:t>Repository-wide</a:t>
                      </a:r>
                    </a:p>
                  </a:txBody>
                  <a:tcPr>
                    <a:solidFill>
                      <a:schemeClr val="accent4">
                        <a:lumMod val="8000"/>
                        <a:lumOff val="92000"/>
                      </a:schemeClr>
                    </a:solidFill>
                  </a:tcPr>
                </a:tc>
                <a:tc>
                  <a:txBody>
                    <a:bodyPr/>
                    <a:lstStyle/>
                    <a:p>
                      <a:pPr>
                        <a:buNone/>
                        <a:defRPr sz="1600" b="0">
                          <a:solidFill>
                            <a:schemeClr val="tx1"/>
                          </a:solidFill>
                        </a:defRPr>
                      </a:pPr>
                      <a:r>
                        <a:rPr sz="1600" b="0" i="0" u="none"/>
                        <a:t>Single task/workflow</a:t>
                      </a:r>
                    </a:p>
                  </a:txBody>
                  <a:tcPr>
                    <a:solidFill>
                      <a:schemeClr val="accent4">
                        <a:lumMod val="8000"/>
                        <a:lumOff val="92000"/>
                      </a:schemeClr>
                    </a:solidFill>
                  </a:tcPr>
                </a:tc>
                <a:tc>
                  <a:txBody>
                    <a:bodyPr/>
                    <a:lstStyle/>
                    <a:p>
                      <a:pPr>
                        <a:buNone/>
                        <a:defRPr sz="1600" b="0">
                          <a:solidFill>
                            <a:schemeClr val="tx1"/>
                          </a:solidFill>
                        </a:defRPr>
                      </a:pPr>
                      <a:r>
                        <a:rPr sz="1600" b="0" i="0" u="none"/>
                        <a:t>Topic/domain-specific capability</a:t>
                      </a:r>
                    </a:p>
                  </a:txBody>
                  <a:tcPr>
                    <a:solidFill>
                      <a:schemeClr val="accent4">
                        <a:lumMod val="8000"/>
                        <a:lumOff val="92000"/>
                      </a:schemeClr>
                    </a:solidFill>
                  </a:tcPr>
                </a:tc>
                <a:tc>
                  <a:txBody>
                    <a:bodyPr/>
                    <a:lstStyle/>
                    <a:p>
                      <a:pPr>
                        <a:buNone/>
                        <a:defRPr sz="1600" b="0">
                          <a:solidFill>
                            <a:schemeClr val="tx1"/>
                          </a:solidFill>
                        </a:defRPr>
                      </a:pPr>
                      <a:r>
                        <a:rPr sz="1600" b="0" i="0" u="none"/>
                        <a:t>Conversational context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Persistence</a:t>
                      </a:r>
                    </a:p>
                  </a:txBody>
                  <a:tcPr>
                    <a:solidFill>
                      <a:schemeClr val="accent4">
                        <a:lumMod val="20000"/>
                        <a:lumOff val="80000"/>
                      </a:schemeClr>
                    </a:solidFill>
                  </a:tcPr>
                </a:tc>
                <a:tc>
                  <a:txBody>
                    <a:bodyPr/>
                    <a:lstStyle/>
                    <a:p>
                      <a:pPr>
                        <a:buNone/>
                        <a:defRPr sz="1600" b="0">
                          <a:solidFill>
                            <a:schemeClr val="tx1"/>
                          </a:solidFill>
                        </a:defRPr>
                      </a:pPr>
                      <a:r>
                        <a:rPr sz="1600" b="0" i="0" u="none"/>
                        <a:t>Always active</a:t>
                      </a:r>
                    </a:p>
                  </a:txBody>
                  <a:tcPr>
                    <a:solidFill>
                      <a:schemeClr val="accent4">
                        <a:lumMod val="20000"/>
                        <a:lumOff val="80000"/>
                      </a:schemeClr>
                    </a:solidFill>
                  </a:tcPr>
                </a:tc>
                <a:tc>
                  <a:txBody>
                    <a:bodyPr/>
                    <a:lstStyle/>
                    <a:p>
                      <a:pPr>
                        <a:buNone/>
                        <a:defRPr sz="1600" b="0">
                          <a:solidFill>
                            <a:schemeClr val="tx1"/>
                          </a:solidFill>
                        </a:defRPr>
                      </a:pPr>
                      <a:r>
                        <a:rPr sz="1600" b="0" i="0" u="none"/>
                        <a:t>On-demand execution</a:t>
                      </a:r>
                    </a:p>
                  </a:txBody>
                  <a:tcPr>
                    <a:solidFill>
                      <a:schemeClr val="accent4">
                        <a:lumMod val="20000"/>
                        <a:lumOff val="80000"/>
                      </a:schemeClr>
                    </a:solidFill>
                  </a:tcPr>
                </a:tc>
                <a:tc>
                  <a:txBody>
                    <a:bodyPr/>
                    <a:lstStyle/>
                    <a:p>
                      <a:pPr>
                        <a:buNone/>
                        <a:defRPr sz="1600" b="0">
                          <a:solidFill>
                            <a:schemeClr val="tx1"/>
                          </a:solidFill>
                        </a:defRPr>
                      </a:pPr>
                      <a:r>
                        <a:rPr sz="1600" b="0" i="0" u="none"/>
                        <a:t>On-demand invocation</a:t>
                      </a:r>
                    </a:p>
                  </a:txBody>
                  <a:tcPr>
                    <a:solidFill>
                      <a:schemeClr val="accent4">
                        <a:lumMod val="20000"/>
                        <a:lumOff val="80000"/>
                      </a:schemeClr>
                    </a:solidFill>
                  </a:tcPr>
                </a:tc>
                <a:tc>
                  <a:txBody>
                    <a:bodyPr/>
                    <a:lstStyle/>
                    <a:p>
                      <a:pPr>
                        <a:buNone/>
                        <a:defRPr sz="1600" b="0">
                          <a:solidFill>
                            <a:schemeClr val="tx1"/>
                          </a:solidFill>
                        </a:defRPr>
                      </a:pPr>
                      <a:r>
                        <a:rPr sz="1600" b="0" i="0" u="none"/>
                        <a:t>Session-based</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Reusability</a:t>
                      </a:r>
                    </a:p>
                  </a:txBody>
                  <a:tcPr>
                    <a:solidFill>
                      <a:schemeClr val="accent4">
                        <a:lumMod val="8000"/>
                        <a:lumOff val="92000"/>
                      </a:schemeClr>
                    </a:solidFill>
                  </a:tcPr>
                </a:tc>
                <a:tc>
                  <a:txBody>
                    <a:bodyPr/>
                    <a:lstStyle/>
                    <a:p>
                      <a:pPr>
                        <a:buNone/>
                        <a:defRPr sz="1600" b="0">
                          <a:solidFill>
                            <a:schemeClr val="tx1"/>
                          </a:solidFill>
                        </a:defRPr>
                      </a:pPr>
                      <a:r>
                        <a:rPr sz="1600" b="0" i="0" u="none"/>
                        <a:t>High (across projects)</a:t>
                      </a:r>
                    </a:p>
                  </a:txBody>
                  <a:tcPr>
                    <a:solidFill>
                      <a:schemeClr val="accent4">
                        <a:lumMod val="8000"/>
                        <a:lumOff val="92000"/>
                      </a:schemeClr>
                    </a:solidFill>
                  </a:tcPr>
                </a:tc>
                <a:tc>
                  <a:txBody>
                    <a:bodyPr/>
                    <a:lstStyle/>
                    <a:p>
                      <a:pPr>
                        <a:buNone/>
                        <a:defRPr sz="1600" b="0">
                          <a:solidFill>
                            <a:schemeClr val="tx1"/>
                          </a:solidFill>
                        </a:defRPr>
                      </a:pPr>
                      <a:r>
                        <a:rPr sz="1600" b="0" i="0" u="none"/>
                        <a:t>High (task templates)</a:t>
                      </a:r>
                    </a:p>
                  </a:txBody>
                  <a:tcPr>
                    <a:solidFill>
                      <a:schemeClr val="accent4">
                        <a:lumMod val="8000"/>
                        <a:lumOff val="92000"/>
                      </a:schemeClr>
                    </a:solidFill>
                  </a:tcPr>
                </a:tc>
                <a:tc>
                  <a:txBody>
                    <a:bodyPr/>
                    <a:lstStyle/>
                    <a:p>
                      <a:pPr>
                        <a:buNone/>
                        <a:defRPr sz="1600" b="0">
                          <a:solidFill>
                            <a:schemeClr val="tx1"/>
                          </a:solidFill>
                        </a:defRPr>
                      </a:pPr>
                      <a:r>
                        <a:rPr sz="1600" b="0" i="0" u="none"/>
                        <a:t>High (repeatable domain tasks)</a:t>
                      </a:r>
                    </a:p>
                  </a:txBody>
                  <a:tcPr>
                    <a:solidFill>
                      <a:schemeClr val="accent4">
                        <a:lumMod val="8000"/>
                        <a:lumOff val="92000"/>
                      </a:schemeClr>
                    </a:solidFill>
                  </a:tcPr>
                </a:tc>
                <a:tc>
                  <a:txBody>
                    <a:bodyPr/>
                    <a:lstStyle/>
                    <a:p>
                      <a:pPr>
                        <a:buNone/>
                        <a:defRPr sz="1600" b="0">
                          <a:solidFill>
                            <a:schemeClr val="tx1"/>
                          </a:solidFill>
                        </a:defRPr>
                      </a:pPr>
                      <a:r>
                        <a:rPr sz="1600" b="0" i="0" u="none"/>
                        <a:t>Medium (role-specific)</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Complexity</a:t>
                      </a:r>
                    </a:p>
                  </a:txBody>
                  <a:tcPr>
                    <a:solidFill>
                      <a:schemeClr val="accent4">
                        <a:lumMod val="20000"/>
                        <a:lumOff val="80000"/>
                      </a:schemeClr>
                    </a:solidFill>
                  </a:tcPr>
                </a:tc>
                <a:tc>
                  <a:txBody>
                    <a:bodyPr/>
                    <a:lstStyle/>
                    <a:p>
                      <a:pPr>
                        <a:buNone/>
                        <a:defRPr sz="1600" b="0">
                          <a:solidFill>
                            <a:schemeClr val="tx1"/>
                          </a:solidFill>
                        </a:defRPr>
                      </a:pPr>
                      <a:r>
                        <a:rPr sz="1600" b="0" i="0" u="none"/>
                        <a:t>Simple rules</a:t>
                      </a:r>
                    </a:p>
                  </a:txBody>
                  <a:tcPr>
                    <a:solidFill>
                      <a:schemeClr val="accent4">
                        <a:lumMod val="20000"/>
                        <a:lumOff val="80000"/>
                      </a:schemeClr>
                    </a:solidFill>
                  </a:tcPr>
                </a:tc>
                <a:tc>
                  <a:txBody>
                    <a:bodyPr/>
                    <a:lstStyle/>
                    <a:p>
                      <a:pPr>
                        <a:buNone/>
                        <a:defRPr sz="1600" b="0">
                          <a:solidFill>
                            <a:schemeClr val="tx1"/>
                          </a:solidFill>
                        </a:defRPr>
                      </a:pPr>
                      <a:r>
                        <a:rPr sz="1600" b="0" i="0" u="none"/>
                        <a:t>Detailed procedures</a:t>
                      </a:r>
                    </a:p>
                  </a:txBody>
                  <a:tcPr>
                    <a:solidFill>
                      <a:schemeClr val="accent4">
                        <a:lumMod val="20000"/>
                        <a:lumOff val="80000"/>
                      </a:schemeClr>
                    </a:solidFill>
                  </a:tcPr>
                </a:tc>
                <a:tc>
                  <a:txBody>
                    <a:bodyPr/>
                    <a:lstStyle/>
                    <a:p>
                      <a:pPr>
                        <a:buNone/>
                        <a:defRPr sz="1600" b="0">
                          <a:solidFill>
                            <a:schemeClr val="tx1"/>
                          </a:solidFill>
                        </a:defRPr>
                      </a:pPr>
                      <a:r>
                        <a:rPr sz="1600" b="0" i="0" u="none"/>
                        <a:t>Curated guidance and tooling</a:t>
                      </a:r>
                    </a:p>
                  </a:txBody>
                  <a:tcPr>
                    <a:solidFill>
                      <a:schemeClr val="accent4">
                        <a:lumMod val="20000"/>
                        <a:lumOff val="80000"/>
                      </a:schemeClr>
                    </a:solidFill>
                  </a:tcPr>
                </a:tc>
                <a:tc>
                  <a:txBody>
                    <a:bodyPr/>
                    <a:lstStyle/>
                    <a:p>
                      <a:pPr>
                        <a:buNone/>
                        <a:defRPr sz="1600" b="0">
                          <a:solidFill>
                            <a:schemeClr val="tx1"/>
                          </a:solidFill>
                        </a:defRPr>
                      </a:pPr>
                      <a:r>
                        <a:rPr sz="1600" b="0" i="0" u="none"/>
                        <a:t>Rich contextual knowledge/persona</a:t>
                      </a:r>
                    </a:p>
                  </a:txBody>
                  <a:tcPr>
                    <a:solidFill>
                      <a:schemeClr val="accent4">
                        <a:lumMod val="20000"/>
                        <a:lumOff val="80000"/>
                      </a:scheme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Layered Integration Approach</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Instruction Files set the foundational rules and guardrails first.</a:t>
            </a:r>
            <a:endParaRPr sz="2700" b="0" i="0">
              <a:latin typeface="Arial"/>
            </a:endParaRPr>
          </a:p>
          <a:p>
            <a:r>
              <a:rPr sz="1400" b="0" i="0" u="none"/>
              <a:t>Prompt Files then apply those rules to execute a specific task in a structured way.</a:t>
            </a:r>
            <a:endParaRPr sz="2700" b="0" i="0">
              <a:latin typeface="Arial"/>
            </a:endParaRPr>
          </a:p>
          <a:p>
            <a:r>
              <a:rPr sz="1400" b="0" i="0" u="none"/>
              <a:t>Custom Agents add domain persona and context (like a Security Architect) during the interaction.</a:t>
            </a:r>
            <a:endParaRPr sz="2700" b="0" i="0">
              <a:latin typeface="Arial"/>
            </a:endParaRPr>
          </a:p>
          <a:p>
            <a:r>
              <a:rPr sz="1400" b="0" i="0" u="none"/>
              <a:t>The combined effect is a specialized expert-like result that stays consistent, standardized, and high quality.</a:t>
            </a:r>
            <a:endParaRPr sz="2700" b="0" i="0">
              <a:latin typeface="Arial"/>
            </a:endParaRPr>
          </a:p>
        </p:txBody>
      </p:sp>
      <p:pic>
        <p:nvPicPr>
          <p:cNvPr id="5" name="Picture 4" descr="8e2ea640a1de998575ec65cf1ef22b417865a8a5.png"/>
          <p:cNvPicPr>
            <a:picLocks noChangeAspect="1"/>
          </p:cNvPicPr>
          <p:nvPr/>
        </p:nvPicPr>
        <p:blipFill>
          <a:blip r:embed="rId3"/>
          <a:stretch>
            <a:fillRect/>
          </a:stretch>
        </p:blipFill>
        <p:spPr>
          <a:xfrm>
            <a:off x="2518991" y="1509472"/>
            <a:ext cx="1820018" cy="4259898"/>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Real-World Integration Example</a:t>
            </a:r>
          </a:p>
        </p:txBody>
      </p:sp>
      <p:sp>
        <p:nvSpPr>
          <p:cNvPr id="3" name="Content Placeholder 2"/>
          <p:cNvSpPr>
            <a:spLocks noGrp="1"/>
          </p:cNvSpPr>
          <p:nvPr>
            <p:ph sz="half" idx="1"/>
          </p:nvPr>
        </p:nvSpPr>
        <p:spPr/>
        <p:txBody>
          <a:bodyPr wrap="square">
            <a:normAutofit/>
          </a:bodyPr>
          <a:lstStyle/>
          <a:p>
            <a:pPr>
              <a:buNone/>
            </a:pPr>
            <a:r>
              <a:rPr sz="1400" b="0" i="0" u="none"/>
              <a:t>Scenario: Implementing User Authentication</a:t>
            </a:r>
            <a:endParaRPr sz="2800" b="0" i="0">
              <a:latin typeface="Arial"/>
            </a:endParaRPr>
          </a:p>
          <a:p>
            <a:pPr>
              <a:buNone/>
            </a:pPr>
            <a:endParaRPr sz="2800" b="0" i="0">
              <a:latin typeface="Arial"/>
            </a:endParaRPr>
          </a:p>
          <a:p>
            <a:pPr>
              <a:buNone/>
            </a:pPr>
            <a:r>
              <a:rPr sz="1400" b="0" i="0" u="none"/>
              <a:t>Instruction Files provide:</a:t>
            </a:r>
            <a:endParaRPr sz="2800" b="0" i="0">
              <a:latin typeface="Arial"/>
            </a:endParaRPr>
          </a:p>
          <a:p>
            <a:pPr lvl="1"/>
            <a:r>
              <a:rPr sz="1400" b="0" i="0" u="none"/>
              <a:t>Security coding standards</a:t>
            </a:r>
            <a:endParaRPr sz="2800" b="0" i="0">
              <a:latin typeface="Arial"/>
            </a:endParaRPr>
          </a:p>
          <a:p>
            <a:pPr lvl="1"/>
            <a:r>
              <a:rPr sz="1400" b="0" i="0" u="none"/>
              <a:t>Testing requirements</a:t>
            </a:r>
            <a:endParaRPr sz="2800" b="0" i="0">
              <a:latin typeface="Arial"/>
            </a:endParaRPr>
          </a:p>
          <a:p>
            <a:pPr lvl="1"/>
            <a:r>
              <a:rPr sz="1400" b="0" i="0" u="none"/>
              <a:t>Documentation standards</a:t>
            </a:r>
            <a:endParaRPr sz="2800" b="0" i="0">
              <a:latin typeface="Arial"/>
            </a:endParaRPr>
          </a:p>
          <a:p>
            <a:pPr>
              <a:buNone/>
            </a:pPr>
            <a:endParaRPr sz="2800" b="0" i="0">
              <a:latin typeface="Arial"/>
            </a:endParaRPr>
          </a:p>
          <a:p>
            <a:pPr>
              <a:buNone/>
            </a:pPr>
            <a:r>
              <a:rPr sz="1400" b="0" i="0" u="none"/>
              <a:t>Prompt File executes:</a:t>
            </a:r>
            <a:endParaRPr sz="2800" b="0" i="0">
              <a:latin typeface="Arial"/>
            </a:endParaRPr>
          </a:p>
          <a:p>
            <a:pPr lvl="1"/>
            <a:r>
              <a:rPr sz="1400" b="0" i="0" u="none"/>
              <a:t>“Implement OAuth2 Authentication System”</a:t>
            </a:r>
            <a:endParaRPr sz="2800" b="0" i="0">
              <a:latin typeface="Arial"/>
            </a:endParaRPr>
          </a:p>
          <a:p>
            <a:pPr lvl="1"/>
            <a:r>
              <a:rPr sz="1400" b="0" i="0" u="none"/>
              <a:t>Step-by-step implementation guide</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Custom Agents offers:</a:t>
            </a:r>
            <a:endParaRPr sz="2800" b="0" i="0">
              <a:latin typeface="Arial"/>
            </a:endParaRPr>
          </a:p>
          <a:p>
            <a:pPr lvl="1"/>
            <a:r>
              <a:rPr sz="1400" b="0" i="0" u="none"/>
              <a:t>Security Architect expertise</a:t>
            </a:r>
            <a:endParaRPr sz="2800" b="0" i="0">
              <a:latin typeface="Arial"/>
            </a:endParaRPr>
          </a:p>
          <a:p>
            <a:pPr lvl="1"/>
            <a:r>
              <a:rPr sz="1400" b="0" i="0" u="none"/>
              <a:t>Best practice recommendations</a:t>
            </a:r>
            <a:endParaRPr sz="2800" b="0" i="0">
              <a:latin typeface="Arial"/>
            </a:endParaRPr>
          </a:p>
          <a:p>
            <a:pPr lvl="1"/>
            <a:r>
              <a:rPr sz="1400" b="0" i="0" u="none"/>
              <a:t>Threat modeling insights</a:t>
            </a:r>
            <a:endParaRPr sz="2800" b="0" i="0">
              <a:latin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Integration Advantage</a:t>
            </a:r>
          </a:p>
        </p:txBody>
      </p:sp>
      <p:sp>
        <p:nvSpPr>
          <p:cNvPr id="3" name="Content Placeholder 2"/>
          <p:cNvSpPr>
            <a:spLocks noGrp="1"/>
          </p:cNvSpPr>
          <p:nvPr>
            <p:ph idx="1"/>
          </p:nvPr>
        </p:nvSpPr>
        <p:spPr/>
        <p:txBody>
          <a:bodyPr wrap="square">
            <a:normAutofit/>
          </a:bodyPr>
          <a:lstStyle/>
          <a:p>
            <a:pPr>
              <a:buNone/>
            </a:pPr>
            <a:r>
              <a:rPr sz="2450" b="0" i="0" u="none"/>
              <a:t>When Used Together:</a:t>
            </a:r>
            <a:endParaRPr sz="2450" b="0" i="0">
              <a:latin typeface="Arial"/>
            </a:endParaRPr>
          </a:p>
          <a:p>
            <a:pPr lvl="1"/>
            <a:r>
              <a:rPr sz="2450" b="0" i="0" u="none"/>
              <a:t>Higher Quality: Consistent standards + structured execution + expert knowledge</a:t>
            </a:r>
            <a:endParaRPr sz="2450" b="0" i="0">
              <a:latin typeface="Arial"/>
            </a:endParaRPr>
          </a:p>
          <a:p>
            <a:pPr lvl="1"/>
            <a:r>
              <a:rPr sz="2450" b="0" i="0" u="none"/>
              <a:t>Greater Efficiency: Automated workflows with specialized guidance</a:t>
            </a:r>
            <a:endParaRPr sz="2450" b="0" i="0">
              <a:latin typeface="Arial"/>
            </a:endParaRPr>
          </a:p>
          <a:p>
            <a:pPr lvl="1"/>
            <a:r>
              <a:rPr sz="2450" b="0" i="0" u="none"/>
              <a:t>Better Outcomes: Comprehensive approach covers all development aspects</a:t>
            </a:r>
            <a:endParaRPr sz="2450" b="0" i="0">
              <a:latin typeface="Arial"/>
            </a:endParaRPr>
          </a:p>
          <a:p>
            <a:pPr lvl="1"/>
            <a:r>
              <a:rPr sz="2450" b="0" i="0" u="none"/>
              <a:t>Reduced Risk: Multiple layers of validation and expertise</a:t>
            </a:r>
            <a:endParaRPr sz="2450" b="0" i="0">
              <a:latin typeface="Arial"/>
            </a:endParaRPr>
          </a:p>
          <a:p>
            <a:pPr>
              <a:buNone/>
            </a:pPr>
            <a:endParaRPr sz="2450" b="0" i="0">
              <a:latin typeface="Arial"/>
            </a:endParaRPr>
          </a:p>
          <a:p>
            <a:pPr>
              <a:buNone/>
            </a:pPr>
            <a:r>
              <a:rPr sz="2450" b="0" i="1" u="none"/>
              <a:t>AI becomes a true development partner, not just a code generator</a:t>
            </a:r>
            <a:endParaRPr sz="2450" b="0" i="0">
              <a:latin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Controlling Copilot Instruction Files</a:t>
            </a:r>
          </a:p>
        </p:txBody>
      </p:sp>
      <p:sp>
        <p:nvSpPr>
          <p:cNvPr id="3" name="Subtitle 2"/>
          <p:cNvSpPr>
            <a:spLocks noGrp="1"/>
          </p:cNvSpPr>
          <p:nvPr>
            <p:ph type="subTitle" idx="1"/>
          </p:nvPr>
        </p:nvSpPr>
        <p:spPr/>
        <p:txBody>
          <a:bodyPr wrap="square">
            <a:normAutofit/>
          </a:bodyPr>
          <a:lstStyle/>
          <a:p>
            <a:pPr>
              <a:buNone/>
            </a:pPr>
            <a:r>
              <a:rPr b="0" i="0" u="none"/>
              <a:t>Who's Allowed at the AI Dinner Table?</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Instruction Files: The Automatic Control Layer</a:t>
            </a:r>
          </a:p>
        </p:txBody>
      </p:sp>
      <p:sp>
        <p:nvSpPr>
          <p:cNvPr id="3" name="Content Placeholder 2"/>
          <p:cNvSpPr>
            <a:spLocks noGrp="1"/>
          </p:cNvSpPr>
          <p:nvPr>
            <p:ph sz="half" idx="1"/>
          </p:nvPr>
        </p:nvSpPr>
        <p:spPr/>
        <p:txBody>
          <a:bodyPr wrap="square">
            <a:normAutofit/>
          </a:bodyPr>
          <a:lstStyle/>
          <a:p>
            <a:pPr>
              <a:buNone/>
            </a:pPr>
            <a:r>
              <a:rPr sz="1400" b="0" i="0" u="none"/>
              <a:t>Instruction files define repository rules that Copilot applies automatically when </a:t>
            </a:r>
            <a:r>
              <a:rPr sz="1400" b="0" i="0" u="none">
                <a:latin typeface="Consolas"/>
              </a:rPr>
              <a:t>applyTo</a:t>
            </a:r>
            <a:r>
              <a:rPr sz="1400" b="0" i="0" u="none"/>
              <a:t> matches the active file.</a:t>
            </a:r>
            <a:endParaRPr sz="1800" b="0" i="0">
              <a:latin typeface="Consolas"/>
            </a:endParaRPr>
          </a:p>
          <a:p>
            <a:pPr>
              <a:buNone/>
            </a:pPr>
            <a:endParaRPr sz="1800" b="0" i="0">
              <a:latin typeface="Consolas"/>
            </a:endParaRPr>
          </a:p>
          <a:p>
            <a:pPr>
              <a:buNone/>
            </a:pPr>
            <a:r>
              <a:rPr sz="1400" b="1" i="0" u="none"/>
              <a:t>What instruction files do best</a:t>
            </a:r>
            <a:endParaRPr sz="1800" b="0" i="0">
              <a:latin typeface="Consolas"/>
            </a:endParaRPr>
          </a:p>
          <a:p>
            <a:pPr>
              <a:buNone/>
            </a:pPr>
            <a:endParaRPr sz="1800" b="0" i="0">
              <a:latin typeface="Consolas"/>
            </a:endParaRPr>
          </a:p>
          <a:p>
            <a:r>
              <a:rPr sz="1400" b="0" i="0" u="none"/>
              <a:t>Enforce coding and architecture standards</a:t>
            </a:r>
            <a:endParaRPr sz="1800" b="0" i="0">
              <a:latin typeface="Consolas"/>
            </a:endParaRPr>
          </a:p>
          <a:p>
            <a:r>
              <a:rPr sz="1400" b="0" i="0" u="none"/>
              <a:t>Keep outputs consistent across contributors</a:t>
            </a:r>
            <a:endParaRPr sz="1800" b="0" i="0">
              <a:latin typeface="Consolas"/>
            </a:endParaRPr>
          </a:p>
          <a:p>
            <a:r>
              <a:rPr sz="1400" b="0" i="0" u="none"/>
              <a:t>Provide always-on guardrails for safety and quality</a:t>
            </a:r>
            <a:endParaRPr sz="18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How control works</a:t>
            </a:r>
            <a:endParaRPr sz="1800" b="0" i="0">
              <a:latin typeface="Consolas"/>
            </a:endParaRPr>
          </a:p>
          <a:p>
            <a:pPr>
              <a:buNone/>
            </a:pPr>
            <a:endParaRPr sz="1800" b="0" i="0">
              <a:latin typeface="Consolas"/>
            </a:endParaRPr>
          </a:p>
          <a:p>
            <a:r>
              <a:rPr sz="1400" b="0" i="0" u="none">
                <a:latin typeface="Consolas"/>
              </a:rPr>
              <a:t>applyTo</a:t>
            </a:r>
            <a:r>
              <a:rPr sz="1400" b="0" i="0" u="none"/>
              <a:t> pattern matches current target file(s)</a:t>
            </a:r>
            <a:endParaRPr sz="1800" b="0" i="0">
              <a:latin typeface="Consolas"/>
            </a:endParaRPr>
          </a:p>
          <a:p>
            <a:r>
              <a:rPr sz="1400" b="0" i="0" u="none"/>
              <a:t>Matching instruction content is auto-submitted in context</a:t>
            </a:r>
            <a:endParaRPr sz="1800" b="0" i="0">
              <a:latin typeface="Consolas"/>
            </a:endParaRPr>
          </a:p>
          <a:p>
            <a:r>
              <a:rPr sz="1400" b="0" i="0" u="none"/>
              <a:t>More specific patterns reduce noise and token cost</a:t>
            </a:r>
            <a:endParaRPr sz="1800" b="0" i="0">
              <a:latin typeface="Consolas"/>
            </a:endParaRPr>
          </a:p>
          <a:p>
            <a:r>
              <a:rPr sz="1400" b="0" i="0" u="none"/>
              <a:t>Manual </a:t>
            </a:r>
            <a:r>
              <a:rPr sz="1400" b="0" i="0" u="none">
                <a:latin typeface="Consolas"/>
              </a:rPr>
              <a:t>@</a:t>
            </a:r>
            <a:r>
              <a:rPr sz="1400" b="0" i="0" u="none"/>
              <a:t> mention can add non-matching instructions</a:t>
            </a:r>
            <a:endParaRPr sz="1800" b="0" i="0">
              <a:latin typeface="Consola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Prompt Files: Reference, Don't Control</a:t>
            </a:r>
          </a:p>
        </p:txBody>
      </p:sp>
      <p:sp>
        <p:nvSpPr>
          <p:cNvPr id="3" name="Content Placeholder 2"/>
          <p:cNvSpPr>
            <a:spLocks noGrp="1"/>
          </p:cNvSpPr>
          <p:nvPr>
            <p:ph sz="half" idx="1"/>
          </p:nvPr>
        </p:nvSpPr>
        <p:spPr/>
        <p:txBody>
          <a:bodyPr wrap="square">
            <a:normAutofit/>
          </a:bodyPr>
          <a:lstStyle/>
          <a:p>
            <a:pPr>
              <a:buNone/>
            </a:pPr>
            <a:r>
              <a:rPr sz="1400" b="0" i="0" u="none"/>
              <a:t>Prompt files execute tasks, but they do not control automatic instruction inclusion.</a:t>
            </a:r>
          </a:p>
          <a:p>
            <a:pPr>
              <a:buNone/>
            </a:pPr>
            <a:endParaRPr sz="1400" b="0" i="0" u="none"/>
          </a:p>
          <a:p>
            <a:pPr>
              <a:buNone/>
            </a:pPr>
            <a:r>
              <a:rPr sz="1400" b="1" i="0" u="none"/>
              <a:t>CRITICAL</a:t>
            </a:r>
            <a:r>
              <a:rPr sz="1400" b="0" i="0" u="none"/>
              <a:t>: All AI-generated artifacts MUST comply with </a:t>
            </a:r>
            <a:r>
              <a:rPr sz="1400" b="0" i="0" u="none">
                <a:latin typeface="Consolas"/>
              </a:rPr>
              <a:t>.github/instructions/ai-assisted-output.instructions.md</a:t>
            </a:r>
          </a:p>
        </p:txBody>
      </p:sp>
      <p:sp>
        <p:nvSpPr>
          <p:cNvPr id="4" name="Content Placeholder 3"/>
          <p:cNvSpPr>
            <a:spLocks noGrp="1"/>
          </p:cNvSpPr>
          <p:nvPr>
            <p:ph sz="half" idx="2"/>
          </p:nvPr>
        </p:nvSpPr>
        <p:spPr/>
        <p:txBody>
          <a:bodyPr wrap="square">
            <a:normAutofit/>
          </a:bodyPr>
          <a:lstStyle/>
          <a:p>
            <a:pPr>
              <a:buNone/>
            </a:pPr>
            <a:r>
              <a:rPr sz="1400" b="1" i="0" u="none"/>
              <a:t>Key distinction</a:t>
            </a:r>
            <a:endParaRPr sz="1800" b="0" i="0">
              <a:latin typeface="Consolas"/>
            </a:endParaRPr>
          </a:p>
          <a:p>
            <a:pPr>
              <a:buNone/>
            </a:pPr>
            <a:endParaRPr sz="1800" b="0" i="0">
              <a:latin typeface="Consolas"/>
            </a:endParaRPr>
          </a:p>
          <a:p>
            <a:r>
              <a:rPr sz="1400" b="0" i="0" u="none"/>
              <a:t>Can reference instruction requirements in prompt content</a:t>
            </a:r>
            <a:endParaRPr sz="1800" b="0" i="0">
              <a:latin typeface="Consolas"/>
            </a:endParaRPr>
          </a:p>
          <a:p>
            <a:r>
              <a:rPr sz="1400" b="0" i="0" u="none"/>
              <a:t>Cannot decide which instructions auto-include</a:t>
            </a:r>
            <a:endParaRPr sz="1800" b="0" i="0">
              <a:latin typeface="Consolas"/>
            </a:endParaRPr>
          </a:p>
          <a:p>
            <a:r>
              <a:rPr sz="1400" b="0" i="0" u="none"/>
              <a:t>The target file's </a:t>
            </a:r>
            <a:r>
              <a:rPr sz="1400" b="0" i="0" u="none">
                <a:latin typeface="Consolas"/>
              </a:rPr>
              <a:t>applyTo</a:t>
            </a:r>
            <a:r>
              <a:rPr sz="1400" b="0" i="0" u="none"/>
              <a:t> matching still determines automatic inclusion</a:t>
            </a:r>
            <a:endParaRPr sz="1800" b="0" i="0">
              <a:latin typeface="Consola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50" b="0" i="0" u="none"/>
              <a:t>Agents: Persona, Not Pattern Control</a:t>
            </a:r>
          </a:p>
        </p:txBody>
      </p:sp>
      <p:sp>
        <p:nvSpPr>
          <p:cNvPr id="3" name="Content Placeholder 2"/>
          <p:cNvSpPr>
            <a:spLocks noGrp="1"/>
          </p:cNvSpPr>
          <p:nvPr>
            <p:ph sz="half" idx="1"/>
          </p:nvPr>
        </p:nvSpPr>
        <p:spPr/>
        <p:txBody>
          <a:bodyPr wrap="square">
            <a:normAutofit/>
          </a:bodyPr>
          <a:lstStyle/>
          <a:p>
            <a:pPr>
              <a:buNone/>
            </a:pPr>
            <a:r>
              <a:rPr sz="1400" b="0" i="0" u="none"/>
              <a:t>Agents create specialized context, not instruction filters.</a:t>
            </a:r>
          </a:p>
          <a:p>
            <a:pPr>
              <a:buNone/>
            </a:pPr>
            <a:endParaRPr sz="1400" b="0" i="0" u="none"/>
          </a:p>
          <a:p>
            <a:pPr>
              <a:buNone/>
            </a:pPr>
            <a:r>
              <a:rPr sz="1400" b="0" i="0" u="none">
                <a:latin typeface="Consolas"/>
              </a:rPr>
              <a:t>.github/agents/security-analyzer.agent.md</a:t>
            </a:r>
          </a:p>
          <a:p>
            <a:pPr>
              <a:buNone/>
            </a:pPr>
            <a:endParaRPr sz="1400" b="0" i="0" u="none">
              <a:latin typeface="Consolas"/>
            </a:endParaRPr>
          </a:p>
          <a:p>
            <a:pPr>
              <a:buNone/>
            </a:pPr>
            <a:r>
              <a:rPr sz="1400" b="0" i="0" u="none"/>
              <a:t>Focus: Code security, vulnerability detection</a:t>
            </a:r>
          </a:p>
        </p:txBody>
      </p:sp>
      <p:sp>
        <p:nvSpPr>
          <p:cNvPr id="4" name="Content Placeholder 3"/>
          <p:cNvSpPr>
            <a:spLocks noGrp="1"/>
          </p:cNvSpPr>
          <p:nvPr>
            <p:ph sz="half" idx="2"/>
          </p:nvPr>
        </p:nvSpPr>
        <p:spPr/>
        <p:txBody>
          <a:bodyPr wrap="square">
            <a:normAutofit/>
          </a:bodyPr>
          <a:lstStyle/>
          <a:p>
            <a:pPr>
              <a:buNone/>
            </a:pPr>
            <a:r>
              <a:rPr sz="1400" b="1" i="0" u="none"/>
              <a:t>Interaction model</a:t>
            </a:r>
            <a:endParaRPr sz="1800" b="0" i="0">
              <a:latin typeface="Consolas"/>
            </a:endParaRPr>
          </a:p>
          <a:p>
            <a:pPr>
              <a:buNone/>
            </a:pPr>
            <a:endParaRPr sz="1800" b="0" i="0">
              <a:latin typeface="Consolas"/>
            </a:endParaRPr>
          </a:p>
          <a:p>
            <a:r>
              <a:rPr sz="1400" b="0" i="0" u="none"/>
              <a:t>File being edited determines </a:t>
            </a:r>
            <a:r>
              <a:rPr sz="1400" b="0" i="0" u="none">
                <a:latin typeface="Consolas"/>
              </a:rPr>
              <a:t>applyTo</a:t>
            </a:r>
            <a:r>
              <a:rPr sz="1400" b="0" i="0" u="none"/>
              <a:t> matches</a:t>
            </a:r>
            <a:endParaRPr sz="1800" b="0" i="0">
              <a:latin typeface="Consolas"/>
            </a:endParaRPr>
          </a:p>
          <a:p>
            <a:r>
              <a:rPr sz="1400" b="0" i="0" u="none"/>
              <a:t>Matching instructions are auto-included first</a:t>
            </a:r>
            <a:endParaRPr sz="1800" b="0" i="0">
              <a:latin typeface="Consolas"/>
            </a:endParaRPr>
          </a:p>
          <a:p>
            <a:r>
              <a:rPr sz="1400" b="0" i="0" u="none"/>
              <a:t>Active agent then adds persona and workflow guidance</a:t>
            </a:r>
            <a:endParaRPr sz="1800" b="0" i="0">
              <a:latin typeface="Consolas"/>
            </a:endParaRPr>
          </a:p>
          <a:p>
            <a:r>
              <a:rPr sz="1400" b="0" i="0" u="none"/>
              <a:t>Final response uses both the matched instructions and the agent persona</a:t>
            </a:r>
            <a:endParaRPr sz="1800" b="0" i="0">
              <a:latin typeface="Consola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Control Hierarchy</a:t>
            </a:r>
          </a:p>
        </p:txBody>
      </p:sp>
      <p:sp>
        <p:nvSpPr>
          <p:cNvPr id="3" name="Content Placeholder 2"/>
          <p:cNvSpPr>
            <a:spLocks noGrp="1"/>
          </p:cNvSpPr>
          <p:nvPr>
            <p:ph sz="half" idx="1"/>
          </p:nvPr>
        </p:nvSpPr>
        <p:spPr/>
        <p:txBody>
          <a:bodyPr wrap="square">
            <a:normAutofit/>
          </a:bodyPr>
          <a:lstStyle/>
          <a:p>
            <a:pPr>
              <a:buNone/>
            </a:pPr>
            <a:r>
              <a:rPr sz="1400" b="0" i="0" u="none"/>
              <a:t>Understanding the complete context assembly</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aac1977c380d219d04e774e8ccf1ffadf973c3fe.png"/>
          <p:cNvPicPr>
            <a:picLocks noChangeAspect="1"/>
          </p:cNvPicPr>
          <p:nvPr/>
        </p:nvPicPr>
        <p:blipFill>
          <a:blip r:embed="rId3"/>
          <a:stretch>
            <a:fillRect/>
          </a:stretch>
        </p:blipFill>
        <p:spPr>
          <a:xfrm>
            <a:off x="7864122" y="1509472"/>
            <a:ext cx="1797755" cy="4259898"/>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Practical Control Strategies</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Strategy</a:t>
                      </a:r>
                    </a:p>
                  </a:txBody>
                  <a:tcPr>
                    <a:solidFill>
                      <a:schemeClr val="accent4"/>
                    </a:solidFill>
                  </a:tcPr>
                </a:tc>
                <a:tc>
                  <a:txBody>
                    <a:bodyPr/>
                    <a:lstStyle/>
                    <a:p>
                      <a:pPr>
                        <a:buNone/>
                        <a:defRPr sz="1600" b="1">
                          <a:solidFill>
                            <a:schemeClr val="bg1"/>
                          </a:solidFill>
                        </a:defRPr>
                      </a:pPr>
                      <a:r>
                        <a:rPr sz="1600" b="0" i="0" u="none"/>
                        <a:t>Use Case</a:t>
                      </a:r>
                    </a:p>
                  </a:txBody>
                  <a:tcPr>
                    <a:solidFill>
                      <a:schemeClr val="accent4"/>
                    </a:solidFill>
                  </a:tcPr>
                </a:tc>
                <a:tc>
                  <a:txBody>
                    <a:bodyPr/>
                    <a:lstStyle/>
                    <a:p>
                      <a:pPr>
                        <a:buNone/>
                        <a:defRPr sz="1600" b="1">
                          <a:solidFill>
                            <a:schemeClr val="bg1"/>
                          </a:solidFill>
                        </a:defRPr>
                      </a:pPr>
                      <a:r>
                        <a:rPr sz="1600" b="0" i="0" u="none"/>
                        <a:t>Example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Specific Patterns</a:t>
                      </a:r>
                    </a:p>
                  </a:txBody>
                  <a:tcPr>
                    <a:solidFill>
                      <a:schemeClr val="accent4">
                        <a:lumMod val="20000"/>
                        <a:lumOff val="80000"/>
                      </a:schemeClr>
                    </a:solidFill>
                  </a:tcPr>
                </a:tc>
                <a:tc>
                  <a:txBody>
                    <a:bodyPr/>
                    <a:lstStyle/>
                    <a:p>
                      <a:pPr>
                        <a:buNone/>
                        <a:defRPr sz="1600" b="0">
                          <a:solidFill>
                            <a:schemeClr val="tx1"/>
                          </a:solidFill>
                        </a:defRPr>
                      </a:pPr>
                      <a:r>
                        <a:rPr sz="1600" b="0" i="0" u="none"/>
                        <a:t>Domain-specific guidance</a:t>
                      </a:r>
                    </a:p>
                  </a:txBody>
                  <a:tcPr>
                    <a:solidFill>
                      <a:schemeClr val="accent4">
                        <a:lumMod val="20000"/>
                        <a:lumOff val="80000"/>
                      </a:schemeClr>
                    </a:solidFill>
                  </a:tcPr>
                </a:tc>
                <a:tc>
                  <a:txBody>
                    <a:bodyPr/>
                    <a:lstStyle/>
                    <a:p>
                      <a:pPr>
                        <a:buNone/>
                        <a:defRPr sz="1600" b="0">
                          <a:solidFill>
                            <a:schemeClr val="tx1"/>
                          </a:solidFill>
                        </a:defRPr>
                      </a:pPr>
                      <a:r>
                        <a:rPr sz="1600" b="0" i="0" u="none"/>
                        <a:t>src/\</a:t>
                      </a:r>
                      <a:r>
                        <a:rPr sz="1600" b="0" i="1" u="none"/>
                        <a:t>\</a:t>
                      </a:r>
                      <a:r>
                        <a:rPr sz="1600" b="0" i="0" u="none"/>
                        <a:t>/\*.ts for backend TypeScript</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No applyTo</a:t>
                      </a:r>
                    </a:p>
                  </a:txBody>
                  <a:tcPr>
                    <a:solidFill>
                      <a:schemeClr val="accent4">
                        <a:lumMod val="8000"/>
                        <a:lumOff val="92000"/>
                      </a:schemeClr>
                    </a:solidFill>
                  </a:tcPr>
                </a:tc>
                <a:tc>
                  <a:txBody>
                    <a:bodyPr/>
                    <a:lstStyle/>
                    <a:p>
                      <a:pPr>
                        <a:buNone/>
                        <a:defRPr sz="1600" b="0">
                          <a:solidFill>
                            <a:schemeClr val="tx1"/>
                          </a:solidFill>
                        </a:defRPr>
                      </a:pPr>
                      <a:r>
                        <a:rPr sz="1600" b="0" i="0" u="none"/>
                        <a:t>Manual inclusion only</a:t>
                      </a:r>
                    </a:p>
                  </a:txBody>
                  <a:tcPr>
                    <a:solidFill>
                      <a:schemeClr val="accent4">
                        <a:lumMod val="8000"/>
                        <a:lumOff val="92000"/>
                      </a:schemeClr>
                    </a:solidFill>
                  </a:tcPr>
                </a:tc>
                <a:tc>
                  <a:txBody>
                    <a:bodyPr/>
                    <a:lstStyle/>
                    <a:p>
                      <a:pPr>
                        <a:buNone/>
                        <a:defRPr sz="1600" b="0">
                          <a:solidFill>
                            <a:schemeClr val="tx1"/>
                          </a:solidFill>
                        </a:defRPr>
                      </a:pPr>
                      <a:r>
                        <a:rPr sz="1600" b="0" i="0" u="none"/>
                        <a:t>Docs that need explicit opt-in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Global with Overrides</a:t>
                      </a:r>
                    </a:p>
                  </a:txBody>
                  <a:tcPr>
                    <a:solidFill>
                      <a:schemeClr val="accent4">
                        <a:lumMod val="20000"/>
                        <a:lumOff val="80000"/>
                      </a:schemeClr>
                    </a:solidFill>
                  </a:tcPr>
                </a:tc>
                <a:tc>
                  <a:txBody>
                    <a:bodyPr/>
                    <a:lstStyle/>
                    <a:p>
                      <a:pPr>
                        <a:buNone/>
                        <a:defRPr sz="1600" b="0">
                          <a:solidFill>
                            <a:schemeClr val="tx1"/>
                          </a:solidFill>
                        </a:defRPr>
                      </a:pPr>
                      <a:r>
                        <a:rPr sz="1600" b="0" i="0" u="none"/>
                        <a:t>Base + specialized</a:t>
                      </a:r>
                    </a:p>
                  </a:txBody>
                  <a:tcPr>
                    <a:solidFill>
                      <a:schemeClr val="accent4">
                        <a:lumMod val="20000"/>
                        <a:lumOff val="80000"/>
                      </a:schemeClr>
                    </a:solidFill>
                  </a:tcPr>
                </a:tc>
                <a:tc>
                  <a:txBody>
                    <a:bodyPr/>
                    <a:lstStyle/>
                    <a:p>
                      <a:pPr>
                        <a:buNone/>
                        <a:defRPr sz="1600" b="0">
                          <a:solidFill>
                            <a:schemeClr val="tx1"/>
                          </a:solidFill>
                        </a:defRPr>
                      </a:pPr>
                      <a:r>
                        <a:rPr sz="1600" b="0" i="0" u="none"/>
                        <a:t>\</a:t>
                      </a:r>
                      <a:r>
                        <a:rPr sz="1600" b="0" i="1" u="none"/>
                        <a:t>\</a:t>
                      </a:r>
                      <a:r>
                        <a:rPr sz="1600" b="0" i="0" u="none"/>
                        <a:t>/\* + specific overrides</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Directory Isolation</a:t>
                      </a:r>
                    </a:p>
                  </a:txBody>
                  <a:tcPr>
                    <a:solidFill>
                      <a:schemeClr val="accent4">
                        <a:lumMod val="8000"/>
                        <a:lumOff val="92000"/>
                      </a:schemeClr>
                    </a:solidFill>
                  </a:tcPr>
                </a:tc>
                <a:tc>
                  <a:txBody>
                    <a:bodyPr/>
                    <a:lstStyle/>
                    <a:p>
                      <a:pPr>
                        <a:buNone/>
                        <a:defRPr sz="1600" b="0">
                          <a:solidFill>
                            <a:schemeClr val="tx1"/>
                          </a:solidFill>
                        </a:defRPr>
                      </a:pPr>
                      <a:r>
                        <a:rPr sz="1600" b="0" i="0" u="none"/>
                        <a:t>Project sections</a:t>
                      </a:r>
                    </a:p>
                  </a:txBody>
                  <a:tcPr>
                    <a:solidFill>
                      <a:schemeClr val="accent4">
                        <a:lumMod val="8000"/>
                        <a:lumOff val="92000"/>
                      </a:schemeClr>
                    </a:solidFill>
                  </a:tcPr>
                </a:tc>
                <a:tc>
                  <a:txBody>
                    <a:bodyPr/>
                    <a:lstStyle/>
                    <a:p>
                      <a:pPr>
                        <a:buNone/>
                        <a:defRPr sz="1600" b="0">
                          <a:solidFill>
                            <a:schemeClr val="tx1"/>
                          </a:solidFill>
                        </a:defRPr>
                      </a:pPr>
                      <a:r>
                        <a:rPr sz="1600" b="0" i="0" u="none"/>
                        <a:t>frontend/</a:t>
                      </a:r>
                      <a:r>
                        <a:rPr sz="1600" b="1" i="0" u="none"/>
                        <a:t> vs backend/</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Custom Agents</a:t>
            </a:r>
          </a:p>
          <a:p>
            <a:r>
              <a:rPr b="0" i="0" u="none"/>
              <a:t>Skills</a:t>
            </a:r>
          </a:p>
          <a:p>
            <a:r>
              <a:rPr b="0" i="0" u="none"/>
              <a:t>Instructions vs Prompts vs Agents vs Skills</a:t>
            </a:r>
          </a:p>
          <a:p>
            <a:r>
              <a:rPr b="1" i="0" u="none"/>
              <a:t>▶ MCP</a:t>
            </a:r>
          </a:p>
          <a:p>
            <a:r>
              <a:rPr b="0" i="0" u="none"/>
              <a:t>Copilot Memory Feature</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Context Protocol Servers</a:t>
            </a:r>
          </a:p>
        </p:txBody>
      </p:sp>
      <p:sp>
        <p:nvSpPr>
          <p:cNvPr id="3" name="Subtitle 2"/>
          <p:cNvSpPr>
            <a:spLocks noGrp="1"/>
          </p:cNvSpPr>
          <p:nvPr>
            <p:ph type="subTitle" idx="1"/>
          </p:nvPr>
        </p:nvSpPr>
        <p:spPr/>
        <p:txBody>
          <a:bodyPr wrap="square">
            <a:normAutofit/>
          </a:bodyPr>
          <a:lstStyle/>
          <a:p>
            <a:pPr>
              <a:buNone/>
            </a:pPr>
            <a:r>
              <a:rPr b="0" i="0" u="none"/>
              <a:t>Giving Your AI a USB Hub</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900" b="0" i="0" u="none"/>
              <a:t>MCP: Model Context Protocol Servers</a:t>
            </a:r>
          </a:p>
        </p:txBody>
      </p:sp>
      <p:sp>
        <p:nvSpPr>
          <p:cNvPr id="3" name="Content Placeholder 2"/>
          <p:cNvSpPr>
            <a:spLocks noGrp="1"/>
          </p:cNvSpPr>
          <p:nvPr>
            <p:ph idx="1"/>
          </p:nvPr>
        </p:nvSpPr>
        <p:spPr/>
        <p:txBody>
          <a:bodyPr wrap="square">
            <a:normAutofit/>
          </a:bodyPr>
          <a:lstStyle/>
          <a:p>
            <a:r>
              <a:rPr sz="2800" b="0" i="0" u="none"/>
              <a:t>Connect Copilot to databases, APIs, infrastructure tools, and custom systems</a:t>
            </a:r>
            <a:endParaRPr sz="2800" b="0" i="0">
              <a:latin typeface="Arial"/>
            </a:endParaRPr>
          </a:p>
          <a:p>
            <a:r>
              <a:rPr sz="2800" b="0" i="0" u="none"/>
              <a:t>Built on a standardized protocol so any tool can speak to Copilot</a:t>
            </a:r>
            <a:endParaRPr sz="2800" b="0" i="0">
              <a:latin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Is MCP?</a:t>
            </a:r>
          </a:p>
        </p:txBody>
      </p:sp>
      <p:sp>
        <p:nvSpPr>
          <p:cNvPr id="3" name="Content Placeholder 2"/>
          <p:cNvSpPr>
            <a:spLocks noGrp="1"/>
          </p:cNvSpPr>
          <p:nvPr>
            <p:ph sz="half" idx="1"/>
          </p:nvPr>
        </p:nvSpPr>
        <p:spPr/>
        <p:txBody>
          <a:bodyPr wrap="square">
            <a:normAutofit/>
          </a:bodyPr>
          <a:lstStyle/>
          <a:p>
            <a:r>
              <a:rPr sz="1400" b="1" i="0" u="none"/>
              <a:t>Model Context Protocol</a:t>
            </a:r>
            <a:r>
              <a:rPr sz="1400" b="0" i="0" u="none"/>
              <a:t> is a standardized communication layer between Copilot and external services</a:t>
            </a:r>
            <a:endParaRPr sz="2600" b="0" i="0">
              <a:latin typeface="Arial"/>
            </a:endParaRPr>
          </a:p>
          <a:p>
            <a:r>
              <a:rPr sz="1400" b="0" i="0" u="none"/>
              <a:t>Adds capabilities and data sources that Copilot cannot access on its own</a:t>
            </a:r>
            <a:endParaRPr sz="2600" b="0" i="0">
              <a:latin typeface="Arial"/>
            </a:endParaRPr>
          </a:p>
          <a:p>
            <a:r>
              <a:rPr sz="1400" b="0" i="0" u="none"/>
              <a:t>Any tool or service that speaks MCP can be connected to Copilot</a:t>
            </a:r>
            <a:endParaRPr sz="2600" b="0" i="0">
              <a:latin typeface="Arial"/>
            </a:endParaRPr>
          </a:p>
          <a:p>
            <a:r>
              <a:rPr sz="1400" b="0" i="0" u="none"/>
              <a:t>A large and growing library of community-built servers already exists</a:t>
            </a:r>
            <a:endParaRPr sz="2600" b="0" i="0">
              <a:latin typeface="Arial"/>
            </a:endParaRPr>
          </a:p>
          <a:p>
            <a:r>
              <a:rPr sz="1400" b="0" i="0" u="none"/>
              <a:t>Key mindset: </a:t>
            </a:r>
            <a:r>
              <a:rPr sz="1400" b="1" i="0" u="none"/>
              <a:t>configure and consume</a:t>
            </a:r>
            <a:r>
              <a:rPr sz="1400" b="0" i="0" u="none"/>
              <a:t> — not build from scratch</a:t>
            </a:r>
            <a:endParaRPr sz="26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01c6019d0210fa3dc23536d7aa8f383a8dec17ee.png"/>
          <p:cNvPicPr>
            <a:picLocks noChangeAspect="1"/>
          </p:cNvPicPr>
          <p:nvPr/>
        </p:nvPicPr>
        <p:blipFill>
          <a:blip r:embed="rId3"/>
          <a:stretch>
            <a:fillRect/>
          </a:stretch>
        </p:blipFill>
        <p:spPr>
          <a:xfrm>
            <a:off x="6268465" y="1509472"/>
            <a:ext cx="4989069" cy="4259898"/>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Architecture: Five Components</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pPr>
              <a:buNone/>
            </a:pPr>
            <a:r>
              <a:rPr sz="1400" b="1" i="0" u="none"/>
              <a:t>Components</a:t>
            </a:r>
            <a:endParaRPr sz="2800" b="0" i="0">
              <a:latin typeface="Arial"/>
            </a:endParaRPr>
          </a:p>
          <a:p>
            <a:r>
              <a:rPr sz="1400" b="1" i="0" u="none"/>
              <a:t>Client</a:t>
            </a:r>
            <a:r>
              <a:rPr sz="1400" b="0" i="0" u="none"/>
              <a:t> — VS Code / GitHub Copilot sends requests</a:t>
            </a:r>
            <a:endParaRPr sz="2800" b="0" i="0">
              <a:latin typeface="Arial"/>
            </a:endParaRPr>
          </a:p>
          <a:p>
            <a:r>
              <a:rPr sz="1400" b="1" i="0" u="none"/>
              <a:t>Server</a:t>
            </a:r>
            <a:r>
              <a:rPr sz="1400" b="0" i="0" u="none"/>
              <a:t> — MCP server provides capabilities and data</a:t>
            </a:r>
            <a:endParaRPr sz="2800" b="0" i="0">
              <a:latin typeface="Arial"/>
            </a:endParaRPr>
          </a:p>
          <a:p>
            <a:r>
              <a:rPr sz="1400" b="1" i="0" u="none"/>
              <a:t>Protocol</a:t>
            </a:r>
            <a:r>
              <a:rPr sz="1400" b="0" i="0" u="none"/>
              <a:t> — standard message format between both sides</a:t>
            </a:r>
            <a:endParaRPr sz="2800" b="0" i="0">
              <a:latin typeface="Arial"/>
            </a:endParaRPr>
          </a:p>
          <a:p>
            <a:r>
              <a:rPr sz="1400" b="1" i="0" u="none"/>
              <a:t>Resources</a:t>
            </a:r>
            <a:r>
              <a:rPr sz="1400" b="0" i="0" u="none"/>
              <a:t> — data exposed to Copilot</a:t>
            </a:r>
            <a:endParaRPr sz="2800" b="0" i="0">
              <a:latin typeface="Arial"/>
            </a:endParaRPr>
          </a:p>
          <a:p>
            <a:r>
              <a:rPr sz="1400" b="1" i="0" u="none"/>
              <a:t>Tools</a:t>
            </a:r>
            <a:r>
              <a:rPr sz="1400" b="0" i="0" u="none"/>
              <a:t> — callable functions the server permits</a:t>
            </a:r>
            <a:endParaRPr sz="2800" b="0" i="0">
              <a:latin typeface="Arial"/>
            </a:endParaRPr>
          </a:p>
        </p:txBody>
      </p:sp>
      <p:pic>
        <p:nvPicPr>
          <p:cNvPr id="5" name="Picture 4" descr="9ce44c485a9372baa5efd17791db1788be585e1b.png"/>
          <p:cNvPicPr>
            <a:picLocks noChangeAspect="1"/>
          </p:cNvPicPr>
          <p:nvPr/>
        </p:nvPicPr>
        <p:blipFill>
          <a:blip r:embed="rId3"/>
          <a:stretch>
            <a:fillRect/>
          </a:stretch>
        </p:blipFill>
        <p:spPr>
          <a:xfrm>
            <a:off x="2545501" y="1509472"/>
            <a:ext cx="1766998" cy="4259898"/>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Use Cases</a:t>
            </a:r>
          </a:p>
        </p:txBody>
      </p:sp>
      <p:sp>
        <p:nvSpPr>
          <p:cNvPr id="3" name="Content Placeholder 2"/>
          <p:cNvSpPr>
            <a:spLocks noGrp="1"/>
          </p:cNvSpPr>
          <p:nvPr>
            <p:ph idx="1"/>
          </p:nvPr>
        </p:nvSpPr>
        <p:spPr/>
        <p:txBody>
          <a:bodyPr wrap="square">
            <a:normAutofit/>
          </a:bodyPr>
          <a:lstStyle/>
          <a:p>
            <a:pPr>
              <a:buNone/>
            </a:pPr>
            <a:r>
              <a:rPr sz="2000" b="1" i="0" u="none"/>
              <a:t>External Data Access</a:t>
            </a:r>
            <a:endParaRPr sz="2000" b="0" i="0">
              <a:latin typeface="Arial"/>
            </a:endParaRPr>
          </a:p>
          <a:p>
            <a:pPr lvl="1"/>
            <a:r>
              <a:rPr sz="2000" b="0" i="0" u="none"/>
              <a:t>Query live databases and include results in Copilot's context</a:t>
            </a:r>
            <a:endParaRPr sz="2000" b="0" i="0">
              <a:latin typeface="Arial"/>
            </a:endParaRPr>
          </a:p>
          <a:p>
            <a:pPr lvl="1"/>
            <a:r>
              <a:rPr sz="2000" b="0" i="0" u="none"/>
              <a:t>Pull from internal APIs or documentation systems</a:t>
            </a:r>
            <a:endParaRPr sz="2000" b="0" i="0">
              <a:latin typeface="Arial"/>
            </a:endParaRPr>
          </a:p>
          <a:p>
            <a:pPr>
              <a:buNone/>
            </a:pPr>
            <a:endParaRPr sz="2000" b="0" i="0">
              <a:latin typeface="Arial"/>
            </a:endParaRPr>
          </a:p>
          <a:p>
            <a:pPr>
              <a:buNone/>
            </a:pPr>
            <a:r>
              <a:rPr sz="2000" b="1" i="0" u="none"/>
              <a:t>Tool Integration</a:t>
            </a:r>
            <a:endParaRPr sz="2000" b="0" i="0">
              <a:latin typeface="Arial"/>
            </a:endParaRPr>
          </a:p>
          <a:p>
            <a:pPr lvl="1"/>
            <a:r>
              <a:rPr sz="2000" b="0" i="0" u="none"/>
              <a:t>Control infrastructure tools like Terraform or Kubernetes directly from the editor</a:t>
            </a:r>
            <a:endParaRPr sz="2000" b="0" i="0">
              <a:latin typeface="Arial"/>
            </a:endParaRPr>
          </a:p>
          <a:p>
            <a:pPr lvl="1"/>
            <a:r>
              <a:rPr sz="2000" b="0" i="0" u="none"/>
              <a:t>Interact with cloud provider APIs without leaving VS Code</a:t>
            </a:r>
            <a:endParaRPr sz="2000" b="0" i="0">
              <a:latin typeface="Arial"/>
            </a:endParaRPr>
          </a:p>
          <a:p>
            <a:pPr>
              <a:buNone/>
            </a:pPr>
            <a:endParaRPr sz="2000" b="0" i="0">
              <a:latin typeface="Arial"/>
            </a:endParaRPr>
          </a:p>
          <a:p>
            <a:pPr>
              <a:buNone/>
            </a:pPr>
            <a:r>
              <a:rPr sz="2000" b="1" i="0" u="none"/>
              <a:t>Custom Solutions</a:t>
            </a:r>
            <a:endParaRPr sz="2000" b="0" i="0">
              <a:latin typeface="Arial"/>
            </a:endParaRPr>
          </a:p>
          <a:p>
            <a:pPr lvl="1"/>
            <a:r>
              <a:rPr sz="2000" b="0" i="0" u="none"/>
              <a:t>Build a server for proprietary internal systems</a:t>
            </a:r>
            <a:endParaRPr sz="2000" b="0" i="0">
              <a:latin typeface="Arial"/>
            </a:endParaRPr>
          </a:p>
          <a:p>
            <a:pPr lvl="1"/>
            <a:r>
              <a:rPr sz="2000" b="0" i="0" u="none"/>
              <a:t>Expose institutional data that no public server covers</a:t>
            </a:r>
            <a:endParaRPr sz="2000" b="0" i="0">
              <a:latin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Available Pre-Built Servers</a:t>
            </a:r>
          </a:p>
        </p:txBody>
      </p:sp>
      <p:sp>
        <p:nvSpPr>
          <p:cNvPr id="3" name="Content Placeholder 2"/>
          <p:cNvSpPr>
            <a:spLocks noGrp="1"/>
          </p:cNvSpPr>
          <p:nvPr>
            <p:ph idx="1"/>
          </p:nvPr>
        </p:nvSpPr>
        <p:spPr/>
        <p:txBody>
          <a:bodyPr wrap="square">
            <a:normAutofit/>
          </a:bodyPr>
          <a:lstStyle/>
          <a:p>
            <a:r>
              <a:rPr sz="2600" b="1" i="0" u="none"/>
              <a:t>GitHub Repos</a:t>
            </a:r>
            <a:r>
              <a:rPr sz="2600" b="0" i="0" u="none"/>
              <a:t> — repository metadata, issues, pull requests</a:t>
            </a:r>
            <a:endParaRPr sz="2600" b="0" i="0">
              <a:latin typeface="Arial"/>
            </a:endParaRPr>
          </a:p>
          <a:p>
            <a:r>
              <a:rPr sz="2600" b="1" i="0" u="none"/>
              <a:t>Database Systems</a:t>
            </a:r>
            <a:r>
              <a:rPr sz="2600" b="0" i="0" u="none"/>
              <a:t> — Postgres, MySQL, SQLite, MongoDB</a:t>
            </a:r>
            <a:endParaRPr sz="2600" b="0" i="0">
              <a:latin typeface="Arial"/>
            </a:endParaRPr>
          </a:p>
          <a:p>
            <a:r>
              <a:rPr sz="2600" b="1" i="0" u="none"/>
              <a:t>Terraform</a:t>
            </a:r>
            <a:r>
              <a:rPr sz="2600" b="0" i="0" u="none"/>
              <a:t> — infrastructure state and plan output</a:t>
            </a:r>
            <a:endParaRPr sz="2600" b="0" i="0">
              <a:latin typeface="Arial"/>
            </a:endParaRPr>
          </a:p>
          <a:p>
            <a:r>
              <a:rPr sz="2600" b="1" i="0" u="none"/>
              <a:t>Kubernetes</a:t>
            </a:r>
            <a:r>
              <a:rPr sz="2600" b="0" i="0" u="none"/>
              <a:t> — cluster status and resource inspection</a:t>
            </a:r>
            <a:endParaRPr sz="2600" b="0" i="0">
              <a:latin typeface="Arial"/>
            </a:endParaRPr>
          </a:p>
          <a:p>
            <a:r>
              <a:rPr sz="2600" b="1" i="0" u="none"/>
              <a:t>Cloud Provider APIs</a:t>
            </a:r>
            <a:r>
              <a:rPr sz="2600" b="0" i="0" u="none"/>
              <a:t> — AWS, Azure, GCP integrations</a:t>
            </a:r>
            <a:endParaRPr sz="2600" b="0" i="0">
              <a:latin typeface="Arial"/>
            </a:endParaRPr>
          </a:p>
          <a:p>
            <a:r>
              <a:rPr sz="2600" b="1" i="0" u="none"/>
              <a:t>Web &amp; APIs</a:t>
            </a:r>
            <a:r>
              <a:rPr sz="2600" b="0" i="0" u="none"/>
              <a:t> — REST, GraphQL, browser automation (Puppeteer)</a:t>
            </a:r>
            <a:endParaRPr sz="2600" b="0" i="0">
              <a:latin typeface="Arial"/>
            </a:endParaRPr>
          </a:p>
          <a:p>
            <a:pPr>
              <a:buNone/>
            </a:pPr>
            <a:endParaRPr sz="2600" b="0" i="0">
              <a:latin typeface="Arial"/>
            </a:endParaRPr>
          </a:p>
          <a:p>
            <a:pPr>
              <a:buNone/>
            </a:pPr>
            <a:r>
              <a:rPr sz="2600" b="0" i="1" u="none"/>
              <a:t>Community-maintained libraries add new servers regularly</a:t>
            </a:r>
            <a:endParaRPr sz="2600" b="0" i="0">
              <a:latin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Finding MCP Servers</a:t>
            </a:r>
          </a:p>
        </p:txBody>
      </p:sp>
      <p:sp>
        <p:nvSpPr>
          <p:cNvPr id="3" name="Content Placeholder 2"/>
          <p:cNvSpPr>
            <a:spLocks noGrp="1"/>
          </p:cNvSpPr>
          <p:nvPr>
            <p:ph idx="1"/>
          </p:nvPr>
        </p:nvSpPr>
        <p:spPr/>
        <p:txBody>
          <a:bodyPr wrap="square">
            <a:normAutofit/>
          </a:bodyPr>
          <a:lstStyle/>
          <a:p>
            <a:pPr>
              <a:buNone/>
            </a:pPr>
            <a:r>
              <a:rPr sz="1800" b="1" i="0" u="none"/>
              <a:t>VS Code Extension Gallery</a:t>
            </a:r>
            <a:endParaRPr sz="1800" b="0" i="0">
              <a:latin typeface="Consolas"/>
            </a:endParaRPr>
          </a:p>
          <a:p>
            <a:pPr lvl="1"/>
            <a:r>
              <a:rPr sz="1800" b="0" i="0" u="none"/>
              <a:t>Search </a:t>
            </a:r>
            <a:r>
              <a:rPr sz="1800" b="0" i="0" u="none">
                <a:latin typeface="Consolas"/>
              </a:rPr>
              <a:t>MCP</a:t>
            </a:r>
            <a:r>
              <a:rPr sz="1800" b="0" i="0" u="none"/>
              <a:t> in the extensions panel</a:t>
            </a:r>
            <a:endParaRPr sz="1800" b="0" i="0">
              <a:latin typeface="Consolas"/>
            </a:endParaRPr>
          </a:p>
          <a:p>
            <a:pPr lvl="1"/>
            <a:r>
              <a:rPr sz="1800" b="0" i="0" u="none"/>
              <a:t>Read the description to confirm what resources and tools are exposed</a:t>
            </a:r>
            <a:endParaRPr sz="1800" b="0" i="0">
              <a:latin typeface="Consolas"/>
            </a:endParaRPr>
          </a:p>
          <a:p>
            <a:pPr>
              <a:buNone/>
            </a:pPr>
            <a:endParaRPr sz="1800" b="0" i="0">
              <a:latin typeface="Consolas"/>
            </a:endParaRPr>
          </a:p>
          <a:p>
            <a:pPr>
              <a:buNone/>
            </a:pPr>
            <a:r>
              <a:rPr sz="1800" b="1" i="0" u="none"/>
              <a:t>Model Context Protocol Website</a:t>
            </a:r>
            <a:endParaRPr sz="1800" b="0" i="0">
              <a:latin typeface="Consolas"/>
            </a:endParaRPr>
          </a:p>
          <a:p>
            <a:pPr lvl="1"/>
            <a:r>
              <a:rPr sz="1800" b="0" i="0" u="none">
                <a:latin typeface="Consolas"/>
              </a:rPr>
              <a:t>modelcontextprotocol.io</a:t>
            </a:r>
            <a:r>
              <a:rPr sz="1800" b="0" i="0" u="none"/>
              <a:t> — canonical registry and documentation</a:t>
            </a:r>
            <a:endParaRPr sz="1800" b="0" i="0">
              <a:latin typeface="Consolas"/>
            </a:endParaRPr>
          </a:p>
          <a:p>
            <a:pPr>
              <a:buNone/>
            </a:pPr>
            <a:endParaRPr sz="1800" b="0" i="0">
              <a:latin typeface="Consolas"/>
            </a:endParaRPr>
          </a:p>
          <a:p>
            <a:pPr>
              <a:buNone/>
            </a:pPr>
            <a:r>
              <a:rPr sz="1800" b="1" i="0" u="none"/>
              <a:t>GitHub Community Repository</a:t>
            </a:r>
            <a:endParaRPr sz="1800" b="0" i="0">
              <a:latin typeface="Consolas"/>
            </a:endParaRPr>
          </a:p>
          <a:p>
            <a:pPr lvl="1"/>
            <a:r>
              <a:rPr sz="1800" b="0" i="0" u="none">
                <a:latin typeface="Consolas"/>
              </a:rPr>
              <a:t>github.com/modelcontextprotocol/servers</a:t>
            </a:r>
            <a:r>
              <a:rPr sz="1800" b="0" i="0" u="none"/>
              <a:t> — community-maintained collection with usage examples</a:t>
            </a:r>
            <a:endParaRPr sz="1800" b="0" i="0">
              <a:latin typeface="Consola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 MCP Integration</a:t>
            </a:r>
          </a:p>
        </p:txBody>
      </p:sp>
      <p:sp>
        <p:nvSpPr>
          <p:cNvPr id="3" name="Content Placeholder 2"/>
          <p:cNvSpPr>
            <a:spLocks noGrp="1"/>
          </p:cNvSpPr>
          <p:nvPr>
            <p:ph sz="half" idx="1"/>
          </p:nvPr>
        </p:nvSpPr>
        <p:spPr/>
        <p:txBody>
          <a:bodyPr wrap="square">
            <a:normAutofit/>
          </a:bodyPr>
          <a:lstStyle/>
          <a:p>
            <a:pPr>
              <a:buNone/>
            </a:pPr>
            <a:r>
              <a:rPr sz="1400" b="0" i="0" u="none"/>
              <a:t>Enhanced capabilities</a:t>
            </a:r>
            <a:endParaRPr sz="2800" b="0" i="0">
              <a:latin typeface="Arial"/>
            </a:endParaRPr>
          </a:p>
          <a:p>
            <a:pPr lvl="1"/>
            <a:r>
              <a:rPr sz="1400" b="1" i="0" u="none"/>
              <a:t>Context-aware completions</a:t>
            </a:r>
            <a:r>
              <a:rPr sz="1400" b="0" i="0" u="none"/>
              <a:t> — access project-specific patterns</a:t>
            </a:r>
            <a:endParaRPr sz="2800" b="0" i="0">
              <a:latin typeface="Arial"/>
            </a:endParaRPr>
          </a:p>
          <a:p>
            <a:pPr lvl="1"/>
            <a:r>
              <a:rPr sz="1400" b="1" i="0" u="none"/>
              <a:t>Tool use</a:t>
            </a:r>
            <a:r>
              <a:rPr sz="1400" b="0" i="0" u="none"/>
              <a:t> — Copilot can invoke server tools on your behalf</a:t>
            </a:r>
            <a:endParaRPr sz="2800" b="0" i="0">
              <a:latin typeface="Arial"/>
            </a:endParaRPr>
          </a:p>
          <a:p>
            <a:pPr lvl="1"/>
            <a:r>
              <a:rPr sz="1400" b="1" i="0" u="none"/>
              <a:t>Security boundaries</a:t>
            </a:r>
            <a:r>
              <a:rPr sz="1400" b="0" i="0" u="none"/>
              <a:t> — controlled, audited resource access</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25ab2b921aab1667144801bf3ee1a2ee12208efa.png"/>
          <p:cNvPicPr>
            <a:picLocks noChangeAspect="1"/>
          </p:cNvPicPr>
          <p:nvPr/>
        </p:nvPicPr>
        <p:blipFill>
          <a:blip r:embed="rId3"/>
          <a:stretch>
            <a:fillRect/>
          </a:stretch>
        </p:blipFill>
        <p:spPr>
          <a:xfrm>
            <a:off x="6217920" y="2438651"/>
            <a:ext cx="5090160" cy="2401539"/>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Configuring Servers Securely</a:t>
            </a:r>
          </a:p>
        </p:txBody>
      </p:sp>
      <p:sp>
        <p:nvSpPr>
          <p:cNvPr id="3" name="Content Placeholder 2"/>
          <p:cNvSpPr>
            <a:spLocks noGrp="1"/>
          </p:cNvSpPr>
          <p:nvPr>
            <p:ph sz="half" idx="1"/>
          </p:nvPr>
        </p:nvSpPr>
        <p:spPr/>
        <p:txBody>
          <a:bodyPr wrap="square">
            <a:normAutofit/>
          </a:bodyPr>
          <a:lstStyle/>
          <a:p>
            <a:pPr>
              <a:buNone/>
            </a:pPr>
            <a:r>
              <a:rPr sz="1400" b="1" i="0" u="none"/>
              <a:t>Security checklist</a:t>
            </a:r>
            <a:endParaRPr sz="2800" b="0" i="0">
              <a:latin typeface="Arial"/>
            </a:endParaRPr>
          </a:p>
          <a:p>
            <a:pPr lvl="1"/>
            <a:r>
              <a:rPr sz="1400" b="0" i="0" u="none"/>
              <a:t>Use environment variables for credentials</a:t>
            </a:r>
            <a:endParaRPr sz="2800" b="0" i="0">
              <a:latin typeface="Arial"/>
            </a:endParaRPr>
          </a:p>
          <a:p>
            <a:pPr lvl="1"/>
            <a:r>
              <a:rPr sz="1400" b="0" i="0" u="none"/>
              <a:t>Grant minimum necessary permissions</a:t>
            </a:r>
            <a:endParaRPr sz="2800" b="0" i="0">
              <a:latin typeface="Arial"/>
            </a:endParaRPr>
          </a:p>
          <a:p>
            <a:pPr lvl="1"/>
            <a:r>
              <a:rPr sz="1400" b="0" i="0" u="none"/>
              <a:t>Review server source before installing</a:t>
            </a:r>
            <a:endParaRPr sz="2800" b="0" i="0">
              <a:latin typeface="Arial"/>
            </a:endParaRPr>
          </a:p>
          <a:p>
            <a:pPr lvl="1"/>
            <a:r>
              <a:rPr sz="1400" b="0" i="0" u="none"/>
              <a:t>Configure allowed paths and resources explicitly</a:t>
            </a:r>
            <a:endParaRPr sz="2800" b="0" i="0">
              <a:latin typeface="Arial"/>
            </a:endParaRPr>
          </a:p>
          <a:p>
            <a:pPr lvl="1"/>
            <a:r>
              <a:rPr sz="1400" b="0" i="0" u="none"/>
              <a:t>Never use admin credentials when reader access is sufficient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1" i="0" u="none"/>
              <a:t>Best practices</a:t>
            </a:r>
            <a:endParaRPr sz="1800" b="0" i="0">
              <a:latin typeface="Consolas"/>
            </a:endParaRPr>
          </a:p>
          <a:p>
            <a:pPr lvl="1"/>
            <a:r>
              <a:rPr sz="1400" b="0" i="0" u="none"/>
              <a:t>Start with read-only servers</a:t>
            </a:r>
            <a:endParaRPr sz="1800" b="0" i="0">
              <a:latin typeface="Consolas"/>
            </a:endParaRPr>
          </a:p>
          <a:p>
            <a:pPr lvl="1"/>
            <a:r>
              <a:rPr sz="1400" b="0" i="0" u="none"/>
              <a:t>Use scoped tokens such as </a:t>
            </a:r>
            <a:r>
              <a:rPr sz="1400" b="0" i="0" u="none">
                <a:latin typeface="Consolas"/>
              </a:rPr>
              <a:t>repo:read</a:t>
            </a:r>
            <a:endParaRPr sz="1800" b="0" i="0">
              <a:latin typeface="Consolas"/>
            </a:endParaRPr>
          </a:p>
          <a:p>
            <a:pPr lvl="1"/>
            <a:r>
              <a:rPr sz="1400" b="0" i="0" u="none"/>
              <a:t>Enable only the capabilities you actually need</a:t>
            </a:r>
            <a:endParaRPr sz="1800" b="0" i="0">
              <a:latin typeface="Consolas"/>
            </a:endParaRPr>
          </a:p>
          <a:p>
            <a:pPr lvl="1"/>
            <a:r>
              <a:rPr sz="1400" b="0" i="0" u="none"/>
              <a:t>Test in non-production first</a:t>
            </a:r>
            <a:endParaRPr sz="1800" b="0" i="0">
              <a:latin typeface="Consolas"/>
            </a:endParaRPr>
          </a:p>
          <a:p>
            <a:pPr lvl="1"/>
            <a:r>
              <a:rPr sz="1400" b="0" i="0" u="none"/>
              <a:t>Keep servers updated</a:t>
            </a:r>
            <a:endParaRPr sz="1800" b="0" i="0">
              <a:latin typeface="Consola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Exercise: Create, Test, and Use an MCP Server</a:t>
            </a:r>
          </a:p>
        </p:txBody>
      </p:sp>
      <p:sp>
        <p:nvSpPr>
          <p:cNvPr id="3" name="Subtitle 2"/>
          <p:cNvSpPr>
            <a:spLocks noGrp="1"/>
          </p:cNvSpPr>
          <p:nvPr>
            <p:ph type="subTitle" idx="1"/>
          </p:nvPr>
        </p:nvSpPr>
        <p:spPr/>
        <p:txBody>
          <a:bodyPr wrap="square">
            <a:normAutofit/>
          </a:bodyPr>
          <a:lstStyle/>
          <a:p>
            <a:pPr>
              <a:buNone/>
            </a:pPr>
            <a:r>
              <a:rPr sz="2750" b="0" i="0" u="none"/>
              <a:t>Build the Bridge Between Copilot and Everything Else</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Exercise: Create, Test, and Use a Local MCP Server</a:t>
            </a:r>
          </a:p>
        </p:txBody>
      </p:sp>
      <p:sp>
        <p:nvSpPr>
          <p:cNvPr id="3" name="Content Placeholder 2"/>
          <p:cNvSpPr>
            <a:spLocks noGrp="1"/>
          </p:cNvSpPr>
          <p:nvPr>
            <p:ph sz="half" idx="1"/>
          </p:nvPr>
        </p:nvSpPr>
        <p:spPr/>
        <p:txBody>
          <a:bodyPr wrap="square">
            <a:normAutofit/>
          </a:bodyPr>
          <a:lstStyle/>
          <a:p>
            <a:pPr>
              <a:buNone/>
            </a:pPr>
            <a:r>
              <a:rPr sz="1350" b="1" i="0" u="none"/>
              <a:t>Objectives</a:t>
            </a:r>
            <a:endParaRPr sz="1350" b="0" i="0">
              <a:latin typeface="Consolas"/>
            </a:endParaRPr>
          </a:p>
          <a:p>
            <a:pPr lvl="1"/>
            <a:r>
              <a:rPr sz="1350" b="0" i="0" u="none"/>
              <a:t>Create a minimal PowerShell MCP server that supports </a:t>
            </a:r>
            <a:r>
              <a:rPr sz="1350" b="0" i="0" u="none">
                <a:latin typeface="Consolas"/>
              </a:rPr>
              <a:t>initialize</a:t>
            </a:r>
            <a:r>
              <a:rPr sz="1350" b="0" i="0" u="none"/>
              <a:t>, </a:t>
            </a:r>
            <a:r>
              <a:rPr sz="1350" b="0" i="0" u="none">
                <a:latin typeface="Consolas"/>
              </a:rPr>
              <a:t>tools/list</a:t>
            </a:r>
            <a:r>
              <a:rPr sz="1350" b="0" i="0" u="none"/>
              <a:t>, and </a:t>
            </a:r>
            <a:r>
              <a:rPr sz="1350" b="0" i="0" u="none">
                <a:latin typeface="Consolas"/>
              </a:rPr>
              <a:t>tools/call</a:t>
            </a:r>
            <a:endParaRPr sz="1350" b="0" i="0">
              <a:latin typeface="Consolas"/>
            </a:endParaRPr>
          </a:p>
          <a:p>
            <a:pPr lvl="1"/>
            <a:r>
              <a:rPr sz="1350" b="0" i="0" u="none"/>
              <a:t>Validate protocol behavior with an end-to-end smoke test script</a:t>
            </a:r>
            <a:endParaRPr sz="1350" b="0" i="0">
              <a:latin typeface="Consolas"/>
            </a:endParaRPr>
          </a:p>
          <a:p>
            <a:pPr lvl="1"/>
            <a:r>
              <a:rPr sz="1350" b="0" i="0" u="none"/>
              <a:t>Connect the server to VS Code and use the </a:t>
            </a:r>
            <a:r>
              <a:rPr sz="1350" b="0" i="0" u="none">
                <a:latin typeface="Consolas"/>
              </a:rPr>
              <a:t>echo</a:t>
            </a:r>
            <a:r>
              <a:rPr sz="1350" b="0" i="0" u="none"/>
              <a:t> tool from Copilot</a:t>
            </a:r>
            <a:endParaRPr sz="1350" b="0" i="0">
              <a:latin typeface="Consolas"/>
            </a:endParaRPr>
          </a:p>
          <a:p>
            <a:pPr>
              <a:buNone/>
            </a:pPr>
            <a:endParaRPr sz="1350" b="0" i="0">
              <a:latin typeface="Consolas"/>
            </a:endParaRPr>
          </a:p>
          <a:p>
            <a:pPr>
              <a:buNone/>
            </a:pPr>
            <a:r>
              <a:rPr sz="1350" b="1" i="0" u="none"/>
              <a:t>Activities</a:t>
            </a:r>
            <a:endParaRPr sz="1350" b="0" i="0">
              <a:latin typeface="Consolas"/>
            </a:endParaRPr>
          </a:p>
          <a:p>
            <a:pPr lvl="1">
              <a:buNone/>
            </a:pPr>
            <a:r>
              <a:rPr sz="1350" b="0" i="0" u="none"/>
              <a:t>  1. </a:t>
            </a:r>
            <a:r>
              <a:rPr sz="1350" b="1" i="0" u="none"/>
              <a:t>Create</a:t>
            </a:r>
            <a:r>
              <a:rPr sz="1350" b="0" i="0" u="none"/>
              <a:t>: Build </a:t>
            </a:r>
            <a:r>
              <a:rPr sz="1350" b="0" i="0" u="none">
                <a:latin typeface="Consolas"/>
              </a:rPr>
              <a:t>scripts/mcp/simple-mcp-server.ps1</a:t>
            </a:r>
            <a:r>
              <a:rPr sz="1350" b="0" i="0" u="none"/>
              <a:t> with JSON-RPC framing and MCP method routing</a:t>
            </a:r>
            <a:endParaRPr sz="1350" b="0" i="0">
              <a:latin typeface="Consolas"/>
            </a:endParaRPr>
          </a:p>
          <a:p>
            <a:pPr lvl="1">
              <a:buNone/>
            </a:pPr>
            <a:r>
              <a:rPr sz="1350" b="0" i="0" u="none"/>
              <a:t>  2. </a:t>
            </a:r>
            <a:r>
              <a:rPr sz="1350" b="1" i="0" u="none"/>
              <a:t>Test</a:t>
            </a:r>
            <a:r>
              <a:rPr sz="1350" b="0" i="0" u="none"/>
              <a:t>: Run </a:t>
            </a:r>
            <a:r>
              <a:rPr sz="1350" b="0" i="0" u="none">
                <a:latin typeface="Consolas"/>
              </a:rPr>
              <a:t>scripts/mcp/test-simple-mcp-server.ps1</a:t>
            </a:r>
            <a:r>
              <a:rPr sz="1350" b="0" i="0" u="none"/>
              <a:t> and verify initialize/tools/list/tools/call responses</a:t>
            </a:r>
            <a:endParaRPr sz="1350" b="0" i="0">
              <a:latin typeface="Consolas"/>
            </a:endParaRPr>
          </a:p>
          <a:p>
            <a:pPr lvl="1">
              <a:buNone/>
            </a:pPr>
            <a:r>
              <a:rPr sz="1350" b="0" i="0" u="none"/>
              <a:t>  3. </a:t>
            </a:r>
            <a:r>
              <a:rPr sz="1350" b="1" i="0" u="none"/>
              <a:t>Use</a:t>
            </a:r>
            <a:r>
              <a:rPr sz="1350" b="0" i="0" u="none"/>
              <a:t>: Confirm </a:t>
            </a:r>
            <a:r>
              <a:rPr sz="1350" b="0" i="0" u="none">
                <a:latin typeface="Consolas"/>
              </a:rPr>
              <a:t>.mcp.json</a:t>
            </a:r>
            <a:r>
              <a:rPr sz="1350" b="0" i="0" u="none"/>
              <a:t> points to the local server, then prompt Copilot to call the </a:t>
            </a:r>
            <a:r>
              <a:rPr sz="1350" b="0" i="0" u="none">
                <a:latin typeface="Consolas"/>
              </a:rPr>
              <a:t>echo</a:t>
            </a:r>
            <a:r>
              <a:rPr sz="1350" b="0" i="0" u="none"/>
              <a:t> tool</a:t>
            </a:r>
            <a:endParaRPr sz="1350" b="0" i="0">
              <a:latin typeface="Consolas"/>
            </a:endParaRPr>
          </a:p>
        </p:txBody>
      </p:sp>
      <p:sp>
        <p:nvSpPr>
          <p:cNvPr id="4" name="Content Placeholder 3"/>
          <p:cNvSpPr>
            <a:spLocks noGrp="1"/>
          </p:cNvSpPr>
          <p:nvPr>
            <p:ph sz="half" idx="2"/>
          </p:nvPr>
        </p:nvSpPr>
        <p:spPr/>
        <p:txBody>
          <a:bodyPr wrap="square">
            <a:normAutofit/>
          </a:bodyPr>
          <a:lstStyle/>
          <a:p>
            <a:pPr>
              <a:buNone/>
            </a:pPr>
            <a:r>
              <a:rPr sz="1400" b="1" i="0" u="none"/>
              <a:t>Success Criteria</a:t>
            </a:r>
            <a:endParaRPr sz="1800" b="0" i="0">
              <a:latin typeface="Consolas"/>
            </a:endParaRPr>
          </a:p>
          <a:p>
            <a:pPr lvl="1"/>
            <a:r>
              <a:rPr sz="1400" b="0" i="0" u="none"/>
              <a:t>Server starts without errors and responds with valid MCP JSON-RPC envelopes</a:t>
            </a:r>
            <a:endParaRPr sz="1800" b="0" i="0">
              <a:latin typeface="Consolas"/>
            </a:endParaRPr>
          </a:p>
          <a:p>
            <a:pPr lvl="1"/>
            <a:r>
              <a:rPr sz="1400" b="0" i="0" u="none"/>
              <a:t>Test output reports </a:t>
            </a:r>
            <a:r>
              <a:rPr sz="1400" b="0" i="0" u="none">
                <a:latin typeface="Consolas"/>
              </a:rPr>
              <a:t>MCP test passed.</a:t>
            </a:r>
            <a:r>
              <a:rPr sz="1400" b="0" i="0" u="none"/>
              <a:t> and confirms all three checkpoints</a:t>
            </a:r>
            <a:endParaRPr sz="1800" b="0" i="0">
              <a:latin typeface="Consolas"/>
            </a:endParaRPr>
          </a:p>
          <a:p>
            <a:pPr lvl="1"/>
            <a:r>
              <a:rPr sz="1400" b="0" i="0" u="none"/>
              <a:t>Copilot can discover the </a:t>
            </a:r>
            <a:r>
              <a:rPr sz="1400" b="0" i="0" u="none">
                <a:latin typeface="Consolas"/>
              </a:rPr>
              <a:t>echo</a:t>
            </a:r>
            <a:r>
              <a:rPr sz="1400" b="0" i="0" u="none"/>
              <a:t> tool and return the expected echoed text</a:t>
            </a:r>
            <a:endParaRPr sz="1800" b="0" i="0">
              <a:latin typeface="Consola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Test Automation and Code Quality</a:t>
            </a:r>
          </a:p>
          <a:p>
            <a:r>
              <a:rPr b="0" i="0" u="none"/>
              <a:t>Custom Agents</a:t>
            </a:r>
          </a:p>
          <a:p>
            <a:r>
              <a:rPr b="0" i="0" u="none"/>
              <a:t>Skills</a:t>
            </a:r>
          </a:p>
          <a:p>
            <a:r>
              <a:rPr b="0" i="0" u="none"/>
              <a:t>Instructions vs Prompts vs Agents vs Skills</a:t>
            </a:r>
          </a:p>
          <a:p>
            <a:r>
              <a:rPr b="0" i="0" u="none"/>
              <a:t>MCP</a:t>
            </a:r>
          </a:p>
          <a:p>
            <a:r>
              <a:rPr b="1" i="0" u="none"/>
              <a:t>▶ Copilot Memory Feature</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Memory Features</a:t>
            </a:r>
          </a:p>
        </p:txBody>
      </p:sp>
      <p:sp>
        <p:nvSpPr>
          <p:cNvPr id="3" name="Content Placeholder 2"/>
          <p:cNvSpPr>
            <a:spLocks noGrp="1"/>
          </p:cNvSpPr>
          <p:nvPr>
            <p:ph idx="1"/>
          </p:nvPr>
        </p:nvSpPr>
        <p:spPr/>
        <p:txBody>
          <a:bodyPr wrap="square">
            <a:normAutofit/>
          </a:bodyPr>
          <a:lstStyle/>
          <a:p>
            <a:r>
              <a:rPr sz="2800" b="0" i="0" u="none"/>
              <a:t>Copilot memory stores reusable notes that improve continuity across tasks</a:t>
            </a:r>
            <a:endParaRPr sz="2800" b="0" i="0">
              <a:latin typeface="Arial"/>
            </a:endParaRPr>
          </a:p>
          <a:p>
            <a:r>
              <a:rPr sz="2800" b="0" i="0" u="none"/>
              <a:t>It helps preserve preferences, conventions, and verified repository facts</a:t>
            </a:r>
            <a:endParaRPr sz="2800" b="0" i="0">
              <a:latin typeface="Arial"/>
            </a:endParaRPr>
          </a:p>
          <a:p>
            <a:r>
              <a:rPr sz="2800" b="0" i="0" u="none"/>
              <a:t>Memory reduces repeated setup prompts and improves response consistency</a:t>
            </a:r>
            <a:endParaRPr sz="2800" b="0" i="0">
              <a:latin typeface="Arial"/>
            </a:endParaRPr>
          </a:p>
          <a:p>
            <a:r>
              <a:rPr sz="2800" b="0" i="0" u="none"/>
              <a:t>Effective memory stays concise, accurate, and scoped for reuse</a:t>
            </a:r>
            <a:endParaRPr sz="2800" b="0" i="0">
              <a:latin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Memory Matters</a:t>
            </a:r>
          </a:p>
        </p:txBody>
      </p:sp>
      <p:sp>
        <p:nvSpPr>
          <p:cNvPr id="3" name="Content Placeholder 2"/>
          <p:cNvSpPr>
            <a:spLocks noGrp="1"/>
          </p:cNvSpPr>
          <p:nvPr>
            <p:ph idx="1"/>
          </p:nvPr>
        </p:nvSpPr>
        <p:spPr/>
        <p:txBody>
          <a:bodyPr wrap="square">
            <a:normAutofit/>
          </a:bodyPr>
          <a:lstStyle/>
          <a:p>
            <a:r>
              <a:rPr sz="2700" b="0" i="0" u="none"/>
              <a:t>Chat context windows are temporary and eventually expire</a:t>
            </a:r>
            <a:endParaRPr sz="2700" b="0" i="0">
              <a:latin typeface="Arial"/>
            </a:endParaRPr>
          </a:p>
          <a:p>
            <a:r>
              <a:rPr sz="2700" b="0" i="0" u="none"/>
              <a:t>Long-running projects need durable context across sessions</a:t>
            </a:r>
            <a:endParaRPr sz="2700" b="0" i="0">
              <a:latin typeface="Arial"/>
            </a:endParaRPr>
          </a:p>
          <a:p>
            <a:r>
              <a:rPr sz="2700" b="0" i="0" u="none"/>
              <a:t>Memory helps new tasks start with known constraints and defaults</a:t>
            </a:r>
            <a:endParaRPr sz="2700" b="0" i="0">
              <a:latin typeface="Arial"/>
            </a:endParaRPr>
          </a:p>
          <a:p>
            <a:r>
              <a:rPr sz="2700" b="0" i="0" u="none"/>
              <a:t>Teams get more predictable outputs with less prompt overhead</a:t>
            </a:r>
            <a:endParaRPr sz="2700" b="0" i="0">
              <a:latin typeface="Arial"/>
            </a:endParaRPr>
          </a:p>
          <a:p>
            <a:pPr>
              <a:buNone/>
            </a:pPr>
            <a:endParaRPr sz="2700" b="0" i="0">
              <a:latin typeface="Arial"/>
            </a:endParaRPr>
          </a:p>
          <a:p>
            <a:pPr>
              <a:buNone/>
            </a:pPr>
            <a:r>
              <a:rPr sz="2700" b="0" i="1" u="none"/>
              <a:t>Treat memory as curated working knowledge, not a raw transcript.</a:t>
            </a:r>
            <a:endParaRPr sz="2700" b="0" i="0">
              <a:latin typeface="Aria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Memory Scopes</a:t>
            </a:r>
          </a:p>
        </p:txBody>
      </p:sp>
      <p:graphicFrame>
        <p:nvGraphicFramePr>
          <p:cNvPr id="3" name="Table 2"/>
          <p:cNvGraphicFramePr>
            <a:graphicFrameLocks noGrp="1"/>
          </p:cNvGraphicFramePr>
          <p:nvPr/>
        </p:nvGraphicFramePr>
        <p:xfrm>
          <a:off x="1219200" y="1828800"/>
          <a:ext cx="9753600" cy="219456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Scope</a:t>
                      </a:r>
                    </a:p>
                  </a:txBody>
                  <a:tcPr>
                    <a:solidFill>
                      <a:schemeClr val="accent4"/>
                    </a:solidFill>
                  </a:tcPr>
                </a:tc>
                <a:tc>
                  <a:txBody>
                    <a:bodyPr/>
                    <a:lstStyle/>
                    <a:p>
                      <a:pPr>
                        <a:buNone/>
                        <a:defRPr sz="1600" b="1">
                          <a:solidFill>
                            <a:schemeClr val="bg1"/>
                          </a:solidFill>
                        </a:defRPr>
                      </a:pPr>
                      <a:r>
                        <a:rPr sz="1600" b="0" i="0" u="none"/>
                        <a:t>Path</a:t>
                      </a:r>
                    </a:p>
                  </a:txBody>
                  <a:tcPr>
                    <a:solidFill>
                      <a:schemeClr val="accent4"/>
                    </a:solidFill>
                  </a:tcPr>
                </a:tc>
                <a:tc>
                  <a:txBody>
                    <a:bodyPr/>
                    <a:lstStyle/>
                    <a:p>
                      <a:pPr>
                        <a:buNone/>
                        <a:defRPr sz="1600" b="1">
                          <a:solidFill>
                            <a:schemeClr val="bg1"/>
                          </a:solidFill>
                        </a:defRPr>
                      </a:pPr>
                      <a:r>
                        <a:rPr sz="1600" b="0" i="0" u="none"/>
                        <a:t>Typical Use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User memory</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/memories/</a:t>
                      </a:r>
                    </a:p>
                  </a:txBody>
                  <a:tcPr>
                    <a:solidFill>
                      <a:schemeClr val="accent4">
                        <a:lumMod val="20000"/>
                        <a:lumOff val="80000"/>
                      </a:schemeClr>
                    </a:solidFill>
                  </a:tcPr>
                </a:tc>
                <a:tc>
                  <a:txBody>
                    <a:bodyPr/>
                    <a:lstStyle/>
                    <a:p>
                      <a:pPr>
                        <a:buNone/>
                        <a:defRPr sz="1600" b="0">
                          <a:solidFill>
                            <a:schemeClr val="tx1"/>
                          </a:solidFill>
                        </a:defRPr>
                      </a:pPr>
                      <a:r>
                        <a:rPr sz="1600" b="0" i="0" u="none"/>
                        <a:t>Long-term preferences and repeatable habits</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Session memory</a:t>
                      </a:r>
                    </a:p>
                  </a:txBody>
                  <a:tcPr>
                    <a:solidFill>
                      <a:schemeClr val="accent4">
                        <a:lumMod val="8000"/>
                        <a:lumOff val="92000"/>
                      </a:schemeClr>
                    </a:solidFill>
                  </a:tcPr>
                </a:tc>
                <a:tc>
                  <a:txBody>
                    <a:bodyPr/>
                    <a:lstStyle/>
                    <a:p>
                      <a:pPr>
                        <a:buNone/>
                        <a:defRPr sz="1600" b="0">
                          <a:solidFill>
                            <a:schemeClr val="tx1"/>
                          </a:solidFill>
                        </a:defRPr>
                      </a:pPr>
                      <a:r>
                        <a:rPr sz="1600" b="0" i="0" u="none">
                          <a:latin typeface="Consolas"/>
                        </a:rPr>
                        <a:t>/memories/session/</a:t>
                      </a:r>
                    </a:p>
                  </a:txBody>
                  <a:tcPr>
                    <a:solidFill>
                      <a:schemeClr val="accent4">
                        <a:lumMod val="8000"/>
                        <a:lumOff val="92000"/>
                      </a:schemeClr>
                    </a:solidFill>
                  </a:tcPr>
                </a:tc>
                <a:tc>
                  <a:txBody>
                    <a:bodyPr/>
                    <a:lstStyle/>
                    <a:p>
                      <a:pPr>
                        <a:buNone/>
                        <a:defRPr sz="1600" b="0">
                          <a:solidFill>
                            <a:schemeClr val="tx1"/>
                          </a:solidFill>
                        </a:defRPr>
                      </a:pPr>
                      <a:r>
                        <a:rPr sz="1600" b="0" i="0" u="none"/>
                        <a:t>Current-task notes and in-progress working state</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Repo memory</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/memories/repo/</a:t>
                      </a:r>
                    </a:p>
                  </a:txBody>
                  <a:tcPr>
                    <a:solidFill>
                      <a:schemeClr val="accent4">
                        <a:lumMod val="20000"/>
                        <a:lumOff val="80000"/>
                      </a:schemeClr>
                    </a:solidFill>
                  </a:tcPr>
                </a:tc>
                <a:tc>
                  <a:txBody>
                    <a:bodyPr/>
                    <a:lstStyle/>
                    <a:p>
                      <a:pPr>
                        <a:buNone/>
                        <a:defRPr sz="1600" b="0">
                          <a:solidFill>
                            <a:schemeClr val="tx1"/>
                          </a:solidFill>
                        </a:defRPr>
                      </a:pPr>
                      <a:r>
                        <a:rPr sz="1600" b="0" i="0" u="none"/>
                        <a:t>Repository conventions and verified codebase facts</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How Memory Is Used</a:t>
            </a:r>
          </a:p>
        </p:txBody>
      </p:sp>
      <p:sp>
        <p:nvSpPr>
          <p:cNvPr id="3" name="Content Placeholder 2"/>
          <p:cNvSpPr>
            <a:spLocks noGrp="1"/>
          </p:cNvSpPr>
          <p:nvPr>
            <p:ph sz="half" idx="1"/>
          </p:nvPr>
        </p:nvSpPr>
        <p:spPr/>
        <p:txBody>
          <a:bodyPr wrap="square">
            <a:normAutofit/>
          </a:bodyPr>
          <a:lstStyle/>
          <a:p>
            <a:endParaRPr/>
          </a:p>
        </p:txBody>
      </p:sp>
      <p:sp>
        <p:nvSpPr>
          <p:cNvPr id="4" name="Content Placeholder 3"/>
          <p:cNvSpPr>
            <a:spLocks noGrp="1"/>
          </p:cNvSpPr>
          <p:nvPr>
            <p:ph sz="half" idx="2"/>
          </p:nvPr>
        </p:nvSpPr>
        <p:spPr/>
        <p:txBody>
          <a:bodyPr wrap="square">
            <a:normAutofit/>
          </a:bodyPr>
          <a:lstStyle/>
          <a:p>
            <a:r>
              <a:rPr sz="1400" b="0" i="0" u="none"/>
              <a:t>Read first, write sparingly, and store only validated reusable facts</a:t>
            </a:r>
            <a:endParaRPr sz="2800" b="0" i="0">
              <a:latin typeface="Arial"/>
            </a:endParaRPr>
          </a:p>
          <a:p>
            <a:r>
              <a:rPr sz="1400" b="0" i="0" u="none"/>
              <a:t>Memory updates should be intentional, not automatic dumping</a:t>
            </a:r>
            <a:endParaRPr sz="2800" b="0" i="0">
              <a:latin typeface="Arial"/>
            </a:endParaRPr>
          </a:p>
        </p:txBody>
      </p:sp>
      <p:pic>
        <p:nvPicPr>
          <p:cNvPr id="5" name="Picture 4" descr="9b0ec7be4140090fa4ea94aea931f10c05cd02b1.png"/>
          <p:cNvPicPr>
            <a:picLocks noChangeAspect="1"/>
          </p:cNvPicPr>
          <p:nvPr/>
        </p:nvPicPr>
        <p:blipFill>
          <a:blip r:embed="rId3"/>
          <a:stretch>
            <a:fillRect/>
          </a:stretch>
        </p:blipFill>
        <p:spPr>
          <a:xfrm>
            <a:off x="2228043" y="1509472"/>
            <a:ext cx="2401914" cy="4259898"/>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to Store (and Avoid)</a:t>
            </a:r>
          </a:p>
        </p:txBody>
      </p:sp>
      <p:sp>
        <p:nvSpPr>
          <p:cNvPr id="3" name="Content Placeholder 2"/>
          <p:cNvSpPr>
            <a:spLocks noGrp="1"/>
          </p:cNvSpPr>
          <p:nvPr>
            <p:ph idx="1"/>
          </p:nvPr>
        </p:nvSpPr>
        <p:spPr/>
        <p:txBody>
          <a:bodyPr wrap="square">
            <a:normAutofit/>
          </a:bodyPr>
          <a:lstStyle/>
          <a:p>
            <a:pPr>
              <a:buNone/>
            </a:pPr>
            <a:r>
              <a:rPr sz="2050" b="1" i="0" u="none"/>
              <a:t>Good memory candidates</a:t>
            </a:r>
            <a:endParaRPr sz="2050" b="0" i="0">
              <a:latin typeface="Arial"/>
            </a:endParaRPr>
          </a:p>
          <a:p>
            <a:pPr lvl="1"/>
            <a:r>
              <a:rPr sz="2050" b="0" i="0" u="none"/>
              <a:t>Preferred answer style, language, and testing conventions</a:t>
            </a:r>
            <a:endParaRPr sz="2050" b="0" i="0">
              <a:latin typeface="Arial"/>
            </a:endParaRPr>
          </a:p>
          <a:p>
            <a:pPr lvl="1"/>
            <a:r>
              <a:rPr sz="2050" b="0" i="0" u="none"/>
              <a:t>Stable repository rules and file-location patterns</a:t>
            </a:r>
            <a:endParaRPr sz="2050" b="0" i="0">
              <a:latin typeface="Arial"/>
            </a:endParaRPr>
          </a:p>
          <a:p>
            <a:pPr lvl="1"/>
            <a:r>
              <a:rPr sz="2050" b="0" i="0" u="none"/>
              <a:t>Verified build or slide-pipeline commands used repeatedly</a:t>
            </a:r>
            <a:endParaRPr sz="2050" b="0" i="0">
              <a:latin typeface="Arial"/>
            </a:endParaRPr>
          </a:p>
          <a:p>
            <a:pPr lvl="1"/>
            <a:r>
              <a:rPr sz="2050" b="0" i="0" u="none"/>
              <a:t>Known pitfalls worth avoiding in future work</a:t>
            </a:r>
            <a:endParaRPr sz="2050" b="0" i="0">
              <a:latin typeface="Arial"/>
            </a:endParaRPr>
          </a:p>
          <a:p>
            <a:pPr>
              <a:buNone/>
            </a:pPr>
            <a:endParaRPr sz="2050" b="0" i="0">
              <a:latin typeface="Arial"/>
            </a:endParaRPr>
          </a:p>
          <a:p>
            <a:pPr>
              <a:buNone/>
            </a:pPr>
            <a:r>
              <a:rPr sz="2050" b="1" i="0" u="none"/>
              <a:t>Do not store</a:t>
            </a:r>
            <a:endParaRPr sz="2050" b="0" i="0">
              <a:latin typeface="Arial"/>
            </a:endParaRPr>
          </a:p>
          <a:p>
            <a:pPr lvl="1"/>
            <a:r>
              <a:rPr sz="2050" b="0" i="0" u="none"/>
              <a:t>Secrets, credentials, keys, or personal sensitive data</a:t>
            </a:r>
            <a:endParaRPr sz="2050" b="0" i="0">
              <a:latin typeface="Arial"/>
            </a:endParaRPr>
          </a:p>
          <a:p>
            <a:pPr lvl="1"/>
            <a:r>
              <a:rPr sz="2050" b="0" i="0" u="none"/>
              <a:t>Unverified assumptions or speculative notes</a:t>
            </a:r>
            <a:endParaRPr sz="2050" b="0" i="0">
              <a:latin typeface="Arial"/>
            </a:endParaRPr>
          </a:p>
          <a:p>
            <a:pPr lvl="1"/>
            <a:r>
              <a:rPr sz="2050" b="0" i="0" u="none"/>
              <a:t>Large narrative logs that duplicate source files</a:t>
            </a:r>
            <a:endParaRPr sz="2050" b="0" i="0">
              <a:latin typeface="Arial"/>
            </a:endParaRPr>
          </a:p>
          <a:p>
            <a:pPr lvl="1"/>
            <a:r>
              <a:rPr sz="2050" b="0" i="0" u="none"/>
              <a:t>One-off task chatter with no future reuse value</a:t>
            </a:r>
            <a:endParaRPr sz="2050" b="0" i="0">
              <a:latin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Quick Start Checklist</a:t>
            </a:r>
          </a:p>
        </p:txBody>
      </p:sp>
      <p:sp>
        <p:nvSpPr>
          <p:cNvPr id="3" name="Content Placeholder 2"/>
          <p:cNvSpPr>
            <a:spLocks noGrp="1"/>
          </p:cNvSpPr>
          <p:nvPr>
            <p:ph idx="1"/>
          </p:nvPr>
        </p:nvSpPr>
        <p:spPr/>
        <p:txBody>
          <a:bodyPr wrap="square">
            <a:normAutofit/>
          </a:bodyPr>
          <a:lstStyle/>
          <a:p>
            <a:r>
              <a:rPr sz="2800" b="0" i="0" u="none"/>
              <a:t>Enable memory in Copilot Chat settings</a:t>
            </a:r>
            <a:endParaRPr sz="2800" b="0" i="0">
              <a:latin typeface="Arial"/>
            </a:endParaRPr>
          </a:p>
          <a:p>
            <a:r>
              <a:rPr sz="2800" b="0" i="0" u="none"/>
              <a:t>Store only concise, validated, reusable notes</a:t>
            </a:r>
            <a:endParaRPr sz="2800" b="0" i="0">
              <a:latin typeface="Arial"/>
            </a:endParaRPr>
          </a:p>
          <a:p>
            <a:r>
              <a:rPr sz="2800" b="0" i="0" u="none"/>
              <a:t>Use the correct scope for each note type</a:t>
            </a:r>
            <a:endParaRPr sz="2800" b="0" i="0">
              <a:latin typeface="Arial"/>
            </a:endParaRPr>
          </a:p>
          <a:p>
            <a:r>
              <a:rPr sz="2800" b="0" i="0" u="none"/>
              <a:t>Review and prune stale memory regularly</a:t>
            </a:r>
            <a:endParaRPr sz="2800" b="0" i="0">
              <a:latin typeface="Arial"/>
            </a:endParaRPr>
          </a:p>
          <a:p>
            <a:r>
              <a:rPr sz="2800" b="0" i="0" u="none"/>
              <a:t>Keep sensitive information out of memory</a:t>
            </a:r>
            <a:endParaRPr sz="2800" b="0" i="0">
              <a:latin typeface="Arial"/>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TotalTime>
  <Words>16409</Words>
  <Application>Microsoft Office PowerPoint</Application>
  <PresentationFormat>Widescreen</PresentationFormat>
  <Paragraphs>2309</Paragraphs>
  <Slides>113</Slides>
  <Notes>113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113</vt:i4>
      </vt:variant>
    </vt:vector>
  </HeadingPairs>
  <TitlesOfParts>
    <vt:vector size="119" baseType="lpstr">
      <vt:lpstr>Arial</vt:lpstr>
      <vt:lpstr>Calibri</vt:lpstr>
      <vt:lpstr>Consolas</vt:lpstr>
      <vt:lpstr>Noto Sans</vt:lpstr>
      <vt:lpstr>Victor Mono</vt:lpstr>
      <vt:lpstr>CODE Training</vt:lpstr>
      <vt:lpstr>Wednesday Check-In</vt:lpstr>
      <vt:lpstr>Welcome Back to AI-Assisted Software Development</vt:lpstr>
      <vt:lpstr>Course Daily Themes</vt:lpstr>
      <vt:lpstr>Daily Themes</vt:lpstr>
      <vt:lpstr>Course Modules</vt:lpstr>
      <vt:lpstr>Test Automation and Code Quality</vt:lpstr>
      <vt:lpstr>Automated Quality Gates</vt:lpstr>
      <vt:lpstr>Implementing Quality Gates</vt:lpstr>
      <vt:lpstr>Red, Green, Refactor</vt:lpstr>
      <vt:lpstr>The TDD Cycle</vt:lpstr>
      <vt:lpstr>How to Apply TDD in Practice</vt:lpstr>
      <vt:lpstr>Repository TDD Standard: Instruction File</vt:lpstr>
      <vt:lpstr>Exercise: Test-Driven Development with Copilot</vt:lpstr>
      <vt:lpstr>Exercise: Test-Driven Development (TDD) with Copilot</vt:lpstr>
      <vt:lpstr>Creating Robust Testing Frameworks</vt:lpstr>
      <vt:lpstr>Managing Test Suites Over Time</vt:lpstr>
      <vt:lpstr>Test Review &amp; Validation Strategies</vt:lpstr>
      <vt:lpstr>Balancing Test Coverage with Maintainability</vt:lpstr>
      <vt:lpstr>Feature Flags and Test Suites</vt:lpstr>
      <vt:lpstr>Feature Flags &amp; Test Suites</vt:lpstr>
      <vt:lpstr>As-Is Test Suites - Purpose</vt:lpstr>
      <vt:lpstr>As-Is Test Suites - Building Confidence</vt:lpstr>
      <vt:lpstr>As-Is Test Suites - Critical Rules</vt:lpstr>
      <vt:lpstr>To-Be Test Suites - Purpose</vt:lpstr>
      <vt:lpstr>To-Be Test Suites - Workflow</vt:lpstr>
      <vt:lpstr>Two-phase CI/CD pipeline</vt:lpstr>
      <vt:lpstr>Benefits of the Dual-Suite Approach</vt:lpstr>
      <vt:lpstr>Maintenance - After Production Release</vt:lpstr>
      <vt:lpstr>AI Assisted Flag Removal</vt:lpstr>
      <vt:lpstr>Exercise: Evaluate Feature Flag Approaches and Author Instructions</vt:lpstr>
      <vt:lpstr>Exercise: Evaluate Feature Flag Approaches and Author Instructions</vt:lpstr>
      <vt:lpstr>Exercise: Implement a New Feature Under a Feature</vt:lpstr>
      <vt:lpstr>Exercise: Implement a New Feature Under a Feature Flag</vt:lpstr>
      <vt:lpstr>Testing in Production</vt:lpstr>
      <vt:lpstr>Testing in Production</vt:lpstr>
      <vt:lpstr>Why Test in Production?</vt:lpstr>
      <vt:lpstr>Core Principle</vt:lpstr>
      <vt:lpstr>Technique 1: Shadow Traffic</vt:lpstr>
      <vt:lpstr>Technique 2: Canary Releases</vt:lpstr>
      <vt:lpstr>Technique 3: Observability Dashboards</vt:lpstr>
      <vt:lpstr>Technique 4: Automated Rollback</vt:lpstr>
      <vt:lpstr>Technique 5: A/B Testing</vt:lpstr>
      <vt:lpstr>Course Modules</vt:lpstr>
      <vt:lpstr>VS Code Copilot Agents Overview</vt:lpstr>
      <vt:lpstr>Local Agents: Interactive &amp; Immediate</vt:lpstr>
      <vt:lpstr>Background Agents: Autonomous Execution</vt:lpstr>
      <vt:lpstr>Cloud Agents: Team Collaboration</vt:lpstr>
      <vt:lpstr>Agent Sessions Management</vt:lpstr>
      <vt:lpstr>Creating Agent Sessions</vt:lpstr>
      <vt:lpstr>Review and Apply Changes</vt:lpstr>
      <vt:lpstr>Hand-off Workflows</vt:lpstr>
      <vt:lpstr>Key Takeaways &amp; Next Steps</vt:lpstr>
      <vt:lpstr>Custom Agents Overview</vt:lpstr>
      <vt:lpstr>What Are Custom Agents?</vt:lpstr>
      <vt:lpstr>How Custom Agents Work</vt:lpstr>
      <vt:lpstr>Custom Agents: Use Cases</vt:lpstr>
      <vt:lpstr>Where to Create Custom Agents</vt:lpstr>
      <vt:lpstr>Creating in VS Code</vt:lpstr>
      <vt:lpstr>DevOps Engineer Custom Agent</vt:lpstr>
      <vt:lpstr>Using Custom Agents</vt:lpstr>
      <vt:lpstr>Exercise: Create and Use a Custom Agent</vt:lpstr>
      <vt:lpstr>Exercise: Create and Use a Custom Agent</vt:lpstr>
      <vt:lpstr>Custom Agent Best Practices</vt:lpstr>
      <vt:lpstr>Start Simple</vt:lpstr>
      <vt:lpstr>Define Clear Responsibilities</vt:lpstr>
      <vt:lpstr>Restrict Tools Appropriately</vt:lpstr>
      <vt:lpstr>Refine Based on Usage</vt:lpstr>
      <vt:lpstr>Share Common Work Through Org or Enterprise Agents</vt:lpstr>
      <vt:lpstr>Include Examples and Validate Before Rollout</vt:lpstr>
      <vt:lpstr>Course Modules</vt:lpstr>
      <vt:lpstr>GitHub Copilot Skills: A Practical Introduction</vt:lpstr>
      <vt:lpstr>GitHub Copilot Skills</vt:lpstr>
      <vt:lpstr>What Are Copilot Skills?</vt:lpstr>
      <vt:lpstr>Why Skills Exist</vt:lpstr>
      <vt:lpstr>Skill Folder Structure</vt:lpstr>
      <vt:lpstr>Anatomy of SKILL.md</vt:lpstr>
      <vt:lpstr>How Copilot Loads Skills</vt:lpstr>
      <vt:lpstr>How Skills Change Copilot's Behavior</vt:lpstr>
      <vt:lpstr>Real-World Use Cases</vt:lpstr>
      <vt:lpstr>Best Practices for Skill Authoring</vt:lpstr>
      <vt:lpstr>Exercise: Create Your First Skill</vt:lpstr>
      <vt:lpstr>Exercise: Create Your First Skill</vt:lpstr>
      <vt:lpstr>Course Modules</vt:lpstr>
      <vt:lpstr>Comparing AI Development Approaches</vt:lpstr>
      <vt:lpstr>Comparison Matrix</vt:lpstr>
      <vt:lpstr>Layered Integration Approach</vt:lpstr>
      <vt:lpstr>Real-World Integration Example</vt:lpstr>
      <vt:lpstr>The Integration Advantage</vt:lpstr>
      <vt:lpstr>Controlling Copilot Instruction Files</vt:lpstr>
      <vt:lpstr>Instruction Files: The Automatic Control Layer</vt:lpstr>
      <vt:lpstr>Prompt Files: Reference, Don't Control</vt:lpstr>
      <vt:lpstr>Agents: Persona, Not Pattern Control</vt:lpstr>
      <vt:lpstr>The Control Hierarchy</vt:lpstr>
      <vt:lpstr>Practical Control Strategies</vt:lpstr>
      <vt:lpstr>Course Modules</vt:lpstr>
      <vt:lpstr>Model Context Protocol Servers</vt:lpstr>
      <vt:lpstr>MCP: Model Context Protocol Servers</vt:lpstr>
      <vt:lpstr>What Is MCP?</vt:lpstr>
      <vt:lpstr>Architecture: Five Components</vt:lpstr>
      <vt:lpstr>Use Cases</vt:lpstr>
      <vt:lpstr>Available Pre-Built Servers</vt:lpstr>
      <vt:lpstr>Finding MCP Servers</vt:lpstr>
      <vt:lpstr>Copilot + MCP Integration</vt:lpstr>
      <vt:lpstr>Configuring Servers Securely</vt:lpstr>
      <vt:lpstr>Exercise: Create, Test, and Use an MCP Server</vt:lpstr>
      <vt:lpstr>Exercise: Create, Test, and Use a Local MCP Server</vt:lpstr>
      <vt:lpstr>Course Modules</vt:lpstr>
      <vt:lpstr>GitHub Copilot Memory Features</vt:lpstr>
      <vt:lpstr>Why Memory Matters</vt:lpstr>
      <vt:lpstr>Memory Scopes</vt:lpstr>
      <vt:lpstr>How Memory Is Used</vt:lpstr>
      <vt:lpstr>What to Store (and Avoid)</vt:lpstr>
      <vt:lpstr>Quick Start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12</cp:revision>
  <dcterms:created xsi:type="dcterms:W3CDTF">2025-10-19T18:09:53Z</dcterms:created>
  <dcterms:modified xsi:type="dcterms:W3CDTF">2026-09-25T20:22:12Z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