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97"/>
  </p:notesMasterIdLst>
  <p:sldIdLst>
    <p:sldId id="256" r:id="rId2"/>
    <p:sldId id="257" r:id="rId3"/>
    <p:sldId id="258" r:id="rId4"/>
    <p:sldId id="342" r:id="rId5"/>
    <p:sldId id="356" r:id="rId6"/>
    <p:sldId id="357" r:id="rId7"/>
    <p:sldId id="358" r:id="rId8"/>
    <p:sldId id="359" r:id="rId9"/>
    <p:sldId id="360" r:id="rId10"/>
    <p:sldId id="361" r:id="rId11"/>
    <p:sldId id="362" r:id="rId12"/>
    <p:sldId id="363" r:id="rId13"/>
    <p:sldId id="364"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63597" autoAdjust="0"/>
  </p:normalViewPr>
  <p:slideViewPr>
    <p:cSldViewPr snapToGrid="0" showGuides="1">
      <p:cViewPr varScale="1">
        <p:scale>
          <a:sx n="111" d="100"/>
          <a:sy n="111" d="100"/>
        </p:scale>
        <p:origin x="1844" y="72"/>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opening to bring attention back after a break or overnight gap.</a:t>
            </a:r>
          </a:p>
          <a:p>
            <a:r>
              <a:t>Signal that today continues the same journey while introducing fresh examples.</a:t>
            </a:r>
          </a:p>
          <a:p>
            <a:endParaRPr/>
          </a:p>
          <a:p>
            <a:r>
              <a:t>---</a:t>
            </a:r>
          </a:p>
          <a:p>
            <a:endParaRPr/>
          </a:p>
          <a:p>
            <a:r>
              <a:t>Source: slides\marp\welcome-back-thursday.deck.md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Begin with a concise welcome and reconnect participants to the broader course arc. Emphasize that applied discussion improves learning outcomes for everyone. Normalize asking questions at any point, especially during demos or exercises. Transition with a quick roadmap of what is coming next.</a:t>
            </a:r>
          </a:p>
          <a:p>
            <a:endParaRPr/>
          </a:p>
          <a:p>
            <a:r>
              <a:t>---</a:t>
            </a:r>
          </a:p>
          <a:p>
            <a:endParaRPr/>
          </a:p>
          <a:p>
            <a:r>
              <a:t>Source: slides\marp\welcome-back-thursday.deck.md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Open by framing MCP as Copilot's extensibility layer beyond the repository. Copilot is already powerful for code in a repo, but many real workflows require reaching outside that boundary: querying a database, checking infrastructure state, or pulling from an internal API. MCP is the standard that makes all of those integrations possible.</a:t>
            </a:r>
          </a:p>
          <a:p>
            <a:endParaRPr/>
          </a:p>
          <a:p>
            <a:r>
              <a:t>Transition: "Let's start with what MCP actually is."</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MCP as an open protocol rather than a proprietary plugin system. The key idea is standardization: any team can build a server that exposes data or capabilities to Copilot using the same protocol, which means the ecosystem grows without waiting for first-party integrations.</a:t>
            </a:r>
          </a:p>
          <a:p>
            <a:endParaRPr/>
          </a:p>
          <a:p>
            <a:r>
              <a:t>MCP servers are like npm packages — install and use. Configuration is simple JSON — no coding required.</a:t>
            </a:r>
          </a:p>
          <a:p>
            <a:endParaRPr/>
          </a:p>
          <a:p>
            <a:r>
              <a:t>Examples:</a:t>
            </a:r>
          </a:p>
          <a:p>
            <a:endParaRPr/>
          </a:p>
          <a:p>
            <a:r>
              <a:t>- GitHub MCP Server: Access repos and issues</a:t>
            </a:r>
          </a:p>
          <a:p>
            <a:r>
              <a:t>- Postgres MCP Server: Query your database</a:t>
            </a:r>
          </a:p>
          <a:p>
            <a:r>
              <a:t>- Filesystem MCP Server: Safe file access for Copilot</a:t>
            </a:r>
          </a:p>
          <a:p>
            <a:r>
              <a:t>- Slack MCP Server: Read channels and messages</a:t>
            </a:r>
          </a:p>
          <a:p>
            <a:endParaRPr/>
          </a:p>
          <a:p>
            <a:r>
              <a:t>Transition: "Let's look at the architecture in detail."</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Walk through each component methodically. The client is already familiar — VS Code with Copilot enabled. The server is what you install. The protocol is what makes them interoperable. Resources are data that can be read into context; tools are actions that Copilot can invoke on behalf of the user.</a:t>
            </a:r>
          </a:p>
          <a:p>
            <a:endParaRPr/>
          </a:p>
          <a:p>
            <a:r>
              <a:t>Consumer focus: think "install and configure" not "build and deploy" — like VS Code extensions from the marketplace.</a:t>
            </a:r>
          </a:p>
          <a:p>
            <a:endParaRPr/>
          </a:p>
          <a:p>
            <a:r>
              <a:t>Transition: "Let's see why you'd want MCP in your workflow."</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Use this slide to show why MCP matters in practice. The most compelling cases are often ones where the developer needs real state that lives outside the repo: the current schema of a production database, the live status of a Kubernetes deployment, or data from an internal system.</a:t>
            </a:r>
          </a:p>
          <a:p>
            <a:endParaRPr/>
          </a:p>
          <a:p>
            <a:r>
              <a:t>Encourage the audience to think about what data sources or tools they access repeatedly that could be connected to Copilot through an MCP server.</a:t>
            </a:r>
          </a:p>
          <a:p>
            <a:endParaRPr/>
          </a:p>
          <a:p>
            <a:r>
              <a:t>Transition: "Let's look at what servers are available today."</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Emphasize that you do not need to build a server to benefit from MCP. Most common integration points already have a server available.</a:t>
            </a:r>
          </a:p>
          <a:p>
            <a:endParaRPr/>
          </a:p>
          <a:p>
            <a:r>
              <a:t>Specific package names to mention:</a:t>
            </a:r>
          </a:p>
          <a:p>
            <a:endParaRPr/>
          </a:p>
          <a:p>
            <a:r>
              <a:t>- @modelcontextprotocol/server-github — Full GitHub integration</a:t>
            </a:r>
          </a:p>
          <a:p>
            <a:r>
              <a:t>- @modelcontextprotocol/server-postgres — Direct database queries</a:t>
            </a:r>
          </a:p>
          <a:p>
            <a:r>
              <a:t>- @modelcontextprotocol/server-filesystem — Workspace file access</a:t>
            </a:r>
          </a:p>
          <a:p>
            <a:r>
              <a:t>- @modelcontextprotocol/server-brave-search — Web search integration</a:t>
            </a:r>
          </a:p>
          <a:p>
            <a:r>
              <a:t>- @modelcontextprotocol/server-puppeteer — Browser automation</a:t>
            </a:r>
          </a:p>
          <a:p>
            <a:endParaRPr/>
          </a:p>
          <a:p>
            <a:r>
              <a:t>The infrastructure-focused servers — Terraform and Kubernetes — tend to generate the most interest in DevOps or platform engineering teams.</a:t>
            </a:r>
          </a:p>
          <a:p>
            <a:endParaRPr/>
          </a:p>
          <a:p>
            <a:r>
              <a:t>Transition: "Now let's find the right server for your needs."</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this actionable. The VS Code extension gallery is the fastest entry point because it is already open. The MCP website is the authoritative source for documentation and the full server registry.</a:t>
            </a:r>
          </a:p>
          <a:p>
            <a:endParaRPr/>
          </a:p>
          <a:p>
            <a:r>
              <a:t>Suggest that attendees check the extension gallery for the tool they care most about as a next-step exercise.</a:t>
            </a:r>
          </a:p>
          <a:p>
            <a:endParaRPr/>
          </a:p>
          <a:p>
            <a:r>
              <a:t>Transition: "Let's install your first MCP server."</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Emphasize the "before and after" — without MCP, completions are based only on training data. With MCP, completions match YOUR codebase patterns.</a:t>
            </a:r>
          </a:p>
          <a:p>
            <a:endParaRPr/>
          </a:p>
          <a:p>
            <a:r>
              <a:t>Examples:</a:t>
            </a:r>
          </a:p>
          <a:p>
            <a:endParaRPr/>
          </a:p>
          <a:p>
            <a:r>
              <a:t>- Database connection: MCP provides your actual schema and connection pattern</a:t>
            </a:r>
          </a:p>
          <a:p>
            <a:r>
              <a:t>- API calls: MCP shares your error handling approach</a:t>
            </a:r>
          </a:p>
          <a:p>
            <a:r>
              <a:t>- Testing: MCP provides your test framework and fixture patterns</a:t>
            </a:r>
          </a:p>
          <a:p>
            <a:endParaRPr/>
          </a:p>
          <a:p>
            <a:r>
              <a:t>Security note: MCP servers can implement rate limiting. Audit logs track what context was provided. The permission model prevents unauthorized access.</a:t>
            </a:r>
          </a:p>
          <a:p>
            <a:endParaRPr/>
          </a:p>
          <a:p>
            <a:r>
              <a:t>Transition: "Let's talk about configuring these safely."</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Security from the consumer perspective — this is all about what YOU control in configuration.</a:t>
            </a:r>
          </a:p>
          <a:p>
            <a:endParaRPr/>
          </a:p>
          <a:p>
            <a:r>
              <a:t>Good config examples:</a:t>
            </a:r>
          </a:p>
          <a:p>
            <a:endParaRPr/>
          </a:p>
          <a:p>
            <a:r>
              <a:t>// Good: Scoped GitHub token</a:t>
            </a:r>
          </a:p>
          <a:p>
            <a:r>
              <a:t>"env": { "GITHUB_TOKEN": "${env:GH_READ_TOKEN}" }</a:t>
            </a:r>
          </a:p>
          <a:p>
            <a:endParaRPr/>
          </a:p>
          <a:p>
            <a:r>
              <a:t>// Good: Limited database access</a:t>
            </a:r>
          </a:p>
          <a:p>
            <a:r>
              <a:t>"env": { "DATABASE_URL": "postgresql://readonly-user@host/db" }</a:t>
            </a:r>
          </a:p>
          <a:p>
            <a:endParaRPr/>
          </a:p>
          <a:p>
            <a:r>
              <a:t>// Bad: Full access token hardcoded</a:t>
            </a:r>
          </a:p>
          <a:p>
            <a:r>
              <a:t>"env": { "TOKEN": "ghp_admintoken123456" }</a:t>
            </a:r>
          </a:p>
          <a:p>
            <a:endParaRPr/>
          </a:p>
          <a:p>
            <a:r>
              <a:t>Common mistakes:</a:t>
            </a:r>
          </a:p>
          <a:p>
            <a:endParaRPr/>
          </a:p>
          <a:p>
            <a:r>
              <a:t>- Using admin credentials when a reader role is sufficient</a:t>
            </a:r>
          </a:p>
          <a:p>
            <a:r>
              <a:t>- Granting access to the entire filesystem instead of the workspace folder</a:t>
            </a:r>
          </a:p>
          <a:p>
            <a:r>
              <a:t>- Not checking what data the server actually sends to AI</a:t>
            </a:r>
          </a:p>
          <a:p>
            <a:endParaRPr/>
          </a:p>
          <a:p>
            <a:r>
              <a:t>Transition: "Let's put this into practice."</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opening slide as a quick section transition into the resource catalog.</a:t>
            </a:r>
          </a:p>
          <a:p>
            <a:r>
              <a:t>Set expectations that the next slide contains the actual resource list participants should bookmark.</a:t>
            </a:r>
          </a:p>
          <a:p>
            <a:endParaRPr/>
          </a:p>
          <a:p>
            <a:r>
              <a:t>---</a:t>
            </a:r>
          </a:p>
          <a:p>
            <a:endParaRPr/>
          </a:p>
          <a:p>
            <a:r>
              <a:t>Source: slides\marp\ai-practitioner-resources.deck.md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learners to the curated resource site first, then explain how the collection is organized across AI-first, prompt-first, and prompt-only workflows.</a:t>
            </a:r>
          </a:p>
          <a:p>
            <a:r>
              <a:t>Encourage them to revisit this slide after class as a practical starting point rather than trying to memorize the list in the moment.</a:t>
            </a:r>
          </a:p>
          <a:p>
            <a:endParaRPr/>
          </a:p>
          <a:p>
            <a:r>
              <a:t>---</a:t>
            </a:r>
          </a:p>
          <a:p>
            <a:endParaRPr/>
          </a:p>
          <a:p>
            <a:r>
              <a:t>Source: slides\marp\ai-practitioner-resources.deck.md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Try this in quick chat:</a:t>
            </a:r>
          </a:p>
          <a:p>
            <a:endParaRPr/>
          </a:p>
          <a:p>
            <a:r>
              <a:t>- "what are three definitions of legacy code?"</a:t>
            </a:r>
          </a:p>
          <a:p>
            <a:r>
              <a:t>- "what are 10 definitions of legacy code?"</a:t>
            </a:r>
          </a:p>
          <a:p>
            <a:r>
              <a:t>- "what are 25 definitions of legacy code?"</a:t>
            </a:r>
          </a:p>
          <a:p>
            <a:endParaRPr/>
          </a:p>
          <a:p>
            <a:r>
              <a:t>Ask the audience: "Who recognizes these definitions in their work?"</a:t>
            </a:r>
          </a:p>
          <a:p>
            <a:endParaRPr/>
          </a:p>
          <a:p>
            <a:r>
              <a:t>Duration ~00:45</a:t>
            </a:r>
          </a:p>
          <a:p>
            <a:endParaRPr/>
          </a:p>
          <a:p>
            <a:r>
              <a:t>### Learning Objectives</a:t>
            </a:r>
          </a:p>
          <a:p>
            <a:endParaRPr/>
          </a:p>
          <a:p>
            <a:r>
              <a:t>- Distinguish brownfield from greenfield and legacy systems.</a:t>
            </a:r>
          </a:p>
          <a:p>
            <a:r>
              <a:t>- Identify misconceptions that derail modernization efforts.</a:t>
            </a:r>
          </a:p>
          <a:p>
            <a:r>
              <a:t>- Understand why brownfield work is the normal operating environment for most teams.</a:t>
            </a:r>
          </a:p>
          <a:p>
            <a:endParaRPr/>
          </a:p>
          <a:p>
            <a:r>
              <a:t>Introduce brownfield as a context, not an insult. The goal is to replace fear and vague terminology with a precise understanding of what teams inherit, maintain, and evolve.</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greenfield characteristics: new code, clear patterns, modern tooling, no accumulated debt. The key insight is that greenfield is the starting point, not a permanent state. Ask: how many in the room are working on a truly greenfield project right now? The answer is usually "very few." Evergreen is the rare exception — code that has been actively maintained to resist decay. Most production code falls somewhere on the spectrum between "recently greenfield" and "deeply legacy." (~1.5 minutes)</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boundaries matter because strategies differ by context. A brownfield team must preserve behavior, interfaces, and operational continuity while still moving the system forward.</a:t>
            </a:r>
          </a:p>
          <a:p>
            <a:endParaRPr/>
          </a:p>
          <a:p>
            <a:r>
              <a:t>Use examples such as adding a new service to an existing platform, replacing a fragile subsystem behind a stable interface, or building a new feature inside a mature application.</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brownfield complexity rarely arrives in one catastrophic moment. It builds through repeated compromises, urgent fixes, and uneven stewardship.</a:t>
            </a:r>
          </a:p>
          <a:p>
            <a:endParaRPr/>
          </a:p>
          <a:p>
            <a:r>
              <a:t>This framing prepares learners to see degradation as an expected systems outcome that can be managed, not a moral failure by prior teams.</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~01:00</a:t>
            </a:r>
          </a:p>
          <a:p>
            <a:endParaRPr/>
          </a:p>
          <a:p>
            <a:r>
              <a:t>### Learning Objectives</a:t>
            </a:r>
          </a:p>
          <a:p>
            <a:endParaRPr/>
          </a:p>
          <a:p>
            <a:r>
              <a:t>- Recognize the forces that cause systems to drift from their intended design.</a:t>
            </a:r>
          </a:p>
          <a:p>
            <a:r>
              <a:t>- Understand the role of organizational, architectural, and operational pressures.</a:t>
            </a:r>
          </a:p>
          <a:p>
            <a:r>
              <a:t>- Explain why degradation is usually systemic rather than purely technical.</a:t>
            </a:r>
          </a:p>
          <a:p>
            <a:endParaRPr/>
          </a:p>
          <a:p>
            <a:r>
              <a:t>Frame this module as a move from definitions into causal analysis. Participants should leave with language for explaining why codebases become harder to change over time.</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feature accretion as the normal cost of product success. Growth creates complexity, and complexity becomes debt when teams stop rebalancing the design.</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degradation to organizational reality. The business changes first; the codebase pays the bill later unless teams consciously realign the design.</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topic is about memory loss at the system level. Brownfield difficulty often comes from missing rationale, not just messy code.</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it clear that dependency rot is not only a package-version problem. It includes CI pipelines, deployment scripts, monitoring assumptions, and local developer tooling.</a:t>
            </a:r>
          </a:p>
          <a:p>
            <a:endParaRPr/>
          </a:p>
          <a:p>
            <a:r>
              <a:t>---</a:t>
            </a:r>
          </a:p>
          <a:p>
            <a:endParaRPr/>
          </a:p>
          <a:p>
            <a:r>
              <a:t>Source: slides\marp\brownfield\understanding-legacy-code.deck.md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sets the stage: AI doesn't replace engineering discipline — it amplifies it.</a:t>
            </a:r>
          </a:p>
          <a:p>
            <a:endParaRPr/>
          </a:p>
          <a:p>
            <a:r>
              <a:t>Before we let AI touch a brownfield system, we need guardrails.</a:t>
            </a:r>
          </a:p>
          <a:p>
            <a:endParaRPr/>
          </a:p>
          <a:p>
            <a:r>
              <a:t>These safety measures aren't optional; they're what make AI-assisted development sustainable and safe.</a:t>
            </a:r>
          </a:p>
          <a:p>
            <a:endParaRPr/>
          </a:p>
          <a:p>
            <a:r>
              <a:t>Think of them as the foundation that keeps modernization from turning into accidental rewrites or regressions.</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produce large changes quickly.</a:t>
            </a:r>
          </a:p>
          <a:p>
            <a:endParaRPr/>
          </a:p>
          <a:p>
            <a:r>
              <a:t>That's powerful — and dangerous without rollback.</a:t>
            </a:r>
          </a:p>
          <a:p>
            <a:endParaRPr/>
          </a:p>
          <a:p>
            <a:r>
              <a:t>Branches, frequent commits, and archives give you a safety net.</a:t>
            </a:r>
          </a:p>
          <a:p>
            <a:endParaRPr/>
          </a:p>
          <a:p>
            <a:r>
              <a:t>The goal is simple: no AI-generated change should ever put you in a position where you can't easily go back.</a:t>
            </a:r>
          </a:p>
          <a:p>
            <a:endParaRPr/>
          </a:p>
          <a:p>
            <a:r>
              <a:t>Rollback confidence is what enables experimentation</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help generate tests, but you need a baseline first.</a:t>
            </a:r>
          </a:p>
          <a:p>
            <a:endParaRPr/>
          </a:p>
          <a:p>
            <a:r>
              <a:t>Without a reliable test suite, you're flying blind.</a:t>
            </a:r>
          </a:p>
          <a:p>
            <a:endParaRPr/>
          </a:p>
          <a:p>
            <a:r>
              <a:t>The goal isn't 100% coverage — it's meaningful coverage.</a:t>
            </a:r>
          </a:p>
          <a:p>
            <a:endParaRPr/>
          </a:p>
          <a:p>
            <a:r>
              <a:t>Tests should give you confidence that AI-generated changes behave the same as before unless intentionally modified.</a:t>
            </a:r>
          </a:p>
          <a:p>
            <a:endParaRPr/>
          </a:p>
          <a:p>
            <a:r>
              <a:t>This is what makes modernization safe instead of risky</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is fast, but it's not authoritative.</a:t>
            </a:r>
          </a:p>
          <a:p>
            <a:endParaRPr/>
          </a:p>
          <a:p>
            <a:r>
              <a:t>Every change needs review — not because AI is untrustworthy, but because context matters.</a:t>
            </a:r>
          </a:p>
          <a:p>
            <a:endParaRPr/>
          </a:p>
          <a:p>
            <a:r>
              <a:t>Humans validate intent, architecture, and alignment with business rules.</a:t>
            </a:r>
          </a:p>
          <a:p>
            <a:endParaRPr/>
          </a:p>
          <a:p>
            <a:r>
              <a:t>Automated checks enforce consistency.</a:t>
            </a:r>
          </a:p>
          <a:p>
            <a:endParaRPr/>
          </a:p>
          <a:p>
            <a:r>
              <a:t>Together, they create a multi-layered review process that keeps quality high.</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Incrementalism is the antidote to brownfield fear.</a:t>
            </a:r>
          </a:p>
          <a:p>
            <a:endParaRPr/>
          </a:p>
          <a:p>
            <a:r>
              <a:t>AI makes it tempting to modernize huge sections at once, but that's where risk spikes.</a:t>
            </a:r>
          </a:p>
          <a:p>
            <a:endParaRPr/>
          </a:p>
          <a:p>
            <a:r>
              <a:t>Instead, treat modernization as a series of controlled, reversible steps.</a:t>
            </a:r>
          </a:p>
          <a:p>
            <a:endParaRPr/>
          </a:p>
          <a:p>
            <a:r>
              <a:t>Each step builds confidence.</a:t>
            </a:r>
          </a:p>
          <a:p>
            <a:endParaRPr/>
          </a:p>
          <a:p>
            <a:r>
              <a:t>Each step is testable.</a:t>
            </a:r>
          </a:p>
          <a:p>
            <a:endParaRPr/>
          </a:p>
          <a:p>
            <a:r>
              <a:t>Each step is safe.</a:t>
            </a:r>
          </a:p>
          <a:p>
            <a:endParaRPr/>
          </a:p>
          <a:p>
            <a:r>
              <a:t>This is how evergreen systems emerge.</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tends to produce large outputs unless constrained.</a:t>
            </a:r>
          </a:p>
          <a:p>
            <a:endParaRPr/>
          </a:p>
          <a:p>
            <a:r>
              <a:t>Your job is to keep the scope tight.</a:t>
            </a:r>
          </a:p>
          <a:p>
            <a:endParaRPr/>
          </a:p>
          <a:p>
            <a:r>
              <a:t>Small change sets are easier to understand, easier to test, and easier to roll back.</a:t>
            </a:r>
          </a:p>
          <a:p>
            <a:endParaRPr/>
          </a:p>
          <a:p>
            <a:r>
              <a:t>They also reduce cognitive load for reviewers.</a:t>
            </a:r>
          </a:p>
          <a:p>
            <a:endParaRPr/>
          </a:p>
          <a:p>
            <a:r>
              <a:t>This is how you maintain control while still benefiting from AI's speed</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backbone of safe AI-assisted development. Safety nets ensure that modernization efforts do not destabilize working systems. Emphasize that brownfield systems deserve respect, and safety nets are how we honor that reality.</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that brownfield systems are valuable assets, not liabilities. Protection means minimizing risk, maintaining continuity, and ensuring that modernization is deliberate rather than accidental.</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code reviews are not replacements for human reviews — they are accelerators. They help catch issues early and provide a second set of eyes that never gets tired.</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Humans bring judgment, domain knowledge, and intuition — things AI cannot replicate. The combination of AI and human review creates a multi-layered safety net.</a:t>
            </a:r>
          </a:p>
          <a:p>
            <a:endParaRPr/>
          </a:p>
          <a:p>
            <a:r>
              <a:t>---</a:t>
            </a:r>
          </a:p>
          <a:p>
            <a:endParaRPr/>
          </a:p>
          <a:p>
            <a:r>
              <a:t>Source: slides\marp\brownfield\safe-brownfield-coding.deck.md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Use this slide to orient the audience to the flow of the segment. Explain that the process starts before any code is written, because the first step is to see what the AI thinks the problem is and how it plans to solve it. Emphasize that the four topics form a natural sequence and that skipping the early review steps usually creates rework later.</a:t>
            </a:r>
          </a:p>
          <a:p>
            <a:endParaRPr/>
          </a:p>
          <a:p>
            <a:r>
              <a:t>---</a:t>
            </a:r>
          </a:p>
          <a:p>
            <a:endParaRPr/>
          </a:p>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that the best first prompt is not "implement this now" but "propose implementation to address the issue." That gives you a chance to inspect the AI's understanding before it starts changing files, which is especially useful on brownfield systems. Point out that the human role here is not passive approval; it is active review for scope, assumptions, and missing details.</a:t>
            </a:r>
          </a:p>
          <a:p>
            <a:endParaRPr/>
          </a:p>
          <a:p>
            <a:r>
              <a:t>---</a:t>
            </a:r>
          </a:p>
          <a:p>
            <a:endParaRPr/>
          </a:p>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Walk through the idea that a proposal can be directionally right and still incomplete. Use the JWT example to show how an AI may understand the main bug but miss adjacent work, such as removing a related GitHub integration or updating dependent configuration. Once the proposal is complete, you can explicitly authorize execution with something like "go ahead with the implementation" and preserve that plan for later reference, even from another machine.</a:t>
            </a:r>
          </a:p>
          <a:p>
            <a:endParaRPr/>
          </a:p>
          <a:p>
            <a:r>
              <a:t>---</a:t>
            </a:r>
          </a:p>
          <a:p>
            <a:endParaRPr/>
          </a:p>
          <a:p>
            <a:r>
              <a:t>Source: slides\marp\ai-implementation-workflow.deck.md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~00:09</a:t>
            </a:r>
          </a:p>
          <a:p>
            <a:endParaRPr/>
          </a:p>
          <a:p>
            <a:r>
              <a:t>Open by explaining that technical debt work often fails because requests are too vague. This section shows how to convert cleanup ideas into structured prompts that can be executed, tracked, and reviewed. Emphasize that the topic is not just prompt wording; it is also about how prompts connect to GitHub issues and Copilot workflows. Set expectations that the audience will leave with a repeatable pattern they can apply immediately. (~1 minute)</a:t>
            </a:r>
          </a:p>
          <a:p>
            <a:endParaRPr/>
          </a:p>
          <a:p>
            <a:r>
              <a:t>---</a:t>
            </a:r>
          </a:p>
          <a:p>
            <a:endParaRPr/>
          </a:p>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each component as part of a checklist, not as optional advice. The key message is that a good prompt reduces ambiguity before implementation starts. Highlight that provenance and documentation are easy to forget when teams focus only on code, so they need to be called out explicitly in the request. Frame this slide as the minimum contract between the requester and the AI assistant. (~1.5 minutes)</a:t>
            </a:r>
          </a:p>
          <a:p>
            <a:endParaRPr/>
          </a:p>
          <a:p>
            <a:r>
              <a:t>---</a:t>
            </a:r>
          </a:p>
          <a:p>
            <a:endParaRPr/>
          </a:p>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business-value slide. Explain that structured prompts reduce rework because they front-load clarity on tests, docs, and guardrails. Connect this to team scalability: if multiple people or multiple models work on similar debt items, consistent prompt structure produces more predictable outputs. Use the quote as the memorable takeaway for why investing in the prompt upfront saves time later. (~1 minute)</a:t>
            </a:r>
          </a:p>
          <a:p>
            <a:endParaRPr/>
          </a:p>
          <a:p>
            <a:r>
              <a:t>---</a:t>
            </a:r>
          </a:p>
          <a:p>
            <a:endParaRPr/>
          </a:p>
          <a:p>
            <a:r>
              <a:t>Source: slides\marp\brownfield\effective-prompts-for-technical-debt.deck.md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AI excels at scanning large brownfield systems and surfacing hotspots. This reduces the manual effort required to understand legacy code and helps teams focus on the highest-impact areas first.</a:t>
            </a:r>
          </a:p>
          <a:p>
            <a:endParaRPr/>
          </a:p>
          <a:p>
            <a:r>
              <a:t>---</a:t>
            </a:r>
          </a:p>
          <a:p>
            <a:endParaRPr/>
          </a:p>
          <a:p>
            <a:r>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bridge between architectural intent and real code. Conformance analysis ensures that AI-assisted and human-written code stays aligned with the rules defined in instruction files. This is how teams maintain evergreen quality in brownfield systems.</a:t>
            </a:r>
          </a:p>
          <a:p>
            <a:endParaRPr/>
          </a:p>
          <a:p>
            <a:r>
              <a:t>---</a:t>
            </a:r>
          </a:p>
          <a:p>
            <a:endParaRPr/>
          </a:p>
          <a:p>
            <a:r>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Instruction files define the “north star” for your codebase. Conformance checks ensure that every change — AI-generated or human — aligns with those rules. This is essential for maintaining predictability in brownfield systems.</a:t>
            </a:r>
          </a:p>
          <a:p>
            <a:endParaRPr/>
          </a:p>
          <a:p>
            <a:r>
              <a:t>---</a:t>
            </a:r>
          </a:p>
          <a:p>
            <a:endParaRPr/>
          </a:p>
          <a:p>
            <a:r>
              <a:t>Source: slides\marp\brownfield\conformance-and-gap-analysis.deck.md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slides\marp\exercise\exercise-create-project-requirement.deck.md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Author requirement docs, then use Copilot to generate scaffolding and validate alignment.</a:t>
            </a:r>
          </a:p>
          <a:p>
            <a:endParaRPr/>
          </a:p>
          <a:p>
            <a:r>
              <a:t>---</a:t>
            </a:r>
          </a:p>
          <a:p>
            <a:endParaRPr/>
          </a:p>
          <a:p>
            <a:r>
              <a:t>Source: slides\marp\exercise\exercise-create-project-requirement.deck.md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slides\marp\exercise\exercise-identifying-code-outside-the-guardrails.deck.md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~00:10</a:t>
            </a:r>
          </a:p>
          <a:p>
            <a:endParaRPr dirty="0"/>
          </a:p>
          <a:p>
            <a:r>
              <a:rPr dirty="0"/>
              <a:t>This exercise reinforces the importance of guardrails and helps participants practice applying them to real code.</a:t>
            </a:r>
          </a:p>
          <a:p>
            <a:endParaRPr dirty="0"/>
          </a:p>
          <a:p>
            <a:r>
              <a:rPr dirty="0"/>
              <a:t>---</a:t>
            </a:r>
          </a:p>
          <a:p>
            <a:endParaRPr dirty="0"/>
          </a:p>
          <a:p>
            <a:r>
              <a:rPr dirty="0"/>
              <a:t>Source: slides\marp\exercise\exercise-identifying-code-outside-the-guardrails.deck.md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Highlight that automation doesn't replace human judgment — it accelerates it. Humans still validate, refine, and prioritize issues, but AI handles the heavy lifting of drafting them.</a:t>
            </a:r>
          </a:p>
          <a:p>
            <a:endParaRPr/>
          </a:p>
          <a:p>
            <a:r>
              <a:t>---</a:t>
            </a:r>
          </a:p>
          <a:p>
            <a:endParaRPr/>
          </a:p>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this as the first automation step after prompt authoring. The audience should understand that Copilot can bridge from local artifact or prompt text into the GitHub issue system, but repository targeting must be explicit. Stress the practical lesson from the demo: natural language is often not enough when multiple repositories are in play. Encourage attendees to always state the full repository name to avoid misrouting work. (~1.25 minutes)</a:t>
            </a:r>
          </a:p>
          <a:p>
            <a:endParaRPr/>
          </a:p>
          <a:p>
            <a:r>
              <a:t>---</a:t>
            </a:r>
          </a:p>
          <a:p>
            <a:endParaRPr/>
          </a:p>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all technical debt is equal. Prioritization ensures that teams focus on the highest-value remediation work first, rather than chasing low-impact issues.</a:t>
            </a:r>
          </a:p>
          <a:p>
            <a:endParaRPr/>
          </a:p>
          <a:p>
            <a:r>
              <a:t>---</a:t>
            </a:r>
          </a:p>
          <a:p>
            <a:endParaRPr/>
          </a:p>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Remediation plans turn issues into action. They provide clarity, reduce risk, and ensure that modernization work is incremental and reversible.</a:t>
            </a:r>
          </a:p>
          <a:p>
            <a:endParaRPr/>
          </a:p>
          <a:p>
            <a:r>
              <a:t>---</a:t>
            </a:r>
          </a:p>
          <a:p>
            <a:endParaRPr/>
          </a:p>
          <a:p>
            <a:r>
              <a:t>Source: slides\marp\brownfield\building-a-backlog.deck.md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slides\marp\exercise\exercise-building-the-backlog.deck.md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Encourage participants to treat this as a real backlog-building session. The goal is not volume — it's clarity and actionability. Reinforce that a well-structured backlog is the foundation for safe, incremental modernization.</a:t>
            </a:r>
          </a:p>
          <a:p>
            <a:endParaRPr/>
          </a:p>
          <a:p>
            <a:r>
              <a:t>---</a:t>
            </a:r>
          </a:p>
          <a:p>
            <a:endParaRPr/>
          </a:p>
          <a:p>
            <a:r>
              <a:t>Source: slides\marp\exercise\exercise-building-the-backlog.deck.md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the impact/effort matrix is a practical tool for turning a long debt backlog into an ordered action plan. When you ask AI to populate this matrix it needs context about your system, team size, and risk appetite, so the quality of the prompt matters. The quadrant model helps teams stop arguing about priority and start acting on clear categories.</a:t>
            </a:r>
          </a:p>
          <a:p>
            <a:endParaRPr/>
          </a:p>
          <a:p>
            <a:r>
              <a:t>---</a:t>
            </a:r>
          </a:p>
          <a:p>
            <a:endParaRPr/>
          </a:p>
          <a:p>
            <a:r>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point that hidden debt is far more dangerous than visible debt. When the team can see what exists, estimate effort, and assign priorities, the problem feels solvable rather than overwhelming. AI accelerates this process dramatically because it can scan large codebases, generate issue descriptions, propose remediation steps, and even draft acceptance criteria in minutes.</a:t>
            </a:r>
          </a:p>
          <a:p>
            <a:endParaRPr/>
          </a:p>
          <a:p>
            <a:r>
              <a:t>---</a:t>
            </a:r>
          </a:p>
          <a:p>
            <a:endParaRPr/>
          </a:p>
          <a:p>
            <a:r>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Frame Evergreen not as a destination you reach once but as an operating mode where the system continuously improves. The compounding effect is real: once secrets are rotated, HTTPS is enforced, and CI is in place, subsequent changes are safer and faster to make. AI-assisted development accelerates the journey to Evergreen by making audit, prioritization, and remediation faster at every stage.</a:t>
            </a:r>
          </a:p>
          <a:p>
            <a:endParaRPr/>
          </a:p>
          <a:p>
            <a:r>
              <a:t>---</a:t>
            </a:r>
          </a:p>
          <a:p>
            <a:endParaRPr/>
          </a:p>
          <a:p>
            <a:r>
              <a:t>Source: slides\marp\implementation-plan-prioritization.deck.md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slides\marp\exercise\exercise-create-an-implementation-plan.deck.md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~00:20</a:t>
            </a:r>
          </a:p>
          <a:p>
            <a:endParaRPr/>
          </a:p>
          <a:p>
            <a:r>
              <a:t>This exercise helps participants move from analysis to execution. The goal is to build modernization plans that are safe, thoughtful, and aligned with evergreen principles.</a:t>
            </a:r>
          </a:p>
          <a:p>
            <a:endParaRPr/>
          </a:p>
          <a:p>
            <a:r>
              <a:t>---</a:t>
            </a:r>
          </a:p>
          <a:p>
            <a:endParaRPr/>
          </a:p>
          <a:p>
            <a:r>
              <a:t>Source: slides\marp\exercise\exercise-create-an-implementation-plan.deck.md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this session on using AI to improve the pull request workflow. GitHub Copilot and related AI tools can dramatically reduce the friction of creating, reviewing, and merging pull requests.</a:t>
            </a:r>
          </a:p>
          <a:p>
            <a:endParaRPr/>
          </a:p>
          <a:p>
            <a:r>
              <a:t>**Key Points**:</a:t>
            </a:r>
          </a:p>
          <a:p>
            <a:endParaRPr/>
          </a:p>
          <a:p>
            <a:r>
              <a:t>- PRs are a critical communication artifact in software development</a:t>
            </a:r>
          </a:p>
          <a:p>
            <a:r>
              <a:t>- AI can help at every stage: drafting, describing, reviewing, and summarizing</a:t>
            </a:r>
          </a:p>
          <a:p>
            <a:r>
              <a:t>- The goal is not to replace human judgment but to reduce toil</a:t>
            </a:r>
          </a:p>
          <a:p>
            <a:endParaRPr/>
          </a:p>
          <a:p>
            <a:r>
              <a:t>**Delivery**: Open by asking the audience how much time they spend writing PR descriptions or waiting for code review. Frame AI assistance as a way to reclaim that time.</a:t>
            </a:r>
          </a:p>
          <a:p>
            <a:endParaRPr/>
          </a:p>
          <a:p>
            <a:r>
              <a:t>**Transition**: "Let's look at where AI fits in the pull request lifecycle."</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1. The PR lifecycle is a feedback loop, not a one-way street</a:t>
            </a:r>
          </a:p>
          <a:p>
            <a:r>
              <a:t>2. Most developers focus on the code-writing stage but spend significant time on communication tasks</a:t>
            </a:r>
          </a:p>
          <a:p>
            <a:r>
              <a:t>3. AI assistance compresses the non-coding parts of the cycle</a:t>
            </a:r>
          </a:p>
          <a:p>
            <a:endParaRPr/>
          </a:p>
          <a:p>
            <a:r>
              <a:t>**Examples to Share**:</a:t>
            </a:r>
          </a:p>
          <a:p>
            <a:endParaRPr/>
          </a:p>
          <a:p>
            <a:r>
              <a:t>- A developer who writes great code but struggles with clear PR descriptions benefits from AI drafting</a:t>
            </a:r>
          </a:p>
          <a:p>
            <a:r>
              <a:t>- A reviewer who is overwhelmed with large PRs benefits from AI summaries</a:t>
            </a:r>
          </a:p>
          <a:p>
            <a:endParaRPr/>
          </a:p>
          <a:p>
            <a:r>
              <a:t>**Audience Interaction**: "Which stage do you find most time-consuming or frustrating?"</a:t>
            </a:r>
          </a:p>
          <a:p>
            <a:endParaRPr/>
          </a:p>
          <a:p>
            <a:r>
              <a:t>**Transition**: "Let's start with where most of the AI value is—creating the PR itself."</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Copilot analyzes the diff and generates a structured description automatically</a:t>
            </a:r>
          </a:p>
          <a:p>
            <a:r>
              <a:t>2. Good PR descriptions save reviewers time and reduce back-and-forth questions</a:t>
            </a:r>
          </a:p>
          <a:p>
            <a:r>
              <a:t>3. The AI draft is a starting point—always review and personalize it</a:t>
            </a:r>
          </a:p>
          <a:p>
            <a:endParaRPr/>
          </a:p>
          <a:p>
            <a:r>
              <a:t>**Demo Tip**: If demoing live, show `gh pr create` in the terminal and trigger Copilot suggestions in the description field.</a:t>
            </a:r>
          </a:p>
          <a:p>
            <a:endParaRPr/>
          </a:p>
          <a:p>
            <a:r>
              <a:t>**Common Pitfall**: AI descriptions can be verbose. Encourage developers to trim and focus on the "why" rather than just the "what."</a:t>
            </a:r>
          </a:p>
          <a:p>
            <a:endParaRPr/>
          </a:p>
          <a:p>
            <a:r>
              <a:t>**Audience Interaction**: "How many of you write a detailed PR description every time? How many leave it mostly empty?"</a:t>
            </a:r>
          </a:p>
          <a:p>
            <a:endParaRPr/>
          </a:p>
          <a:p>
            <a:r>
              <a:t>**Transition**: "Once the PR is open, AI continues to help on the review side."</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AI doesn't replace human reviewers—it reduces the cognitive load so reviewers can focus on design and logic</a:t>
            </a:r>
          </a:p>
          <a:p>
            <a:r>
              <a:t>2. Copilot Chat in the PR view lets reviewers ask questions like "What does this function do?" without leaving the review</a:t>
            </a:r>
          </a:p>
          <a:p>
            <a:r>
              <a:t>3. Security scanning tools (GitHub Advanced Security + Copilot Autofix) can suggest fixes for flagged issues</a:t>
            </a:r>
          </a:p>
          <a:p>
            <a:endParaRPr/>
          </a:p>
          <a:p>
            <a:r>
              <a:t>**Examples to Share**:</a:t>
            </a:r>
          </a:p>
          <a:p>
            <a:endParaRPr/>
          </a:p>
          <a:p>
            <a:r>
              <a:t>- Reviewer asks: "Is there a simpler way to write this?" → Copilot suggests a refactored version</a:t>
            </a:r>
          </a:p>
          <a:p>
            <a:r>
              <a:t>- Reviewer asks: "Does this handle null input?" → Copilot analyzes and flags a potential null reference</a:t>
            </a:r>
          </a:p>
          <a:p>
            <a:endParaRPr/>
          </a:p>
          <a:p>
            <a:r>
              <a:t>**Audience Interaction**: "Have you used Copilot Chat during a code review? What kinds of questions did you ask?"</a:t>
            </a:r>
          </a:p>
          <a:p>
            <a:endParaRPr/>
          </a:p>
          <a:p>
            <a:r>
              <a:t>**Transition**: "Beyond individual comments, AI can also summarize entire PRs."</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**Key Points**:</a:t>
            </a:r>
          </a:p>
          <a:p>
            <a:endParaRPr/>
          </a:p>
          <a:p>
            <a:r>
              <a:t>1. This feature is particularly valuable for large PRs with many files changed</a:t>
            </a:r>
          </a:p>
          <a:p>
            <a:r>
              <a:t>2. Summaries help async teams where reviewers may not have full context</a:t>
            </a:r>
          </a:p>
          <a:p>
            <a:r>
              <a:t>3. The summary can be copied directly into release notes or changelogs</a:t>
            </a:r>
          </a:p>
          <a:p>
            <a:endParaRPr/>
          </a:p>
          <a:p>
            <a:r>
              <a:t>**Demo Tip**: Show the Copilot summary button on GitHub.com if doing a live demo. Highlight how it categorizes changes.</a:t>
            </a:r>
          </a:p>
          <a:p>
            <a:endParaRPr/>
          </a:p>
          <a:p>
            <a:r>
              <a:t>**Pro Tip**: Teams can require a Copilot summary as part of their PR checklist to ensure all PRs are self-documenting.</a:t>
            </a:r>
          </a:p>
          <a:p>
            <a:endParaRPr/>
          </a:p>
          <a:p>
            <a:r>
              <a:t>**Transition**: "Now let's look at how Copilot helps you respond to review feedback."</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**Key Points**:</a:t>
            </a:r>
          </a:p>
          <a:p>
            <a:endParaRPr/>
          </a:p>
          <a:p>
            <a:r>
              <a:t>1. The most time-consuming part of PR iteration is addressing multiple review comments</a:t>
            </a:r>
          </a:p>
          <a:p>
            <a:r>
              <a:t>2. Copilot can read a review comment and suggest the corresponding code change</a:t>
            </a:r>
          </a:p>
          <a:p>
            <a:r>
              <a:t>3. Autofix is especially powerful for security alerts—it not only flags the issue but provides the patched code</a:t>
            </a:r>
          </a:p>
          <a:p>
            <a:endParaRPr/>
          </a:p>
          <a:p>
            <a:r>
              <a:t>**Workflow to Describe**:</a:t>
            </a:r>
          </a:p>
          <a:p>
            <a:endParaRPr/>
          </a:p>
          <a:p>
            <a:r>
              <a:t>1. Reviewer leaves a comment: "This should use a parameterized query"</a:t>
            </a:r>
          </a:p>
          <a:p>
            <a:r>
              <a:t>2. Developer clicks Copilot suggestion next to the comment</a:t>
            </a:r>
          </a:p>
          <a:p>
            <a:r>
              <a:t>3. Copilot generates the parameterized version</a:t>
            </a:r>
          </a:p>
          <a:p>
            <a:r>
              <a:t>4. Developer reviews and commits</a:t>
            </a:r>
          </a:p>
          <a:p>
            <a:endParaRPr/>
          </a:p>
          <a:p>
            <a:r>
              <a:t>**Audience Interaction**: "How many review cycles does a typical PR go through on your team? Could AI reduce that?"</a:t>
            </a:r>
          </a:p>
          <a:p>
            <a:endParaRPr/>
          </a:p>
          <a:p>
            <a:r>
              <a:t>**Transition**: "Let's talk about automating the checks that run on every PR."</a:t>
            </a:r>
          </a:p>
          <a:p>
            <a:endParaRPr/>
          </a:p>
          <a:p>
            <a:r>
              <a:t>---</a:t>
            </a:r>
          </a:p>
          <a:p>
            <a:endParaRPr/>
          </a:p>
          <a:p>
            <a:r>
              <a:t>Source: slides\marp\ai-assisted-github-pull-requests.deck.md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the moment where AI becomes an active contributor to modernization. Technical debt is inevitable in brownfield systems, but AI can help teams address it safely, incrementally, and with strong guardrails.</a:t>
            </a:r>
          </a:p>
          <a:p>
            <a:endParaRPr/>
          </a:p>
          <a:p>
            <a:r>
              <a:t>---</a:t>
            </a:r>
          </a:p>
          <a:p>
            <a:endParaRPr/>
          </a:p>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Copilot responds best to structured, high-signal prompts. The more explicit the constraints, the safer and more predictable the remediation.</a:t>
            </a:r>
          </a:p>
          <a:p>
            <a:endParaRPr/>
          </a:p>
          <a:p>
            <a:r>
              <a:t>---</a:t>
            </a:r>
          </a:p>
          <a:p>
            <a:endParaRPr/>
          </a:p>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Assigning issues to Copilot formalizes the workflow. It treats Copilot like a junior developer who receives tasks, produces drafts, and awaits review.</a:t>
            </a:r>
          </a:p>
          <a:p>
            <a:endParaRPr/>
          </a:p>
          <a:p>
            <a:r>
              <a:t>---</a:t>
            </a:r>
          </a:p>
          <a:p>
            <a:endParaRPr/>
          </a:p>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**Overview**  When you assign an issue to GitHub Copilot on GitHub.com, Copilot behaves like a managed junior developer. It doesn't magically “solve” the issue — it follows a structured workflow grounded in the issue description and repository context.</a:t>
            </a:r>
          </a:p>
          <a:p>
            <a:r>
              <a:t>**Reads the Issue and Context**  Copilot parses the issue body, labels, linked discussions, and any referenced files. The quality and specificity of the issue strongly influence the quality of the output.</a:t>
            </a:r>
          </a:p>
          <a:p>
            <a:r>
              <a:t>**Generates a Work Plan**  Copilot drafts an implementation plan. This may include steps, architectural notes, or a breakdown of required changes. It uses repository code, patterns, and conventions to stay consistent.</a:t>
            </a:r>
          </a:p>
          <a:p>
            <a:r>
              <a:t>**Creates or Updates Pull Requests**  Copilot opens a PR with proposed changes. These changes often include code, tests, and documentation updates. It may also update an existing PR if the issue is already in progress.</a:t>
            </a:r>
          </a:p>
          <a:p>
            <a:r>
              <a:t>**Responds to Feedback**  When maintainers leave comments, Copilot can revise the PR. It treats comments as instructions, similar to how a junior developer would respond to review notes.</a:t>
            </a:r>
          </a:p>
          <a:p>
            <a:r>
              <a:t>**Maintains Traceability**  Copilot links the PR back to the issue, references commits properly, and ensures the work is tracked through GitHub's normal workflow. This supports auditability and provenance — something you and I both care about deeply.</a:t>
            </a:r>
          </a:p>
          <a:p>
            <a:r>
              <a:t>**Key Takeaway**  Copilot doesn't replace engineering judgment. It accelerates the mechanical parts of implementation while relying on humans for direction, review, and acceptance.</a:t>
            </a:r>
          </a:p>
          <a:p>
            <a:endParaRPr/>
          </a:p>
          <a:p>
            <a:r>
              <a:t>---</a:t>
            </a:r>
          </a:p>
          <a:p>
            <a:endParaRPr/>
          </a:p>
          <a:p>
            <a:r>
              <a:t>Source: slides\marp\brownfield\addressing-technical-debt.deck.md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slides\marp\exercise\exercise-prompt-copilot-address-technical-debt.deck.md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Use this first exercise to make participants slow down and specify the work before they ask for code. Encourage them to choose a small but real technical debt item from their own system, because realistic context exposes whether the prompt includes enough architecture, testing, and documentation guidance to keep the change safe. During the review step, ask them to inspect whether Copilot stayed incremental, respected the stated constraints, and requested or updated tests instead of only proposing a code edit. Transition by explaining that a strong prompt is useful, but durable team workflows usually need the same clarity captured in a structured issue.</a:t>
            </a:r>
          </a:p>
          <a:p>
            <a:endParaRPr/>
          </a:p>
          <a:p>
            <a:r>
              <a:t>---</a:t>
            </a:r>
          </a:p>
          <a:p>
            <a:endParaRPr/>
          </a:p>
          <a:p>
            <a:r>
              <a:t>Source: slides\marp\exercise\exercise-prompt-copilot-address-technical-debt.deck.md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slides\marp\exercise\exercise-assign-technical-debt-issue-to-copilot.deck.md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Frame this exercise as the handoff from ad hoc prompting to a repeatable engineering process. Participants should write the issue as if they were briefing a junior developer: the title should be specific, the problem statement should identify impact and risk, and the acceptance criteria should make review straightforward and testable. When they evaluate Copilot's draft, focus on whether the output follows the issue rather than whether it merely looks polished, because a clean-looking response can still drift from the requested scope. Transition by noting that once the issue is strong, teams can delegate larger units of work with more confidence, as long as they keep the plan reviewable and reversible.</a:t>
            </a:r>
          </a:p>
          <a:p>
            <a:endParaRPr/>
          </a:p>
          <a:p>
            <a:r>
              <a:t>---</a:t>
            </a:r>
          </a:p>
          <a:p>
            <a:endParaRPr/>
          </a:p>
          <a:p>
            <a:r>
              <a:t>Source: slides\marp\exercise\exercise-assign-technical-debt-issue-to-copilot.deck.md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slides\marp\exercise\exercise-delegate-technical-debt-remediation-to-copilot.deck.md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This final exercise is about controlled delegation, not blind trust. Ask participants to evaluate the output in layers: first the analysis, then the proposed sequence of changes, then whether the generated edits remain small enough to review and roll back safely. If Copilot skips tests, documentation, or architecture rules, treat that as a signal that the delegation prompt still needs sharper boundaries or missing context. Close by reinforcing that Copilot can accelerate larger remediation efforts, but humans remain responsible for approving the plan, spotting risk, and deciding whether the generated work is actually ready to merge.</a:t>
            </a:r>
          </a:p>
          <a:p>
            <a:endParaRPr/>
          </a:p>
          <a:p>
            <a:r>
              <a:t>---</a:t>
            </a:r>
          </a:p>
          <a:p>
            <a:endParaRPr/>
          </a:p>
          <a:p>
            <a:r>
              <a:t>Source: slides\marp\exercise\exercise-delegate-technical-debt-remediation-to-copilot.deck.md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a:p>
            <a:endParaRPr/>
          </a:p>
          <a:p>
            <a:r>
              <a:t>---</a:t>
            </a:r>
          </a:p>
          <a:p>
            <a:endParaRPr/>
          </a:p>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no single model is perfect. Using multiple models gives teams a broader perspective and helps catch errors or blind spots that one model alone might miss.</a:t>
            </a:r>
          </a:p>
          <a:p>
            <a:endParaRPr/>
          </a:p>
          <a:p>
            <a:r>
              <a:t>---</a:t>
            </a:r>
          </a:p>
          <a:p>
            <a:endParaRPr/>
          </a:p>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Encourage participants to treat model outputs like multiple drafts from different engineers. The goal is not to pick a winner — it's to synthesize the best ideas.</a:t>
            </a:r>
          </a:p>
          <a:p>
            <a:endParaRPr/>
          </a:p>
          <a:p>
            <a:r>
              <a:t>---</a:t>
            </a:r>
          </a:p>
          <a:p>
            <a:endParaRPr/>
          </a:p>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 that risk assessment is essential in brownfield systems. Even if a model produces elegant code, it may be too risky without proper guardrails.</a:t>
            </a:r>
          </a:p>
          <a:p>
            <a:endParaRPr/>
          </a:p>
          <a:p>
            <a:r>
              <a:t>---</a:t>
            </a:r>
          </a:p>
          <a:p>
            <a:endParaRPr/>
          </a:p>
          <a:p>
            <a:r>
              <a:t>Source: slides\marp\multi-model-implementation-comparison.deck.md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slides\marp\exercise\exercise-prompt-multiple-models-to-address-technical-debt.deck.md</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Encourage participants to think like reviewers comparing multiple PRs. The goal is to understand model behavior, not to pick a favorite.</a:t>
            </a:r>
          </a:p>
          <a:p>
            <a:endParaRPr/>
          </a:p>
          <a:p>
            <a:r>
              <a:t>---</a:t>
            </a:r>
          </a:p>
          <a:p>
            <a:endParaRPr/>
          </a:p>
          <a:p>
            <a:r>
              <a:t>Source: slides\marp\exercise\exercise-prompt-multiple-models-to-address-technical-debt.deck.md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Thursday Reboot</a:t>
            </a:r>
          </a:p>
        </p:txBody>
      </p:sp>
      <p:sp>
        <p:nvSpPr>
          <p:cNvPr id="3" name="Subtitle 2"/>
          <p:cNvSpPr>
            <a:spLocks noGrp="1"/>
          </p:cNvSpPr>
          <p:nvPr>
            <p:ph type="subTitle" idx="1"/>
          </p:nvPr>
        </p:nvSpPr>
        <p:spPr/>
        <p:txBody>
          <a:bodyPr wrap="square">
            <a:normAutofit/>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sz="2800" b="0" i="0" u="none"/>
              <a:t>Welcome Back to AI-Assisted Software Development</a:t>
            </a:r>
          </a:p>
        </p:txBody>
      </p:sp>
      <p:sp>
        <p:nvSpPr>
          <p:cNvPr id="3" name="Content Placeholder 2"/>
          <p:cNvSpPr>
            <a:spLocks noGrp="1"/>
          </p:cNvSpPr>
          <p:nvPr>
            <p:ph idx="1"/>
          </p:nvPr>
        </p:nvSpPr>
        <p:spPr>
          <a:xfrm>
            <a:off x="838200" y="1461483"/>
            <a:ext cx="10515600" cy="4351338"/>
          </a:xfrm>
        </p:spPr>
        <p:txBody>
          <a:bodyPr>
            <a:normAutofit/>
          </a:bodyPr>
          <a:lstStyle/>
          <a:p>
            <a:r>
              <a:rPr lang="en-US" b="0" i="0" u="none"/>
              <a:t>Excellent to reconnect and continue our hands-on progress</a:t>
            </a:r>
            <a:endParaRPr lang="en-US" b="0" i="0"/>
          </a:p>
          <a:p>
            <a:r>
              <a:rPr lang="en-US" b="0" i="0" u="none"/>
              <a:t>This session advances the skills we have been practicing</a:t>
            </a:r>
            <a:endParaRPr lang="en-US" b="0" i="0"/>
          </a:p>
          <a:p>
            <a:r>
              <a:rPr lang="en-US" b="0" i="0" u="none"/>
              <a:t>Shared participation keeps the material practical and relevant</a:t>
            </a:r>
            <a:endParaRPr lang="en-US" b="0" i="0"/>
          </a:p>
          <a:p>
            <a:r>
              <a:rPr lang="en-US" b="1" i="0" u="none"/>
              <a:t>Ask questions early and often so we can solve issues together.</a:t>
            </a:r>
            <a:endParaRPr lang="en-US" b="0" i="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1" i="0" u="none"/>
              <a:t>▶ AI Practitioner Resources</a:t>
            </a:r>
          </a:p>
          <a:p>
            <a:r>
              <a:rPr sz="2750" b="0" i="0" u="none"/>
              <a:t>Brownfield Software Development</a:t>
            </a:r>
          </a:p>
          <a:p>
            <a:r>
              <a:rPr sz="2750" b="0" i="0" u="none"/>
              <a:t>AI Implementation Workflow</a:t>
            </a:r>
          </a:p>
          <a:p>
            <a:r>
              <a:rPr sz="2750" b="0" i="0" u="none"/>
              <a:t>Building a Backlog</a:t>
            </a:r>
          </a:p>
          <a:p>
            <a:r>
              <a:rPr sz="2750" b="0" i="0" u="none"/>
              <a:t>AI Assisted Pull Requests</a:t>
            </a:r>
          </a:p>
          <a:p>
            <a:r>
              <a:rPr sz="2750" b="0" i="0" u="none"/>
              <a:t>Addressing Technical Debt</a:t>
            </a:r>
          </a:p>
          <a:p>
            <a:r>
              <a:rPr sz="2750" b="0" i="0" u="none"/>
              <a:t>Multi-Implementation Comparison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39F956-CBFE-BACE-BF34-D7A57C32B52C}"/>
              </a:ext>
            </a:extLst>
          </p:cNvPr>
          <p:cNvSpPr>
            <a:spLocks noGrp="1"/>
          </p:cNvSpPr>
          <p:nvPr>
            <p:ph type="title"/>
          </p:nvPr>
        </p:nvSpPr>
        <p:spPr/>
        <p:txBody>
          <a:bodyPr/>
          <a:lstStyle/>
          <a:p>
            <a:r>
              <a:rPr lang="en-US" dirty="0"/>
              <a:t>But first…</a:t>
            </a:r>
          </a:p>
        </p:txBody>
      </p:sp>
    </p:spTree>
    <p:extLst>
      <p:ext uri="{BB962C8B-B14F-4D97-AF65-F5344CB8AC3E}">
        <p14:creationId xmlns:p14="http://schemas.microsoft.com/office/powerpoint/2010/main" val="127990838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Model Context Protocol Servers</a:t>
            </a:r>
          </a:p>
        </p:txBody>
      </p:sp>
      <p:sp>
        <p:nvSpPr>
          <p:cNvPr id="3" name="Subtitle 2"/>
          <p:cNvSpPr>
            <a:spLocks noGrp="1"/>
          </p:cNvSpPr>
          <p:nvPr>
            <p:ph type="subTitle" idx="1"/>
          </p:nvPr>
        </p:nvSpPr>
        <p:spPr/>
        <p:txBody>
          <a:bodyPr wrap="square">
            <a:normAutofit/>
          </a:bodyPr>
          <a:lstStyle/>
          <a:p>
            <a:pPr>
              <a:buNone/>
            </a:pPr>
            <a:r>
              <a:rPr b="0" i="0" u="none"/>
              <a:t>Giving Your AI a USB Hub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00" b="0" i="0" u="none"/>
              <a:t>MCP: Model Context Protocol Servers</a:t>
            </a:r>
          </a:p>
        </p:txBody>
      </p:sp>
      <p:sp>
        <p:nvSpPr>
          <p:cNvPr id="3" name="Content Placeholder 2"/>
          <p:cNvSpPr>
            <a:spLocks noGrp="1"/>
          </p:cNvSpPr>
          <p:nvPr>
            <p:ph idx="1"/>
          </p:nvPr>
        </p:nvSpPr>
        <p:spPr/>
        <p:txBody>
          <a:bodyPr wrap="square">
            <a:normAutofit/>
          </a:bodyPr>
          <a:lstStyle/>
          <a:p>
            <a:r>
              <a:rPr sz="2800" b="0" i="0" u="none"/>
              <a:t>Connect Copilot to databases, APIs, infrastructure tools, and custom systems</a:t>
            </a:r>
            <a:endParaRPr sz="2800" b="0" i="0">
              <a:latin typeface="Arial"/>
            </a:endParaRPr>
          </a:p>
          <a:p>
            <a:r>
              <a:rPr sz="2800" b="0" i="0" u="none"/>
              <a:t>Built on a standardized protocol so any tool can speak to Copilot</a:t>
            </a:r>
            <a:endParaRPr sz="2800" b="0" i="0">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MCP?</a:t>
            </a:r>
          </a:p>
        </p:txBody>
      </p:sp>
      <p:sp>
        <p:nvSpPr>
          <p:cNvPr id="3" name="Content Placeholder 2"/>
          <p:cNvSpPr>
            <a:spLocks noGrp="1"/>
          </p:cNvSpPr>
          <p:nvPr>
            <p:ph sz="half" idx="1"/>
          </p:nvPr>
        </p:nvSpPr>
        <p:spPr/>
        <p:txBody>
          <a:bodyPr wrap="square">
            <a:normAutofit/>
          </a:bodyPr>
          <a:lstStyle/>
          <a:p>
            <a:r>
              <a:rPr sz="1400" b="1" i="0" u="none"/>
              <a:t>Model Context Protocol</a:t>
            </a:r>
            <a:r>
              <a:rPr sz="1400" b="0" i="0" u="none"/>
              <a:t> is a standardized communication layer between Copilot and external services</a:t>
            </a:r>
            <a:endParaRPr sz="2600" b="0" i="0">
              <a:latin typeface="Arial"/>
            </a:endParaRPr>
          </a:p>
          <a:p>
            <a:r>
              <a:rPr sz="1400" b="0" i="0" u="none"/>
              <a:t>Adds capabilities and data sources that Copilot cannot access on its own</a:t>
            </a:r>
            <a:endParaRPr sz="2600" b="0" i="0">
              <a:latin typeface="Arial"/>
            </a:endParaRPr>
          </a:p>
          <a:p>
            <a:r>
              <a:rPr sz="1400" b="0" i="0" u="none"/>
              <a:t>Any tool or service that speaks MCP can be connected to Copilot</a:t>
            </a:r>
            <a:endParaRPr sz="2600" b="0" i="0">
              <a:latin typeface="Arial"/>
            </a:endParaRPr>
          </a:p>
          <a:p>
            <a:r>
              <a:rPr sz="1400" b="0" i="0" u="none"/>
              <a:t>A large and growing library of community-built servers already exists</a:t>
            </a:r>
            <a:endParaRPr sz="2600" b="0" i="0">
              <a:latin typeface="Arial"/>
            </a:endParaRPr>
          </a:p>
          <a:p>
            <a:r>
              <a:rPr sz="1400" b="0" i="0" u="none"/>
              <a:t>Key mindset: </a:t>
            </a:r>
            <a:r>
              <a:rPr sz="1400" b="1" i="0" u="none"/>
              <a:t>configure and consume</a:t>
            </a:r>
            <a:r>
              <a:rPr sz="1400" b="0" i="0" u="none"/>
              <a:t> — not build from scratch</a:t>
            </a:r>
            <a:endParaRPr sz="26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01c6019d0210fa3dc23536d7aa8f383a8dec17ee.png"/>
          <p:cNvPicPr>
            <a:picLocks noChangeAspect="1"/>
          </p:cNvPicPr>
          <p:nvPr/>
        </p:nvPicPr>
        <p:blipFill>
          <a:blip r:embed="rId3"/>
          <a:stretch>
            <a:fillRect/>
          </a:stretch>
        </p:blipFill>
        <p:spPr>
          <a:xfrm>
            <a:off x="6268465" y="1509472"/>
            <a:ext cx="4989069" cy="42598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Architecture: Five Components</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pPr>
              <a:buNone/>
            </a:pPr>
            <a:r>
              <a:rPr sz="1400" b="1" i="0" u="none"/>
              <a:t>Components</a:t>
            </a:r>
            <a:endParaRPr sz="2800" b="0" i="0">
              <a:latin typeface="Arial"/>
            </a:endParaRPr>
          </a:p>
          <a:p>
            <a:r>
              <a:rPr sz="1400" b="1" i="0" u="none"/>
              <a:t>Client</a:t>
            </a:r>
            <a:r>
              <a:rPr sz="1400" b="0" i="0" u="none"/>
              <a:t> — VS Code / GitHub Copilot sends requests</a:t>
            </a:r>
            <a:endParaRPr sz="2800" b="0" i="0">
              <a:latin typeface="Arial"/>
            </a:endParaRPr>
          </a:p>
          <a:p>
            <a:r>
              <a:rPr sz="1400" b="1" i="0" u="none"/>
              <a:t>Server</a:t>
            </a:r>
            <a:r>
              <a:rPr sz="1400" b="0" i="0" u="none"/>
              <a:t> — MCP server provides capabilities and data</a:t>
            </a:r>
            <a:endParaRPr sz="2800" b="0" i="0">
              <a:latin typeface="Arial"/>
            </a:endParaRPr>
          </a:p>
          <a:p>
            <a:r>
              <a:rPr sz="1400" b="1" i="0" u="none"/>
              <a:t>Protocol</a:t>
            </a:r>
            <a:r>
              <a:rPr sz="1400" b="0" i="0" u="none"/>
              <a:t> — standard message format between both sides</a:t>
            </a:r>
            <a:endParaRPr sz="2800" b="0" i="0">
              <a:latin typeface="Arial"/>
            </a:endParaRPr>
          </a:p>
          <a:p>
            <a:r>
              <a:rPr sz="1400" b="1" i="0" u="none"/>
              <a:t>Resources</a:t>
            </a:r>
            <a:r>
              <a:rPr sz="1400" b="0" i="0" u="none"/>
              <a:t> — data exposed to Copilot</a:t>
            </a:r>
            <a:endParaRPr sz="2800" b="0" i="0">
              <a:latin typeface="Arial"/>
            </a:endParaRPr>
          </a:p>
          <a:p>
            <a:r>
              <a:rPr sz="1400" b="1" i="0" u="none"/>
              <a:t>Tools</a:t>
            </a:r>
            <a:r>
              <a:rPr sz="1400" b="0" i="0" u="none"/>
              <a:t> — callable functions the server permits</a:t>
            </a:r>
            <a:endParaRPr sz="2800" b="0" i="0">
              <a:latin typeface="Arial"/>
            </a:endParaRPr>
          </a:p>
        </p:txBody>
      </p:sp>
      <p:pic>
        <p:nvPicPr>
          <p:cNvPr id="5" name="Picture 4" descr="9ce44c485a9372baa5efd17791db1788be585e1b.png"/>
          <p:cNvPicPr>
            <a:picLocks noChangeAspect="1"/>
          </p:cNvPicPr>
          <p:nvPr/>
        </p:nvPicPr>
        <p:blipFill>
          <a:blip r:embed="rId3"/>
          <a:stretch>
            <a:fillRect/>
          </a:stretch>
        </p:blipFill>
        <p:spPr>
          <a:xfrm>
            <a:off x="2545501" y="1509472"/>
            <a:ext cx="1766998" cy="42598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Use Cases</a:t>
            </a:r>
          </a:p>
        </p:txBody>
      </p:sp>
      <p:sp>
        <p:nvSpPr>
          <p:cNvPr id="3" name="Content Placeholder 2"/>
          <p:cNvSpPr>
            <a:spLocks noGrp="1"/>
          </p:cNvSpPr>
          <p:nvPr>
            <p:ph idx="1"/>
          </p:nvPr>
        </p:nvSpPr>
        <p:spPr/>
        <p:txBody>
          <a:bodyPr wrap="square">
            <a:normAutofit/>
          </a:bodyPr>
          <a:lstStyle/>
          <a:p>
            <a:pPr>
              <a:buNone/>
            </a:pPr>
            <a:r>
              <a:rPr sz="2000" b="1" i="0" u="none"/>
              <a:t>External Data Access</a:t>
            </a:r>
            <a:endParaRPr sz="2000" b="0" i="0">
              <a:latin typeface="Arial"/>
            </a:endParaRPr>
          </a:p>
          <a:p>
            <a:pPr lvl="1"/>
            <a:r>
              <a:rPr sz="2000" b="0" i="0" u="none"/>
              <a:t>Query live databases and include results in Copilot's context</a:t>
            </a:r>
            <a:endParaRPr sz="2000" b="0" i="0">
              <a:latin typeface="Arial"/>
            </a:endParaRPr>
          </a:p>
          <a:p>
            <a:pPr lvl="1"/>
            <a:r>
              <a:rPr sz="2000" b="0" i="0" u="none"/>
              <a:t>Pull from internal APIs or documentation systems</a:t>
            </a:r>
            <a:endParaRPr sz="2000" b="0" i="0">
              <a:latin typeface="Arial"/>
            </a:endParaRPr>
          </a:p>
          <a:p>
            <a:pPr>
              <a:buNone/>
            </a:pPr>
            <a:endParaRPr sz="2000" b="0" i="0">
              <a:latin typeface="Arial"/>
            </a:endParaRPr>
          </a:p>
          <a:p>
            <a:pPr>
              <a:buNone/>
            </a:pPr>
            <a:r>
              <a:rPr sz="2000" b="1" i="0" u="none"/>
              <a:t>Tool Integration</a:t>
            </a:r>
            <a:endParaRPr sz="2000" b="0" i="0">
              <a:latin typeface="Arial"/>
            </a:endParaRPr>
          </a:p>
          <a:p>
            <a:pPr lvl="1"/>
            <a:r>
              <a:rPr sz="2000" b="0" i="0" u="none"/>
              <a:t>Control infrastructure tools like Terraform or Kubernetes directly from the editor</a:t>
            </a:r>
            <a:endParaRPr sz="2000" b="0" i="0">
              <a:latin typeface="Arial"/>
            </a:endParaRPr>
          </a:p>
          <a:p>
            <a:pPr lvl="1"/>
            <a:r>
              <a:rPr sz="2000" b="0" i="0" u="none"/>
              <a:t>Interact with cloud provider APIs without leaving VS Code</a:t>
            </a:r>
            <a:endParaRPr sz="2000" b="0" i="0">
              <a:latin typeface="Arial"/>
            </a:endParaRPr>
          </a:p>
          <a:p>
            <a:pPr>
              <a:buNone/>
            </a:pPr>
            <a:endParaRPr sz="2000" b="0" i="0">
              <a:latin typeface="Arial"/>
            </a:endParaRPr>
          </a:p>
          <a:p>
            <a:pPr>
              <a:buNone/>
            </a:pPr>
            <a:r>
              <a:rPr sz="2000" b="1" i="0" u="none"/>
              <a:t>Custom Solutions</a:t>
            </a:r>
            <a:endParaRPr sz="2000" b="0" i="0">
              <a:latin typeface="Arial"/>
            </a:endParaRPr>
          </a:p>
          <a:p>
            <a:pPr lvl="1"/>
            <a:r>
              <a:rPr sz="2000" b="0" i="0" u="none"/>
              <a:t>Build a server for proprietary internal systems</a:t>
            </a:r>
            <a:endParaRPr sz="2000" b="0" i="0">
              <a:latin typeface="Arial"/>
            </a:endParaRPr>
          </a:p>
          <a:p>
            <a:pPr lvl="1"/>
            <a:r>
              <a:rPr sz="2000" b="0" i="0" u="none"/>
              <a:t>Expose institutional data that no public server covers</a:t>
            </a:r>
            <a:endParaRPr sz="2000" b="0" i="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Available Pre-Built Servers</a:t>
            </a:r>
          </a:p>
        </p:txBody>
      </p:sp>
      <p:sp>
        <p:nvSpPr>
          <p:cNvPr id="3" name="Content Placeholder 2"/>
          <p:cNvSpPr>
            <a:spLocks noGrp="1"/>
          </p:cNvSpPr>
          <p:nvPr>
            <p:ph idx="1"/>
          </p:nvPr>
        </p:nvSpPr>
        <p:spPr/>
        <p:txBody>
          <a:bodyPr wrap="square">
            <a:normAutofit/>
          </a:bodyPr>
          <a:lstStyle/>
          <a:p>
            <a:r>
              <a:rPr sz="2600" b="1" i="0" u="none"/>
              <a:t>GitHub Repos</a:t>
            </a:r>
            <a:r>
              <a:rPr sz="2600" b="0" i="0" u="none"/>
              <a:t> — repository metadata, issues, pull requests</a:t>
            </a:r>
            <a:endParaRPr sz="2600" b="0" i="0">
              <a:latin typeface="Arial"/>
            </a:endParaRPr>
          </a:p>
          <a:p>
            <a:r>
              <a:rPr sz="2600" b="1" i="0" u="none"/>
              <a:t>Database Systems</a:t>
            </a:r>
            <a:r>
              <a:rPr sz="2600" b="0" i="0" u="none"/>
              <a:t> — Postgres, MySQL, SQLite, MongoDB</a:t>
            </a:r>
            <a:endParaRPr sz="2600" b="0" i="0">
              <a:latin typeface="Arial"/>
            </a:endParaRPr>
          </a:p>
          <a:p>
            <a:r>
              <a:rPr sz="2600" b="1" i="0" u="none"/>
              <a:t>Terraform</a:t>
            </a:r>
            <a:r>
              <a:rPr sz="2600" b="0" i="0" u="none"/>
              <a:t> — infrastructure state and plan output</a:t>
            </a:r>
            <a:endParaRPr sz="2600" b="0" i="0">
              <a:latin typeface="Arial"/>
            </a:endParaRPr>
          </a:p>
          <a:p>
            <a:r>
              <a:rPr sz="2600" b="1" i="0" u="none"/>
              <a:t>Kubernetes</a:t>
            </a:r>
            <a:r>
              <a:rPr sz="2600" b="0" i="0" u="none"/>
              <a:t> — cluster status and resource inspection</a:t>
            </a:r>
            <a:endParaRPr sz="2600" b="0" i="0">
              <a:latin typeface="Arial"/>
            </a:endParaRPr>
          </a:p>
          <a:p>
            <a:r>
              <a:rPr sz="2600" b="1" i="0" u="none"/>
              <a:t>Cloud Provider APIs</a:t>
            </a:r>
            <a:r>
              <a:rPr sz="2600" b="0" i="0" u="none"/>
              <a:t> — AWS, Azure, GCP integrations</a:t>
            </a:r>
            <a:endParaRPr sz="2600" b="0" i="0">
              <a:latin typeface="Arial"/>
            </a:endParaRPr>
          </a:p>
          <a:p>
            <a:r>
              <a:rPr sz="2600" b="1" i="0" u="none"/>
              <a:t>Web &amp; APIs</a:t>
            </a:r>
            <a:r>
              <a:rPr sz="2600" b="0" i="0" u="none"/>
              <a:t> — REST, GraphQL, browser automation (Puppeteer)</a:t>
            </a:r>
            <a:endParaRPr sz="2600" b="0" i="0">
              <a:latin typeface="Arial"/>
            </a:endParaRPr>
          </a:p>
          <a:p>
            <a:pPr>
              <a:buNone/>
            </a:pPr>
            <a:endParaRPr sz="2600" b="0" i="0">
              <a:latin typeface="Arial"/>
            </a:endParaRPr>
          </a:p>
          <a:p>
            <a:pPr>
              <a:buNone/>
            </a:pPr>
            <a:r>
              <a:rPr sz="2600" b="0" i="1" u="none"/>
              <a:t>Community-maintained libraries add new servers regularly</a:t>
            </a:r>
            <a:endParaRPr sz="2600" b="0" i="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Finding MCP Servers</a:t>
            </a:r>
          </a:p>
        </p:txBody>
      </p:sp>
      <p:sp>
        <p:nvSpPr>
          <p:cNvPr id="3" name="Content Placeholder 2"/>
          <p:cNvSpPr>
            <a:spLocks noGrp="1"/>
          </p:cNvSpPr>
          <p:nvPr>
            <p:ph idx="1"/>
          </p:nvPr>
        </p:nvSpPr>
        <p:spPr/>
        <p:txBody>
          <a:bodyPr wrap="square">
            <a:normAutofit/>
          </a:bodyPr>
          <a:lstStyle/>
          <a:p>
            <a:pPr>
              <a:buNone/>
            </a:pPr>
            <a:r>
              <a:rPr sz="1800" b="1" i="0" u="none"/>
              <a:t>VS Code Extension Gallery</a:t>
            </a:r>
            <a:endParaRPr sz="1800" b="0" i="0">
              <a:latin typeface="Consolas"/>
            </a:endParaRPr>
          </a:p>
          <a:p>
            <a:pPr lvl="1"/>
            <a:r>
              <a:rPr sz="1800" b="0" i="0" u="none"/>
              <a:t>Search </a:t>
            </a:r>
            <a:r>
              <a:rPr sz="1800" b="0" i="0" u="none">
                <a:latin typeface="Consolas"/>
              </a:rPr>
              <a:t>MCP</a:t>
            </a:r>
            <a:r>
              <a:rPr sz="1800" b="0" i="0" u="none"/>
              <a:t> in the extensions panel</a:t>
            </a:r>
            <a:endParaRPr sz="1800" b="0" i="0">
              <a:latin typeface="Consolas"/>
            </a:endParaRPr>
          </a:p>
          <a:p>
            <a:pPr lvl="1"/>
            <a:r>
              <a:rPr sz="1800" b="0" i="0" u="none"/>
              <a:t>Read the description to confirm what resources and tools are exposed</a:t>
            </a:r>
            <a:endParaRPr sz="1800" b="0" i="0">
              <a:latin typeface="Consolas"/>
            </a:endParaRPr>
          </a:p>
          <a:p>
            <a:pPr>
              <a:buNone/>
            </a:pPr>
            <a:endParaRPr sz="1800" b="0" i="0">
              <a:latin typeface="Consolas"/>
            </a:endParaRPr>
          </a:p>
          <a:p>
            <a:pPr>
              <a:buNone/>
            </a:pPr>
            <a:r>
              <a:rPr sz="1800" b="1" i="0" u="none"/>
              <a:t>Model Context Protocol Website</a:t>
            </a:r>
            <a:endParaRPr sz="1800" b="0" i="0">
              <a:latin typeface="Consolas"/>
            </a:endParaRPr>
          </a:p>
          <a:p>
            <a:pPr lvl="1"/>
            <a:r>
              <a:rPr sz="1800" b="0" i="0" u="none">
                <a:latin typeface="Consolas"/>
              </a:rPr>
              <a:t>modelcontextprotocol.io</a:t>
            </a:r>
            <a:r>
              <a:rPr sz="1800" b="0" i="0" u="none"/>
              <a:t> — canonical registry and documentation</a:t>
            </a:r>
            <a:endParaRPr sz="1800" b="0" i="0">
              <a:latin typeface="Consolas"/>
            </a:endParaRPr>
          </a:p>
          <a:p>
            <a:pPr>
              <a:buNone/>
            </a:pPr>
            <a:endParaRPr sz="1800" b="0" i="0">
              <a:latin typeface="Consolas"/>
            </a:endParaRPr>
          </a:p>
          <a:p>
            <a:pPr>
              <a:buNone/>
            </a:pPr>
            <a:r>
              <a:rPr sz="1800" b="1" i="0" u="none"/>
              <a:t>GitHub Community Repository</a:t>
            </a:r>
            <a:endParaRPr sz="1800" b="0" i="0">
              <a:latin typeface="Consolas"/>
            </a:endParaRPr>
          </a:p>
          <a:p>
            <a:pPr lvl="1"/>
            <a:r>
              <a:rPr sz="1800" b="0" i="0" u="none">
                <a:latin typeface="Consolas"/>
              </a:rPr>
              <a:t>github.com/modelcontextprotocol/servers</a:t>
            </a:r>
            <a:r>
              <a:rPr sz="1800" b="0" i="0" u="none"/>
              <a:t> — community-maintained collection with usage examples</a:t>
            </a:r>
            <a:endParaRPr sz="1800" b="0" i="0">
              <a:latin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Copilot + MCP Integration</a:t>
            </a:r>
          </a:p>
        </p:txBody>
      </p:sp>
      <p:sp>
        <p:nvSpPr>
          <p:cNvPr id="3" name="Content Placeholder 2"/>
          <p:cNvSpPr>
            <a:spLocks noGrp="1"/>
          </p:cNvSpPr>
          <p:nvPr>
            <p:ph sz="half" idx="1"/>
          </p:nvPr>
        </p:nvSpPr>
        <p:spPr/>
        <p:txBody>
          <a:bodyPr wrap="square">
            <a:normAutofit/>
          </a:bodyPr>
          <a:lstStyle/>
          <a:p>
            <a:pPr>
              <a:buNone/>
            </a:pPr>
            <a:r>
              <a:rPr sz="1400" b="0" i="0" u="none"/>
              <a:t>Enhanced capabilities</a:t>
            </a:r>
            <a:endParaRPr sz="2800" b="0" i="0">
              <a:latin typeface="Arial"/>
            </a:endParaRPr>
          </a:p>
          <a:p>
            <a:pPr lvl="1"/>
            <a:r>
              <a:rPr sz="1400" b="1" i="0" u="none"/>
              <a:t>Context-aware completions</a:t>
            </a:r>
            <a:r>
              <a:rPr sz="1400" b="0" i="0" u="none"/>
              <a:t> — access project-specific patterns</a:t>
            </a:r>
            <a:endParaRPr sz="2800" b="0" i="0">
              <a:latin typeface="Arial"/>
            </a:endParaRPr>
          </a:p>
          <a:p>
            <a:pPr lvl="1"/>
            <a:r>
              <a:rPr sz="1400" b="1" i="0" u="none"/>
              <a:t>Tool use</a:t>
            </a:r>
            <a:r>
              <a:rPr sz="1400" b="0" i="0" u="none"/>
              <a:t> — Copilot can invoke server tools on your behalf</a:t>
            </a:r>
            <a:endParaRPr sz="2800" b="0" i="0">
              <a:latin typeface="Arial"/>
            </a:endParaRPr>
          </a:p>
          <a:p>
            <a:pPr lvl="1"/>
            <a:r>
              <a:rPr sz="1400" b="1" i="0" u="none"/>
              <a:t>Security boundaries</a:t>
            </a:r>
            <a:r>
              <a:rPr sz="1400" b="0" i="0" u="none"/>
              <a:t> — controlled, audited resource access</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25ab2b921aab1667144801bf3ee1a2ee12208efa.png"/>
          <p:cNvPicPr>
            <a:picLocks noChangeAspect="1"/>
          </p:cNvPicPr>
          <p:nvPr/>
        </p:nvPicPr>
        <p:blipFill>
          <a:blip r:embed="rId3"/>
          <a:stretch>
            <a:fillRect/>
          </a:stretch>
        </p:blipFill>
        <p:spPr>
          <a:xfrm>
            <a:off x="6217920" y="2438651"/>
            <a:ext cx="5090160" cy="240153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Configuring Servers Securely</a:t>
            </a:r>
          </a:p>
        </p:txBody>
      </p:sp>
      <p:sp>
        <p:nvSpPr>
          <p:cNvPr id="3" name="Content Placeholder 2"/>
          <p:cNvSpPr>
            <a:spLocks noGrp="1"/>
          </p:cNvSpPr>
          <p:nvPr>
            <p:ph sz="half" idx="1"/>
          </p:nvPr>
        </p:nvSpPr>
        <p:spPr/>
        <p:txBody>
          <a:bodyPr wrap="square">
            <a:normAutofit/>
          </a:bodyPr>
          <a:lstStyle/>
          <a:p>
            <a:pPr>
              <a:buNone/>
            </a:pPr>
            <a:r>
              <a:rPr sz="1400" b="1" i="0" u="none"/>
              <a:t>Security checklist</a:t>
            </a:r>
            <a:endParaRPr sz="2800" b="0" i="0">
              <a:latin typeface="Arial"/>
            </a:endParaRPr>
          </a:p>
          <a:p>
            <a:pPr lvl="1"/>
            <a:r>
              <a:rPr sz="1400" b="0" i="0" u="none"/>
              <a:t>Use environment variables for credentials</a:t>
            </a:r>
            <a:endParaRPr sz="2800" b="0" i="0">
              <a:latin typeface="Arial"/>
            </a:endParaRPr>
          </a:p>
          <a:p>
            <a:pPr lvl="1"/>
            <a:r>
              <a:rPr sz="1400" b="0" i="0" u="none"/>
              <a:t>Grant minimum necessary permissions</a:t>
            </a:r>
            <a:endParaRPr sz="2800" b="0" i="0">
              <a:latin typeface="Arial"/>
            </a:endParaRPr>
          </a:p>
          <a:p>
            <a:pPr lvl="1"/>
            <a:r>
              <a:rPr sz="1400" b="0" i="0" u="none"/>
              <a:t>Review server source before installing</a:t>
            </a:r>
            <a:endParaRPr sz="2800" b="0" i="0">
              <a:latin typeface="Arial"/>
            </a:endParaRPr>
          </a:p>
          <a:p>
            <a:pPr lvl="1"/>
            <a:r>
              <a:rPr sz="1400" b="0" i="0" u="none"/>
              <a:t>Configure allowed paths and resources explicitly</a:t>
            </a:r>
            <a:endParaRPr sz="2800" b="0" i="0">
              <a:latin typeface="Arial"/>
            </a:endParaRPr>
          </a:p>
          <a:p>
            <a:pPr lvl="1"/>
            <a:r>
              <a:rPr sz="1400" b="0" i="0" u="none"/>
              <a:t>Never use admin credentials when reader access is sufficient</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Best practices</a:t>
            </a:r>
            <a:endParaRPr sz="1800" b="0" i="0">
              <a:latin typeface="Consolas"/>
            </a:endParaRPr>
          </a:p>
          <a:p>
            <a:pPr lvl="1"/>
            <a:r>
              <a:rPr sz="1400" b="0" i="0" u="none"/>
              <a:t>Start with read-only servers</a:t>
            </a:r>
            <a:endParaRPr sz="1800" b="0" i="0">
              <a:latin typeface="Consolas"/>
            </a:endParaRPr>
          </a:p>
          <a:p>
            <a:pPr lvl="1"/>
            <a:r>
              <a:rPr sz="1400" b="0" i="0" u="none"/>
              <a:t>Use scoped tokens such as </a:t>
            </a:r>
            <a:r>
              <a:rPr sz="1400" b="0" i="0" u="none">
                <a:latin typeface="Consolas"/>
              </a:rPr>
              <a:t>repo:read</a:t>
            </a:r>
            <a:endParaRPr sz="1800" b="0" i="0">
              <a:latin typeface="Consolas"/>
            </a:endParaRPr>
          </a:p>
          <a:p>
            <a:pPr lvl="1"/>
            <a:r>
              <a:rPr sz="1400" b="0" i="0" u="none"/>
              <a:t>Enable only the capabilities you actually need</a:t>
            </a:r>
            <a:endParaRPr sz="1800" b="0" i="0">
              <a:latin typeface="Consolas"/>
            </a:endParaRPr>
          </a:p>
          <a:p>
            <a:pPr lvl="1"/>
            <a:r>
              <a:rPr sz="1400" b="0" i="0" u="none"/>
              <a:t>Test in non-production first</a:t>
            </a:r>
            <a:endParaRPr sz="1800" b="0" i="0">
              <a:latin typeface="Consolas"/>
            </a:endParaRPr>
          </a:p>
          <a:p>
            <a:pPr lvl="1"/>
            <a:r>
              <a:rPr sz="1400" b="0" i="0" u="none"/>
              <a:t>Keep servers updated</a:t>
            </a:r>
            <a:endParaRPr sz="1800" b="0" i="0">
              <a:latin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Practitioner Resources</a:t>
            </a:r>
          </a:p>
        </p:txBody>
      </p:sp>
      <p:sp>
        <p:nvSpPr>
          <p:cNvPr id="3" name="Subtitle 2"/>
          <p:cNvSpPr>
            <a:spLocks noGrp="1"/>
          </p:cNvSpPr>
          <p:nvPr>
            <p:ph type="subTitle" idx="1"/>
          </p:nvPr>
        </p:nvSpPr>
        <p:spPr/>
        <p:txBody>
          <a:bodyPr wrap="square">
            <a:normAutofit/>
          </a:bodyPr>
          <a:lstStyle/>
          <a:p>
            <a:pPr>
              <a:buNone/>
            </a:pPr>
            <a:r>
              <a:rPr b="0" i="0" u="none"/>
              <a:t>The AI Practitioner's Cheat Sheet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50" b="0" i="0" u="none"/>
              <a:t>AI-First, Prompt-first, and Prompt-only Resources</a:t>
            </a:r>
          </a:p>
        </p:txBody>
      </p:sp>
      <p:sp>
        <p:nvSpPr>
          <p:cNvPr id="3" name="Content Placeholder 2"/>
          <p:cNvSpPr>
            <a:spLocks noGrp="1"/>
          </p:cNvSpPr>
          <p:nvPr>
            <p:ph idx="1"/>
          </p:nvPr>
        </p:nvSpPr>
        <p:spPr/>
        <p:txBody>
          <a:bodyPr wrap="square">
            <a:normAutofit/>
          </a:bodyPr>
          <a:lstStyle/>
          <a:p>
            <a:pPr>
              <a:buNone/>
            </a:pPr>
            <a:r>
              <a:rPr sz="2800" b="0" i="1" u="none"/>
              <a:t>Curated Resources for AI-Assisted Software Development</a:t>
            </a:r>
            <a:endParaRPr sz="2800" b="0" i="0">
              <a:latin typeface="Arial"/>
            </a:endParaRPr>
          </a:p>
          <a:p>
            <a:pPr>
              <a:buNone/>
            </a:pPr>
            <a:endParaRPr sz="2800" b="0" i="0">
              <a:latin typeface="Arial"/>
            </a:endParaRPr>
          </a:p>
          <a:p>
            <a:r>
              <a:rPr sz="2800" b="0" i="0" u="none"/>
              <a:t>https://ai-resources.codemag.com</a:t>
            </a:r>
            <a:endParaRPr sz="2800" b="0" i="0">
              <a:latin typeface="Arial"/>
            </a:endParaRPr>
          </a:p>
          <a:p>
            <a:r>
              <a:rPr sz="2800" b="0" i="0" u="none"/>
              <a:t>AI curated collection of resources for AI-assisted software development</a:t>
            </a:r>
            <a:endParaRPr sz="2800" b="0" i="0">
              <a:latin typeface="Arial"/>
            </a:endParaRPr>
          </a:p>
          <a:p>
            <a:r>
              <a:rPr sz="2800" b="0" i="0" u="none"/>
              <a:t>AI-first</a:t>
            </a:r>
            <a:endParaRPr sz="2800" b="0" i="0">
              <a:latin typeface="Arial"/>
            </a:endParaRPr>
          </a:p>
          <a:p>
            <a:r>
              <a:rPr sz="2800" b="0" i="0" u="none"/>
              <a:t>Prompt-first</a:t>
            </a:r>
            <a:endParaRPr sz="2800" b="0" i="0">
              <a:latin typeface="Arial"/>
            </a:endParaRPr>
          </a:p>
          <a:p>
            <a:r>
              <a:rPr sz="2800" b="0" i="0" u="none"/>
              <a:t>Prompt-only</a:t>
            </a:r>
            <a:endParaRPr sz="280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1" i="0" u="none"/>
              <a:t>▶ Brownfield Software Development</a:t>
            </a:r>
          </a:p>
          <a:p>
            <a:r>
              <a:rPr sz="2750" b="0" i="0" u="none"/>
              <a:t>AI Implementation Workflow</a:t>
            </a:r>
          </a:p>
          <a:p>
            <a:r>
              <a:rPr sz="2750" b="0" i="0" u="none"/>
              <a:t>Building a Backlog</a:t>
            </a:r>
          </a:p>
          <a:p>
            <a:r>
              <a:rPr sz="2750" b="0" i="0" u="none"/>
              <a:t>AI Assisted Pull Requests</a:t>
            </a:r>
          </a:p>
          <a:p>
            <a:r>
              <a:rPr sz="2750" b="0" i="0" u="none"/>
              <a:t>Addressing Technical Debt</a:t>
            </a:r>
          </a:p>
          <a:p>
            <a:r>
              <a:rPr sz="2750" b="0" i="0" u="none"/>
              <a:t>Multi-Implementation Comparison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Understanding Legacy Code</a:t>
            </a:r>
          </a:p>
        </p:txBody>
      </p:sp>
      <p:sp>
        <p:nvSpPr>
          <p:cNvPr id="3" name="Subtitle 2"/>
          <p:cNvSpPr>
            <a:spLocks noGrp="1"/>
          </p:cNvSpPr>
          <p:nvPr>
            <p:ph type="subTitle" idx="1"/>
          </p:nvPr>
        </p:nvSpPr>
        <p:spPr/>
        <p:txBody>
          <a:bodyPr wrap="square">
            <a:normAutofit/>
          </a:bodyPr>
          <a:lstStyle/>
          <a:p>
            <a:pPr>
              <a:buNone/>
            </a:pPr>
            <a:r>
              <a:rPr b="0" i="0" u="none"/>
              <a:t>Legacy Code Deserves Respect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Legacy Code</a:t>
            </a:r>
          </a:p>
        </p:txBody>
      </p:sp>
      <p:sp>
        <p:nvSpPr>
          <p:cNvPr id="3" name="Content Placeholder 2"/>
          <p:cNvSpPr>
            <a:spLocks noGrp="1"/>
          </p:cNvSpPr>
          <p:nvPr>
            <p:ph idx="1"/>
          </p:nvPr>
        </p:nvSpPr>
        <p:spPr/>
        <p:txBody>
          <a:bodyPr wrap="square">
            <a:normAutofit/>
          </a:bodyPr>
          <a:lstStyle/>
          <a:p>
            <a:r>
              <a:rPr sz="2800" b="0" i="0" u="none"/>
              <a:t>Working in existing systems with real constraints</a:t>
            </a:r>
            <a:endParaRPr sz="2800" b="0" i="0">
              <a:latin typeface="Arial"/>
            </a:endParaRPr>
          </a:p>
          <a:p>
            <a:r>
              <a:rPr sz="2800" b="0" i="0" u="none"/>
              <a:t>Not synonymous with obsolete, broken, or hopeless</a:t>
            </a:r>
            <a:endParaRPr sz="2800" b="0" i="0">
              <a:latin typeface="Arial"/>
            </a:endParaRPr>
          </a:p>
          <a:p>
            <a:r>
              <a:rPr sz="2800" b="0" i="0" u="none"/>
              <a:t>Foundation for safe modernization thinking</a:t>
            </a:r>
            <a:endParaRPr sz="2800" b="0" i="0">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Not Legacy Code</a:t>
            </a:r>
          </a:p>
        </p:txBody>
      </p:sp>
      <p:sp>
        <p:nvSpPr>
          <p:cNvPr id="3" name="Content Placeholder 2"/>
          <p:cNvSpPr>
            <a:spLocks noGrp="1"/>
          </p:cNvSpPr>
          <p:nvPr>
            <p:ph idx="1"/>
          </p:nvPr>
        </p:nvSpPr>
        <p:spPr/>
        <p:txBody>
          <a:bodyPr wrap="square">
            <a:normAutofit/>
          </a:bodyPr>
          <a:lstStyle/>
          <a:p>
            <a:r>
              <a:rPr sz="2800" b="0" i="0" u="none"/>
              <a:t>All codebases start as greenfield</a:t>
            </a:r>
            <a:endParaRPr sz="2800" b="0" i="0">
              <a:latin typeface="Arial"/>
            </a:endParaRPr>
          </a:p>
          <a:p>
            <a:r>
              <a:rPr sz="2800" b="0" i="0" u="none"/>
              <a:t>Few codebases are evergreen</a:t>
            </a:r>
            <a:endParaRPr sz="2800" b="0" i="0">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Definitions and Boundaries</a:t>
            </a:r>
          </a:p>
        </p:txBody>
      </p:sp>
      <p:sp>
        <p:nvSpPr>
          <p:cNvPr id="3" name="Content Placeholder 2"/>
          <p:cNvSpPr>
            <a:spLocks noGrp="1"/>
          </p:cNvSpPr>
          <p:nvPr>
            <p:ph idx="1"/>
          </p:nvPr>
        </p:nvSpPr>
        <p:spPr/>
        <p:txBody>
          <a:bodyPr wrap="square">
            <a:normAutofit/>
          </a:bodyPr>
          <a:lstStyle/>
          <a:p>
            <a:r>
              <a:rPr sz="2800" b="0" i="0" u="none"/>
              <a:t>Brownfield systems already serve users, operators, or downstream systems</a:t>
            </a:r>
            <a:endParaRPr sz="2800" b="0" i="0">
              <a:latin typeface="Arial"/>
            </a:endParaRPr>
          </a:p>
          <a:p>
            <a:r>
              <a:rPr sz="2800" b="0" i="0" u="none"/>
              <a:t>Greenfield work starts with far fewer integration and continuity constraints</a:t>
            </a:r>
            <a:endParaRPr sz="2800" b="0" i="0">
              <a:latin typeface="Arial"/>
            </a:endParaRPr>
          </a:p>
          <a:p>
            <a:r>
              <a:rPr sz="2800" b="0" i="0" u="none"/>
              <a:t>Hybrid efforts mix net-new delivery with existing system obligations</a:t>
            </a:r>
            <a:endParaRPr sz="2800" b="0" i="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Entropy, Drift, and Degradation</a:t>
            </a:r>
          </a:p>
        </p:txBody>
      </p:sp>
      <p:sp>
        <p:nvSpPr>
          <p:cNvPr id="3" name="Content Placeholder 2"/>
          <p:cNvSpPr>
            <a:spLocks noGrp="1"/>
          </p:cNvSpPr>
          <p:nvPr>
            <p:ph idx="1"/>
          </p:nvPr>
        </p:nvSpPr>
        <p:spPr/>
        <p:txBody>
          <a:bodyPr wrap="square">
            <a:normAutofit/>
          </a:bodyPr>
          <a:lstStyle/>
          <a:p>
            <a:r>
              <a:rPr sz="2800" b="0" i="0" u="none"/>
              <a:t>Systems accumulate change faster than their architecture is refreshed</a:t>
            </a:r>
            <a:endParaRPr sz="2800" b="0" i="0">
              <a:latin typeface="Arial"/>
            </a:endParaRPr>
          </a:p>
          <a:p>
            <a:r>
              <a:rPr sz="2800" b="0" i="0" u="none"/>
              <a:t>Drift appears when implementation and intent diverge</a:t>
            </a:r>
            <a:endParaRPr sz="2800" b="0" i="0">
              <a:latin typeface="Arial"/>
            </a:endParaRPr>
          </a:p>
          <a:p>
            <a:r>
              <a:rPr sz="2800" b="0" i="0" u="none"/>
              <a:t>Degradation is usually gradual, not dramatic</a:t>
            </a:r>
            <a:endParaRPr sz="2800" b="0" i="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Why Codebases Degrade Over Time</a:t>
            </a:r>
          </a:p>
        </p:txBody>
      </p:sp>
      <p:sp>
        <p:nvSpPr>
          <p:cNvPr id="3" name="Content Placeholder 2"/>
          <p:cNvSpPr>
            <a:spLocks noGrp="1"/>
          </p:cNvSpPr>
          <p:nvPr>
            <p:ph idx="1"/>
          </p:nvPr>
        </p:nvSpPr>
        <p:spPr/>
        <p:txBody>
          <a:bodyPr wrap="square">
            <a:normAutofit/>
          </a:bodyPr>
          <a:lstStyle/>
          <a:p>
            <a:r>
              <a:rPr sz="2800" b="0" i="0" u="none"/>
              <a:t>Degradation is driven by technical, organizational, and operational pressure</a:t>
            </a:r>
            <a:endParaRPr sz="2800" b="0" i="0">
              <a:latin typeface="Arial"/>
            </a:endParaRPr>
          </a:p>
          <a:p>
            <a:r>
              <a:rPr sz="2800" b="0" i="0" u="none"/>
              <a:t>Systems move away from original intent through accumulated decisions</a:t>
            </a:r>
            <a:endParaRPr sz="2800" b="0" i="0">
              <a:latin typeface="Arial"/>
            </a:endParaRPr>
          </a:p>
          <a:p>
            <a:r>
              <a:rPr sz="2800" b="0" i="0" u="none"/>
              <a:t>Healthy assessment starts with understanding the forces involved</a:t>
            </a:r>
            <a:endParaRPr sz="2800" b="0" i="0">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Accretion of Features</a:t>
            </a:r>
          </a:p>
        </p:txBody>
      </p:sp>
      <p:sp>
        <p:nvSpPr>
          <p:cNvPr id="3" name="Content Placeholder 2"/>
          <p:cNvSpPr>
            <a:spLocks noGrp="1"/>
          </p:cNvSpPr>
          <p:nvPr>
            <p:ph idx="1"/>
          </p:nvPr>
        </p:nvSpPr>
        <p:spPr/>
        <p:txBody>
          <a:bodyPr wrap="square">
            <a:normAutofit/>
          </a:bodyPr>
          <a:lstStyle/>
          <a:p>
            <a:r>
              <a:rPr sz="2800" b="0" i="0" u="none"/>
              <a:t>Features are added faster than structural simplification occurs</a:t>
            </a:r>
            <a:endParaRPr sz="2800" b="0" i="0">
              <a:latin typeface="Arial"/>
            </a:endParaRPr>
          </a:p>
          <a:p>
            <a:r>
              <a:rPr sz="2800" b="0" i="0" u="none"/>
              <a:t>Edge cases and shortcuts accumulate around the core workflow</a:t>
            </a:r>
            <a:endParaRPr sz="2800" b="0" i="0">
              <a:latin typeface="Arial"/>
            </a:endParaRPr>
          </a:p>
          <a:p>
            <a:r>
              <a:rPr sz="2800" b="0" i="0" u="none"/>
              <a:t>Successful systems often grow messier because they keep winning new demands</a:t>
            </a:r>
            <a:endParaRPr sz="2800" b="0" i="0">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Shifting Business Requirements</a:t>
            </a:r>
          </a:p>
        </p:txBody>
      </p:sp>
      <p:sp>
        <p:nvSpPr>
          <p:cNvPr id="3" name="Content Placeholder 2"/>
          <p:cNvSpPr>
            <a:spLocks noGrp="1"/>
          </p:cNvSpPr>
          <p:nvPr>
            <p:ph idx="1"/>
          </p:nvPr>
        </p:nvSpPr>
        <p:spPr/>
        <p:txBody>
          <a:bodyPr wrap="square">
            <a:normAutofit/>
          </a:bodyPr>
          <a:lstStyle/>
          <a:p>
            <a:r>
              <a:rPr sz="2800" b="0" i="0" u="none"/>
              <a:t>Business models, regulations, and customer expectations keep moving</a:t>
            </a:r>
            <a:endParaRPr sz="2800" b="0" i="0">
              <a:latin typeface="Arial"/>
            </a:endParaRPr>
          </a:p>
          <a:p>
            <a:r>
              <a:rPr sz="2800" b="0" i="0" u="none"/>
              <a:t>Original assumptions become outdated long before the system is retired</a:t>
            </a:r>
            <a:endParaRPr sz="2800" b="0" i="0">
              <a:latin typeface="Arial"/>
            </a:endParaRPr>
          </a:p>
          <a:p>
            <a:r>
              <a:rPr sz="2800" b="0" i="0" u="none"/>
              <a:t>Teams patch around new demands unless architecture adapts deliberately</a:t>
            </a:r>
            <a:endParaRPr sz="2800" b="0" i="0">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50" b="0" i="0" u="none"/>
              <a:t>Developer Turnover and Knowledge Loss</a:t>
            </a:r>
          </a:p>
        </p:txBody>
      </p:sp>
      <p:sp>
        <p:nvSpPr>
          <p:cNvPr id="3" name="Content Placeholder 2"/>
          <p:cNvSpPr>
            <a:spLocks noGrp="1"/>
          </p:cNvSpPr>
          <p:nvPr>
            <p:ph idx="1"/>
          </p:nvPr>
        </p:nvSpPr>
        <p:spPr/>
        <p:txBody>
          <a:bodyPr wrap="square">
            <a:normAutofit/>
          </a:bodyPr>
          <a:lstStyle/>
          <a:p>
            <a:r>
              <a:rPr sz="2800" b="0" i="0" u="none"/>
              <a:t>System understanding erodes when tacit knowledge leaves with people</a:t>
            </a:r>
            <a:endParaRPr sz="2800" b="0" i="0">
              <a:latin typeface="Arial"/>
            </a:endParaRPr>
          </a:p>
          <a:p>
            <a:r>
              <a:rPr sz="2800" b="0" i="0" u="none"/>
              <a:t>Documentation rarely keeps pace with operational nuance</a:t>
            </a:r>
            <a:endParaRPr sz="2800" b="0" i="0">
              <a:latin typeface="Arial"/>
            </a:endParaRPr>
          </a:p>
          <a:p>
            <a:r>
              <a:rPr sz="2800" b="0" i="0" u="none"/>
              <a:t>The cost of change rises when intent is no longer visible</a:t>
            </a:r>
            <a:endParaRPr sz="2800" b="0" i="0">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Tooling and Dependency Rot</a:t>
            </a:r>
          </a:p>
        </p:txBody>
      </p:sp>
      <p:sp>
        <p:nvSpPr>
          <p:cNvPr id="3" name="Content Placeholder 2"/>
          <p:cNvSpPr>
            <a:spLocks noGrp="1"/>
          </p:cNvSpPr>
          <p:nvPr>
            <p:ph idx="1"/>
          </p:nvPr>
        </p:nvSpPr>
        <p:spPr/>
        <p:txBody>
          <a:bodyPr wrap="square">
            <a:normAutofit/>
          </a:bodyPr>
          <a:lstStyle/>
          <a:p>
            <a:r>
              <a:rPr sz="2800" b="0" i="0" u="none"/>
              <a:t>Libraries, frameworks, build tools, and infrastructure all age at different rates</a:t>
            </a:r>
            <a:endParaRPr sz="2800" b="0" i="0">
              <a:latin typeface="Arial"/>
            </a:endParaRPr>
          </a:p>
          <a:p>
            <a:r>
              <a:rPr sz="2800" b="0" i="0" u="none"/>
              <a:t>Deferred upgrades compound migration difficulty</a:t>
            </a:r>
            <a:endParaRPr sz="2800" b="0" i="0">
              <a:latin typeface="Arial"/>
            </a:endParaRPr>
          </a:p>
          <a:p>
            <a:r>
              <a:rPr sz="2800" b="0" i="0" u="none"/>
              <a:t>Unsupported tooling reduces safety, visibility, and optionality</a:t>
            </a:r>
            <a:endParaRPr sz="2800" b="0" i="0">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Safe Brownfield Coding</a:t>
            </a:r>
          </a:p>
        </p:txBody>
      </p:sp>
      <p:sp>
        <p:nvSpPr>
          <p:cNvPr id="3" name="Subtitle 2"/>
          <p:cNvSpPr>
            <a:spLocks noGrp="1"/>
          </p:cNvSpPr>
          <p:nvPr>
            <p:ph type="subTitle" idx="1"/>
          </p:nvPr>
        </p:nvSpPr>
        <p:spPr/>
        <p:txBody>
          <a:bodyPr wrap="square">
            <a:normAutofit/>
          </a:bodyPr>
          <a:lstStyle/>
          <a:p>
            <a:pPr>
              <a:buNone/>
            </a:pPr>
            <a:r>
              <a:rPr b="0" i="0" u="none"/>
              <a:t>Don't Break Production.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Essential Safety Measures</a:t>
            </a:r>
          </a:p>
        </p:txBody>
      </p:sp>
      <p:sp>
        <p:nvSpPr>
          <p:cNvPr id="3" name="Content Placeholder 2"/>
          <p:cNvSpPr>
            <a:spLocks noGrp="1"/>
          </p:cNvSpPr>
          <p:nvPr>
            <p:ph idx="1"/>
          </p:nvPr>
        </p:nvSpPr>
        <p:spPr/>
        <p:txBody>
          <a:bodyPr wrap="square">
            <a:normAutofit/>
          </a:bodyPr>
          <a:lstStyle/>
          <a:p>
            <a:r>
              <a:rPr sz="2800" b="0" i="0" u="none"/>
              <a:t>AI accelerates development, but it also accelerates mistakes</a:t>
            </a:r>
            <a:endParaRPr sz="2800" b="0" i="0">
              <a:latin typeface="Arial"/>
            </a:endParaRPr>
          </a:p>
          <a:p>
            <a:r>
              <a:rPr sz="2800" b="0" i="0" u="none"/>
              <a:t>Strong safety nets must be in place before introducing AI into a brownfield codebase</a:t>
            </a:r>
            <a:endParaRPr sz="2800" b="0" i="0">
              <a:latin typeface="Arial"/>
            </a:endParaRPr>
          </a:p>
          <a:p>
            <a:pPr>
              <a:buNone/>
            </a:pPr>
            <a:endParaRPr sz="2800" b="0" i="0">
              <a:latin typeface="Arial"/>
            </a:endParaRPr>
          </a:p>
          <a:p>
            <a:pPr>
              <a:buNone/>
            </a:pPr>
            <a:r>
              <a:rPr sz="2800" b="0" i="1" u="none"/>
              <a:t>These practices reduce risk, increase confidence, and protect production systems</a:t>
            </a:r>
            <a:endParaRPr sz="2800" b="0" i="0">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Backup &amp; Rollback Strategies</a:t>
            </a:r>
          </a:p>
        </p:txBody>
      </p:sp>
      <p:sp>
        <p:nvSpPr>
          <p:cNvPr id="3" name="Content Placeholder 2"/>
          <p:cNvSpPr>
            <a:spLocks noGrp="1"/>
          </p:cNvSpPr>
          <p:nvPr>
            <p:ph idx="1"/>
          </p:nvPr>
        </p:nvSpPr>
        <p:spPr/>
        <p:txBody>
          <a:bodyPr wrap="square">
            <a:normAutofit/>
          </a:bodyPr>
          <a:lstStyle/>
          <a:p>
            <a:r>
              <a:rPr sz="2800" b="0" i="0" u="none"/>
              <a:t>Use branching strategies that isolate AI-generated changes</a:t>
            </a:r>
            <a:endParaRPr sz="2800" b="0" i="0">
              <a:latin typeface="Arial"/>
            </a:endParaRPr>
          </a:p>
          <a:p>
            <a:r>
              <a:rPr sz="2800" b="0" i="0" u="none"/>
              <a:t>Commit early and often to create natural rollback points</a:t>
            </a:r>
            <a:endParaRPr sz="2800" b="0" i="0">
              <a:latin typeface="Arial"/>
            </a:endParaRPr>
          </a:p>
          <a:p>
            <a:r>
              <a:rPr sz="2800" b="0" i="0" u="none"/>
              <a:t>Archive snapshots of critical modules before modernization</a:t>
            </a:r>
            <a:endParaRPr sz="2800" b="0" i="0">
              <a:latin typeface="Arial"/>
            </a:endParaRPr>
          </a:p>
          <a:p>
            <a:r>
              <a:rPr sz="2800" b="0" i="0" u="none"/>
              <a:t>Ensure you can revert any AI-assisted change without drama</a:t>
            </a:r>
            <a:endParaRPr sz="2800" b="0" i="0">
              <a:latin typeface="Arial"/>
            </a:endParaRPr>
          </a:p>
          <a:p>
            <a:r>
              <a:rPr sz="2800" b="0" i="0" u="none"/>
              <a:t>Use feature flags to separate release from deployment</a:t>
            </a:r>
            <a:endParaRPr sz="2800" b="0" i="0">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Confidence Frameworks</a:t>
            </a:r>
          </a:p>
        </p:txBody>
      </p:sp>
      <p:sp>
        <p:nvSpPr>
          <p:cNvPr id="3" name="Content Placeholder 2"/>
          <p:cNvSpPr>
            <a:spLocks noGrp="1"/>
          </p:cNvSpPr>
          <p:nvPr>
            <p:ph idx="1"/>
          </p:nvPr>
        </p:nvSpPr>
        <p:spPr/>
        <p:txBody>
          <a:bodyPr wrap="square">
            <a:normAutofit/>
          </a:bodyPr>
          <a:lstStyle/>
          <a:p>
            <a:r>
              <a:rPr sz="2800" b="0" i="0" u="none"/>
              <a:t>Strong tests are the backbone of safe AI-assisted refactoring</a:t>
            </a:r>
            <a:endParaRPr sz="2800" b="0" i="0">
              <a:latin typeface="Arial"/>
            </a:endParaRPr>
          </a:p>
          <a:p>
            <a:r>
              <a:rPr sz="2800" b="0" i="0" u="none"/>
              <a:t>Unit, integration, and behavioral tests validate AI output</a:t>
            </a:r>
            <a:endParaRPr sz="2800" b="0" i="0">
              <a:latin typeface="Arial"/>
            </a:endParaRPr>
          </a:p>
          <a:p>
            <a:r>
              <a:rPr sz="2800" b="0" i="0" u="none"/>
              <a:t>Coverage matters less than signal quality</a:t>
            </a:r>
            <a:endParaRPr sz="2800" b="0" i="0">
              <a:latin typeface="Arial"/>
            </a:endParaRPr>
          </a:p>
          <a:p>
            <a:r>
              <a:rPr sz="2800" b="0" i="0" u="none"/>
              <a:t>Tests should detect regressions, not just assert happy paths</a:t>
            </a:r>
            <a:endParaRPr sz="2800" b="0" i="0">
              <a:latin typeface="Arial"/>
            </a:endParaRPr>
          </a:p>
          <a:p>
            <a:r>
              <a:rPr sz="2800" b="0" i="0" u="none"/>
              <a:t>If all of the test automation passes, how confident are you to deploy to production?</a:t>
            </a:r>
            <a:endParaRPr sz="2800" b="0" i="0">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Change Review Processes</a:t>
            </a:r>
          </a:p>
        </p:txBody>
      </p:sp>
      <p:sp>
        <p:nvSpPr>
          <p:cNvPr id="3" name="Content Placeholder 2"/>
          <p:cNvSpPr>
            <a:spLocks noGrp="1"/>
          </p:cNvSpPr>
          <p:nvPr>
            <p:ph idx="1"/>
          </p:nvPr>
        </p:nvSpPr>
        <p:spPr/>
        <p:txBody>
          <a:bodyPr wrap="square">
            <a:normAutofit/>
          </a:bodyPr>
          <a:lstStyle/>
          <a:p>
            <a:r>
              <a:rPr sz="2800" b="0" i="0" u="none"/>
              <a:t>Use human-in-the-loop validation for correctness and intent</a:t>
            </a:r>
            <a:endParaRPr sz="2800" b="0" i="0">
              <a:latin typeface="Arial"/>
            </a:endParaRPr>
          </a:p>
          <a:p>
            <a:r>
              <a:rPr sz="2800" b="0" i="0" u="none"/>
              <a:t>Require architectural review for structural changes</a:t>
            </a:r>
            <a:endParaRPr sz="2800" b="0" i="0">
              <a:latin typeface="Arial"/>
            </a:endParaRPr>
          </a:p>
          <a:p>
            <a:r>
              <a:rPr sz="2800" b="0" i="0" u="none"/>
              <a:t>Enforce standards through linters, static analysis, and policy checks</a:t>
            </a:r>
            <a:endParaRPr sz="2800" b="0" i="0">
              <a:latin typeface="Arial"/>
            </a:endParaRPr>
          </a:p>
          <a:p>
            <a:r>
              <a:rPr sz="2800" b="0" i="0" u="none"/>
              <a:t>Leverage AI to reduce the review burden</a:t>
            </a:r>
            <a:endParaRPr sz="2800" b="0" i="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Incremental Change Methodology</a:t>
            </a:r>
          </a:p>
        </p:txBody>
      </p:sp>
      <p:sp>
        <p:nvSpPr>
          <p:cNvPr id="3" name="Content Placeholder 2"/>
          <p:cNvSpPr>
            <a:spLocks noGrp="1"/>
          </p:cNvSpPr>
          <p:nvPr>
            <p:ph idx="1"/>
          </p:nvPr>
        </p:nvSpPr>
        <p:spPr/>
        <p:txBody>
          <a:bodyPr wrap="square">
            <a:normAutofit/>
          </a:bodyPr>
          <a:lstStyle/>
          <a:p>
            <a:r>
              <a:rPr sz="2800" b="0" i="0" u="none"/>
              <a:t>Break modernization into small, safe, reversible steps</a:t>
            </a:r>
            <a:endParaRPr sz="2800" b="0" i="0">
              <a:latin typeface="Arial"/>
            </a:endParaRPr>
          </a:p>
          <a:p>
            <a:r>
              <a:rPr sz="2800" b="0" i="0" u="none"/>
              <a:t>Avoid “big bang” refactors – they're brittle and risky</a:t>
            </a:r>
            <a:endParaRPr sz="2800" b="0" i="0">
              <a:latin typeface="Arial"/>
            </a:endParaRPr>
          </a:p>
          <a:p>
            <a:r>
              <a:rPr sz="2800" b="0" i="0" u="none"/>
              <a:t>Use iterative loops: propose → validate → refine → commit</a:t>
            </a:r>
            <a:endParaRPr sz="2800" b="0" i="0">
              <a:latin typeface="Arial"/>
            </a:endParaRPr>
          </a:p>
          <a:p>
            <a:r>
              <a:rPr sz="2800" b="0" i="0" u="none"/>
              <a:t>Let AI assist with each step rather than entire subsystems at once</a:t>
            </a:r>
            <a:endParaRPr sz="2800" b="0" i="0">
              <a:latin typeface="Arial"/>
            </a:endParaRPr>
          </a:p>
          <a:p>
            <a:pPr>
              <a:buNone/>
            </a:pPr>
            <a:endParaRPr sz="2800" b="0" i="0">
              <a:latin typeface="Arial"/>
            </a:endParaRPr>
          </a:p>
          <a:p>
            <a:pPr>
              <a:buNone/>
            </a:pPr>
            <a:r>
              <a:rPr sz="2800" b="0" i="0" u="none"/>
              <a:t>Working Effectively with Legacy Code | Hacker News Books</a:t>
            </a:r>
            <a:endParaRPr sz="2800" b="0" i="0">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Keeping Change Sets Small</a:t>
            </a:r>
          </a:p>
        </p:txBody>
      </p:sp>
      <p:sp>
        <p:nvSpPr>
          <p:cNvPr id="3" name="Content Placeholder 2"/>
          <p:cNvSpPr>
            <a:spLocks noGrp="1"/>
          </p:cNvSpPr>
          <p:nvPr>
            <p:ph idx="1"/>
          </p:nvPr>
        </p:nvSpPr>
        <p:spPr/>
        <p:txBody>
          <a:bodyPr wrap="square">
            <a:normAutofit/>
          </a:bodyPr>
          <a:lstStyle/>
          <a:p>
            <a:r>
              <a:rPr sz="2800" b="0" i="0" u="none"/>
              <a:t>Small diffs are easier to review and validate</a:t>
            </a:r>
            <a:endParaRPr sz="2800" b="0" i="0">
              <a:latin typeface="Arial"/>
            </a:endParaRPr>
          </a:p>
          <a:p>
            <a:r>
              <a:rPr sz="2800" b="0" i="0" u="none"/>
              <a:t>Small changes reduce merge conflicts and regression risk</a:t>
            </a:r>
            <a:endParaRPr sz="2800" b="0" i="0">
              <a:latin typeface="Arial"/>
            </a:endParaRPr>
          </a:p>
          <a:p>
            <a:r>
              <a:rPr sz="2800" b="0" i="0" u="none"/>
              <a:t>AI should be instructed to limit scope intentionally</a:t>
            </a:r>
            <a:endParaRPr sz="2800" b="0" i="0">
              <a:latin typeface="Arial"/>
            </a:endParaRPr>
          </a:p>
          <a:p>
            <a:r>
              <a:rPr sz="2800" b="0" i="0" u="none"/>
              <a:t>Small changes accumulate into large improvements over time</a:t>
            </a:r>
            <a:endParaRPr sz="2800" b="0" i="0">
              <a:latin typeface="Arial"/>
            </a:endParaRPr>
          </a:p>
          <a:p>
            <a:pPr>
              <a:buNone/>
            </a:pPr>
            <a:endParaRPr sz="2800" b="0" i="0">
              <a:latin typeface="Arial"/>
            </a:endParaRPr>
          </a:p>
          <a:p>
            <a:pPr>
              <a:buNone/>
            </a:pPr>
            <a:r>
              <a:rPr sz="2800" b="0" i="1" u="none"/>
              <a:t>Beware: AI can produce huge amounts of code quickly</a:t>
            </a:r>
            <a:endParaRPr sz="2800" b="0" i="0">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Building Safety Nets</a:t>
            </a:r>
          </a:p>
        </p:txBody>
      </p:sp>
      <p:sp>
        <p:nvSpPr>
          <p:cNvPr id="3" name="Content Placeholder 2"/>
          <p:cNvSpPr>
            <a:spLocks noGrp="1"/>
          </p:cNvSpPr>
          <p:nvPr>
            <p:ph idx="1"/>
          </p:nvPr>
        </p:nvSpPr>
        <p:spPr/>
        <p:txBody>
          <a:bodyPr wrap="square">
            <a:normAutofit/>
          </a:bodyPr>
          <a:lstStyle/>
          <a:p>
            <a:r>
              <a:rPr sz="2800" b="0" i="0" u="none"/>
              <a:t>Protecting brownfield codebases</a:t>
            </a:r>
            <a:endParaRPr sz="2800" b="0" i="0">
              <a:latin typeface="Arial"/>
            </a:endParaRPr>
          </a:p>
          <a:p>
            <a:r>
              <a:rPr sz="2800" b="0" i="0" u="none"/>
              <a:t>Leveraging AI code reviews</a:t>
            </a:r>
            <a:endParaRPr sz="2800" b="0" i="0">
              <a:latin typeface="Arial"/>
            </a:endParaRPr>
          </a:p>
          <a:p>
            <a:r>
              <a:rPr sz="2800" b="0" i="0" u="none"/>
              <a:t>Effective human code reviews</a:t>
            </a:r>
            <a:endParaRPr sz="2800" b="0" i="0">
              <a:latin typeface="Arial"/>
            </a:endParaRPr>
          </a:p>
          <a:p>
            <a:r>
              <a:rPr sz="2800" b="0" i="0" u="none"/>
              <a:t>The role of test automation</a:t>
            </a:r>
            <a:endParaRPr sz="2800" b="0" i="0">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Protecting Brownfield Codebases</a:t>
            </a:r>
          </a:p>
        </p:txBody>
      </p:sp>
      <p:sp>
        <p:nvSpPr>
          <p:cNvPr id="3" name="Content Placeholder 2"/>
          <p:cNvSpPr>
            <a:spLocks noGrp="1"/>
          </p:cNvSpPr>
          <p:nvPr>
            <p:ph idx="1"/>
          </p:nvPr>
        </p:nvSpPr>
        <p:spPr/>
        <p:txBody>
          <a:bodyPr wrap="square">
            <a:normAutofit/>
          </a:bodyPr>
          <a:lstStyle/>
          <a:p>
            <a:pPr>
              <a:buNone/>
            </a:pPr>
            <a:r>
              <a:rPr sz="2050" b="0" i="0" u="none"/>
              <a:t>Key Practices</a:t>
            </a:r>
            <a:endParaRPr sz="2050" b="0" i="0">
              <a:latin typeface="Arial"/>
            </a:endParaRPr>
          </a:p>
          <a:p>
            <a:pPr lvl="1"/>
            <a:r>
              <a:rPr sz="2050" b="0" i="0" u="none"/>
              <a:t>Preserve existing behavior unless intentionally changed</a:t>
            </a:r>
            <a:endParaRPr sz="2050" b="0" i="0">
              <a:latin typeface="Arial"/>
            </a:endParaRPr>
          </a:p>
          <a:p>
            <a:pPr lvl="1"/>
            <a:r>
              <a:rPr sz="2050" b="0" i="0" u="none"/>
              <a:t>Avoid large, risky refactors</a:t>
            </a:r>
            <a:endParaRPr sz="2050" b="0" i="0">
              <a:latin typeface="Arial"/>
            </a:endParaRPr>
          </a:p>
          <a:p>
            <a:pPr lvl="1"/>
            <a:r>
              <a:rPr sz="2050" b="0" i="0" u="none"/>
              <a:t>Use incremental modernization</a:t>
            </a:r>
            <a:endParaRPr sz="2050" b="0" i="0">
              <a:latin typeface="Arial"/>
            </a:endParaRPr>
          </a:p>
          <a:p>
            <a:pPr lvl="1"/>
            <a:r>
              <a:rPr sz="2050" b="0" i="0" u="none"/>
              <a:t>Maintain architectural boundaries</a:t>
            </a:r>
            <a:endParaRPr sz="2050" b="0" i="0">
              <a:latin typeface="Arial"/>
            </a:endParaRPr>
          </a:p>
          <a:p>
            <a:pPr lvl="1"/>
            <a:r>
              <a:rPr sz="2050" b="0" i="0" u="none"/>
              <a:t>Document every AI-assisted change</a:t>
            </a:r>
            <a:endParaRPr sz="2050" b="0" i="0">
              <a:latin typeface="Arial"/>
            </a:endParaRPr>
          </a:p>
          <a:p>
            <a:pPr>
              <a:buNone/>
            </a:pPr>
            <a:endParaRPr sz="2050" b="0" i="0">
              <a:latin typeface="Arial"/>
            </a:endParaRPr>
          </a:p>
          <a:p>
            <a:pPr>
              <a:buNone/>
            </a:pPr>
            <a:r>
              <a:rPr sz="2050" b="0" i="0" u="none"/>
              <a:t>Why it matters</a:t>
            </a:r>
            <a:endParaRPr sz="2050" b="0" i="0">
              <a:latin typeface="Arial"/>
            </a:endParaRPr>
          </a:p>
          <a:p>
            <a:pPr lvl="1"/>
            <a:r>
              <a:rPr sz="2050" b="0" i="0" u="none"/>
              <a:t>Brownfield systems run the business</a:t>
            </a:r>
            <a:endParaRPr sz="2050" b="0" i="0">
              <a:latin typeface="Arial"/>
            </a:endParaRPr>
          </a:p>
          <a:p>
            <a:pPr lvl="1"/>
            <a:r>
              <a:rPr sz="2050" b="0" i="0" u="none"/>
              <a:t>Stability is more important than novelty</a:t>
            </a:r>
            <a:endParaRPr sz="2050" b="0" i="0">
              <a:latin typeface="Arial"/>
            </a:endParaRPr>
          </a:p>
          <a:p>
            <a:pPr lvl="1"/>
            <a:r>
              <a:rPr sz="2050" b="0" i="0" u="none"/>
              <a:t>Safety nets reduce fear and increase confidence</a:t>
            </a:r>
            <a:endParaRPr sz="2050" b="0" i="0">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Leveraging AI Code Reviews</a:t>
            </a:r>
          </a:p>
        </p:txBody>
      </p:sp>
      <p:sp>
        <p:nvSpPr>
          <p:cNvPr id="3" name="Content Placeholder 2"/>
          <p:cNvSpPr>
            <a:spLocks noGrp="1"/>
          </p:cNvSpPr>
          <p:nvPr>
            <p:ph idx="1"/>
          </p:nvPr>
        </p:nvSpPr>
        <p:spPr/>
        <p:txBody>
          <a:bodyPr wrap="square">
            <a:normAutofit/>
          </a:bodyPr>
          <a:lstStyle/>
          <a:p>
            <a:pPr>
              <a:buNone/>
            </a:pPr>
            <a:r>
              <a:rPr sz="2050" b="0" i="0" u="none"/>
              <a:t>AI can assist by:</a:t>
            </a:r>
            <a:endParaRPr sz="2050" b="0" i="0">
              <a:latin typeface="Arial"/>
            </a:endParaRPr>
          </a:p>
          <a:p>
            <a:pPr lvl="1"/>
            <a:r>
              <a:rPr sz="2050" b="0" i="0" u="none"/>
              <a:t>Highlighting risky changes</a:t>
            </a:r>
            <a:endParaRPr sz="2050" b="0" i="0">
              <a:latin typeface="Arial"/>
            </a:endParaRPr>
          </a:p>
          <a:p>
            <a:pPr lvl="1"/>
            <a:r>
              <a:rPr sz="2050" b="0" i="0" u="none"/>
              <a:t>Detecting missing tests</a:t>
            </a:r>
            <a:endParaRPr sz="2050" b="0" i="0">
              <a:latin typeface="Arial"/>
            </a:endParaRPr>
          </a:p>
          <a:p>
            <a:pPr lvl="1"/>
            <a:r>
              <a:rPr sz="2050" b="0" i="0" u="none"/>
              <a:t>Identifying architectural violations</a:t>
            </a:r>
            <a:endParaRPr sz="2050" b="0" i="0">
              <a:latin typeface="Arial"/>
            </a:endParaRPr>
          </a:p>
          <a:p>
            <a:pPr lvl="1"/>
            <a:r>
              <a:rPr sz="2050" b="0" i="0" u="none"/>
              <a:t>Suggesting safer alternatives</a:t>
            </a:r>
            <a:endParaRPr sz="2050" b="0" i="0">
              <a:latin typeface="Arial"/>
            </a:endParaRPr>
          </a:p>
          <a:p>
            <a:pPr lvl="1"/>
            <a:r>
              <a:rPr sz="2050" b="0" i="0" u="none"/>
              <a:t>Surfacing potential regressions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Faster feedback loops</a:t>
            </a:r>
            <a:endParaRPr sz="2050" b="0" i="0">
              <a:latin typeface="Arial"/>
            </a:endParaRPr>
          </a:p>
          <a:p>
            <a:pPr lvl="1"/>
            <a:r>
              <a:rPr sz="2050" b="0" i="0" u="none"/>
              <a:t>More consistent review quality</a:t>
            </a:r>
            <a:endParaRPr sz="2050" b="0" i="0">
              <a:latin typeface="Arial"/>
            </a:endParaRPr>
          </a:p>
          <a:p>
            <a:pPr lvl="1"/>
            <a:r>
              <a:rPr sz="2050" b="0" i="0" u="none"/>
              <a:t>Early detection of drift</a:t>
            </a:r>
            <a:endParaRPr sz="2050" b="0" i="0">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Effective Human Code Reviews</a:t>
            </a:r>
          </a:p>
        </p:txBody>
      </p:sp>
      <p:sp>
        <p:nvSpPr>
          <p:cNvPr id="3" name="Content Placeholder 2"/>
          <p:cNvSpPr>
            <a:spLocks noGrp="1"/>
          </p:cNvSpPr>
          <p:nvPr>
            <p:ph idx="1"/>
          </p:nvPr>
        </p:nvSpPr>
        <p:spPr/>
        <p:txBody>
          <a:bodyPr wrap="square">
            <a:normAutofit/>
          </a:bodyPr>
          <a:lstStyle/>
          <a:p>
            <a:pPr>
              <a:buNone/>
            </a:pPr>
            <a:r>
              <a:rPr sz="2400" b="0" i="0" u="none"/>
              <a:t>Human reviewers focus on:</a:t>
            </a:r>
            <a:endParaRPr sz="2400" b="0" i="0">
              <a:latin typeface="Arial"/>
            </a:endParaRPr>
          </a:p>
          <a:p>
            <a:pPr lvl="1"/>
            <a:r>
              <a:rPr b="0" i="0" u="none"/>
              <a:t>Intent and correctness</a:t>
            </a:r>
            <a:endParaRPr b="0" i="0">
              <a:latin typeface="Arial"/>
            </a:endParaRPr>
          </a:p>
          <a:p>
            <a:pPr lvl="1"/>
            <a:r>
              <a:rPr b="0" i="0" u="none"/>
              <a:t>Architectural alignment</a:t>
            </a:r>
            <a:endParaRPr b="0" i="0">
              <a:latin typeface="Arial"/>
            </a:endParaRPr>
          </a:p>
          <a:p>
            <a:pPr lvl="1"/>
            <a:r>
              <a:rPr b="0" i="0" u="none"/>
              <a:t>Business logic validation</a:t>
            </a:r>
            <a:endParaRPr b="0" i="0">
              <a:latin typeface="Arial"/>
            </a:endParaRPr>
          </a:p>
          <a:p>
            <a:pPr lvl="1"/>
            <a:r>
              <a:rPr b="0" i="0" u="none"/>
              <a:t>Risk assessment</a:t>
            </a:r>
            <a:endParaRPr b="0" i="0">
              <a:latin typeface="Arial"/>
            </a:endParaRPr>
          </a:p>
          <a:p>
            <a:pPr lvl="1"/>
            <a:r>
              <a:rPr b="0" i="0" u="none"/>
              <a:t>Ensuring changes are incremental and reversible</a:t>
            </a:r>
            <a:endParaRPr b="0" i="0">
              <a:latin typeface="Arial"/>
            </a:endParaRPr>
          </a:p>
          <a:p>
            <a:pPr lvl="1"/>
            <a:r>
              <a:rPr b="0" i="0" u="none"/>
              <a:t>Best practices</a:t>
            </a:r>
            <a:endParaRPr b="0" i="0">
              <a:latin typeface="Arial"/>
            </a:endParaRPr>
          </a:p>
          <a:p>
            <a:pPr lvl="1"/>
            <a:r>
              <a:rPr b="0" i="0" u="none"/>
              <a:t>Review small change sets</a:t>
            </a:r>
            <a:endParaRPr b="0" i="0">
              <a:latin typeface="Arial"/>
            </a:endParaRPr>
          </a:p>
          <a:p>
            <a:pPr lvl="1"/>
            <a:r>
              <a:rPr b="0" i="0" u="none"/>
              <a:t>Ask for context when missing</a:t>
            </a:r>
            <a:endParaRPr b="0" i="0">
              <a:latin typeface="Arial"/>
            </a:endParaRPr>
          </a:p>
          <a:p>
            <a:pPr lvl="1"/>
            <a:r>
              <a:rPr b="0" i="0" u="none"/>
              <a:t>Validate AI-generated code with skepticism and curiosity</a:t>
            </a:r>
            <a:endParaRPr b="0" i="0">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0" i="0" u="none"/>
              <a:t>Brownfield Software Development</a:t>
            </a:r>
          </a:p>
          <a:p>
            <a:r>
              <a:rPr sz="2750" b="1" i="0" u="none"/>
              <a:t>▶ AI Implementation Workflow</a:t>
            </a:r>
          </a:p>
          <a:p>
            <a:r>
              <a:rPr sz="2750" b="0" i="0" u="none"/>
              <a:t>Building a Backlog</a:t>
            </a:r>
          </a:p>
          <a:p>
            <a:r>
              <a:rPr sz="2750" b="0" i="0" u="none"/>
              <a:t>AI Assisted Pull Requests</a:t>
            </a:r>
          </a:p>
          <a:p>
            <a:r>
              <a:rPr sz="2750" b="0" i="0" u="none"/>
              <a:t>Addressing Technical Debt</a:t>
            </a:r>
          </a:p>
          <a:p>
            <a:r>
              <a:rPr sz="2750" b="0" i="0" u="none"/>
              <a:t>Multi-Implementation Comparison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Implementation Workflow</a:t>
            </a:r>
          </a:p>
        </p:txBody>
      </p:sp>
      <p:sp>
        <p:nvSpPr>
          <p:cNvPr id="3" name="Subtitle 2"/>
          <p:cNvSpPr>
            <a:spLocks noGrp="1"/>
          </p:cNvSpPr>
          <p:nvPr>
            <p:ph type="subTitle" idx="1"/>
          </p:nvPr>
        </p:nvSpPr>
        <p:spPr/>
        <p:txBody>
          <a:bodyPr wrap="square">
            <a:normAutofit/>
          </a:bodyPr>
          <a:lstStyle/>
          <a:p>
            <a:pPr>
              <a:buNone/>
            </a:pPr>
            <a:r>
              <a:rPr b="0" i="0" u="none"/>
              <a:t>Don't Let the AI Drive Before You Check the Mirrors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Implementation Workflow</a:t>
            </a:r>
          </a:p>
        </p:txBody>
      </p:sp>
      <p:sp>
        <p:nvSpPr>
          <p:cNvPr id="3" name="Content Placeholder 2"/>
          <p:cNvSpPr>
            <a:spLocks noGrp="1"/>
          </p:cNvSpPr>
          <p:nvPr>
            <p:ph idx="1"/>
          </p:nvPr>
        </p:nvSpPr>
        <p:spPr/>
        <p:txBody>
          <a:bodyPr wrap="square">
            <a:normAutofit/>
          </a:bodyPr>
          <a:lstStyle/>
          <a:p>
            <a:r>
              <a:rPr sz="2800" b="0" i="0" u="none"/>
              <a:t>Getting AI implementation proposals</a:t>
            </a:r>
            <a:endParaRPr sz="2800" b="0" i="0">
              <a:latin typeface="Arial"/>
            </a:endParaRPr>
          </a:p>
          <a:p>
            <a:r>
              <a:rPr sz="2800" b="0" i="0" u="none"/>
              <a:t>Verifying AI understanding of issues</a:t>
            </a:r>
            <a:endParaRPr sz="2800" b="0" i="0">
              <a:latin typeface="Arial"/>
            </a:endParaRPr>
          </a:p>
          <a:p>
            <a:r>
              <a:rPr sz="2800" b="0" i="0" u="none"/>
              <a:t>Starting implementation execution</a:t>
            </a:r>
            <a:endParaRPr sz="2800" b="0" i="0">
              <a:latin typeface="Arial"/>
            </a:endParaRPr>
          </a:p>
          <a:p>
            <a:r>
              <a:rPr sz="2800" b="0" i="0" u="none"/>
              <a:t>Implementation monitoring</a:t>
            </a:r>
            <a:endParaRPr sz="2800" b="0" i="0">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Best Practice: Request a Proposal First</a:t>
            </a:r>
          </a:p>
        </p:txBody>
      </p:sp>
      <p:sp>
        <p:nvSpPr>
          <p:cNvPr id="3" name="Content Placeholder 2"/>
          <p:cNvSpPr>
            <a:spLocks noGrp="1"/>
          </p:cNvSpPr>
          <p:nvPr>
            <p:ph idx="1"/>
          </p:nvPr>
        </p:nvSpPr>
        <p:spPr/>
        <p:txBody>
          <a:bodyPr wrap="square">
            <a:normAutofit/>
          </a:bodyPr>
          <a:lstStyle/>
          <a:p>
            <a:pPr>
              <a:buNone/>
            </a:pPr>
            <a:r>
              <a:rPr sz="2600" b="0" i="0" u="none"/>
              <a:t>1. </a:t>
            </a:r>
            <a:r>
              <a:rPr sz="2600" b="1" i="0" u="none"/>
              <a:t>Request Proposal First</a:t>
            </a:r>
            <a:endParaRPr sz="2600" b="0" i="0">
              <a:latin typeface="Arial"/>
            </a:endParaRPr>
          </a:p>
          <a:p>
            <a:pPr lvl="1"/>
            <a:r>
              <a:rPr sz="2600" b="0" i="0" u="none"/>
              <a:t>"Propose implementation to address issue"</a:t>
            </a:r>
            <a:endParaRPr sz="2600" b="0" i="0">
              <a:latin typeface="Arial"/>
            </a:endParaRPr>
          </a:p>
          <a:p>
            <a:pPr lvl="1"/>
            <a:r>
              <a:rPr sz="2600" b="0" i="0" u="none"/>
              <a:t>Review what AI thinks it will do</a:t>
            </a:r>
            <a:endParaRPr sz="2600" b="0" i="0">
              <a:latin typeface="Arial"/>
            </a:endParaRPr>
          </a:p>
          <a:p>
            <a:pPr lvl="1"/>
            <a:r>
              <a:rPr sz="2600" b="0" i="0" u="none"/>
              <a:t>Verify understanding before execution</a:t>
            </a:r>
            <a:endParaRPr sz="2600" b="0" i="0">
              <a:latin typeface="Arial"/>
            </a:endParaRPr>
          </a:p>
          <a:p>
            <a:pPr>
              <a:buNone/>
            </a:pPr>
            <a:endParaRPr sz="2600" b="0" i="0">
              <a:latin typeface="Arial"/>
            </a:endParaRPr>
          </a:p>
          <a:p>
            <a:pPr>
              <a:buNone/>
            </a:pPr>
            <a:r>
              <a:rPr sz="2600" b="0" i="0" u="none"/>
              <a:t>2. </a:t>
            </a:r>
            <a:r>
              <a:rPr sz="2600" b="1" i="0" u="none"/>
              <a:t>Review Proposed Fix</a:t>
            </a:r>
            <a:endParaRPr sz="2600" b="0" i="0">
              <a:latin typeface="Arial"/>
            </a:endParaRPr>
          </a:p>
          <a:p>
            <a:pPr lvl="1"/>
            <a:r>
              <a:rPr sz="2600" b="0" i="0" u="none"/>
              <a:t>AI reads issue description</a:t>
            </a:r>
            <a:endParaRPr sz="2600" b="0" i="0">
              <a:latin typeface="Arial"/>
            </a:endParaRPr>
          </a:p>
          <a:p>
            <a:pPr lvl="1"/>
            <a:r>
              <a:rPr sz="2600" b="0" i="0" u="none"/>
              <a:t>AI proposes specific fix</a:t>
            </a:r>
            <a:endParaRPr sz="2600" b="0" i="0">
              <a:latin typeface="Arial"/>
            </a:endParaRPr>
          </a:p>
          <a:p>
            <a:pPr lvl="1"/>
            <a:r>
              <a:rPr sz="2600" b="0" i="0" u="none"/>
              <a:t>Human reviews for completeness</a:t>
            </a:r>
            <a:endParaRPr sz="2600" b="0" i="0">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Identify Gaps Before Execution</a:t>
            </a:r>
          </a:p>
        </p:txBody>
      </p:sp>
      <p:sp>
        <p:nvSpPr>
          <p:cNvPr id="3" name="Content Placeholder 2"/>
          <p:cNvSpPr>
            <a:spLocks noGrp="1"/>
          </p:cNvSpPr>
          <p:nvPr>
            <p:ph idx="1"/>
          </p:nvPr>
        </p:nvSpPr>
        <p:spPr/>
        <p:txBody>
          <a:bodyPr wrap="square">
            <a:normAutofit/>
          </a:bodyPr>
          <a:lstStyle/>
          <a:p>
            <a:pPr>
              <a:buNone/>
            </a:pPr>
            <a:r>
              <a:rPr sz="2800" b="0" i="0" u="none"/>
              <a:t>3. </a:t>
            </a:r>
            <a:r>
              <a:rPr sz="2800" b="1" i="0" u="none"/>
              <a:t>Identify Gaps</a:t>
            </a:r>
            <a:endParaRPr sz="2800" b="0" i="0">
              <a:latin typeface="Arial"/>
            </a:endParaRPr>
          </a:p>
          <a:p>
            <a:pPr lvl="1"/>
            <a:r>
              <a:rPr sz="2800" b="0" i="0" u="none"/>
              <a:t>Check for missing steps</a:t>
            </a:r>
            <a:endParaRPr sz="2800" b="0" i="0">
              <a:latin typeface="Arial"/>
            </a:endParaRPr>
          </a:p>
          <a:p>
            <a:pPr lvl="1"/>
            <a:r>
              <a:rPr sz="2800" b="0" i="0" u="none"/>
              <a:t>Add requirements before proceeding</a:t>
            </a:r>
            <a:endParaRPr sz="2800" b="0" i="0">
              <a:latin typeface="Arial"/>
            </a:endParaRPr>
          </a:p>
          <a:p>
            <a:pPr>
              <a:buNone/>
            </a:pPr>
            <a:endParaRPr sz="2800" b="0" i="0">
              <a:latin typeface="Arial"/>
            </a:endParaRPr>
          </a:p>
          <a:p>
            <a:pPr>
              <a:buNone/>
            </a:pPr>
            <a:r>
              <a:rPr sz="2800" b="0" i="0" u="none"/>
              <a:t>4. </a:t>
            </a:r>
            <a:r>
              <a:rPr sz="2800" b="1" i="0" u="none"/>
              <a:t>Proceed with Implementation</a:t>
            </a:r>
            <a:endParaRPr sz="2800" b="0" i="0">
              <a:latin typeface="Arial"/>
            </a:endParaRPr>
          </a:p>
          <a:p>
            <a:pPr lvl="1"/>
            <a:r>
              <a:rPr sz="2800" b="0" i="0" u="none"/>
              <a:t>"Go ahead with the implementation"</a:t>
            </a:r>
            <a:endParaRPr sz="2800" b="0" i="0">
              <a:latin typeface="Arial"/>
            </a:endParaRPr>
          </a:p>
          <a:p>
            <a:pPr lvl="1"/>
            <a:r>
              <a:rPr sz="2800" b="0" i="0" u="none"/>
              <a:t>Can reference conversation on different machine later</a:t>
            </a:r>
            <a:endParaRPr sz="2800" b="0" i="0">
              <a:latin typeface="Arial"/>
            </a:endParaRPr>
          </a:p>
          <a:p>
            <a:pPr lvl="1"/>
            <a:r>
              <a:rPr sz="2800" b="0" i="0" u="none"/>
              <a:t>Save implementation plan as reference</a:t>
            </a:r>
            <a:endParaRPr sz="280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Effective Prompts for Technical Debt</a:t>
            </a:r>
          </a:p>
        </p:txBody>
      </p:sp>
      <p:sp>
        <p:nvSpPr>
          <p:cNvPr id="3" name="Subtitle 2"/>
          <p:cNvSpPr>
            <a:spLocks noGrp="1"/>
          </p:cNvSpPr>
          <p:nvPr>
            <p:ph type="subTitle" idx="1"/>
          </p:nvPr>
        </p:nvSpPr>
        <p:spPr/>
        <p:txBody>
          <a:bodyPr wrap="square">
            <a:normAutofit/>
          </a:bodyPr>
          <a:lstStyle/>
          <a:p>
            <a:pPr>
              <a:buNone/>
            </a:pPr>
            <a:r>
              <a:rPr b="0" i="0" u="none"/>
              <a:t>The Art of Complaining Productively to Your AI</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Effective Prompts for Technical Debt</a:t>
            </a:r>
          </a:p>
        </p:txBody>
      </p:sp>
      <p:sp>
        <p:nvSpPr>
          <p:cNvPr id="3" name="Content Placeholder 2"/>
          <p:cNvSpPr>
            <a:spLocks noGrp="1"/>
          </p:cNvSpPr>
          <p:nvPr>
            <p:ph idx="1"/>
          </p:nvPr>
        </p:nvSpPr>
        <p:spPr/>
        <p:txBody>
          <a:bodyPr wrap="square">
            <a:normAutofit/>
          </a:bodyPr>
          <a:lstStyle/>
          <a:p>
            <a:r>
              <a:rPr sz="2800" b="0" i="0" u="none"/>
              <a:t>Focus: prompts, issues, and Copilot workflow</a:t>
            </a:r>
            <a:endParaRPr sz="2800" b="0" i="0">
              <a:latin typeface="Arial"/>
            </a:endParaRPr>
          </a:p>
          <a:p>
            <a:r>
              <a:rPr sz="2800" b="0" i="0" u="none"/>
              <a:t>Goal: turn vague cleanup into executable work</a:t>
            </a:r>
            <a:endParaRPr sz="2800" b="0" i="0">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00" b="0" i="0" u="none"/>
              <a:t>What a Strong Technical Debt Prompt Includes</a:t>
            </a:r>
          </a:p>
        </p:txBody>
      </p:sp>
      <p:sp>
        <p:nvSpPr>
          <p:cNvPr id="3" name="Content Placeholder 2"/>
          <p:cNvSpPr>
            <a:spLocks noGrp="1"/>
          </p:cNvSpPr>
          <p:nvPr>
            <p:ph idx="1"/>
          </p:nvPr>
        </p:nvSpPr>
        <p:spPr/>
        <p:txBody>
          <a:bodyPr wrap="square">
            <a:normAutofit/>
          </a:bodyPr>
          <a:lstStyle/>
          <a:p>
            <a:pPr>
              <a:buNone/>
            </a:pPr>
            <a:r>
              <a:rPr sz="2450" b="0" i="0" u="none"/>
              <a:t>Every prompt should define the work clearly</a:t>
            </a:r>
            <a:endParaRPr sz="2450" b="0" i="0">
              <a:latin typeface="Arial"/>
            </a:endParaRPr>
          </a:p>
          <a:p>
            <a:pPr>
              <a:buNone/>
            </a:pPr>
            <a:endParaRPr sz="2450" b="0" i="0">
              <a:latin typeface="Arial"/>
            </a:endParaRPr>
          </a:p>
          <a:p>
            <a:r>
              <a:rPr sz="2450" b="1" i="0" u="none"/>
              <a:t>Debt description</a:t>
            </a:r>
            <a:r>
              <a:rPr sz="2450" b="0" i="0" u="none"/>
              <a:t> - the concrete problem to fix</a:t>
            </a:r>
            <a:endParaRPr sz="2450" b="0" i="0">
              <a:latin typeface="Arial"/>
            </a:endParaRPr>
          </a:p>
          <a:p>
            <a:r>
              <a:rPr sz="2450" b="1" i="0" u="none"/>
              <a:t>Constraints</a:t>
            </a:r>
            <a:r>
              <a:rPr sz="2450" b="0" i="0" u="none"/>
              <a:t> - architecture, guardrails, and non-negotiables</a:t>
            </a:r>
            <a:endParaRPr sz="2450" b="0" i="0">
              <a:latin typeface="Arial"/>
            </a:endParaRPr>
          </a:p>
          <a:p>
            <a:r>
              <a:rPr sz="2450" b="1" i="0" u="none"/>
              <a:t>Expected outcome</a:t>
            </a:r>
            <a:r>
              <a:rPr sz="2450" b="0" i="0" u="none"/>
              <a:t> - what success looks like</a:t>
            </a:r>
            <a:endParaRPr sz="2450" b="0" i="0">
              <a:latin typeface="Arial"/>
            </a:endParaRPr>
          </a:p>
          <a:p>
            <a:r>
              <a:rPr sz="2450" b="1" i="0" u="none"/>
              <a:t>Test updates</a:t>
            </a:r>
            <a:r>
              <a:rPr sz="2450" b="0" i="0" u="none"/>
              <a:t> - how validation must change</a:t>
            </a:r>
            <a:endParaRPr sz="2450" b="0" i="0">
              <a:latin typeface="Arial"/>
            </a:endParaRPr>
          </a:p>
          <a:p>
            <a:r>
              <a:rPr sz="2450" b="1" i="0" u="none"/>
              <a:t>Documentation updates</a:t>
            </a:r>
            <a:r>
              <a:rPr sz="2450" b="0" i="0" u="none"/>
              <a:t> - what artifacts must be refreshed</a:t>
            </a:r>
            <a:endParaRPr sz="2450" b="0" i="0">
              <a:latin typeface="Arial"/>
            </a:endParaRPr>
          </a:p>
          <a:p>
            <a:r>
              <a:rPr sz="2450" b="1" i="0" u="none"/>
              <a:t>Provenance requirements</a:t>
            </a:r>
            <a:r>
              <a:rPr sz="2450" b="0" i="0" u="none"/>
              <a:t> - what must be logged beyond instructions</a:t>
            </a:r>
            <a:endParaRPr sz="245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Structured Prompts Matter</a:t>
            </a:r>
          </a:p>
        </p:txBody>
      </p:sp>
      <p:sp>
        <p:nvSpPr>
          <p:cNvPr id="3" name="Content Placeholder 2"/>
          <p:cNvSpPr>
            <a:spLocks noGrp="1"/>
          </p:cNvSpPr>
          <p:nvPr>
            <p:ph idx="1"/>
          </p:nvPr>
        </p:nvSpPr>
        <p:spPr/>
        <p:txBody>
          <a:bodyPr wrap="square">
            <a:normAutofit/>
          </a:bodyPr>
          <a:lstStyle/>
          <a:p>
            <a:pPr>
              <a:buNone/>
            </a:pPr>
            <a:r>
              <a:rPr sz="2750" b="0" i="0" u="none"/>
              <a:t>Better prompts create better remediation workflows</a:t>
            </a:r>
            <a:endParaRPr sz="2750" b="0" i="0">
              <a:latin typeface="Arial"/>
            </a:endParaRPr>
          </a:p>
          <a:p>
            <a:pPr>
              <a:buNone/>
            </a:pPr>
            <a:endParaRPr sz="2750" b="0" i="0">
              <a:latin typeface="Arial"/>
            </a:endParaRPr>
          </a:p>
          <a:p>
            <a:r>
              <a:rPr sz="2750" b="0" i="0" u="none"/>
              <a:t>Faster remediation because the target is explicit</a:t>
            </a:r>
            <a:endParaRPr sz="2750" b="0" i="0">
              <a:latin typeface="Arial"/>
            </a:endParaRPr>
          </a:p>
          <a:p>
            <a:r>
              <a:rPr sz="2750" b="0" i="0" u="none"/>
              <a:t>More consistent fixes across contributors and sessions</a:t>
            </a:r>
            <a:endParaRPr sz="2750" b="0" i="0">
              <a:latin typeface="Arial"/>
            </a:endParaRPr>
          </a:p>
          <a:p>
            <a:r>
              <a:rPr sz="2750" b="0" i="0" u="none"/>
              <a:t>Less manual follow-up after the first prompt</a:t>
            </a:r>
            <a:endParaRPr sz="2750" b="0" i="0">
              <a:latin typeface="Arial"/>
            </a:endParaRPr>
          </a:p>
          <a:p>
            <a:r>
              <a:rPr sz="2750" b="0" i="0" u="none"/>
              <a:t>A standardized approach for recurring debt categories</a:t>
            </a:r>
            <a:endParaRPr sz="2750" b="0" i="0">
              <a:latin typeface="Arial"/>
            </a:endParaRPr>
          </a:p>
          <a:p>
            <a:pPr>
              <a:buNone/>
            </a:pPr>
            <a:endParaRPr sz="2750" b="0" i="0">
              <a:latin typeface="Arial"/>
            </a:endParaRPr>
          </a:p>
          <a:p>
            <a:pPr>
              <a:buNone/>
            </a:pPr>
            <a:r>
              <a:rPr sz="2750" b="0" i="1" u="none"/>
              <a:t>Better prompt quality means less cleanup after the cleanup work</a:t>
            </a:r>
            <a:endParaRPr sz="2750" b="0" i="0">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0" i="0" u="none"/>
              <a:t>Brownfield Software Development</a:t>
            </a:r>
          </a:p>
          <a:p>
            <a:r>
              <a:rPr sz="2750" b="0" i="0" u="none"/>
              <a:t>AI Implementation Workflow</a:t>
            </a:r>
          </a:p>
          <a:p>
            <a:r>
              <a:rPr sz="2750" b="1" i="0" u="none"/>
              <a:t>▶ Building a Backlog</a:t>
            </a:r>
          </a:p>
          <a:p>
            <a:r>
              <a:rPr sz="2750" b="0" i="0" u="none"/>
              <a:t>AI Assisted Pull Requests</a:t>
            </a:r>
          </a:p>
          <a:p>
            <a:r>
              <a:rPr sz="2750" b="0" i="0" u="none"/>
              <a:t>Addressing Technical Debt</a:t>
            </a:r>
          </a:p>
          <a:p>
            <a:r>
              <a:rPr sz="2750" b="0" i="0" u="none"/>
              <a:t>Multi-Implementation Comparison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Identifying Technical Debt</a:t>
            </a:r>
          </a:p>
        </p:txBody>
      </p:sp>
      <p:sp>
        <p:nvSpPr>
          <p:cNvPr id="3" name="Subtitle 2"/>
          <p:cNvSpPr>
            <a:spLocks noGrp="1"/>
          </p:cNvSpPr>
          <p:nvPr>
            <p:ph type="subTitle" idx="1"/>
          </p:nvPr>
        </p:nvSpPr>
        <p:spPr/>
        <p:txBody>
          <a:bodyPr wrap="square">
            <a:normAutofit/>
          </a:bodyPr>
          <a:lstStyle/>
          <a:p>
            <a:pPr>
              <a:buNone/>
            </a:pPr>
            <a:r>
              <a:rPr b="0" i="0" u="none"/>
              <a:t>The Rules Lawyer Is In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Identifying Technical Debt</a:t>
            </a:r>
          </a:p>
        </p:txBody>
      </p:sp>
      <p:sp>
        <p:nvSpPr>
          <p:cNvPr id="3" name="Content Placeholder 2"/>
          <p:cNvSpPr>
            <a:spLocks noGrp="1"/>
          </p:cNvSpPr>
          <p:nvPr>
            <p:ph idx="1"/>
          </p:nvPr>
        </p:nvSpPr>
        <p:spPr/>
        <p:txBody>
          <a:bodyPr wrap="square">
            <a:normAutofit/>
          </a:bodyPr>
          <a:lstStyle/>
          <a:p>
            <a:pPr>
              <a:buNone/>
            </a:pPr>
            <a:r>
              <a:rPr sz="1850" b="0" i="0" u="none"/>
              <a:t>AI can surface:</a:t>
            </a:r>
            <a:endParaRPr sz="1850" b="0" i="0">
              <a:latin typeface="Arial"/>
            </a:endParaRPr>
          </a:p>
          <a:p>
            <a:pPr lvl="1"/>
            <a:r>
              <a:rPr sz="1850" b="0" i="0" u="none"/>
              <a:t>Outdated patterns</a:t>
            </a:r>
            <a:endParaRPr sz="1850" b="0" i="0">
              <a:latin typeface="Arial"/>
            </a:endParaRPr>
          </a:p>
          <a:p>
            <a:pPr lvl="1"/>
            <a:r>
              <a:rPr sz="1850" b="0" i="0" u="none"/>
              <a:t>High-complexity functions</a:t>
            </a:r>
            <a:endParaRPr sz="1850" b="0" i="0">
              <a:latin typeface="Arial"/>
            </a:endParaRPr>
          </a:p>
          <a:p>
            <a:pPr lvl="1"/>
            <a:r>
              <a:rPr sz="1850" b="0" i="0" u="none"/>
              <a:t>Duplicate logic</a:t>
            </a:r>
            <a:endParaRPr sz="1850" b="0" i="0">
              <a:latin typeface="Arial"/>
            </a:endParaRPr>
          </a:p>
          <a:p>
            <a:pPr lvl="1"/>
            <a:r>
              <a:rPr sz="1850" b="0" i="0" u="none"/>
              <a:t>Missing tests</a:t>
            </a:r>
            <a:endParaRPr sz="1850" b="0" i="0">
              <a:latin typeface="Arial"/>
            </a:endParaRPr>
          </a:p>
          <a:p>
            <a:pPr lvl="1"/>
            <a:r>
              <a:rPr sz="1850" b="0" i="0" u="none"/>
              <a:t>Security vulnerabilities</a:t>
            </a:r>
            <a:endParaRPr sz="1850" b="0" i="0">
              <a:latin typeface="Arial"/>
            </a:endParaRPr>
          </a:p>
          <a:p>
            <a:pPr lvl="1"/>
            <a:r>
              <a:rPr sz="1850" b="0" i="0" u="none"/>
              <a:t>Architectural drift</a:t>
            </a:r>
            <a:endParaRPr sz="1850" b="0" i="0">
              <a:latin typeface="Arial"/>
            </a:endParaRPr>
          </a:p>
          <a:p>
            <a:pPr>
              <a:buNone/>
            </a:pPr>
            <a:endParaRPr sz="1850" b="0" i="0">
              <a:latin typeface="Arial"/>
            </a:endParaRPr>
          </a:p>
          <a:p>
            <a:pPr>
              <a:buNone/>
            </a:pPr>
            <a:r>
              <a:rPr sz="1850" b="0" i="0" u="none"/>
              <a:t>Benefits</a:t>
            </a:r>
            <a:endParaRPr sz="1850" b="0" i="0">
              <a:latin typeface="Arial"/>
            </a:endParaRPr>
          </a:p>
          <a:p>
            <a:pPr lvl="1"/>
            <a:r>
              <a:rPr sz="1850" b="0" i="0" u="none"/>
              <a:t>Faster discovery</a:t>
            </a:r>
            <a:endParaRPr sz="1850" b="0" i="0">
              <a:latin typeface="Arial"/>
            </a:endParaRPr>
          </a:p>
          <a:p>
            <a:pPr lvl="1"/>
            <a:r>
              <a:rPr sz="1850" b="0" i="0" u="none"/>
              <a:t>More consistent classification</a:t>
            </a:r>
            <a:endParaRPr sz="1850" b="0" i="0">
              <a:latin typeface="Arial"/>
            </a:endParaRPr>
          </a:p>
          <a:p>
            <a:pPr lvl="1"/>
            <a:r>
              <a:rPr sz="1850" b="0" i="0" u="none"/>
              <a:t>Prioritized modernization roadmap</a:t>
            </a:r>
            <a:endParaRPr sz="185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Conformance &amp; Gap Analysis</a:t>
            </a:r>
          </a:p>
        </p:txBody>
      </p:sp>
      <p:sp>
        <p:nvSpPr>
          <p:cNvPr id="3" name="Content Placeholder 2"/>
          <p:cNvSpPr>
            <a:spLocks noGrp="1"/>
          </p:cNvSpPr>
          <p:nvPr>
            <p:ph idx="1"/>
          </p:nvPr>
        </p:nvSpPr>
        <p:spPr/>
        <p:txBody>
          <a:bodyPr wrap="square">
            <a:normAutofit/>
          </a:bodyPr>
          <a:lstStyle/>
          <a:p>
            <a:r>
              <a:rPr sz="2800" b="0" i="0" u="none"/>
              <a:t>Comparing implementations against instruction files</a:t>
            </a:r>
            <a:endParaRPr sz="2800" b="0" i="0">
              <a:latin typeface="Arial"/>
            </a:endParaRPr>
          </a:p>
          <a:p>
            <a:r>
              <a:rPr sz="2800" b="0" i="0" u="none"/>
              <a:t>Automated issue generation from conformance gaps</a:t>
            </a:r>
            <a:endParaRPr sz="2800" b="0" i="0">
              <a:latin typeface="Arial"/>
            </a:endParaRPr>
          </a:p>
          <a:p>
            <a:r>
              <a:rPr sz="2800" b="0" i="0" u="none"/>
              <a:t>Prioritizing technical debt remediation</a:t>
            </a:r>
            <a:endParaRPr sz="2800" b="0" i="0">
              <a:latin typeface="Arial"/>
            </a:endParaRPr>
          </a:p>
          <a:p>
            <a:r>
              <a:rPr sz="2800" b="0" i="0" u="none"/>
              <a:t>Creating actionable remediation plans</a:t>
            </a:r>
            <a:endParaRPr sz="280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700" b="0" i="0" u="none"/>
              <a:t>Comparing Implementations Against Instruction Files</a:t>
            </a:r>
          </a:p>
        </p:txBody>
      </p:sp>
      <p:sp>
        <p:nvSpPr>
          <p:cNvPr id="3" name="Content Placeholder 2"/>
          <p:cNvSpPr>
            <a:spLocks noGrp="1"/>
          </p:cNvSpPr>
          <p:nvPr>
            <p:ph idx="1"/>
          </p:nvPr>
        </p:nvSpPr>
        <p:spPr/>
        <p:txBody>
          <a:bodyPr wrap="square">
            <a:normAutofit/>
          </a:bodyPr>
          <a:lstStyle/>
          <a:p>
            <a:pPr>
              <a:buNone/>
            </a:pPr>
            <a:r>
              <a:rPr sz="1750" b="0" i="0" u="none"/>
              <a:t>What to compare</a:t>
            </a:r>
            <a:endParaRPr sz="1750" b="0" i="0">
              <a:latin typeface="Arial"/>
            </a:endParaRPr>
          </a:p>
          <a:p>
            <a:r>
              <a:rPr sz="1750" b="0" i="0" u="none"/>
              <a:t>Coding standards</a:t>
            </a:r>
            <a:endParaRPr sz="1750" b="0" i="0">
              <a:latin typeface="Arial"/>
            </a:endParaRPr>
          </a:p>
          <a:p>
            <a:r>
              <a:rPr sz="1750" b="0" i="0" u="none"/>
              <a:t>Architectural boundaries</a:t>
            </a:r>
            <a:endParaRPr sz="1750" b="0" i="0">
              <a:latin typeface="Arial"/>
            </a:endParaRPr>
          </a:p>
          <a:p>
            <a:r>
              <a:rPr sz="1750" b="0" i="0" u="none"/>
              <a:t>Allowed/disallowed patterns</a:t>
            </a:r>
            <a:endParaRPr sz="1750" b="0" i="0">
              <a:latin typeface="Arial"/>
            </a:endParaRPr>
          </a:p>
          <a:p>
            <a:r>
              <a:rPr sz="1750" b="0" i="0" u="none"/>
              <a:t>Domain rules</a:t>
            </a:r>
            <a:endParaRPr sz="1750" b="0" i="0">
              <a:latin typeface="Arial"/>
            </a:endParaRPr>
          </a:p>
          <a:p>
            <a:r>
              <a:rPr sz="1750" b="0" i="0" u="none"/>
              <a:t>Documentation and provenance requirements</a:t>
            </a:r>
            <a:endParaRPr sz="1750" b="0" i="0">
              <a:latin typeface="Arial"/>
            </a:endParaRPr>
          </a:p>
          <a:p>
            <a:pPr>
              <a:buNone/>
            </a:pPr>
            <a:endParaRPr sz="1750" b="0" i="0">
              <a:latin typeface="Arial"/>
            </a:endParaRPr>
          </a:p>
          <a:p>
            <a:pPr>
              <a:buNone/>
            </a:pPr>
            <a:r>
              <a:rPr sz="1750" b="0" i="0" u="none"/>
              <a:t>Why it matters</a:t>
            </a:r>
            <a:endParaRPr sz="1750" b="0" i="0">
              <a:latin typeface="Arial"/>
            </a:endParaRPr>
          </a:p>
          <a:p>
            <a:r>
              <a:rPr sz="1750" b="0" i="0" u="none"/>
              <a:t>Prevents drift</a:t>
            </a:r>
            <a:endParaRPr sz="1750" b="0" i="0">
              <a:latin typeface="Arial"/>
            </a:endParaRPr>
          </a:p>
          <a:p>
            <a:r>
              <a:rPr sz="1750" b="0" i="0" u="none"/>
              <a:t>Ensures consistency</a:t>
            </a:r>
            <a:endParaRPr sz="1750" b="0" i="0">
              <a:latin typeface="Arial"/>
            </a:endParaRPr>
          </a:p>
          <a:p>
            <a:r>
              <a:rPr sz="1750" b="0" i="0" u="none"/>
              <a:t>Enables safe modernization</a:t>
            </a:r>
            <a:endParaRPr sz="1750" b="0" i="0">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Project Create Requirement Exercise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Exercise: Create Project Requirement</a:t>
            </a:r>
          </a:p>
        </p:txBody>
      </p:sp>
      <p:sp>
        <p:nvSpPr>
          <p:cNvPr id="3" name="Content Placeholder 2"/>
          <p:cNvSpPr>
            <a:spLocks noGrp="1"/>
          </p:cNvSpPr>
          <p:nvPr>
            <p:ph sz="half" idx="1"/>
          </p:nvPr>
        </p:nvSpPr>
        <p:spPr/>
        <p:txBody>
          <a:bodyPr wrap="square">
            <a:normAutofit/>
          </a:bodyPr>
          <a:lstStyle/>
          <a:p>
            <a:pPr>
              <a:buNone/>
            </a:pPr>
            <a:r>
              <a:rPr sz="1400" b="0" i="0" u="none"/>
              <a:t>Objective:</a:t>
            </a:r>
            <a:endParaRPr sz="2800" b="0" i="0">
              <a:latin typeface="Arial"/>
            </a:endParaRPr>
          </a:p>
          <a:p>
            <a:pPr lvl="1"/>
            <a:r>
              <a:rPr sz="1400" b="0" i="0" u="none"/>
              <a:t>Create project requirement instructions.</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Create a project-requirements.md file that includes:</a:t>
            </a:r>
            <a:endParaRPr sz="2800" b="0" i="0">
              <a:latin typeface="Arial"/>
            </a:endParaRPr>
          </a:p>
          <a:p>
            <a:pPr lvl="2"/>
            <a:r>
              <a:rPr sz="1400" b="0" i="0" u="none"/>
              <a:t>Business rules</a:t>
            </a:r>
            <a:endParaRPr sz="2800" b="0" i="0">
              <a:latin typeface="Arial"/>
            </a:endParaRPr>
          </a:p>
          <a:p>
            <a:pPr lvl="2"/>
            <a:r>
              <a:rPr sz="1400" b="0" i="0" u="none"/>
              <a:t>Workflows</a:t>
            </a:r>
            <a:endParaRPr sz="2800" b="0" i="0">
              <a:latin typeface="Arial"/>
            </a:endParaRPr>
          </a:p>
          <a:p>
            <a:pPr lvl="2"/>
            <a:r>
              <a:rPr sz="1400" b="0" i="0" u="none"/>
              <a:t>Purpose</a:t>
            </a:r>
            <a:endParaRPr sz="2800" b="0" i="0">
              <a:latin typeface="Arial"/>
            </a:endParaRPr>
          </a:p>
          <a:p>
            <a:pPr lvl="2"/>
            <a:r>
              <a:rPr sz="1400" b="0" i="0" u="none"/>
              <a:t>Tech stack</a:t>
            </a:r>
            <a:endParaRPr sz="2800" b="0" i="0">
              <a:latin typeface="Arial"/>
            </a:endParaRPr>
          </a:p>
          <a:p>
            <a:pPr lvl="2"/>
            <a:r>
              <a:rPr sz="1400" b="0" i="0" u="none"/>
              <a:t>Architecture</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2. Use Copilot to generate instruction files using the project-requirements.md file and the codebase for context.</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Instructions are clear and actionable</a:t>
            </a:r>
            <a:endParaRPr sz="2800" b="0" i="0">
              <a:latin typeface="Arial"/>
            </a:endParaRPr>
          </a:p>
          <a:p>
            <a:pPr lvl="1"/>
            <a:r>
              <a:rPr sz="1400" b="0" i="0" u="none"/>
              <a:t>Both manual and AI-assisted methods are used</a:t>
            </a:r>
            <a:endParaRPr sz="2800" b="0" i="0">
              <a:latin typeface="Arial"/>
            </a:endParaRPr>
          </a:p>
          <a:p>
            <a:pPr lvl="1"/>
            <a:r>
              <a:rPr sz="1400" b="0" i="0" u="none"/>
              <a:t>Instruction files are generated successfully</a:t>
            </a:r>
            <a:endParaRPr sz="2800" b="0" i="0">
              <a:latin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US" sz="3600" b="0" dirty="0"/>
              <a:t>Identifying Code Outside the Guardrails</a:t>
            </a:r>
            <a:endParaRPr sz="3600" b="0" i="0" u="none"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50" b="0" i="0" u="none" dirty="0"/>
              <a:t>Exercise: Identifying Code Outside the Guardrails</a:t>
            </a:r>
          </a:p>
        </p:txBody>
      </p:sp>
      <p:sp>
        <p:nvSpPr>
          <p:cNvPr id="3" name="Content Placeholder 2"/>
          <p:cNvSpPr>
            <a:spLocks noGrp="1"/>
          </p:cNvSpPr>
          <p:nvPr>
            <p:ph sz="half" idx="1"/>
          </p:nvPr>
        </p:nvSpPr>
        <p:spPr/>
        <p:txBody>
          <a:bodyPr wrap="square">
            <a:normAutofit/>
          </a:bodyPr>
          <a:lstStyle/>
          <a:p>
            <a:pPr>
              <a:buNone/>
            </a:pPr>
            <a:r>
              <a:rPr sz="1400" b="0" i="0" u="none" dirty="0"/>
              <a:t>Objectives</a:t>
            </a:r>
            <a:endParaRPr sz="2800" b="0" i="0" dirty="0">
              <a:latin typeface="Arial"/>
            </a:endParaRPr>
          </a:p>
          <a:p>
            <a:pPr lvl="1"/>
            <a:r>
              <a:rPr sz="1400" b="0" i="0" u="none" dirty="0"/>
              <a:t>Detect code that violates architectural rules</a:t>
            </a:r>
            <a:endParaRPr sz="2800" b="0" i="0" dirty="0">
              <a:latin typeface="Arial"/>
            </a:endParaRPr>
          </a:p>
          <a:p>
            <a:pPr lvl="1"/>
            <a:r>
              <a:rPr sz="1400" b="0" i="0" u="none" dirty="0"/>
              <a:t>Identify patterns that contradict instruction files</a:t>
            </a:r>
            <a:endParaRPr sz="2800" b="0" i="0" dirty="0">
              <a:latin typeface="Arial"/>
            </a:endParaRPr>
          </a:p>
          <a:p>
            <a:pPr lvl="1"/>
            <a:r>
              <a:rPr sz="1400" b="0" i="0" u="none" dirty="0"/>
              <a:t>Practice safe analysis workflows</a:t>
            </a:r>
            <a:endParaRPr sz="2800" b="0" i="0" dirty="0">
              <a:latin typeface="Arial"/>
            </a:endParaRPr>
          </a:p>
          <a:p>
            <a:pPr>
              <a:buNone/>
            </a:pPr>
            <a:r>
              <a:rPr sz="1400" b="0" i="0" u="none" dirty="0"/>
              <a:t>Activities</a:t>
            </a:r>
            <a:endParaRPr sz="2800" b="0" i="0" dirty="0">
              <a:latin typeface="Arial"/>
            </a:endParaRPr>
          </a:p>
          <a:p>
            <a:pPr lvl="1">
              <a:buNone/>
            </a:pPr>
            <a:r>
              <a:rPr sz="1400" b="0" i="0" u="none" dirty="0"/>
              <a:t>  1. Review the code</a:t>
            </a:r>
            <a:endParaRPr sz="2800" b="0" i="0" dirty="0">
              <a:latin typeface="Arial"/>
            </a:endParaRPr>
          </a:p>
          <a:p>
            <a:pPr lvl="1">
              <a:buNone/>
            </a:pPr>
            <a:r>
              <a:rPr sz="1400" b="0" i="0" u="none" dirty="0"/>
              <a:t>  2. Compare it against the instruction files</a:t>
            </a:r>
            <a:endParaRPr sz="2800" b="0" i="0" dirty="0">
              <a:latin typeface="Arial"/>
            </a:endParaRPr>
          </a:p>
          <a:p>
            <a:pPr lvl="1">
              <a:buNone/>
            </a:pPr>
            <a:r>
              <a:rPr sz="1400" b="0" i="0" u="none" dirty="0"/>
              <a:t>  3. Identify violations or risky patterns</a:t>
            </a:r>
            <a:endParaRPr lang="en-US" sz="1400" b="0" i="0" u="none" dirty="0"/>
          </a:p>
          <a:p>
            <a:pPr lvl="1">
              <a:buNone/>
            </a:pPr>
            <a:r>
              <a:rPr lang="en-US" sz="1400" dirty="0"/>
              <a:t>  4. </a:t>
            </a:r>
            <a:r>
              <a:rPr lang="en-US" sz="1400" b="0" i="0" u="none" dirty="0"/>
              <a:t>Document findings with provenance</a:t>
            </a:r>
            <a:endParaRPr lang="en-US" sz="4800" dirty="0">
              <a:latin typeface="Arial"/>
            </a:endParaRPr>
          </a:p>
          <a:p>
            <a:pPr lvl="1">
              <a:buNone/>
            </a:pPr>
            <a:endParaRPr sz="2800" b="0" i="0" dirty="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dirty="0"/>
              <a:t>Success Criteria</a:t>
            </a:r>
            <a:endParaRPr sz="2800" b="0" i="0" dirty="0">
              <a:latin typeface="Arial"/>
            </a:endParaRPr>
          </a:p>
          <a:p>
            <a:pPr lvl="1"/>
            <a:r>
              <a:rPr sz="1400" b="0" i="0" u="none" dirty="0"/>
              <a:t>Deviations are correctly identified</a:t>
            </a:r>
            <a:endParaRPr sz="2800" b="0" i="0" dirty="0">
              <a:latin typeface="Arial"/>
            </a:endParaRPr>
          </a:p>
          <a:p>
            <a:pPr lvl="1"/>
            <a:r>
              <a:rPr sz="1400" b="0" i="0" u="none" dirty="0"/>
              <a:t>Remediation steps are safe and incremental</a:t>
            </a:r>
            <a:endParaRPr sz="2800" b="0" i="0" dirty="0">
              <a:latin typeface="Arial"/>
            </a:endParaRPr>
          </a:p>
          <a:p>
            <a:pPr lvl="1"/>
            <a:r>
              <a:rPr sz="1400" b="0" i="0" u="none" dirty="0"/>
              <a:t>Documentation includes provenance</a:t>
            </a:r>
            <a:endParaRPr sz="2800" b="0" i="0" dirty="0">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Building a Technical Debt Backlog</a:t>
            </a:r>
          </a:p>
        </p:txBody>
      </p:sp>
      <p:sp>
        <p:nvSpPr>
          <p:cNvPr id="3" name="Subtitle 2"/>
          <p:cNvSpPr>
            <a:spLocks noGrp="1"/>
          </p:cNvSpPr>
          <p:nvPr>
            <p:ph type="subTitle" idx="1"/>
          </p:nvPr>
        </p:nvSpPr>
        <p:spPr/>
        <p:txBody>
          <a:bodyPr wrap="square">
            <a:normAutofit/>
          </a:bodyPr>
          <a:lstStyle/>
          <a:p>
            <a:pPr>
              <a:buNone/>
            </a:pPr>
            <a:r>
              <a:rPr b="0" i="0" u="none"/>
              <a:t>Finally, an Excuse to File All Those Issues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Automating the Creation of GitHub Issues</a:t>
            </a:r>
          </a:p>
        </p:txBody>
      </p:sp>
      <p:sp>
        <p:nvSpPr>
          <p:cNvPr id="3" name="Content Placeholder 2"/>
          <p:cNvSpPr>
            <a:spLocks noGrp="1"/>
          </p:cNvSpPr>
          <p:nvPr>
            <p:ph idx="1"/>
          </p:nvPr>
        </p:nvSpPr>
        <p:spPr/>
        <p:txBody>
          <a:bodyPr wrap="square">
            <a:normAutofit/>
          </a:bodyPr>
          <a:lstStyle/>
          <a:p>
            <a:pPr>
              <a:buNone/>
            </a:pPr>
            <a:r>
              <a:rPr sz="1850" b="0" i="0" u="none"/>
              <a:t>AI can help generate:</a:t>
            </a:r>
            <a:endParaRPr sz="1850" b="0" i="0">
              <a:latin typeface="Arial"/>
            </a:endParaRPr>
          </a:p>
          <a:p>
            <a:pPr lvl="1"/>
            <a:r>
              <a:rPr sz="1850" b="0" i="0" u="none"/>
              <a:t>Issue titles</a:t>
            </a:r>
            <a:endParaRPr sz="1850" b="0" i="0">
              <a:latin typeface="Arial"/>
            </a:endParaRPr>
          </a:p>
          <a:p>
            <a:pPr lvl="1"/>
            <a:r>
              <a:rPr sz="1850" b="0" i="0" u="none"/>
              <a:t>Detailed descriptions</a:t>
            </a:r>
            <a:endParaRPr sz="1850" b="0" i="0">
              <a:latin typeface="Arial"/>
            </a:endParaRPr>
          </a:p>
          <a:p>
            <a:pPr lvl="1"/>
            <a:r>
              <a:rPr sz="1850" b="0" i="0" u="none"/>
              <a:t>Acceptance criteria</a:t>
            </a:r>
            <a:endParaRPr sz="1850" b="0" i="0">
              <a:latin typeface="Arial"/>
            </a:endParaRPr>
          </a:p>
          <a:p>
            <a:pPr lvl="1"/>
            <a:r>
              <a:rPr sz="1850" b="0" i="0" u="none"/>
              <a:t>Labels and metadata</a:t>
            </a:r>
            <a:endParaRPr sz="1850" b="0" i="0">
              <a:latin typeface="Arial"/>
            </a:endParaRPr>
          </a:p>
          <a:p>
            <a:pPr lvl="1"/>
            <a:r>
              <a:rPr sz="1850" b="0" i="0" u="none"/>
              <a:t>Suggested remediation steps</a:t>
            </a:r>
            <a:endParaRPr sz="1850" b="0" i="0">
              <a:latin typeface="Arial"/>
            </a:endParaRPr>
          </a:p>
          <a:p>
            <a:pPr>
              <a:buNone/>
            </a:pPr>
            <a:endParaRPr sz="1850" b="0" i="0">
              <a:latin typeface="Arial"/>
            </a:endParaRPr>
          </a:p>
          <a:p>
            <a:pPr>
              <a:buNone/>
            </a:pPr>
            <a:r>
              <a:rPr sz="1850" b="0" i="0" u="none"/>
              <a:t>Why automate?</a:t>
            </a:r>
            <a:endParaRPr sz="1850" b="0" i="0">
              <a:latin typeface="Arial"/>
            </a:endParaRPr>
          </a:p>
          <a:p>
            <a:pPr lvl="1"/>
            <a:r>
              <a:rPr sz="1850" b="0" i="0" u="none"/>
              <a:t>Ensures consistency</a:t>
            </a:r>
            <a:endParaRPr sz="1850" b="0" i="0">
              <a:latin typeface="Arial"/>
            </a:endParaRPr>
          </a:p>
          <a:p>
            <a:pPr lvl="1"/>
            <a:r>
              <a:rPr sz="1850" b="0" i="0" u="none"/>
              <a:t>Reduces manual backlog grooming</a:t>
            </a:r>
            <a:endParaRPr sz="1850" b="0" i="0">
              <a:latin typeface="Arial"/>
            </a:endParaRPr>
          </a:p>
          <a:p>
            <a:pPr lvl="1"/>
            <a:r>
              <a:rPr sz="1850" b="0" i="0" u="none"/>
              <a:t>Produces actionable, high-signal issues</a:t>
            </a:r>
            <a:endParaRPr sz="1850" b="0" i="0">
              <a:latin typeface="Arial"/>
            </a:endParaRPr>
          </a:p>
          <a:p>
            <a:pPr lvl="1"/>
            <a:r>
              <a:rPr sz="1850" b="0" i="0" u="none"/>
              <a:t>Accelerates modernization planning</a:t>
            </a:r>
            <a:endParaRPr sz="185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GitHub Integration - Direct Issue Creation</a:t>
            </a:r>
          </a:p>
        </p:txBody>
      </p:sp>
      <p:sp>
        <p:nvSpPr>
          <p:cNvPr id="3" name="Content Placeholder 2"/>
          <p:cNvSpPr>
            <a:spLocks noGrp="1"/>
          </p:cNvSpPr>
          <p:nvPr>
            <p:ph idx="1"/>
          </p:nvPr>
        </p:nvSpPr>
        <p:spPr/>
        <p:txBody>
          <a:bodyPr wrap="square">
            <a:normAutofit/>
          </a:bodyPr>
          <a:lstStyle/>
          <a:p>
            <a:pPr>
              <a:buNone/>
            </a:pPr>
            <a:r>
              <a:rPr sz="1800" b="0" i="1" u="none"/>
              <a:t>Copilot can help move prompt content into GitHub issues</a:t>
            </a:r>
            <a:endParaRPr sz="1800" b="0" i="0">
              <a:latin typeface="Consolas"/>
            </a:endParaRPr>
          </a:p>
          <a:p>
            <a:pPr>
              <a:buNone/>
            </a:pPr>
            <a:endParaRPr sz="1800" b="0" i="0">
              <a:latin typeface="Consolas"/>
            </a:endParaRPr>
          </a:p>
          <a:p>
            <a:r>
              <a:rPr sz="1800" b="0" i="0" u="none"/>
              <a:t>Example command: </a:t>
            </a:r>
            <a:r>
              <a:rPr sz="1800" b="0" i="0" u="none">
                <a:latin typeface="Consolas"/>
              </a:rPr>
              <a:t>"Post issue #6 to the GitHub owner/repository-name"</a:t>
            </a:r>
            <a:endParaRPr sz="1800" b="0" i="0">
              <a:latin typeface="Consolas"/>
            </a:endParaRPr>
          </a:p>
          <a:p>
            <a:r>
              <a:rPr sz="1800" b="0" i="0" u="none"/>
              <a:t>Copilot can create the issue directly in GitHub</a:t>
            </a:r>
            <a:endParaRPr sz="1800" b="0" i="0">
              <a:latin typeface="Consolas"/>
            </a:endParaRPr>
          </a:p>
          <a:p>
            <a:r>
              <a:rPr sz="1800" b="0" i="0" u="none"/>
              <a:t>Labels, assignees, and metadata can be included</a:t>
            </a:r>
            <a:endParaRPr sz="1800" b="0" i="0">
              <a:latin typeface="Consola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Prioritizing Technical Debt Remediation</a:t>
            </a:r>
          </a:p>
        </p:txBody>
      </p:sp>
      <p:sp>
        <p:nvSpPr>
          <p:cNvPr id="3" name="Content Placeholder 2"/>
          <p:cNvSpPr>
            <a:spLocks noGrp="1"/>
          </p:cNvSpPr>
          <p:nvPr>
            <p:ph idx="1"/>
          </p:nvPr>
        </p:nvSpPr>
        <p:spPr/>
        <p:txBody>
          <a:bodyPr wrap="square">
            <a:normAutofit/>
          </a:bodyPr>
          <a:lstStyle/>
          <a:p>
            <a:pPr>
              <a:buNone/>
            </a:pPr>
            <a:r>
              <a:rPr sz="2050" b="0" i="0" u="none"/>
              <a:t>Prioritization factors</a:t>
            </a:r>
            <a:endParaRPr sz="2050" b="0" i="0">
              <a:latin typeface="Arial"/>
            </a:endParaRPr>
          </a:p>
          <a:p>
            <a:pPr lvl="1"/>
            <a:r>
              <a:rPr sz="2050" b="0" i="0" u="none"/>
              <a:t>Risk to stability</a:t>
            </a:r>
            <a:endParaRPr sz="2050" b="0" i="0">
              <a:latin typeface="Arial"/>
            </a:endParaRPr>
          </a:p>
          <a:p>
            <a:pPr lvl="1"/>
            <a:r>
              <a:rPr sz="2050" b="0" i="0" u="none"/>
              <a:t>Frequency of use</a:t>
            </a:r>
            <a:endParaRPr sz="2050" b="0" i="0">
              <a:latin typeface="Arial"/>
            </a:endParaRPr>
          </a:p>
          <a:p>
            <a:pPr lvl="1"/>
            <a:r>
              <a:rPr sz="2050" b="0" i="0" u="none"/>
              <a:t>Security implications</a:t>
            </a:r>
            <a:endParaRPr sz="2050" b="0" i="0">
              <a:latin typeface="Arial"/>
            </a:endParaRPr>
          </a:p>
          <a:p>
            <a:pPr lvl="1"/>
            <a:r>
              <a:rPr sz="2050" b="0" i="0" u="none"/>
              <a:t>Architectural importance</a:t>
            </a:r>
            <a:endParaRPr sz="2050" b="0" i="0">
              <a:latin typeface="Arial"/>
            </a:endParaRPr>
          </a:p>
          <a:p>
            <a:pPr lvl="1"/>
            <a:r>
              <a:rPr sz="2050" b="0" i="0" u="none"/>
              <a:t>Effort vs. impact</a:t>
            </a:r>
            <a:endParaRPr sz="2050" b="0" i="0">
              <a:latin typeface="Arial"/>
            </a:endParaRPr>
          </a:p>
          <a:p>
            <a:pPr>
              <a:buNone/>
            </a:pPr>
            <a:endParaRPr sz="2050" b="0" i="0">
              <a:latin typeface="Arial"/>
            </a:endParaRPr>
          </a:p>
          <a:p>
            <a:pPr>
              <a:buNone/>
            </a:pPr>
            <a:r>
              <a:rPr sz="2050" b="0" i="0" u="none"/>
              <a:t>Approaches</a:t>
            </a:r>
            <a:endParaRPr sz="2050" b="0" i="0">
              <a:latin typeface="Arial"/>
            </a:endParaRPr>
          </a:p>
          <a:p>
            <a:pPr lvl="1"/>
            <a:r>
              <a:rPr sz="2050" b="0" i="0" u="none"/>
              <a:t>Impact/effort matrix</a:t>
            </a:r>
            <a:endParaRPr sz="2050" b="0" i="0">
              <a:latin typeface="Arial"/>
            </a:endParaRPr>
          </a:p>
          <a:p>
            <a:pPr lvl="1"/>
            <a:r>
              <a:rPr sz="2050" b="0" i="0" u="none"/>
              <a:t>Risk scoring</a:t>
            </a:r>
            <a:endParaRPr sz="2050" b="0" i="0">
              <a:latin typeface="Arial"/>
            </a:endParaRPr>
          </a:p>
          <a:p>
            <a:pPr lvl="1"/>
            <a:r>
              <a:rPr sz="2050" b="0" i="0" u="none"/>
              <a:t>Dependency analysis</a:t>
            </a:r>
            <a:endParaRPr sz="2050" b="0" i="0">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Creating Actionable Remediation Plans</a:t>
            </a:r>
          </a:p>
        </p:txBody>
      </p:sp>
      <p:sp>
        <p:nvSpPr>
          <p:cNvPr id="3" name="Content Placeholder 2"/>
          <p:cNvSpPr>
            <a:spLocks noGrp="1"/>
          </p:cNvSpPr>
          <p:nvPr>
            <p:ph idx="1"/>
          </p:nvPr>
        </p:nvSpPr>
        <p:spPr/>
        <p:txBody>
          <a:bodyPr wrap="square">
            <a:normAutofit/>
          </a:bodyPr>
          <a:lstStyle/>
          <a:p>
            <a:pPr>
              <a:buNone/>
            </a:pPr>
            <a:r>
              <a:rPr sz="2800" b="0" i="0" u="none"/>
              <a:t>A strong remediation plan includes:</a:t>
            </a:r>
            <a:endParaRPr sz="2800" b="0" i="0">
              <a:latin typeface="Arial"/>
            </a:endParaRPr>
          </a:p>
          <a:p>
            <a:pPr lvl="1"/>
            <a:r>
              <a:rPr sz="2800" b="0" i="0" u="none"/>
              <a:t>Clear problem definition</a:t>
            </a:r>
            <a:endParaRPr sz="2800" b="0" i="0">
              <a:latin typeface="Arial"/>
            </a:endParaRPr>
          </a:p>
          <a:p>
            <a:pPr lvl="1"/>
            <a:r>
              <a:rPr sz="2800" b="0" i="0" u="none"/>
              <a:t>Root cause analysis</a:t>
            </a:r>
            <a:endParaRPr sz="2800" b="0" i="0">
              <a:latin typeface="Arial"/>
            </a:endParaRPr>
          </a:p>
          <a:p>
            <a:pPr lvl="1"/>
            <a:r>
              <a:rPr sz="2800" b="0" i="0" u="none"/>
              <a:t>Proposed solution</a:t>
            </a:r>
            <a:endParaRPr sz="2800" b="0" i="0">
              <a:latin typeface="Arial"/>
            </a:endParaRPr>
          </a:p>
          <a:p>
            <a:pPr lvl="1"/>
            <a:r>
              <a:rPr sz="2800" b="0" i="0" u="none"/>
              <a:t>Step-by-step implementation plan</a:t>
            </a:r>
            <a:endParaRPr sz="2800" b="0" i="0">
              <a:latin typeface="Arial"/>
            </a:endParaRPr>
          </a:p>
          <a:p>
            <a:pPr lvl="1"/>
            <a:r>
              <a:rPr sz="2800" b="0" i="0" u="none"/>
              <a:t>Rollback strategy</a:t>
            </a:r>
            <a:endParaRPr sz="2800" b="0" i="0">
              <a:latin typeface="Arial"/>
            </a:endParaRPr>
          </a:p>
          <a:p>
            <a:pPr lvl="1"/>
            <a:r>
              <a:rPr sz="2800" b="0" i="0" u="none"/>
              <a:t>Test updates</a:t>
            </a:r>
            <a:endParaRPr sz="2800" b="0" i="0">
              <a:latin typeface="Arial"/>
            </a:endParaRPr>
          </a:p>
          <a:p>
            <a:pPr lvl="1"/>
            <a:r>
              <a:rPr sz="2800" b="0" i="0" u="none"/>
              <a:t>Provenance metadata</a:t>
            </a:r>
            <a:endParaRPr sz="2800" b="0" i="0">
              <a:latin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dirty="0"/>
              <a:t>Backlog Issue</a:t>
            </a:r>
            <a:r>
              <a:rPr lang="en-US" b="0" i="0" u="none" dirty="0"/>
              <a:t> </a:t>
            </a:r>
            <a:r>
              <a:rPr b="0" i="0" u="none" dirty="0"/>
              <a:t>Building</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Building the Backlog</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Practice identifying technical debt</a:t>
            </a:r>
            <a:endParaRPr sz="2800" b="0" i="0">
              <a:latin typeface="Arial"/>
            </a:endParaRPr>
          </a:p>
          <a:p>
            <a:pPr lvl="1"/>
            <a:r>
              <a:rPr sz="1400" b="0" i="0" u="none"/>
              <a:t>Convert findings into actionable GitHub issues</a:t>
            </a:r>
            <a:endParaRPr sz="2800" b="0" i="0">
              <a:latin typeface="Arial"/>
            </a:endParaRPr>
          </a:p>
          <a:p>
            <a:pPr lvl="1"/>
            <a:r>
              <a:rPr sz="1400" b="0" i="0" u="none"/>
              <a:t>Apply consistent structure</a:t>
            </a:r>
            <a:endParaRPr sz="2800" b="0" i="0">
              <a:latin typeface="Arial"/>
            </a:endParaRPr>
          </a:p>
          <a:p>
            <a:pPr lvl="1"/>
            <a:r>
              <a:rPr sz="1400" b="0" i="0" u="none"/>
              <a:t>Prioritize issues based on risk and impact</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Select a brownfield module or file.</a:t>
            </a:r>
            <a:endParaRPr sz="2800" b="0" i="0">
              <a:latin typeface="Arial"/>
            </a:endParaRPr>
          </a:p>
          <a:p>
            <a:pPr lvl="1">
              <a:buNone/>
            </a:pPr>
            <a:r>
              <a:rPr sz="1400" b="0" i="0" u="none"/>
              <a:t>  2. Use AI to identify:</a:t>
            </a:r>
            <a:endParaRPr sz="2800" b="0" i="0">
              <a:latin typeface="Arial"/>
            </a:endParaRPr>
          </a:p>
          <a:p>
            <a:pPr lvl="2"/>
            <a:r>
              <a:rPr sz="1400" b="0" i="0" u="none"/>
              <a:t>Technical debt</a:t>
            </a:r>
            <a:endParaRPr sz="2800" b="0" i="0">
              <a:latin typeface="Arial"/>
            </a:endParaRPr>
          </a:p>
          <a:p>
            <a:pPr lvl="2"/>
            <a:r>
              <a:rPr sz="1400" b="0" i="0" u="none"/>
              <a:t>Risks</a:t>
            </a:r>
            <a:endParaRPr sz="2800" b="0" i="0">
              <a:latin typeface="Arial"/>
            </a:endParaRPr>
          </a:p>
          <a:p>
            <a:pPr lvl="2"/>
            <a:r>
              <a:rPr sz="1400" b="0" i="0" u="none"/>
              <a:t>Test confidence</a:t>
            </a:r>
            <a:endParaRPr sz="2800" b="0" i="0">
              <a:latin typeface="Arial"/>
            </a:endParaRPr>
          </a:p>
          <a:p>
            <a:pPr lvl="2"/>
            <a:r>
              <a:rPr sz="1400" b="0" i="0" u="none"/>
              <a:t>Architectural issues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Convert each finding into a GitHub issue with:</a:t>
            </a:r>
            <a:endParaRPr sz="2800" b="0" i="0">
              <a:latin typeface="Arial"/>
            </a:endParaRPr>
          </a:p>
          <a:p>
            <a:pPr lvl="2"/>
            <a:r>
              <a:rPr sz="1400" b="0" i="0" u="none"/>
              <a:t>Title</a:t>
            </a:r>
            <a:endParaRPr sz="2800" b="0" i="0">
              <a:latin typeface="Arial"/>
            </a:endParaRPr>
          </a:p>
          <a:p>
            <a:pPr lvl="2"/>
            <a:r>
              <a:rPr sz="1400" b="0" i="0" u="none"/>
              <a:t>Description</a:t>
            </a:r>
            <a:endParaRPr sz="2800" b="0" i="0">
              <a:latin typeface="Arial"/>
            </a:endParaRPr>
          </a:p>
          <a:p>
            <a:pPr lvl="2"/>
            <a:r>
              <a:rPr sz="1400" b="0" i="0" u="none"/>
              <a:t>Acceptance criteria</a:t>
            </a:r>
            <a:endParaRPr sz="2800" b="0" i="0">
              <a:latin typeface="Arial"/>
            </a:endParaRPr>
          </a:p>
          <a:p>
            <a:pPr lvl="2"/>
            <a:r>
              <a:rPr sz="1400" b="0" i="0" u="none"/>
              <a:t>Labels</a:t>
            </a:r>
            <a:endParaRPr sz="2800" b="0" i="0">
              <a:latin typeface="Arial"/>
            </a:endParaRPr>
          </a:p>
          <a:p>
            <a:pPr lvl="1">
              <a:buNone/>
            </a:pPr>
            <a:r>
              <a:rPr sz="1400" b="0" i="0" u="none"/>
              <a:t>  4. Prioritize the issues using impact vs. effort.</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Issues are clear, actionable, and well-structured</a:t>
            </a:r>
            <a:endParaRPr sz="2800" b="0" i="0">
              <a:latin typeface="Arial"/>
            </a:endParaRPr>
          </a:p>
          <a:p>
            <a:pPr lvl="1"/>
            <a:r>
              <a:rPr sz="1400" b="0" i="0" u="none"/>
              <a:t>Prioritization reflects real risk and effort</a:t>
            </a:r>
            <a:endParaRPr sz="2800" b="0" i="0">
              <a:latin typeface="Arial"/>
            </a:endParaRPr>
          </a:p>
          <a:p>
            <a:pPr lvl="1"/>
            <a:r>
              <a:rPr sz="1400" b="0" i="0" u="none"/>
              <a:t>Backlog is ready for implementation</a:t>
            </a:r>
            <a:endParaRPr sz="2800" b="0" i="0">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00" b="0" i="0" u="none"/>
              <a:t>Implementation Plan Prioritization</a:t>
            </a:r>
          </a:p>
        </p:txBody>
      </p:sp>
      <p:sp>
        <p:nvSpPr>
          <p:cNvPr id="3" name="Content Placeholder 2"/>
          <p:cNvSpPr>
            <a:spLocks noGrp="1"/>
          </p:cNvSpPr>
          <p:nvPr>
            <p:ph idx="1"/>
          </p:nvPr>
        </p:nvSpPr>
        <p:spPr/>
        <p:txBody>
          <a:bodyPr wrap="square">
            <a:normAutofit/>
          </a:bodyPr>
          <a:lstStyle/>
          <a:p>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450" b="0" i="0" u="none"/>
              <a:t>AI-Assisted Prioritization: Impact vs. Effort</a:t>
            </a:r>
          </a:p>
        </p:txBody>
      </p:sp>
      <p:sp>
        <p:nvSpPr>
          <p:cNvPr id="3" name="Content Placeholder 2"/>
          <p:cNvSpPr>
            <a:spLocks noGrp="1"/>
          </p:cNvSpPr>
          <p:nvPr>
            <p:ph sz="half" idx="1"/>
          </p:nvPr>
        </p:nvSpPr>
        <p:spPr/>
        <p:txBody>
          <a:bodyPr wrap="square">
            <a:normAutofit/>
          </a:bodyPr>
          <a:lstStyle/>
          <a:p>
            <a:pPr>
              <a:buNone/>
            </a:pPr>
            <a:r>
              <a:rPr sz="1400" b="0" i="0" u="none"/>
              <a:t>Ask AI to analyze your backlog and position each item on an impact/effort matrix:</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e7c99a160afbb05bf9677c89afaf0f35cd8e0798.png"/>
          <p:cNvPicPr>
            <a:picLocks noChangeAspect="1"/>
          </p:cNvPicPr>
          <p:nvPr/>
        </p:nvPicPr>
        <p:blipFill>
          <a:blip r:embed="rId3"/>
          <a:stretch>
            <a:fillRect/>
          </a:stretch>
        </p:blipFill>
        <p:spPr>
          <a:xfrm>
            <a:off x="6633051" y="1509472"/>
            <a:ext cx="4259898" cy="4259898"/>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Making Technical Debt Visible</a:t>
            </a:r>
          </a:p>
        </p:txBody>
      </p:sp>
      <p:sp>
        <p:nvSpPr>
          <p:cNvPr id="3" name="Content Placeholder 2"/>
          <p:cNvSpPr>
            <a:spLocks noGrp="1"/>
          </p:cNvSpPr>
          <p:nvPr>
            <p:ph idx="1"/>
          </p:nvPr>
        </p:nvSpPr>
        <p:spPr/>
        <p:txBody>
          <a:bodyPr wrap="square">
            <a:normAutofit/>
          </a:bodyPr>
          <a:lstStyle/>
          <a:p>
            <a:pPr>
              <a:buNone/>
            </a:pPr>
            <a:r>
              <a:rPr sz="1800" b="0" i="0" u="none"/>
              <a:t>Visibility is the first step toward resolution:</a:t>
            </a:r>
            <a:endParaRPr sz="1800" b="0" i="0">
              <a:latin typeface="Consolas"/>
            </a:endParaRPr>
          </a:p>
          <a:p>
            <a:pPr>
              <a:buNone/>
            </a:pPr>
            <a:endParaRPr sz="1800" b="0" i="0">
              <a:latin typeface="Consolas"/>
            </a:endParaRPr>
          </a:p>
          <a:p>
            <a:r>
              <a:rPr sz="1800" b="0" i="0" u="none"/>
              <a:t>Ask AI to generate a prioritized issue list from the audit findings</a:t>
            </a:r>
            <a:endParaRPr sz="1800" b="0" i="0">
              <a:latin typeface="Consolas"/>
            </a:endParaRPr>
          </a:p>
          <a:p>
            <a:r>
              <a:rPr sz="1800" b="0" i="0" u="none"/>
              <a:t>Represent priorities as GitHub Issues with labels (</a:t>
            </a:r>
            <a:r>
              <a:rPr sz="1800" b="0" i="0" u="none">
                <a:latin typeface="Consolas"/>
              </a:rPr>
              <a:t>P0</a:t>
            </a:r>
            <a:r>
              <a:rPr sz="1800" b="0" i="0" u="none"/>
              <a:t>, </a:t>
            </a:r>
            <a:r>
              <a:rPr sz="1800" b="0" i="0" u="none">
                <a:latin typeface="Consolas"/>
              </a:rPr>
              <a:t>P1</a:t>
            </a:r>
            <a:r>
              <a:rPr sz="1800" b="0" i="0" u="none"/>
              <a:t>, </a:t>
            </a:r>
            <a:r>
              <a:rPr sz="1800" b="0" i="0" u="none">
                <a:latin typeface="Consolas"/>
              </a:rPr>
              <a:t>P2</a:t>
            </a:r>
            <a:r>
              <a:rPr sz="1800" b="0" i="0" u="none"/>
              <a:t>)</a:t>
            </a:r>
            <a:endParaRPr sz="1800" b="0" i="0">
              <a:latin typeface="Consolas"/>
            </a:endParaRPr>
          </a:p>
          <a:p>
            <a:r>
              <a:rPr sz="1800" b="0" i="0" u="none"/>
              <a:t>Use Mermaid diagrams to visualize dependencies and sequencing</a:t>
            </a:r>
            <a:endParaRPr sz="1800" b="0" i="0">
              <a:latin typeface="Consolas"/>
            </a:endParaRPr>
          </a:p>
          <a:p>
            <a:r>
              <a:rPr sz="1800" b="0" i="0" u="none"/>
              <a:t>Update issue descriptions with AI-proposed implementation steps</a:t>
            </a:r>
            <a:endParaRPr sz="1800" b="0" i="0">
              <a:latin typeface="Consolas"/>
            </a:endParaRPr>
          </a:p>
          <a:p>
            <a:r>
              <a:rPr sz="1800" b="0" i="0" u="none"/>
              <a:t>Share the dashboard with the full team — debt is a shared problem</a:t>
            </a:r>
            <a:endParaRPr sz="1800" b="0" i="0">
              <a:latin typeface="Consolas"/>
            </a:endParaRPr>
          </a:p>
          <a:p>
            <a:pPr>
              <a:buNone/>
            </a:pPr>
            <a:endParaRPr sz="1800" b="0" i="0">
              <a:latin typeface="Consolas"/>
            </a:endParaRPr>
          </a:p>
          <a:p>
            <a:pPr>
              <a:buNone/>
            </a:pPr>
            <a:r>
              <a:rPr sz="1800" b="1" i="0" u="none"/>
              <a:t>Outcome</a:t>
            </a:r>
            <a:r>
              <a:rPr sz="1800" b="0" i="0" u="none"/>
              <a:t>: debt moves from implicit knowledge to tracked, actionable work</a:t>
            </a:r>
            <a:endParaRPr sz="1800" b="0" i="0">
              <a:latin typeface="Consola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928887" cy="703024"/>
          </a:xfrm>
        </p:spPr>
        <p:txBody>
          <a:bodyPr anchor="ctr">
            <a:normAutofit/>
          </a:bodyPr>
          <a:lstStyle/>
          <a:p>
            <a:pPr>
              <a:buNone/>
            </a:pPr>
            <a:r>
              <a:rPr lang="en-US" sz="3100" b="0" i="0" u="none"/>
              <a:t>Reaching Evergreen: Quick Wins Compound</a:t>
            </a:r>
          </a:p>
        </p:txBody>
      </p:sp>
      <p:sp>
        <p:nvSpPr>
          <p:cNvPr id="3" name="Content Placeholder 2"/>
          <p:cNvSpPr>
            <a:spLocks noGrp="1"/>
          </p:cNvSpPr>
          <p:nvPr>
            <p:ph sz="half" idx="1"/>
          </p:nvPr>
        </p:nvSpPr>
        <p:spPr>
          <a:xfrm>
            <a:off x="838200" y="1463752"/>
            <a:ext cx="5181600" cy="4351338"/>
          </a:xfrm>
        </p:spPr>
        <p:txBody>
          <a:bodyPr>
            <a:normAutofit/>
          </a:bodyPr>
          <a:lstStyle/>
          <a:p>
            <a:pPr>
              <a:buNone/>
            </a:pPr>
            <a:r>
              <a:rPr lang="en-US" sz="2600" b="0" i="0" u="none"/>
              <a:t>Low-effort, high-impact fixes accumulate into a significantly healthier codebase:</a:t>
            </a:r>
            <a:endParaRPr lang="en-US" sz="2600" b="0" i="0"/>
          </a:p>
          <a:p>
            <a:pPr>
              <a:buNone/>
            </a:pPr>
            <a:endParaRPr lang="en-US" sz="2600" b="0" i="0"/>
          </a:p>
          <a:p>
            <a:pPr>
              <a:buNone/>
            </a:pPr>
            <a:endParaRPr lang="en-US" sz="2600" b="0" i="0"/>
          </a:p>
          <a:p>
            <a:pPr>
              <a:buNone/>
            </a:pPr>
            <a:endParaRPr lang="en-US" sz="2600" b="0" i="0"/>
          </a:p>
          <a:p>
            <a:pPr>
              <a:buNone/>
            </a:pPr>
            <a:r>
              <a:rPr lang="en-US" sz="2600" b="1" i="0" u="none"/>
              <a:t>Evergreen state</a:t>
            </a:r>
            <a:r>
              <a:rPr lang="en-US" sz="2600" b="0" i="0" u="none"/>
              <a:t> = debt is continuously detected, tracked, and paid down</a:t>
            </a:r>
            <a:endParaRPr lang="en-US" sz="2600" b="0" i="0"/>
          </a:p>
        </p:txBody>
      </p:sp>
      <p:pic>
        <p:nvPicPr>
          <p:cNvPr id="4" name="Picture 3" descr="752f3afc2384621171d64d6a6f99877f0258e759.png"/>
          <p:cNvPicPr>
            <a:picLocks noChangeAspect="1"/>
          </p:cNvPicPr>
          <p:nvPr/>
        </p:nvPicPr>
        <p:blipFill>
          <a:blip r:embed="rId3"/>
          <a:stretch>
            <a:fillRect/>
          </a:stretch>
        </p:blipFill>
        <p:spPr>
          <a:xfrm>
            <a:off x="8170130" y="1463752"/>
            <a:ext cx="1185739" cy="4351338"/>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dirty="0"/>
              <a:t>Creat</a:t>
            </a:r>
            <a:r>
              <a:rPr lang="en-US" sz="3950" b="0" i="0" u="none" dirty="0"/>
              <a:t>ing</a:t>
            </a:r>
            <a:r>
              <a:rPr sz="3950" b="0" i="0" u="none" dirty="0"/>
              <a:t> Implementation</a:t>
            </a:r>
            <a:r>
              <a:rPr lang="en-US" sz="3950" b="0" i="0" u="none" dirty="0"/>
              <a:t> Plans</a:t>
            </a:r>
            <a:endParaRPr sz="3950" b="0" i="0" u="none"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Exercise: Create an Implementation Plan</a:t>
            </a:r>
          </a:p>
        </p:txBody>
      </p:sp>
      <p:sp>
        <p:nvSpPr>
          <p:cNvPr id="3" name="Content Placeholder 2"/>
          <p:cNvSpPr>
            <a:spLocks noGrp="1"/>
          </p:cNvSpPr>
          <p:nvPr>
            <p:ph sz="half" idx="1"/>
          </p:nvPr>
        </p:nvSpPr>
        <p:spPr/>
        <p:txBody>
          <a:bodyPr wrap="square">
            <a:normAutofit/>
          </a:bodyPr>
          <a:lstStyle/>
          <a:p>
            <a:pPr>
              <a:buNone/>
            </a:pPr>
            <a:r>
              <a:rPr sz="1250" b="0" i="0" u="none"/>
              <a:t>Objectives</a:t>
            </a:r>
            <a:endParaRPr sz="1250" b="0" i="0">
              <a:latin typeface="Arial"/>
            </a:endParaRPr>
          </a:p>
          <a:p>
            <a:r>
              <a:rPr sz="1250" b="0" i="0" u="none"/>
              <a:t>Translate issues into a structured remediation plan</a:t>
            </a:r>
            <a:endParaRPr sz="1250" b="0" i="0">
              <a:latin typeface="Arial"/>
            </a:endParaRPr>
          </a:p>
          <a:p>
            <a:r>
              <a:rPr sz="1250" b="0" i="0" u="none"/>
              <a:t>Ensure changes are incremental and reversible</a:t>
            </a:r>
            <a:endParaRPr sz="1250" b="0" i="0">
              <a:latin typeface="Arial"/>
            </a:endParaRPr>
          </a:p>
          <a:p>
            <a:r>
              <a:rPr sz="1250" b="0" i="0" u="none"/>
              <a:t>Align modernization with evergreen principles</a:t>
            </a:r>
            <a:endParaRPr sz="1250" b="0" i="0">
              <a:latin typeface="Arial"/>
            </a:endParaRPr>
          </a:p>
          <a:p>
            <a:r>
              <a:rPr sz="1250" b="0" i="0" u="none"/>
              <a:t>Incorporate testing and rollback strategies</a:t>
            </a:r>
            <a:endParaRPr sz="1250" b="0" i="0">
              <a:latin typeface="Arial"/>
            </a:endParaRPr>
          </a:p>
          <a:p>
            <a:pPr>
              <a:buNone/>
            </a:pPr>
            <a:r>
              <a:rPr sz="1250" b="0" i="0" u="none"/>
              <a:t>Activities</a:t>
            </a:r>
            <a:endParaRPr sz="1250" b="0" i="0">
              <a:latin typeface="Arial"/>
            </a:endParaRPr>
          </a:p>
          <a:p>
            <a:pPr>
              <a:buNone/>
            </a:pPr>
            <a:r>
              <a:rPr sz="1250" b="0" i="0" u="none"/>
              <a:t>1. Select 2–3 issues from the previous exercise.</a:t>
            </a:r>
            <a:endParaRPr sz="1250" b="0" i="0">
              <a:latin typeface="Arial"/>
            </a:endParaRPr>
          </a:p>
          <a:p>
            <a:pPr>
              <a:buNone/>
            </a:pPr>
            <a:r>
              <a:rPr sz="1250" b="0" i="0" u="none"/>
              <a:t>2. For each issue, create a remediation plan including:</a:t>
            </a:r>
            <a:endParaRPr sz="1250" b="0" i="0">
              <a:latin typeface="Arial"/>
            </a:endParaRPr>
          </a:p>
          <a:p>
            <a:pPr lvl="1"/>
            <a:r>
              <a:rPr sz="1250" b="0" i="0" u="none"/>
              <a:t>Problem definition</a:t>
            </a:r>
            <a:endParaRPr sz="1250" b="0" i="0">
              <a:latin typeface="Arial"/>
            </a:endParaRPr>
          </a:p>
          <a:p>
            <a:pPr lvl="1"/>
            <a:r>
              <a:rPr sz="1250" b="0" i="0" u="none"/>
              <a:t>Root cause</a:t>
            </a:r>
            <a:endParaRPr sz="1250" b="0" i="0">
              <a:latin typeface="Arial"/>
            </a:endParaRPr>
          </a:p>
          <a:p>
            <a:pPr lvl="1"/>
            <a:r>
              <a:rPr sz="1250" b="0" i="0" u="none"/>
              <a:t>Proposed solution</a:t>
            </a:r>
            <a:endParaRPr sz="1250" b="0" i="0">
              <a:latin typeface="Arial"/>
            </a:endParaRPr>
          </a:p>
          <a:p>
            <a:pPr lvl="1"/>
            <a:r>
              <a:rPr sz="1250" b="0" i="0" u="none"/>
              <a:t>Step-by-step implementation</a:t>
            </a:r>
            <a:endParaRPr sz="1250" b="0" i="0">
              <a:latin typeface="Arial"/>
            </a:endParaRPr>
          </a:p>
          <a:p>
            <a:pPr lvl="1"/>
            <a:r>
              <a:rPr sz="1250" b="0" i="0" u="none"/>
              <a:t>Rollback plan</a:t>
            </a:r>
            <a:endParaRPr sz="1250" b="0" i="0">
              <a:latin typeface="Arial"/>
            </a:endParaRPr>
          </a:p>
          <a:p>
            <a:pPr lvl="1"/>
            <a:r>
              <a:rPr sz="1250" b="0" i="0" u="none"/>
              <a:t>Required test updates</a:t>
            </a:r>
            <a:endParaRPr sz="1250" b="0" i="0">
              <a:latin typeface="Arial"/>
            </a:endParaRPr>
          </a:p>
          <a:p>
            <a:pPr lvl="1"/>
            <a:r>
              <a:rPr sz="1250" b="0" i="0" u="none"/>
              <a:t>Documentation updates</a:t>
            </a:r>
            <a:endParaRPr sz="125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Review plan.</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r>
              <a:rPr sz="1400" b="0" i="0" u="none"/>
              <a:t>Plans are incremental, safe, and reversible</a:t>
            </a:r>
            <a:endParaRPr sz="2800" b="0" i="0">
              <a:latin typeface="Arial"/>
            </a:endParaRPr>
          </a:p>
          <a:p>
            <a:r>
              <a:rPr sz="1400" b="0" i="0" u="none"/>
              <a:t>Include clear steps and rollback strategies</a:t>
            </a:r>
            <a:endParaRPr sz="2800" b="0" i="0">
              <a:latin typeface="Arial"/>
            </a:endParaRPr>
          </a:p>
          <a:p>
            <a:r>
              <a:rPr sz="1400" b="0" i="0" u="none"/>
              <a:t>Align with evergreen development principles</a:t>
            </a:r>
            <a:endParaRPr sz="2800" b="0" i="0">
              <a:latin typeface="Arial"/>
            </a:endParaRPr>
          </a:p>
          <a:p>
            <a:r>
              <a:rPr sz="1400" b="0" i="0" u="none"/>
              <a:t>Include test and documentation updates</a:t>
            </a:r>
            <a:endParaRPr sz="2800" b="0" i="0">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0" i="0" u="none"/>
              <a:t>Brownfield Software Development</a:t>
            </a:r>
          </a:p>
          <a:p>
            <a:r>
              <a:rPr sz="2750" b="0" i="0" u="none"/>
              <a:t>AI Implementation Workflow</a:t>
            </a:r>
          </a:p>
          <a:p>
            <a:r>
              <a:rPr sz="2750" b="0" i="0" u="none"/>
              <a:t>Building a Backlog</a:t>
            </a:r>
          </a:p>
          <a:p>
            <a:r>
              <a:rPr sz="2750" b="1" i="0" u="none"/>
              <a:t>▶ AI Assisted Pull Requests</a:t>
            </a:r>
          </a:p>
          <a:p>
            <a:r>
              <a:rPr sz="2750" b="0" i="0" u="none"/>
              <a:t>Addressing Technical Debt</a:t>
            </a:r>
          </a:p>
          <a:p>
            <a:r>
              <a:rPr sz="2750" b="0" i="0" u="none"/>
              <a:t>Multi-Implementation Comparison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AI-Assisted Pull Request Workflows</a:t>
            </a:r>
          </a:p>
        </p:txBody>
      </p:sp>
      <p:sp>
        <p:nvSpPr>
          <p:cNvPr id="3" name="Subtitle 2"/>
          <p:cNvSpPr>
            <a:spLocks noGrp="1"/>
          </p:cNvSpPr>
          <p:nvPr>
            <p:ph type="subTitle" idx="1"/>
          </p:nvPr>
        </p:nvSpPr>
        <p:spPr/>
        <p:txBody>
          <a:bodyPr wrap="square">
            <a:normAutofit/>
          </a:bodyPr>
          <a:lstStyle/>
          <a:p>
            <a:pPr>
              <a:buNone/>
            </a:pPr>
            <a:r>
              <a:rPr b="0" i="0" u="none"/>
              <a:t>Pull Requests That Actually Get Reviewed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Pull Request Lifecycle</a:t>
            </a:r>
          </a:p>
        </p:txBody>
      </p:sp>
      <p:graphicFrame>
        <p:nvGraphicFramePr>
          <p:cNvPr id="3" name="Table 2"/>
          <p:cNvGraphicFramePr>
            <a:graphicFrameLocks noGrp="1"/>
          </p:cNvGraphicFramePr>
          <p:nvPr/>
        </p:nvGraphicFramePr>
        <p:xfrm>
          <a:off x="1219200" y="1828800"/>
          <a:ext cx="9753600" cy="27432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Stage</a:t>
                      </a:r>
                    </a:p>
                  </a:txBody>
                  <a:tcPr>
                    <a:solidFill>
                      <a:schemeClr val="accent4"/>
                    </a:solidFill>
                  </a:tcPr>
                </a:tc>
                <a:tc>
                  <a:txBody>
                    <a:bodyPr/>
                    <a:lstStyle/>
                    <a:p>
                      <a:pPr>
                        <a:buNone/>
                        <a:defRPr sz="1600" b="1">
                          <a:solidFill>
                            <a:schemeClr val="bg1"/>
                          </a:solidFill>
                        </a:defRPr>
                      </a:pPr>
                      <a:r>
                        <a:rPr sz="1600" b="0" i="0" u="none"/>
                        <a:t>AI Assistance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Writing code</a:t>
                      </a:r>
                    </a:p>
                  </a:txBody>
                  <a:tcPr>
                    <a:solidFill>
                      <a:schemeClr val="accent4">
                        <a:lumMod val="20000"/>
                        <a:lumOff val="80000"/>
                      </a:schemeClr>
                    </a:solidFill>
                  </a:tcPr>
                </a:tc>
                <a:tc>
                  <a:txBody>
                    <a:bodyPr/>
                    <a:lstStyle/>
                    <a:p>
                      <a:pPr>
                        <a:buNone/>
                        <a:defRPr sz="1600" b="0">
                          <a:solidFill>
                            <a:schemeClr val="tx1"/>
                          </a:solidFill>
                        </a:defRPr>
                      </a:pPr>
                      <a:r>
                        <a:rPr sz="1600" b="0" i="0" u="none"/>
                        <a:t>Copilot completions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Drafting the PR</a:t>
                      </a:r>
                    </a:p>
                  </a:txBody>
                  <a:tcPr>
                    <a:solidFill>
                      <a:schemeClr val="accent4">
                        <a:lumMod val="8000"/>
                        <a:lumOff val="92000"/>
                      </a:schemeClr>
                    </a:solidFill>
                  </a:tcPr>
                </a:tc>
                <a:tc>
                  <a:txBody>
                    <a:bodyPr/>
                    <a:lstStyle/>
                    <a:p>
                      <a:pPr>
                        <a:buNone/>
                        <a:defRPr sz="1600" b="0">
                          <a:solidFill>
                            <a:schemeClr val="tx1"/>
                          </a:solidFill>
                        </a:defRPr>
                      </a:pPr>
                      <a:r>
                        <a:rPr sz="1600" b="0" i="0" u="none"/>
                        <a:t>Generated description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Code review</a:t>
                      </a:r>
                    </a:p>
                  </a:txBody>
                  <a:tcPr>
                    <a:solidFill>
                      <a:schemeClr val="accent4">
                        <a:lumMod val="20000"/>
                        <a:lumOff val="80000"/>
                      </a:schemeClr>
                    </a:solidFill>
                  </a:tcPr>
                </a:tc>
                <a:tc>
                  <a:txBody>
                    <a:bodyPr/>
                    <a:lstStyle/>
                    <a:p>
                      <a:pPr>
                        <a:buNone/>
                        <a:defRPr sz="1600" b="0">
                          <a:solidFill>
                            <a:schemeClr val="tx1"/>
                          </a:solidFill>
                        </a:defRPr>
                      </a:pPr>
                      <a:r>
                        <a:rPr sz="1600" b="0" i="0" u="none"/>
                        <a:t>Inline suggestions &amp; summaries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Addressing feedback</a:t>
                      </a:r>
                    </a:p>
                  </a:txBody>
                  <a:tcPr>
                    <a:solidFill>
                      <a:schemeClr val="accent4">
                        <a:lumMod val="8000"/>
                        <a:lumOff val="92000"/>
                      </a:schemeClr>
                    </a:solidFill>
                  </a:tcPr>
                </a:tc>
                <a:tc>
                  <a:txBody>
                    <a:bodyPr/>
                    <a:lstStyle/>
                    <a:p>
                      <a:pPr>
                        <a:buNone/>
                        <a:defRPr sz="1600" b="0">
                          <a:solidFill>
                            <a:schemeClr val="tx1"/>
                          </a:solidFill>
                        </a:defRPr>
                      </a:pPr>
                      <a:r>
                        <a:rPr sz="1600" b="0" i="0" u="none"/>
                        <a:t>Guided fixes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Final merge</a:t>
                      </a:r>
                    </a:p>
                  </a:txBody>
                  <a:tcPr>
                    <a:solidFill>
                      <a:schemeClr val="accent4">
                        <a:lumMod val="20000"/>
                        <a:lumOff val="80000"/>
                      </a:schemeClr>
                    </a:solidFill>
                  </a:tcPr>
                </a:tc>
                <a:tc>
                  <a:txBody>
                    <a:bodyPr/>
                    <a:lstStyle/>
                    <a:p>
                      <a:pPr>
                        <a:buNone/>
                        <a:defRPr sz="1600" b="0">
                          <a:solidFill>
                            <a:schemeClr val="tx1"/>
                          </a:solidFill>
                        </a:defRPr>
                      </a:pPr>
                      <a:r>
                        <a:rPr sz="1600" b="0" i="0" u="none"/>
                        <a:t>Automated checks</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AI-Generated PR Descriptions</a:t>
            </a:r>
          </a:p>
        </p:txBody>
      </p:sp>
      <p:sp>
        <p:nvSpPr>
          <p:cNvPr id="3" name="Content Placeholder 2"/>
          <p:cNvSpPr>
            <a:spLocks noGrp="1"/>
          </p:cNvSpPr>
          <p:nvPr>
            <p:ph idx="1"/>
          </p:nvPr>
        </p:nvSpPr>
        <p:spPr/>
        <p:txBody>
          <a:bodyPr wrap="square">
            <a:normAutofit/>
          </a:bodyPr>
          <a:lstStyle/>
          <a:p>
            <a:pPr>
              <a:buNone/>
            </a:pPr>
            <a:r>
              <a:rPr sz="1800" b="0" i="0" u="none"/>
              <a:t>GitHub Copilot can </a:t>
            </a:r>
            <a:r>
              <a:rPr sz="1800" b="1" i="0" u="none"/>
              <a:t>draft your PR description</a:t>
            </a:r>
            <a:r>
              <a:rPr sz="1800" b="0" i="0" u="none"/>
              <a:t> based on your diff:</a:t>
            </a:r>
            <a:endParaRPr sz="1800" b="0" i="0">
              <a:latin typeface="Consolas"/>
            </a:endParaRPr>
          </a:p>
          <a:p>
            <a:pPr>
              <a:buNone/>
            </a:pPr>
            <a:endParaRPr sz="1800" b="0" i="0">
              <a:latin typeface="Consolas"/>
            </a:endParaRPr>
          </a:p>
          <a:p>
            <a:r>
              <a:rPr sz="1800" b="0" i="0" u="none"/>
              <a:t>Summarizes </a:t>
            </a:r>
            <a:r>
              <a:rPr sz="1800" b="1" i="0" u="none"/>
              <a:t>what changed</a:t>
            </a:r>
            <a:r>
              <a:rPr sz="1800" b="0" i="0" u="none"/>
              <a:t> and </a:t>
            </a:r>
            <a:r>
              <a:rPr sz="1800" b="1" i="0" u="none"/>
              <a:t>why</a:t>
            </a:r>
            <a:endParaRPr sz="1800" b="0" i="0">
              <a:latin typeface="Consolas"/>
            </a:endParaRPr>
          </a:p>
          <a:p>
            <a:r>
              <a:rPr sz="1800" b="0" i="0" u="none"/>
              <a:t>Suggests </a:t>
            </a:r>
            <a:r>
              <a:rPr sz="1800" b="1" i="0" u="none"/>
              <a:t>testing instructions</a:t>
            </a:r>
            <a:endParaRPr sz="1800" b="0" i="0">
              <a:latin typeface="Consolas"/>
            </a:endParaRPr>
          </a:p>
          <a:p>
            <a:r>
              <a:rPr sz="1800" b="0" i="0" u="none"/>
              <a:t>Highlights </a:t>
            </a:r>
            <a:r>
              <a:rPr sz="1800" b="1" i="0" u="none"/>
              <a:t>breaking changes</a:t>
            </a:r>
            <a:endParaRPr sz="1800" b="0" i="0">
              <a:latin typeface="Consolas"/>
            </a:endParaRPr>
          </a:p>
          <a:p>
            <a:r>
              <a:rPr sz="1800" b="0" i="0" u="none"/>
              <a:t>Links related </a:t>
            </a:r>
            <a:r>
              <a:rPr sz="1800" b="1" i="0" u="none"/>
              <a:t>issues and tickets</a:t>
            </a:r>
            <a:endParaRPr sz="1800" b="0" i="0">
              <a:latin typeface="Consolas"/>
            </a:endParaRPr>
          </a:p>
          <a:p>
            <a:pPr>
              <a:buNone/>
            </a:pPr>
            <a:endParaRPr sz="1800" b="0" i="0">
              <a:latin typeface="Consolas"/>
            </a:endParaRPr>
          </a:p>
          <a:p>
            <a:pPr>
              <a:buNone/>
            </a:pPr>
            <a:r>
              <a:rPr sz="1800" b="0" i="1" u="none"/>
              <a:t>Use </a:t>
            </a:r>
            <a:r>
              <a:rPr sz="1800" b="0" i="1" u="none">
                <a:latin typeface="Consolas"/>
              </a:rPr>
              <a:t>gh pr create</a:t>
            </a:r>
            <a:r>
              <a:rPr sz="1800" b="0" i="1" u="none"/>
              <a:t> with Copilot in the CLI, or the </a:t>
            </a:r>
            <a:r>
              <a:rPr sz="1800" b="1" i="1" u="none"/>
              <a:t>GitHub web editor</a:t>
            </a:r>
            <a:r>
              <a:rPr sz="1800" b="0" i="1" u="none"/>
              <a:t> with AI suggestions</a:t>
            </a:r>
            <a:endParaRPr sz="1800" b="0" i="0">
              <a:latin typeface="Consola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AI-Powered Code Review</a:t>
            </a:r>
          </a:p>
        </p:txBody>
      </p:sp>
      <p:sp>
        <p:nvSpPr>
          <p:cNvPr id="3" name="Content Placeholder 2"/>
          <p:cNvSpPr>
            <a:spLocks noGrp="1"/>
          </p:cNvSpPr>
          <p:nvPr>
            <p:ph idx="1"/>
          </p:nvPr>
        </p:nvSpPr>
        <p:spPr/>
        <p:txBody>
          <a:bodyPr wrap="square">
            <a:normAutofit/>
          </a:bodyPr>
          <a:lstStyle/>
          <a:p>
            <a:pPr>
              <a:buNone/>
            </a:pPr>
            <a:r>
              <a:rPr sz="1800" b="0" i="0" u="none"/>
              <a:t>GitHub Copilot assists reviewers with:</a:t>
            </a:r>
            <a:endParaRPr sz="1800" b="0" i="0">
              <a:latin typeface="Consolas"/>
            </a:endParaRPr>
          </a:p>
          <a:p>
            <a:pPr>
              <a:buNone/>
            </a:pPr>
            <a:endParaRPr sz="1800" b="0" i="0">
              <a:latin typeface="Consolas"/>
            </a:endParaRPr>
          </a:p>
          <a:p>
            <a:r>
              <a:rPr sz="1800" b="1" i="0" u="none"/>
              <a:t>Inline explanations</a:t>
            </a:r>
            <a:r>
              <a:rPr sz="1800" b="0" i="0" u="none"/>
              <a:t> of complex code</a:t>
            </a:r>
            <a:endParaRPr sz="1800" b="0" i="0">
              <a:latin typeface="Consolas"/>
            </a:endParaRPr>
          </a:p>
          <a:p>
            <a:r>
              <a:rPr sz="1800" b="1" i="0" u="none"/>
              <a:t>Suggested improvements</a:t>
            </a:r>
            <a:r>
              <a:rPr sz="1800" b="0" i="0" u="none"/>
              <a:t> with rationale</a:t>
            </a:r>
            <a:endParaRPr sz="1800" b="0" i="0">
              <a:latin typeface="Consolas"/>
            </a:endParaRPr>
          </a:p>
          <a:p>
            <a:r>
              <a:rPr sz="1800" b="1" i="0" u="none"/>
              <a:t>Security vulnerability</a:t>
            </a:r>
            <a:r>
              <a:rPr sz="1800" b="0" i="0" u="none"/>
              <a:t> detection</a:t>
            </a:r>
            <a:endParaRPr sz="1800" b="0" i="0">
              <a:latin typeface="Consolas"/>
            </a:endParaRPr>
          </a:p>
          <a:p>
            <a:r>
              <a:rPr sz="1800" b="1" i="0" u="none"/>
              <a:t>Test coverage</a:t>
            </a:r>
            <a:r>
              <a:rPr sz="1800" b="0" i="0" u="none"/>
              <a:t> gap identification</a:t>
            </a:r>
            <a:endParaRPr sz="1800" b="0" i="0">
              <a:latin typeface="Consolas"/>
            </a:endParaRPr>
          </a:p>
          <a:p>
            <a:r>
              <a:rPr sz="1800" b="1" i="0" u="none"/>
              <a:t>Style and convention</a:t>
            </a:r>
            <a:r>
              <a:rPr sz="1800" b="0" i="0" u="none"/>
              <a:t> enforcement</a:t>
            </a:r>
            <a:endParaRPr sz="1800" b="0" i="0">
              <a:latin typeface="Consolas"/>
            </a:endParaRPr>
          </a:p>
          <a:p>
            <a:pPr>
              <a:buNone/>
            </a:pPr>
            <a:endParaRPr sz="1800" b="0" i="0">
              <a:latin typeface="Consolas"/>
            </a:endParaRPr>
          </a:p>
          <a:p>
            <a:pPr>
              <a:buNone/>
            </a:pPr>
            <a:r>
              <a:rPr sz="1800" b="0" i="1" u="none"/>
              <a:t>Use </a:t>
            </a:r>
            <a:r>
              <a:rPr sz="1800" b="0" i="1" u="none">
                <a:latin typeface="Consolas"/>
              </a:rPr>
              <a:t>@workspace</a:t>
            </a:r>
            <a:r>
              <a:rPr sz="1800" b="0" i="1" u="none"/>
              <a:t> in Copilot Chat to ask questions across the entire PR diff</a:t>
            </a:r>
            <a:endParaRPr sz="1800" b="0" i="0">
              <a:latin typeface="Consola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Copilot PR Summaries</a:t>
            </a:r>
          </a:p>
        </p:txBody>
      </p:sp>
      <p:sp>
        <p:nvSpPr>
          <p:cNvPr id="3" name="Content Placeholder 2"/>
          <p:cNvSpPr>
            <a:spLocks noGrp="1"/>
          </p:cNvSpPr>
          <p:nvPr>
            <p:ph idx="1"/>
          </p:nvPr>
        </p:nvSpPr>
        <p:spPr/>
        <p:txBody>
          <a:bodyPr wrap="square">
            <a:normAutofit/>
          </a:bodyPr>
          <a:lstStyle/>
          <a:p>
            <a:pPr>
              <a:buNone/>
            </a:pPr>
            <a:r>
              <a:rPr sz="1800" b="0" i="0" u="none"/>
              <a:t>GitHub Copilot can </a:t>
            </a:r>
            <a:r>
              <a:rPr sz="1800" b="1" i="0" u="none"/>
              <a:t>summarize large PRs</a:t>
            </a:r>
            <a:r>
              <a:rPr sz="1800" b="0" i="0" u="none"/>
              <a:t> automatically:</a:t>
            </a:r>
            <a:endParaRPr sz="1800" b="0" i="0">
              <a:latin typeface="Consolas"/>
            </a:endParaRPr>
          </a:p>
          <a:p>
            <a:pPr>
              <a:buNone/>
            </a:pPr>
            <a:endParaRPr sz="1800" b="0" i="0">
              <a:latin typeface="Consolas"/>
            </a:endParaRPr>
          </a:p>
          <a:p>
            <a:r>
              <a:rPr sz="1800" b="0" i="0" u="none"/>
              <a:t>Condenses hundreds of lines of diff into a </a:t>
            </a:r>
            <a:r>
              <a:rPr sz="1800" b="1" i="0" u="none"/>
              <a:t>paragraph</a:t>
            </a:r>
            <a:endParaRPr sz="1800" b="0" i="0">
              <a:latin typeface="Consolas"/>
            </a:endParaRPr>
          </a:p>
          <a:p>
            <a:r>
              <a:rPr sz="1800" b="0" i="0" u="none"/>
              <a:t>Categorizes changes: </a:t>
            </a:r>
            <a:r>
              <a:rPr sz="1800" b="0" i="1" u="none"/>
              <a:t>features, fixes, refactors</a:t>
            </a:r>
            <a:endParaRPr sz="1800" b="0" i="0">
              <a:latin typeface="Consolas"/>
            </a:endParaRPr>
          </a:p>
          <a:p>
            <a:r>
              <a:rPr sz="1800" b="0" i="0" u="none"/>
              <a:t>Flags </a:t>
            </a:r>
            <a:r>
              <a:rPr sz="1800" b="1" i="0" u="none"/>
              <a:t>high-risk areas</a:t>
            </a:r>
            <a:r>
              <a:rPr sz="1800" b="0" i="0" u="none"/>
              <a:t> that need closer review</a:t>
            </a:r>
            <a:endParaRPr sz="1800" b="0" i="0">
              <a:latin typeface="Consolas"/>
            </a:endParaRPr>
          </a:p>
          <a:p>
            <a:r>
              <a:rPr sz="1800" b="0" i="0" u="none"/>
              <a:t>Generates a </a:t>
            </a:r>
            <a:r>
              <a:rPr sz="1800" b="1" i="0" u="none"/>
              <a:t>changelog entry</a:t>
            </a:r>
            <a:r>
              <a:rPr sz="1800" b="0" i="0" u="none"/>
              <a:t> from the summary</a:t>
            </a:r>
            <a:endParaRPr sz="1800" b="0" i="0">
              <a:latin typeface="Consolas"/>
            </a:endParaRPr>
          </a:p>
          <a:p>
            <a:pPr>
              <a:buNone/>
            </a:pPr>
            <a:endParaRPr sz="1800" b="0" i="0">
              <a:latin typeface="Consolas"/>
            </a:endParaRPr>
          </a:p>
          <a:p>
            <a:pPr>
              <a:buNone/>
            </a:pPr>
            <a:r>
              <a:rPr sz="1800">
                <a:latin typeface="Consolas"/>
              </a:rPr>
              <a:t>GitHub.com → Pull Request → Copilot Summary button</a:t>
            </a:r>
            <a:endParaRPr sz="1800" b="0" i="0">
              <a:latin typeface="Consola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Responding to Review Feedback</a:t>
            </a:r>
          </a:p>
        </p:txBody>
      </p:sp>
      <p:sp>
        <p:nvSpPr>
          <p:cNvPr id="3" name="Content Placeholder 2"/>
          <p:cNvSpPr>
            <a:spLocks noGrp="1"/>
          </p:cNvSpPr>
          <p:nvPr>
            <p:ph idx="1"/>
          </p:nvPr>
        </p:nvSpPr>
        <p:spPr/>
        <p:txBody>
          <a:bodyPr wrap="square">
            <a:normAutofit/>
          </a:bodyPr>
          <a:lstStyle/>
          <a:p>
            <a:pPr>
              <a:buNone/>
            </a:pPr>
            <a:r>
              <a:rPr sz="2450" b="0" i="0" u="none"/>
              <a:t>AI accelerates </a:t>
            </a:r>
            <a:r>
              <a:rPr sz="2450" b="1" i="0" u="none"/>
              <a:t>addressing reviewer comments</a:t>
            </a:r>
            <a:r>
              <a:rPr sz="2450" b="0" i="0" u="none"/>
              <a:t>:</a:t>
            </a:r>
            <a:endParaRPr sz="2450" b="0" i="0">
              <a:latin typeface="Arial"/>
            </a:endParaRPr>
          </a:p>
          <a:p>
            <a:pPr>
              <a:buNone/>
            </a:pPr>
            <a:endParaRPr sz="2450" b="0" i="0">
              <a:latin typeface="Arial"/>
            </a:endParaRPr>
          </a:p>
          <a:p>
            <a:pPr>
              <a:buNone/>
            </a:pPr>
            <a:r>
              <a:rPr sz="2450" b="0" i="0" u="none"/>
              <a:t>1. Copilot suggests </a:t>
            </a:r>
            <a:r>
              <a:rPr sz="2450" b="1" i="0" u="none"/>
              <a:t>code fixes</a:t>
            </a:r>
            <a:r>
              <a:rPr sz="2450" b="0" i="0" u="none"/>
              <a:t> inline from review comments</a:t>
            </a:r>
            <a:endParaRPr sz="2450" b="0" i="0">
              <a:latin typeface="Arial"/>
            </a:endParaRPr>
          </a:p>
          <a:p>
            <a:pPr>
              <a:buNone/>
            </a:pPr>
            <a:r>
              <a:rPr sz="2450" b="0" i="0" u="none"/>
              <a:t>2. Ask Copilot Chat: </a:t>
            </a:r>
            <a:r>
              <a:rPr sz="2450" b="0" i="1" u="none"/>
              <a:t>"How do I fix this review comment?"</a:t>
            </a:r>
            <a:endParaRPr sz="2450" b="0" i="0">
              <a:latin typeface="Arial"/>
            </a:endParaRPr>
          </a:p>
          <a:p>
            <a:pPr>
              <a:buNone/>
            </a:pPr>
            <a:r>
              <a:rPr sz="2450" b="0" i="0" u="none"/>
              <a:t>3. Copilot </a:t>
            </a:r>
            <a:r>
              <a:rPr sz="2450" b="1" i="0" u="none"/>
              <a:t>Autofix</a:t>
            </a:r>
            <a:r>
              <a:rPr sz="2450" b="0" i="0" u="none"/>
              <a:t> resolves flagged security issues</a:t>
            </a:r>
            <a:endParaRPr sz="2450" b="0" i="0">
              <a:latin typeface="Arial"/>
            </a:endParaRPr>
          </a:p>
          <a:p>
            <a:pPr>
              <a:buNone/>
            </a:pPr>
            <a:r>
              <a:rPr sz="2450" b="0" i="0" u="none"/>
              <a:t>4. Batch-address similar comments across files</a:t>
            </a:r>
            <a:endParaRPr sz="2450" b="0" i="0">
              <a:latin typeface="Arial"/>
            </a:endParaRPr>
          </a:p>
          <a:p>
            <a:pPr>
              <a:buNone/>
            </a:pPr>
            <a:endParaRPr sz="2450" b="0" i="0">
              <a:latin typeface="Arial"/>
            </a:endParaRPr>
          </a:p>
          <a:p>
            <a:pPr>
              <a:buNone/>
            </a:pPr>
            <a:r>
              <a:rPr sz="2450" b="0" i="1" u="none"/>
              <a:t>🔁 The feedback loop closes faster when AI drafts the fix and the human approves it</a:t>
            </a:r>
            <a:endParaRPr sz="2450" b="0" i="0">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0" i="0" u="none"/>
              <a:t>Brownfield Software Development</a:t>
            </a:r>
          </a:p>
          <a:p>
            <a:r>
              <a:rPr sz="2750" b="0" i="0" u="none"/>
              <a:t>AI Implementation Workflow</a:t>
            </a:r>
          </a:p>
          <a:p>
            <a:r>
              <a:rPr sz="2750" b="0" i="0" u="none"/>
              <a:t>Building a Backlog</a:t>
            </a:r>
          </a:p>
          <a:p>
            <a:r>
              <a:rPr sz="2750" b="0" i="0" u="none"/>
              <a:t>AI Assisted Pull Requests</a:t>
            </a:r>
          </a:p>
          <a:p>
            <a:r>
              <a:rPr sz="2750" b="1" i="0" u="none"/>
              <a:t>▶ Addressing Technical Debt</a:t>
            </a:r>
          </a:p>
          <a:p>
            <a:r>
              <a:rPr sz="2750" b="0" i="0" u="none"/>
              <a:t>Multi-Implementation Comparison</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Addressing Technical Debt with Copilot</a:t>
            </a:r>
          </a:p>
        </p:txBody>
      </p:sp>
      <p:sp>
        <p:nvSpPr>
          <p:cNvPr id="3" name="Subtitle 2"/>
          <p:cNvSpPr>
            <a:spLocks noGrp="1"/>
          </p:cNvSpPr>
          <p:nvPr>
            <p:ph type="subTitle" idx="1"/>
          </p:nvPr>
        </p:nvSpPr>
        <p:spPr/>
        <p:txBody>
          <a:bodyPr wrap="square">
            <a:normAutofit/>
          </a:bodyPr>
          <a:lstStyle/>
          <a:p>
            <a:pPr>
              <a:buNone/>
            </a:pPr>
            <a:r>
              <a:rPr b="0" i="0" u="none"/>
              <a:t>Your Technical Debt Has an AI Payment Plan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Addressing Technical Debt</a:t>
            </a:r>
          </a:p>
        </p:txBody>
      </p:sp>
      <p:sp>
        <p:nvSpPr>
          <p:cNvPr id="3" name="Content Placeholder 2"/>
          <p:cNvSpPr>
            <a:spLocks noGrp="1"/>
          </p:cNvSpPr>
          <p:nvPr>
            <p:ph idx="1"/>
          </p:nvPr>
        </p:nvSpPr>
        <p:spPr/>
        <p:txBody>
          <a:bodyPr wrap="square">
            <a:normAutofit/>
          </a:bodyPr>
          <a:lstStyle/>
          <a:p>
            <a:r>
              <a:rPr sz="2800" b="0" i="0" u="none"/>
              <a:t>Prompting Copilot to address debt</a:t>
            </a:r>
            <a:endParaRPr sz="2800" b="0" i="0">
              <a:latin typeface="Arial"/>
            </a:endParaRPr>
          </a:p>
          <a:p>
            <a:r>
              <a:rPr sz="2800" b="0" i="0" u="none"/>
              <a:t>Assigning issues to Copilot</a:t>
            </a:r>
            <a:endParaRPr sz="2800" b="0" i="0">
              <a:latin typeface="Arial"/>
            </a:endParaRPr>
          </a:p>
          <a:p>
            <a:r>
              <a:rPr sz="2800" b="0" i="0" u="none"/>
              <a:t>What Copilot does with assigned issues</a:t>
            </a:r>
            <a:endParaRPr sz="2800" b="0" i="0">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Prompting Copilot to Address Technical Debt</a:t>
            </a:r>
          </a:p>
        </p:txBody>
      </p:sp>
      <p:sp>
        <p:nvSpPr>
          <p:cNvPr id="3" name="Content Placeholder 2"/>
          <p:cNvSpPr>
            <a:spLocks noGrp="1"/>
          </p:cNvSpPr>
          <p:nvPr>
            <p:ph idx="1"/>
          </p:nvPr>
        </p:nvSpPr>
        <p:spPr/>
        <p:txBody>
          <a:bodyPr wrap="square">
            <a:normAutofit/>
          </a:bodyPr>
          <a:lstStyle/>
          <a:p>
            <a:pPr>
              <a:buNone/>
            </a:pPr>
            <a:r>
              <a:rPr sz="2350" b="0" i="0" u="none"/>
              <a:t>Effective prompts include:</a:t>
            </a:r>
            <a:endParaRPr sz="2350" b="0" i="0">
              <a:latin typeface="Arial"/>
            </a:endParaRPr>
          </a:p>
          <a:p>
            <a:pPr lvl="1"/>
            <a:r>
              <a:rPr sz="2350" b="0" i="0" u="none"/>
              <a:t>Clear description of the debt</a:t>
            </a:r>
            <a:endParaRPr sz="2350" b="0" i="0">
              <a:latin typeface="Arial"/>
            </a:endParaRPr>
          </a:p>
          <a:p>
            <a:pPr lvl="1"/>
            <a:r>
              <a:rPr sz="2350" b="0" i="0" u="none"/>
              <a:t>Constraints and architectural rules</a:t>
            </a:r>
            <a:endParaRPr sz="2350" b="0" i="0">
              <a:latin typeface="Arial"/>
            </a:endParaRPr>
          </a:p>
          <a:p>
            <a:pPr lvl="1"/>
            <a:r>
              <a:rPr sz="2350" b="0" i="0" u="none"/>
              <a:t>Expected outcomes</a:t>
            </a:r>
            <a:endParaRPr sz="2350" b="0" i="0">
              <a:latin typeface="Arial"/>
            </a:endParaRPr>
          </a:p>
          <a:p>
            <a:pPr lvl="1"/>
            <a:r>
              <a:rPr sz="2350" b="0" i="0" u="none"/>
              <a:t>Required tests and documentation updates</a:t>
            </a:r>
            <a:endParaRPr sz="2350" b="0" i="0">
              <a:latin typeface="Arial"/>
            </a:endParaRPr>
          </a:p>
          <a:p>
            <a:pPr lvl="1"/>
            <a:r>
              <a:rPr sz="2350" b="0" i="0" u="none"/>
              <a:t>Provenance requirements</a:t>
            </a:r>
            <a:endParaRPr sz="2350" b="0" i="0">
              <a:latin typeface="Arial"/>
            </a:endParaRPr>
          </a:p>
          <a:p>
            <a:pPr>
              <a:buNone/>
            </a:pPr>
            <a:r>
              <a:rPr sz="2350" b="0" i="0" u="none"/>
              <a:t>Benefits</a:t>
            </a:r>
            <a:endParaRPr sz="2350" b="0" i="0">
              <a:latin typeface="Arial"/>
            </a:endParaRPr>
          </a:p>
          <a:p>
            <a:pPr lvl="1"/>
            <a:r>
              <a:rPr sz="2350" b="0" i="0" u="none"/>
              <a:t>Faster remediation</a:t>
            </a:r>
            <a:endParaRPr sz="2350" b="0" i="0">
              <a:latin typeface="Arial"/>
            </a:endParaRPr>
          </a:p>
          <a:p>
            <a:pPr lvl="1"/>
            <a:r>
              <a:rPr sz="2350" b="0" i="0" u="none"/>
              <a:t>Consistent application of patterns</a:t>
            </a:r>
            <a:endParaRPr sz="2350" b="0" i="0">
              <a:latin typeface="Arial"/>
            </a:endParaRPr>
          </a:p>
          <a:p>
            <a:pPr lvl="1"/>
            <a:r>
              <a:rPr sz="2350" b="0" i="0" u="none"/>
              <a:t>Reduced manual effort</a:t>
            </a:r>
            <a:endParaRPr sz="2350" b="0" i="0">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Assigning Issues to Copilot</a:t>
            </a:r>
          </a:p>
        </p:txBody>
      </p:sp>
      <p:sp>
        <p:nvSpPr>
          <p:cNvPr id="3" name="Content Placeholder 2"/>
          <p:cNvSpPr>
            <a:spLocks noGrp="1"/>
          </p:cNvSpPr>
          <p:nvPr>
            <p:ph idx="1"/>
          </p:nvPr>
        </p:nvSpPr>
        <p:spPr/>
        <p:txBody>
          <a:bodyPr wrap="square">
            <a:normAutofit/>
          </a:bodyPr>
          <a:lstStyle/>
          <a:p>
            <a:pPr>
              <a:buNone/>
            </a:pPr>
            <a:r>
              <a:rPr sz="2300" b="0" i="0" u="none"/>
              <a:t>How assignment works</a:t>
            </a:r>
            <a:endParaRPr sz="2300" b="0" i="0">
              <a:latin typeface="Arial"/>
            </a:endParaRPr>
          </a:p>
          <a:p>
            <a:pPr lvl="1"/>
            <a:r>
              <a:rPr sz="2300" b="0" i="0" u="none"/>
              <a:t>Convert technical debt into GitHub issues</a:t>
            </a:r>
            <a:endParaRPr sz="2300" b="0" i="0">
              <a:latin typeface="Arial"/>
            </a:endParaRPr>
          </a:p>
          <a:p>
            <a:pPr lvl="1"/>
            <a:r>
              <a:rPr sz="2300" b="0" i="0" u="none"/>
              <a:t>Provide context, constraints, and acceptance criteria</a:t>
            </a:r>
            <a:endParaRPr sz="2300" b="0" i="0">
              <a:latin typeface="Arial"/>
            </a:endParaRPr>
          </a:p>
          <a:p>
            <a:pPr lvl="1"/>
            <a:r>
              <a:rPr sz="2300" b="0" i="0" u="none"/>
              <a:t>Use Copilot to draft remediation steps</a:t>
            </a:r>
            <a:endParaRPr sz="2300" b="0" i="0">
              <a:latin typeface="Arial"/>
            </a:endParaRPr>
          </a:p>
          <a:p>
            <a:pPr lvl="1"/>
            <a:r>
              <a:rPr sz="2300" b="0" i="0" u="none"/>
              <a:t>Let Copilot propose code changes in PRs</a:t>
            </a:r>
            <a:endParaRPr sz="2300" b="0" i="0">
              <a:latin typeface="Arial"/>
            </a:endParaRPr>
          </a:p>
          <a:p>
            <a:pPr>
              <a:buNone/>
            </a:pPr>
            <a:endParaRPr sz="2300" b="0" i="0">
              <a:latin typeface="Arial"/>
            </a:endParaRPr>
          </a:p>
          <a:p>
            <a:pPr>
              <a:buNone/>
            </a:pPr>
            <a:r>
              <a:rPr sz="2300" b="0" i="0" u="none"/>
              <a:t>Why assign issues?</a:t>
            </a:r>
            <a:endParaRPr sz="2300" b="0" i="0">
              <a:latin typeface="Arial"/>
            </a:endParaRPr>
          </a:p>
          <a:p>
            <a:pPr lvl="1"/>
            <a:r>
              <a:rPr sz="2300" b="0" i="0" u="none"/>
              <a:t>Creates a repeatable workflow</a:t>
            </a:r>
            <a:endParaRPr sz="2300" b="0" i="0">
              <a:latin typeface="Arial"/>
            </a:endParaRPr>
          </a:p>
          <a:p>
            <a:pPr lvl="1"/>
            <a:r>
              <a:rPr sz="2300" b="0" i="0" u="none"/>
              <a:t>Keeps humans in the reviewer role</a:t>
            </a:r>
            <a:endParaRPr sz="2300" b="0" i="0">
              <a:latin typeface="Arial"/>
            </a:endParaRPr>
          </a:p>
          <a:p>
            <a:pPr lvl="1"/>
            <a:r>
              <a:rPr sz="2300" b="0" i="0" u="none"/>
              <a:t>Ensures traceability and provenance</a:t>
            </a:r>
            <a:endParaRPr sz="2300" b="0" i="0">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What Copilot Does With Assigned Issues</a:t>
            </a:r>
          </a:p>
        </p:txBody>
      </p:sp>
      <p:sp>
        <p:nvSpPr>
          <p:cNvPr id="3" name="Content Placeholder 2"/>
          <p:cNvSpPr>
            <a:spLocks noGrp="1"/>
          </p:cNvSpPr>
          <p:nvPr>
            <p:ph idx="1"/>
          </p:nvPr>
        </p:nvSpPr>
        <p:spPr/>
        <p:txBody>
          <a:bodyPr wrap="square">
            <a:normAutofit/>
          </a:bodyPr>
          <a:lstStyle/>
          <a:p>
            <a:r>
              <a:rPr sz="2800" b="0" i="0" u="none"/>
              <a:t>Copilot reads the issue description and linked context</a:t>
            </a:r>
            <a:endParaRPr sz="2800" b="0" i="0">
              <a:latin typeface="Arial"/>
            </a:endParaRPr>
          </a:p>
          <a:p>
            <a:r>
              <a:rPr sz="2800" b="0" i="0" u="none"/>
              <a:t>Generates a proposed plan or implementation approach</a:t>
            </a:r>
            <a:endParaRPr sz="2800" b="0" i="0">
              <a:latin typeface="Arial"/>
            </a:endParaRPr>
          </a:p>
          <a:p>
            <a:r>
              <a:rPr sz="2800" b="0" i="0" u="none"/>
              <a:t>Creates or updates pull requests with code changes</a:t>
            </a:r>
            <a:endParaRPr sz="2800" b="0" i="0">
              <a:latin typeface="Arial"/>
            </a:endParaRPr>
          </a:p>
          <a:p>
            <a:r>
              <a:rPr sz="2800" b="0" i="0" u="none"/>
              <a:t>Adds explanations, tests, and documentation as needed</a:t>
            </a:r>
            <a:endParaRPr sz="2800" b="0" i="0">
              <a:latin typeface="Arial"/>
            </a:endParaRPr>
          </a:p>
          <a:p>
            <a:r>
              <a:rPr sz="2800" b="0" i="0" u="none"/>
              <a:t>Iterates based on review comments</a:t>
            </a:r>
            <a:endParaRPr sz="2800" b="0" i="0">
              <a:latin typeface="Arial"/>
            </a:endParaRPr>
          </a:p>
          <a:p>
            <a:r>
              <a:rPr sz="2800" b="0" i="0" u="none"/>
              <a:t>Maintains traceability between issue → PR → commits</a:t>
            </a:r>
            <a:endParaRPr sz="2800" b="0" i="0">
              <a:latin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50" b="0" i="0" u="none" dirty="0"/>
              <a:t>Prompt</a:t>
            </a:r>
            <a:r>
              <a:rPr lang="en-US" sz="2850" b="0" i="0" u="none" dirty="0"/>
              <a:t>ing</a:t>
            </a:r>
            <a:r>
              <a:rPr sz="2850" b="0" i="0" u="none" dirty="0"/>
              <a:t> Copilot to Address Technical Debt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50" b="0" i="0" u="none"/>
              <a:t>Exercise: Prompt Copilot to Address Technical Debt</a:t>
            </a:r>
          </a:p>
        </p:txBody>
      </p:sp>
      <p:sp>
        <p:nvSpPr>
          <p:cNvPr id="3" name="Content Placeholder 2"/>
          <p:cNvSpPr>
            <a:spLocks noGrp="1"/>
          </p:cNvSpPr>
          <p:nvPr>
            <p:ph sz="half" idx="1"/>
          </p:nvPr>
        </p:nvSpPr>
        <p:spPr/>
        <p:txBody>
          <a:bodyPr wrap="square">
            <a:normAutofit/>
          </a:bodyPr>
          <a:lstStyle/>
          <a:p>
            <a:pPr>
              <a:buNone/>
            </a:pPr>
            <a:r>
              <a:rPr sz="1300" b="0" i="0" u="none"/>
              <a:t>Objectives</a:t>
            </a:r>
            <a:endParaRPr sz="1300" b="0" i="0">
              <a:latin typeface="Arial"/>
            </a:endParaRPr>
          </a:p>
          <a:p>
            <a:pPr>
              <a:buNone/>
            </a:pPr>
            <a:endParaRPr sz="1300" b="0" i="0">
              <a:latin typeface="Arial"/>
            </a:endParaRPr>
          </a:p>
          <a:p>
            <a:r>
              <a:rPr sz="1300" b="0" i="0" u="none"/>
              <a:t>Practice writing high-signal prompts</a:t>
            </a:r>
            <a:endParaRPr sz="1300" b="0" i="0">
              <a:latin typeface="Arial"/>
            </a:endParaRPr>
          </a:p>
          <a:p>
            <a:r>
              <a:rPr sz="1300" b="0" i="0" u="none"/>
              <a:t>Apply architectural constraints</a:t>
            </a:r>
            <a:endParaRPr sz="1300" b="0" i="0">
              <a:latin typeface="Arial"/>
            </a:endParaRPr>
          </a:p>
          <a:p>
            <a:r>
              <a:rPr sz="1300" b="0" i="0" u="none"/>
              <a:t>Produce safe, incremental remediation requests</a:t>
            </a:r>
            <a:endParaRPr sz="1300" b="0" i="0">
              <a:latin typeface="Arial"/>
            </a:endParaRPr>
          </a:p>
          <a:p>
            <a:pPr>
              <a:buNone/>
            </a:pPr>
            <a:endParaRPr sz="1300" b="0" i="0">
              <a:latin typeface="Arial"/>
            </a:endParaRPr>
          </a:p>
          <a:p>
            <a:pPr>
              <a:buNone/>
            </a:pPr>
            <a:r>
              <a:rPr sz="1300" b="0" i="0" u="none"/>
              <a:t>Activities</a:t>
            </a:r>
            <a:endParaRPr sz="1300" b="0" i="0">
              <a:latin typeface="Arial"/>
            </a:endParaRPr>
          </a:p>
          <a:p>
            <a:pPr>
              <a:buNone/>
            </a:pPr>
            <a:endParaRPr sz="1300" b="0" i="0">
              <a:latin typeface="Arial"/>
            </a:endParaRPr>
          </a:p>
          <a:p>
            <a:pPr>
              <a:buNone/>
            </a:pPr>
            <a:r>
              <a:rPr sz="1300" b="0" i="0" u="none"/>
              <a:t>1. Select a small piece of technical debt.</a:t>
            </a:r>
            <a:endParaRPr sz="1300" b="0" i="0">
              <a:latin typeface="Arial"/>
            </a:endParaRPr>
          </a:p>
          <a:p>
            <a:pPr>
              <a:buNone/>
            </a:pPr>
            <a:r>
              <a:rPr sz="1300" b="0" i="0" u="none"/>
              <a:t>2. Write a prompt that includes:</a:t>
            </a:r>
            <a:endParaRPr sz="1300" b="0" i="0">
              <a:latin typeface="Arial"/>
            </a:endParaRPr>
          </a:p>
          <a:p>
            <a:pPr lvl="1"/>
            <a:r>
              <a:rPr sz="1300" b="0" i="0" u="none"/>
              <a:t>Description of the debt</a:t>
            </a:r>
            <a:endParaRPr sz="1300" b="0" i="0">
              <a:latin typeface="Arial"/>
            </a:endParaRPr>
          </a:p>
          <a:p>
            <a:pPr lvl="1"/>
            <a:r>
              <a:rPr sz="1300" b="0" i="0" u="none"/>
              <a:t>Constraints and rules</a:t>
            </a:r>
            <a:endParaRPr sz="1300" b="0" i="0">
              <a:latin typeface="Arial"/>
            </a:endParaRPr>
          </a:p>
          <a:p>
            <a:pPr lvl="1"/>
            <a:r>
              <a:rPr sz="1300" b="0" i="0" u="none"/>
              <a:t>Expected behavior</a:t>
            </a:r>
            <a:endParaRPr sz="1300" b="0" i="0">
              <a:latin typeface="Arial"/>
            </a:endParaRPr>
          </a:p>
          <a:p>
            <a:pPr lvl="1"/>
            <a:r>
              <a:rPr sz="1300" b="0" i="0" u="none"/>
              <a:t>Required tests and documentation</a:t>
            </a:r>
            <a:endParaRPr sz="13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Ask Copilot to propose a remediation.</a:t>
            </a:r>
            <a:endParaRPr sz="2800" b="0" i="0">
              <a:latin typeface="Arial"/>
            </a:endParaRPr>
          </a:p>
          <a:p>
            <a:pPr>
              <a:buNone/>
            </a:pPr>
            <a:r>
              <a:rPr sz="1400" b="0" i="0" u="none"/>
              <a:t>4. Review the output for correctness.</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a:buNone/>
            </a:pPr>
            <a:endParaRPr sz="2800" b="0" i="0">
              <a:latin typeface="Arial"/>
            </a:endParaRPr>
          </a:p>
          <a:p>
            <a:r>
              <a:rPr sz="1400" b="0" i="0" u="none"/>
              <a:t>Prompt is clear, scoped, and actionable</a:t>
            </a:r>
            <a:endParaRPr sz="2800" b="0" i="0">
              <a:latin typeface="Arial"/>
            </a:endParaRPr>
          </a:p>
          <a:p>
            <a:r>
              <a:rPr sz="1400" b="0" i="0" u="none"/>
              <a:t>Copilot produces a safe, incremental change</a:t>
            </a:r>
            <a:endParaRPr sz="2800" b="0" i="0">
              <a:latin typeface="Arial"/>
            </a:endParaRPr>
          </a:p>
          <a:p>
            <a:r>
              <a:rPr sz="1400" b="0" i="0" u="none"/>
              <a:t>Output aligns with architectural rules</a:t>
            </a:r>
            <a:endParaRPr sz="2800" b="0" i="0">
              <a:latin typeface="Arial"/>
            </a:endParaRPr>
          </a:p>
          <a:p>
            <a:r>
              <a:rPr sz="1400" b="0" i="0" u="none"/>
              <a:t>Provenance metadata is included</a:t>
            </a:r>
            <a:endParaRPr sz="2800" b="0" i="0">
              <a:latin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dirty="0"/>
              <a:t>Assigning an Issue to Copilot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Exercise: Assigning an Issue to Copilot</a:t>
            </a:r>
          </a:p>
        </p:txBody>
      </p:sp>
      <p:sp>
        <p:nvSpPr>
          <p:cNvPr id="3" name="Content Placeholder 2"/>
          <p:cNvSpPr>
            <a:spLocks noGrp="1"/>
          </p:cNvSpPr>
          <p:nvPr>
            <p:ph sz="half" idx="1"/>
          </p:nvPr>
        </p:nvSpPr>
        <p:spPr/>
        <p:txBody>
          <a:bodyPr wrap="square">
            <a:normAutofit/>
          </a:bodyPr>
          <a:lstStyle/>
          <a:p>
            <a:pPr>
              <a:buNone/>
            </a:pPr>
            <a:r>
              <a:rPr sz="1200" b="0" i="0" u="none"/>
              <a:t>Objectives</a:t>
            </a:r>
            <a:endParaRPr sz="1200" b="0" i="0">
              <a:latin typeface="Arial"/>
            </a:endParaRPr>
          </a:p>
          <a:p>
            <a:pPr>
              <a:buNone/>
            </a:pPr>
            <a:endParaRPr sz="1200" b="0" i="0">
              <a:latin typeface="Arial"/>
            </a:endParaRPr>
          </a:p>
          <a:p>
            <a:r>
              <a:rPr sz="1200" b="0" i="0" u="none"/>
              <a:t>Convert technical debt into a structured issue</a:t>
            </a:r>
            <a:endParaRPr sz="1200" b="0" i="0">
              <a:latin typeface="Arial"/>
            </a:endParaRPr>
          </a:p>
          <a:p>
            <a:r>
              <a:rPr sz="1200" b="0" i="0" u="none"/>
              <a:t>Provide Copilot with actionable context</a:t>
            </a:r>
            <a:endParaRPr sz="1200" b="0" i="0">
              <a:latin typeface="Arial"/>
            </a:endParaRPr>
          </a:p>
          <a:p>
            <a:r>
              <a:rPr sz="1200" b="0" i="0" u="none"/>
              <a:t>Practice writing acceptance criteria</a:t>
            </a:r>
            <a:endParaRPr sz="1200" b="0" i="0">
              <a:latin typeface="Arial"/>
            </a:endParaRPr>
          </a:p>
          <a:p>
            <a:pPr>
              <a:buNone/>
            </a:pPr>
            <a:endParaRPr sz="1200" b="0" i="0">
              <a:latin typeface="Arial"/>
            </a:endParaRPr>
          </a:p>
          <a:p>
            <a:pPr>
              <a:buNone/>
            </a:pPr>
            <a:r>
              <a:rPr sz="1200" b="0" i="0" u="none"/>
              <a:t>Activities</a:t>
            </a:r>
            <a:endParaRPr sz="1200" b="0" i="0">
              <a:latin typeface="Arial"/>
            </a:endParaRPr>
          </a:p>
          <a:p>
            <a:pPr>
              <a:buNone/>
            </a:pPr>
            <a:endParaRPr sz="1200" b="0" i="0">
              <a:latin typeface="Arial"/>
            </a:endParaRPr>
          </a:p>
          <a:p>
            <a:pPr>
              <a:buNone/>
            </a:pPr>
            <a:r>
              <a:rPr sz="1200" b="0" i="0" u="none"/>
              <a:t>1. Select a technical debt item.</a:t>
            </a:r>
            <a:endParaRPr sz="1200" b="0" i="0">
              <a:latin typeface="Arial"/>
            </a:endParaRPr>
          </a:p>
          <a:p>
            <a:pPr>
              <a:buNone/>
            </a:pPr>
            <a:r>
              <a:rPr sz="1200" b="0" i="0" u="none"/>
              <a:t>2. Create a GitHub-style issue with:</a:t>
            </a:r>
            <a:endParaRPr sz="1200" b="0" i="0">
              <a:latin typeface="Arial"/>
            </a:endParaRPr>
          </a:p>
          <a:p>
            <a:pPr lvl="1"/>
            <a:r>
              <a:rPr sz="1200" b="0" i="0" u="none"/>
              <a:t>Title</a:t>
            </a:r>
            <a:endParaRPr sz="1200" b="0" i="0">
              <a:latin typeface="Arial"/>
            </a:endParaRPr>
          </a:p>
          <a:p>
            <a:pPr lvl="1"/>
            <a:r>
              <a:rPr sz="1200" b="0" i="0" u="none"/>
              <a:t>Description</a:t>
            </a:r>
            <a:endParaRPr sz="1200" b="0" i="0">
              <a:latin typeface="Arial"/>
            </a:endParaRPr>
          </a:p>
          <a:p>
            <a:pPr lvl="1"/>
            <a:r>
              <a:rPr sz="1200" b="0" i="0" u="none"/>
              <a:t>Impact and risk</a:t>
            </a:r>
            <a:endParaRPr sz="1200" b="0" i="0">
              <a:latin typeface="Arial"/>
            </a:endParaRPr>
          </a:p>
          <a:p>
            <a:pPr lvl="1"/>
            <a:r>
              <a:rPr sz="1200" b="0" i="0" u="none"/>
              <a:t>Acceptance criteria</a:t>
            </a:r>
            <a:endParaRPr sz="1200" b="0" i="0">
              <a:latin typeface="Arial"/>
            </a:endParaRPr>
          </a:p>
          <a:p>
            <a:pPr lvl="1"/>
            <a:r>
              <a:rPr sz="1200" b="0" i="0" u="none"/>
              <a:t>Provenance metadata</a:t>
            </a:r>
            <a:endParaRPr sz="12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Assign the issue to Copilot.</a:t>
            </a:r>
            <a:endParaRPr sz="2800" b="0" i="0">
              <a:latin typeface="Arial"/>
            </a:endParaRPr>
          </a:p>
          <a:p>
            <a:pPr>
              <a:buNone/>
            </a:pPr>
            <a:r>
              <a:rPr sz="1400" b="0" i="0" u="none"/>
              <a:t>4. Review Copilot's proposed remediation.</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a:buNone/>
            </a:pPr>
            <a:endParaRPr sz="2800" b="0" i="0">
              <a:latin typeface="Arial"/>
            </a:endParaRPr>
          </a:p>
          <a:p>
            <a:r>
              <a:rPr sz="1400" b="0" i="0" u="none"/>
              <a:t>Issue is clear and well-structured</a:t>
            </a:r>
            <a:endParaRPr sz="2800" b="0" i="0">
              <a:latin typeface="Arial"/>
            </a:endParaRPr>
          </a:p>
          <a:p>
            <a:r>
              <a:rPr sz="1400" b="0" i="0" u="none"/>
              <a:t>Acceptance criteria are testable</a:t>
            </a:r>
            <a:endParaRPr sz="2800" b="0" i="0">
              <a:latin typeface="Arial"/>
            </a:endParaRPr>
          </a:p>
          <a:p>
            <a:r>
              <a:rPr sz="1400" b="0" i="0" u="none"/>
              <a:t>Copilot produces a relevant draft</a:t>
            </a:r>
            <a:endParaRPr sz="2800" b="0" i="0">
              <a:latin typeface="Arial"/>
            </a:endParaRPr>
          </a:p>
          <a:p>
            <a:r>
              <a:rPr sz="1400" b="0" i="0" u="none"/>
              <a:t>Provenance metadata is present</a:t>
            </a:r>
            <a:endParaRPr sz="2800" b="0" i="0">
              <a:latin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dirty="0"/>
              <a:t>Delegating Work to Copilot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Delegating Work to Copilot</a:t>
            </a:r>
          </a:p>
        </p:txBody>
      </p:sp>
      <p:sp>
        <p:nvSpPr>
          <p:cNvPr id="3" name="Content Placeholder 2"/>
          <p:cNvSpPr>
            <a:spLocks noGrp="1"/>
          </p:cNvSpPr>
          <p:nvPr>
            <p:ph sz="half" idx="1"/>
          </p:nvPr>
        </p:nvSpPr>
        <p:spPr/>
        <p:txBody>
          <a:bodyPr wrap="square">
            <a:normAutofit/>
          </a:bodyPr>
          <a:lstStyle/>
          <a:p>
            <a:pPr>
              <a:buNone/>
            </a:pPr>
            <a:r>
              <a:rPr sz="1200" b="0" i="0" u="none"/>
              <a:t>Objectives</a:t>
            </a:r>
            <a:endParaRPr sz="1200" b="0" i="0">
              <a:latin typeface="Arial"/>
            </a:endParaRPr>
          </a:p>
          <a:p>
            <a:pPr>
              <a:buNone/>
            </a:pPr>
            <a:endParaRPr sz="1200" b="0" i="0">
              <a:latin typeface="Arial"/>
            </a:endParaRPr>
          </a:p>
          <a:p>
            <a:r>
              <a:rPr sz="1200" b="0" i="0" u="none"/>
              <a:t>Practice delegating multi-step tasks</a:t>
            </a:r>
            <a:endParaRPr sz="1200" b="0" i="0">
              <a:latin typeface="Arial"/>
            </a:endParaRPr>
          </a:p>
          <a:p>
            <a:r>
              <a:rPr sz="1200" b="0" i="0" u="none"/>
              <a:t>Ensure Copilot follows architectural rules</a:t>
            </a:r>
            <a:endParaRPr sz="1200" b="0" i="0">
              <a:latin typeface="Arial"/>
            </a:endParaRPr>
          </a:p>
          <a:p>
            <a:r>
              <a:rPr sz="1200" b="0" i="0" u="none"/>
              <a:t>Validate AI-generated remediation plans</a:t>
            </a:r>
            <a:endParaRPr sz="1200" b="0" i="0">
              <a:latin typeface="Arial"/>
            </a:endParaRPr>
          </a:p>
          <a:p>
            <a:pPr>
              <a:buNone/>
            </a:pPr>
            <a:endParaRPr sz="1200" b="0" i="0">
              <a:latin typeface="Arial"/>
            </a:endParaRPr>
          </a:p>
          <a:p>
            <a:pPr>
              <a:buNone/>
            </a:pPr>
            <a:r>
              <a:rPr sz="1200" b="0" i="0" u="none"/>
              <a:t>Activities</a:t>
            </a:r>
            <a:endParaRPr sz="1200" b="0" i="0">
              <a:latin typeface="Arial"/>
            </a:endParaRPr>
          </a:p>
          <a:p>
            <a:pPr>
              <a:buNone/>
            </a:pPr>
            <a:endParaRPr sz="1200" b="0" i="0">
              <a:latin typeface="Arial"/>
            </a:endParaRPr>
          </a:p>
          <a:p>
            <a:pPr>
              <a:buNone/>
            </a:pPr>
            <a:r>
              <a:rPr sz="1200" b="0" i="0" u="none"/>
              <a:t>1. Select a multi-step technical debt item.</a:t>
            </a:r>
            <a:endParaRPr sz="1200" b="0" i="0">
              <a:latin typeface="Arial"/>
            </a:endParaRPr>
          </a:p>
          <a:p>
            <a:pPr>
              <a:buNone/>
            </a:pPr>
            <a:r>
              <a:rPr sz="1200" b="0" i="0" u="none"/>
              <a:t>2. Ask Copilot to:</a:t>
            </a:r>
            <a:endParaRPr sz="1200" b="0" i="0">
              <a:latin typeface="Arial"/>
            </a:endParaRPr>
          </a:p>
          <a:p>
            <a:pPr lvl="1"/>
            <a:r>
              <a:rPr sz="1200" b="0" i="0" u="none"/>
              <a:t>Analyze the problem</a:t>
            </a:r>
            <a:endParaRPr sz="1200" b="0" i="0">
              <a:latin typeface="Arial"/>
            </a:endParaRPr>
          </a:p>
          <a:p>
            <a:pPr lvl="1"/>
            <a:r>
              <a:rPr sz="1200" b="0" i="0" u="none"/>
              <a:t>Propose a remediation plan</a:t>
            </a:r>
            <a:endParaRPr sz="1200" b="0" i="0">
              <a:latin typeface="Arial"/>
            </a:endParaRPr>
          </a:p>
          <a:p>
            <a:pPr lvl="1"/>
            <a:r>
              <a:rPr sz="1200" b="0" i="0" u="none"/>
              <a:t>Generate code changes</a:t>
            </a:r>
            <a:endParaRPr sz="1200" b="0" i="0">
              <a:latin typeface="Arial"/>
            </a:endParaRPr>
          </a:p>
          <a:p>
            <a:pPr lvl="1"/>
            <a:r>
              <a:rPr sz="1200" b="0" i="0" u="none"/>
              <a:t>Update tests</a:t>
            </a:r>
            <a:endParaRPr sz="1200" b="0" i="0">
              <a:latin typeface="Arial"/>
            </a:endParaRPr>
          </a:p>
          <a:p>
            <a:pPr lvl="1"/>
            <a:r>
              <a:rPr sz="1200" b="0" i="0" u="none"/>
              <a:t>Update documentation</a:t>
            </a:r>
            <a:endParaRPr sz="12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Review Copilot's output.</a:t>
            </a:r>
            <a:endParaRPr sz="2800" b="0" i="0">
              <a:latin typeface="Arial"/>
            </a:endParaRPr>
          </a:p>
          <a:p>
            <a:pPr>
              <a:buNone/>
            </a:pPr>
            <a:r>
              <a:rPr sz="1400" b="0" i="0" u="none"/>
              <a:t>4. Identify missing context or risks.</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a:buNone/>
            </a:pPr>
            <a:endParaRPr sz="2800" b="0" i="0">
              <a:latin typeface="Arial"/>
            </a:endParaRPr>
          </a:p>
          <a:p>
            <a:r>
              <a:rPr sz="1400" b="0" i="0" u="none"/>
              <a:t>Delegation prompt is complete and structured</a:t>
            </a:r>
            <a:endParaRPr sz="2800" b="0" i="0">
              <a:latin typeface="Arial"/>
            </a:endParaRPr>
          </a:p>
          <a:p>
            <a:r>
              <a:rPr sz="1400" b="0" i="0" u="none"/>
              <a:t>Copilot produces a multi-step plan</a:t>
            </a:r>
            <a:endParaRPr sz="2800" b="0" i="0">
              <a:latin typeface="Arial"/>
            </a:endParaRPr>
          </a:p>
          <a:p>
            <a:r>
              <a:rPr sz="1400" b="0" i="0" u="none"/>
              <a:t>Output is safe, incremental, and reversible</a:t>
            </a:r>
            <a:endParaRPr sz="2800" b="0" i="0">
              <a:latin typeface="Arial"/>
            </a:endParaRPr>
          </a:p>
          <a:p>
            <a:r>
              <a:rPr sz="1400" b="0" i="0" u="none"/>
              <a:t>Human review identifies any gaps</a:t>
            </a:r>
            <a:endParaRPr sz="2800" b="0" i="0">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sz="2750" b="0" i="0" u="none"/>
              <a:t>Intro</a:t>
            </a:r>
          </a:p>
          <a:p>
            <a:r>
              <a:rPr sz="2750" b="0" i="0" u="none"/>
              <a:t>AI Practitioner Resources</a:t>
            </a:r>
          </a:p>
          <a:p>
            <a:r>
              <a:rPr sz="2750" b="0" i="0" u="none"/>
              <a:t>Brownfield Software Development</a:t>
            </a:r>
          </a:p>
          <a:p>
            <a:r>
              <a:rPr sz="2750" b="0" i="0" u="none"/>
              <a:t>AI Implementation Workflow</a:t>
            </a:r>
          </a:p>
          <a:p>
            <a:r>
              <a:rPr sz="2750" b="0" i="0" u="none"/>
              <a:t>Building a Backlog</a:t>
            </a:r>
          </a:p>
          <a:p>
            <a:r>
              <a:rPr sz="2750" b="0" i="0" u="none"/>
              <a:t>AI Assisted Pull Requests</a:t>
            </a:r>
          </a:p>
          <a:p>
            <a:r>
              <a:rPr sz="2750" b="0" i="0" u="none"/>
              <a:t>Addressing Technical Debt</a:t>
            </a:r>
          </a:p>
          <a:p>
            <a:r>
              <a:rPr sz="2750" b="1" i="0" u="none"/>
              <a:t>▶ Multi-Implementation Comparison</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Multi-Model Implementation Comparison</a:t>
            </a:r>
          </a:p>
        </p:txBody>
      </p:sp>
      <p:sp>
        <p:nvSpPr>
          <p:cNvPr id="3" name="Subtitle 2"/>
          <p:cNvSpPr>
            <a:spLocks noGrp="1"/>
          </p:cNvSpPr>
          <p:nvPr>
            <p:ph type="subTitle" idx="1"/>
          </p:nvPr>
        </p:nvSpPr>
        <p:spPr/>
        <p:txBody>
          <a:bodyPr wrap="square">
            <a:normAutofit/>
          </a:bodyPr>
          <a:lstStyle/>
          <a:p>
            <a:pPr>
              <a:buNone/>
            </a:pPr>
            <a:r>
              <a:rPr b="0" i="0" u="none"/>
              <a:t>Ask Three AIs, Get Four Opinions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Multi-Model Implementation Comparison</a:t>
            </a:r>
          </a:p>
        </p:txBody>
      </p:sp>
      <p:sp>
        <p:nvSpPr>
          <p:cNvPr id="3" name="Content Placeholder 2"/>
          <p:cNvSpPr>
            <a:spLocks noGrp="1"/>
          </p:cNvSpPr>
          <p:nvPr>
            <p:ph idx="1"/>
          </p:nvPr>
        </p:nvSpPr>
        <p:spPr/>
        <p:txBody>
          <a:bodyPr wrap="square">
            <a:normAutofit/>
          </a:bodyPr>
          <a:lstStyle/>
          <a:p>
            <a:r>
              <a:rPr sz="2800" b="0" i="0" u="none"/>
              <a:t>Implementing changes with different AI models</a:t>
            </a:r>
            <a:endParaRPr sz="2800" b="0" i="0">
              <a:latin typeface="Arial"/>
            </a:endParaRPr>
          </a:p>
          <a:p>
            <a:r>
              <a:rPr sz="2800" b="0" i="0" u="none"/>
              <a:t>Comparing approaches and outcomes</a:t>
            </a:r>
            <a:endParaRPr sz="2800" b="0" i="0">
              <a:latin typeface="Arial"/>
            </a:endParaRPr>
          </a:p>
          <a:p>
            <a:r>
              <a:rPr sz="2800" b="0" i="0" u="none"/>
              <a:t>Risk assessment and quality evaluation</a:t>
            </a:r>
            <a:endParaRPr sz="2800" b="0" i="0">
              <a:latin typeface="Arial"/>
            </a:endParaRPr>
          </a:p>
          <a:p>
            <a:r>
              <a:rPr sz="2800" b="0" i="0" u="none"/>
              <a:t>Best practice synthesis</a:t>
            </a:r>
            <a:endParaRPr sz="2800" b="0" i="0">
              <a:latin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000" b="0" i="0" u="none"/>
              <a:t>Implementing Changes With Different AI Models</a:t>
            </a:r>
          </a:p>
        </p:txBody>
      </p:sp>
      <p:sp>
        <p:nvSpPr>
          <p:cNvPr id="3" name="Content Placeholder 2"/>
          <p:cNvSpPr>
            <a:spLocks noGrp="1"/>
          </p:cNvSpPr>
          <p:nvPr>
            <p:ph idx="1"/>
          </p:nvPr>
        </p:nvSpPr>
        <p:spPr/>
        <p:txBody>
          <a:bodyPr wrap="square">
            <a:normAutofit/>
          </a:bodyPr>
          <a:lstStyle/>
          <a:p>
            <a:pPr>
              <a:buNone/>
            </a:pPr>
            <a:r>
              <a:rPr sz="2300" b="0" i="0" u="none"/>
              <a:t>Why use multiple models?</a:t>
            </a:r>
            <a:endParaRPr sz="2300" b="0" i="0">
              <a:latin typeface="Arial"/>
            </a:endParaRPr>
          </a:p>
          <a:p>
            <a:pPr lvl="1"/>
            <a:r>
              <a:rPr sz="2300" b="0" i="0" u="none"/>
              <a:t>Different reasoning styles</a:t>
            </a:r>
            <a:endParaRPr sz="2300" b="0" i="0">
              <a:latin typeface="Arial"/>
            </a:endParaRPr>
          </a:p>
          <a:p>
            <a:pPr lvl="1"/>
            <a:r>
              <a:rPr sz="2300" b="0" i="0" u="none"/>
              <a:t>Different strengths (refactoring, documentation, architecture)</a:t>
            </a:r>
            <a:endParaRPr sz="2300" b="0" i="0">
              <a:latin typeface="Arial"/>
            </a:endParaRPr>
          </a:p>
          <a:p>
            <a:pPr lvl="1"/>
            <a:r>
              <a:rPr sz="2300" b="0" i="0" u="none"/>
              <a:t>Cross-validation reduces risk</a:t>
            </a:r>
            <a:endParaRPr sz="2300" b="0" i="0">
              <a:latin typeface="Arial"/>
            </a:endParaRPr>
          </a:p>
          <a:p>
            <a:pPr lvl="1"/>
            <a:r>
              <a:rPr sz="2300" b="0" i="0" u="none"/>
              <a:t>Helps detect missing context or contradictions</a:t>
            </a:r>
            <a:endParaRPr sz="2300" b="0" i="0">
              <a:latin typeface="Arial"/>
            </a:endParaRPr>
          </a:p>
          <a:p>
            <a:pPr>
              <a:buNone/>
            </a:pPr>
            <a:endParaRPr sz="2300" b="0" i="0">
              <a:latin typeface="Arial"/>
            </a:endParaRPr>
          </a:p>
          <a:p>
            <a:pPr>
              <a:buNone/>
            </a:pPr>
            <a:r>
              <a:rPr sz="2300" b="0" i="0" u="none"/>
              <a:t>Typical use cases</a:t>
            </a:r>
            <a:endParaRPr sz="2300" b="0" i="0">
              <a:latin typeface="Arial"/>
            </a:endParaRPr>
          </a:p>
          <a:p>
            <a:pPr lvl="1"/>
            <a:r>
              <a:rPr sz="2300" b="0" i="0" u="none"/>
              <a:t>Refactoring comparisons</a:t>
            </a:r>
            <a:endParaRPr sz="2300" b="0" i="0">
              <a:latin typeface="Arial"/>
            </a:endParaRPr>
          </a:p>
          <a:p>
            <a:pPr lvl="1"/>
            <a:r>
              <a:rPr sz="2300" b="0" i="0" u="none"/>
              <a:t>Documentation consistency checks</a:t>
            </a:r>
            <a:endParaRPr sz="2300" b="0" i="0">
              <a:latin typeface="Arial"/>
            </a:endParaRPr>
          </a:p>
          <a:p>
            <a:pPr lvl="1"/>
            <a:r>
              <a:rPr sz="2300" b="0" i="0" u="none"/>
              <a:t>Architecture proposal validation</a:t>
            </a:r>
            <a:endParaRPr sz="2300" b="0" i="0">
              <a:latin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Comparing Approaches &amp; Outcomes</a:t>
            </a:r>
          </a:p>
        </p:txBody>
      </p:sp>
      <p:sp>
        <p:nvSpPr>
          <p:cNvPr id="3" name="Content Placeholder 2"/>
          <p:cNvSpPr>
            <a:spLocks noGrp="1"/>
          </p:cNvSpPr>
          <p:nvPr>
            <p:ph idx="1"/>
          </p:nvPr>
        </p:nvSpPr>
        <p:spPr/>
        <p:txBody>
          <a:bodyPr wrap="square">
            <a:normAutofit/>
          </a:bodyPr>
          <a:lstStyle/>
          <a:p>
            <a:pPr>
              <a:buNone/>
            </a:pPr>
            <a:r>
              <a:rPr sz="2050" b="0" i="0" u="none"/>
              <a:t>What to compare</a:t>
            </a:r>
            <a:endParaRPr sz="2050" b="0" i="0">
              <a:latin typeface="Arial"/>
            </a:endParaRPr>
          </a:p>
          <a:p>
            <a:pPr lvl="1"/>
            <a:r>
              <a:rPr sz="2050" b="0" i="0" u="none"/>
              <a:t>Code structure and clarity</a:t>
            </a:r>
            <a:endParaRPr sz="2050" b="0" i="0">
              <a:latin typeface="Arial"/>
            </a:endParaRPr>
          </a:p>
          <a:p>
            <a:pPr lvl="1"/>
            <a:r>
              <a:rPr sz="2050" b="0" i="0" u="none"/>
              <a:t>Architectural alignment</a:t>
            </a:r>
            <a:endParaRPr sz="2050" b="0" i="0">
              <a:latin typeface="Arial"/>
            </a:endParaRPr>
          </a:p>
          <a:p>
            <a:pPr lvl="1"/>
            <a:r>
              <a:rPr sz="2050" b="0" i="0" u="none"/>
              <a:t>Test quality</a:t>
            </a:r>
            <a:endParaRPr sz="2050" b="0" i="0">
              <a:latin typeface="Arial"/>
            </a:endParaRPr>
          </a:p>
          <a:p>
            <a:pPr lvl="1"/>
            <a:r>
              <a:rPr sz="2050" b="0" i="0" u="none"/>
              <a:t>Documentation completeness</a:t>
            </a:r>
            <a:endParaRPr sz="2050" b="0" i="0">
              <a:latin typeface="Arial"/>
            </a:endParaRPr>
          </a:p>
          <a:p>
            <a:pPr lvl="1"/>
            <a:r>
              <a:rPr sz="2050" b="0" i="0" u="none"/>
              <a:t>Risk level of proposed changes</a:t>
            </a:r>
            <a:endParaRPr sz="2050" b="0" i="0">
              <a:latin typeface="Arial"/>
            </a:endParaRPr>
          </a:p>
          <a:p>
            <a:pPr>
              <a:buNone/>
            </a:pPr>
            <a:endParaRPr sz="2050" b="0" i="0">
              <a:latin typeface="Arial"/>
            </a:endParaRPr>
          </a:p>
          <a:p>
            <a:pPr>
              <a:buNone/>
            </a:pPr>
            <a:r>
              <a:rPr sz="2050" b="0" i="0" u="none"/>
              <a:t>Benefits</a:t>
            </a:r>
            <a:endParaRPr sz="2050" b="0" i="0">
              <a:latin typeface="Arial"/>
            </a:endParaRPr>
          </a:p>
          <a:p>
            <a:pPr lvl="1"/>
            <a:r>
              <a:rPr sz="2050" b="0" i="0" u="none"/>
              <a:t>Identifies the safest implementation</a:t>
            </a:r>
            <a:endParaRPr sz="2050" b="0" i="0">
              <a:latin typeface="Arial"/>
            </a:endParaRPr>
          </a:p>
          <a:p>
            <a:pPr lvl="1"/>
            <a:r>
              <a:rPr sz="2050" b="0" i="0" u="none"/>
              <a:t>Surfaces hidden assumptions</a:t>
            </a:r>
            <a:endParaRPr sz="2050" b="0" i="0">
              <a:latin typeface="Arial"/>
            </a:endParaRPr>
          </a:p>
          <a:p>
            <a:pPr lvl="1"/>
            <a:r>
              <a:rPr sz="2050" b="0" i="0" u="none"/>
              <a:t>Highlights model-specific biases</a:t>
            </a:r>
            <a:endParaRPr sz="2050" b="0" i="0">
              <a:latin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00" b="0" i="0" u="none"/>
              <a:t>Risk Assessment &amp; Quality Evaluation</a:t>
            </a:r>
          </a:p>
        </p:txBody>
      </p:sp>
      <p:sp>
        <p:nvSpPr>
          <p:cNvPr id="3" name="Content Placeholder 2"/>
          <p:cNvSpPr>
            <a:spLocks noGrp="1"/>
          </p:cNvSpPr>
          <p:nvPr>
            <p:ph idx="1"/>
          </p:nvPr>
        </p:nvSpPr>
        <p:spPr/>
        <p:txBody>
          <a:bodyPr wrap="square">
            <a:normAutofit/>
          </a:bodyPr>
          <a:lstStyle/>
          <a:p>
            <a:pPr>
              <a:buNone/>
            </a:pPr>
            <a:r>
              <a:rPr sz="2050" b="0" i="0" u="none"/>
              <a:t>Risk indicators</a:t>
            </a:r>
            <a:endParaRPr sz="2050" b="0" i="0">
              <a:latin typeface="Arial"/>
            </a:endParaRPr>
          </a:p>
          <a:p>
            <a:pPr lvl="1"/>
            <a:r>
              <a:rPr sz="2050" b="0" i="0" u="none"/>
              <a:t>Missing tests</a:t>
            </a:r>
            <a:endParaRPr sz="2050" b="0" i="0">
              <a:latin typeface="Arial"/>
            </a:endParaRPr>
          </a:p>
          <a:p>
            <a:pPr lvl="1"/>
            <a:r>
              <a:rPr sz="2050" b="0" i="0" u="none"/>
              <a:t>Large or unnecessary refactors</a:t>
            </a:r>
            <a:endParaRPr sz="2050" b="0" i="0">
              <a:latin typeface="Arial"/>
            </a:endParaRPr>
          </a:p>
          <a:p>
            <a:pPr lvl="1"/>
            <a:r>
              <a:rPr sz="2050" b="0" i="0" u="none"/>
              <a:t>Violations of instruction files</a:t>
            </a:r>
            <a:endParaRPr sz="2050" b="0" i="0">
              <a:latin typeface="Arial"/>
            </a:endParaRPr>
          </a:p>
          <a:p>
            <a:pPr lvl="1"/>
            <a:r>
              <a:rPr sz="2050" b="0" i="0" u="none"/>
              <a:t>Unclear or undocumented behavior</a:t>
            </a:r>
            <a:endParaRPr sz="2050" b="0" i="0">
              <a:latin typeface="Arial"/>
            </a:endParaRPr>
          </a:p>
          <a:p>
            <a:pPr>
              <a:buNone/>
            </a:pPr>
            <a:endParaRPr sz="2050" b="0" i="0">
              <a:latin typeface="Arial"/>
            </a:endParaRPr>
          </a:p>
          <a:p>
            <a:pPr>
              <a:buNone/>
            </a:pPr>
            <a:r>
              <a:rPr sz="2050" b="0" i="0" u="none"/>
              <a:t>Quality indicators</a:t>
            </a:r>
            <a:endParaRPr sz="2050" b="0" i="0">
              <a:latin typeface="Arial"/>
            </a:endParaRPr>
          </a:p>
          <a:p>
            <a:pPr lvl="1"/>
            <a:r>
              <a:rPr sz="2050" b="0" i="0" u="none"/>
              <a:t>Small, incremental changes</a:t>
            </a:r>
            <a:endParaRPr sz="2050" b="0" i="0">
              <a:latin typeface="Arial"/>
            </a:endParaRPr>
          </a:p>
          <a:p>
            <a:pPr lvl="1"/>
            <a:r>
              <a:rPr sz="2050" b="0" i="0" u="none"/>
              <a:t>Clear reasoning</a:t>
            </a:r>
            <a:endParaRPr sz="2050" b="0" i="0">
              <a:latin typeface="Arial"/>
            </a:endParaRPr>
          </a:p>
          <a:p>
            <a:pPr lvl="1"/>
            <a:r>
              <a:rPr sz="2050" b="0" i="0" u="none"/>
              <a:t>Strong test coverage</a:t>
            </a:r>
            <a:endParaRPr sz="2050" b="0" i="0">
              <a:latin typeface="Arial"/>
            </a:endParaRPr>
          </a:p>
          <a:p>
            <a:pPr lvl="1"/>
            <a:r>
              <a:rPr sz="2050" b="0" i="0" u="none"/>
              <a:t>Alignment with evergreen principles</a:t>
            </a:r>
            <a:endParaRPr sz="2050" b="0" i="0">
              <a:latin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lang="en-US" b="0" i="0" u="none" dirty="0"/>
              <a:t>Prompting Multiple Models to Address Technical Debt</a:t>
            </a:r>
            <a:endParaRPr b="0" i="0" u="none"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400" b="0" i="0" u="none"/>
              <a:t>Exercise: Prompt Multiple Models to Address Technical Debt</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Compare outputs from different models</a:t>
            </a:r>
            <a:endParaRPr sz="2800" b="0" i="0">
              <a:latin typeface="Arial"/>
            </a:endParaRPr>
          </a:p>
          <a:p>
            <a:pPr lvl="1"/>
            <a:r>
              <a:rPr sz="1400" b="0" i="0" u="none"/>
              <a:t>Identify strengths and weaknesses</a:t>
            </a:r>
            <a:endParaRPr sz="2800" b="0" i="0">
              <a:latin typeface="Arial"/>
            </a:endParaRPr>
          </a:p>
          <a:p>
            <a:pPr lvl="1"/>
            <a:r>
              <a:rPr sz="1400" b="0" i="0" u="none"/>
              <a:t>Evaluate risk and quality</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Select a small technical debt item.</a:t>
            </a:r>
            <a:endParaRPr sz="2800" b="0" i="0">
              <a:latin typeface="Arial"/>
            </a:endParaRPr>
          </a:p>
          <a:p>
            <a:pPr lvl="1">
              <a:buNone/>
            </a:pPr>
            <a:r>
              <a:rPr sz="1400" b="0" i="0" u="none"/>
              <a:t>  2. Prompt two or more models to propose a fix.</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Compare outputs for:</a:t>
            </a:r>
            <a:endParaRPr sz="2800" b="0" i="0">
              <a:latin typeface="Arial"/>
            </a:endParaRPr>
          </a:p>
          <a:p>
            <a:pPr lvl="2"/>
            <a:r>
              <a:rPr sz="1400" b="0" i="0" u="none"/>
              <a:t>Safety</a:t>
            </a:r>
            <a:endParaRPr sz="2800" b="0" i="0">
              <a:latin typeface="Arial"/>
            </a:endParaRPr>
          </a:p>
          <a:p>
            <a:pPr lvl="2"/>
            <a:r>
              <a:rPr sz="1400" b="0" i="0" u="none"/>
              <a:t>Clarity</a:t>
            </a:r>
            <a:endParaRPr sz="2800" b="0" i="0">
              <a:latin typeface="Arial"/>
            </a:endParaRPr>
          </a:p>
          <a:p>
            <a:pPr lvl="2"/>
            <a:r>
              <a:rPr sz="1400" b="0" i="0" u="none"/>
              <a:t>Test coverage</a:t>
            </a:r>
            <a:endParaRPr sz="2800" b="0" i="0">
              <a:latin typeface="Arial"/>
            </a:endParaRPr>
          </a:p>
          <a:p>
            <a:pPr lvl="2"/>
            <a:r>
              <a:rPr sz="1400" b="0" i="0" u="none"/>
              <a:t>Architectural alignment</a:t>
            </a:r>
            <a:endParaRPr sz="2800" b="0" i="0">
              <a:latin typeface="Arial"/>
            </a:endParaRPr>
          </a:p>
          <a:p>
            <a:pPr lvl="1">
              <a:buNone/>
            </a:pPr>
            <a:r>
              <a:rPr sz="1400" b="0" i="0" u="none"/>
              <a:t>  4. Synthesize the best elements into a final solution.</a:t>
            </a:r>
            <a:endParaRPr sz="2800" b="0" i="0">
              <a:latin typeface="Arial"/>
            </a:endParaRPr>
          </a:p>
          <a:p>
            <a:pPr>
              <a:buNone/>
            </a:pPr>
            <a:endParaRPr sz="2800" b="0" i="0">
              <a:latin typeface="Arial"/>
            </a:endParaRPr>
          </a:p>
          <a:p>
            <a:pPr>
              <a:buNone/>
            </a:pPr>
            <a:r>
              <a:rPr sz="1400" b="0" i="0" u="none"/>
              <a:t>Success Criteria</a:t>
            </a:r>
            <a:endParaRPr sz="2800" b="0" i="0">
              <a:latin typeface="Arial"/>
            </a:endParaRPr>
          </a:p>
          <a:p>
            <a:pPr lvl="1"/>
            <a:r>
              <a:rPr sz="1400" b="0" i="0" u="none"/>
              <a:t>Differences between models are clearly identified</a:t>
            </a:r>
            <a:endParaRPr sz="2800" b="0" i="0">
              <a:latin typeface="Arial"/>
            </a:endParaRPr>
          </a:p>
          <a:p>
            <a:pPr lvl="1"/>
            <a:r>
              <a:rPr sz="1400" b="0" i="0" u="none"/>
              <a:t>Risks and strengths are evaluated</a:t>
            </a:r>
            <a:endParaRPr sz="2800" b="0" i="0">
              <a:latin typeface="Arial"/>
            </a:endParaRPr>
          </a:p>
          <a:p>
            <a:pPr lvl="1"/>
            <a:r>
              <a:rPr sz="1400" b="0" i="0" u="none"/>
              <a:t>Final synthesized solution is safe and incremental</a:t>
            </a:r>
            <a:endParaRPr sz="2800" b="0" i="0">
              <a:latin typeface="Arial"/>
            </a:endParaRPr>
          </a:p>
          <a:p>
            <a:pPr lvl="1"/>
            <a:r>
              <a:rPr sz="1400" b="0" i="0" u="none"/>
              <a:t>Provenance metadata is included</a:t>
            </a:r>
            <a:endParaRPr sz="2800" b="0" i="0">
              <a:latin typeface="Arial"/>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575</TotalTime>
  <Words>9198</Words>
  <Application>Microsoft Office PowerPoint</Application>
  <PresentationFormat>Widescreen</PresentationFormat>
  <Paragraphs>1369</Paragraphs>
  <Slides>95</Slides>
  <Notes>94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95</vt:i4>
      </vt:variant>
    </vt:vector>
  </HeadingPairs>
  <TitlesOfParts>
    <vt:vector size="101" baseType="lpstr">
      <vt:lpstr>Arial</vt:lpstr>
      <vt:lpstr>Calibri</vt:lpstr>
      <vt:lpstr>Consolas</vt:lpstr>
      <vt:lpstr>Noto Sans</vt:lpstr>
      <vt:lpstr>Victor Mono</vt:lpstr>
      <vt:lpstr>CODE Training</vt:lpstr>
      <vt:lpstr>Thursday Reboot</vt:lpstr>
      <vt:lpstr>Welcome Back to AI-Assisted Software Development</vt:lpstr>
      <vt:lpstr>Course Modules</vt:lpstr>
      <vt:lpstr>But first…</vt:lpstr>
      <vt:lpstr>Model Context Protocol Servers</vt:lpstr>
      <vt:lpstr>MCP: Model Context Protocol Servers</vt:lpstr>
      <vt:lpstr>What Is MCP?</vt:lpstr>
      <vt:lpstr>Architecture: Five Components</vt:lpstr>
      <vt:lpstr>Use Cases</vt:lpstr>
      <vt:lpstr>Available Pre-Built Servers</vt:lpstr>
      <vt:lpstr>Finding MCP Servers</vt:lpstr>
      <vt:lpstr>Copilot + MCP Integration</vt:lpstr>
      <vt:lpstr>Configuring Servers Securely</vt:lpstr>
      <vt:lpstr>AI Practitioner Resources</vt:lpstr>
      <vt:lpstr>AI-First, Prompt-first, and Prompt-only Resources</vt:lpstr>
      <vt:lpstr>Course Modules</vt:lpstr>
      <vt:lpstr>Understanding Legacy Code</vt:lpstr>
      <vt:lpstr>What is Legacy Code</vt:lpstr>
      <vt:lpstr>What is Not Legacy Code</vt:lpstr>
      <vt:lpstr>Definitions and Boundaries</vt:lpstr>
      <vt:lpstr>Entropy, Drift, and Degradation</vt:lpstr>
      <vt:lpstr>Why Codebases Degrade Over Time</vt:lpstr>
      <vt:lpstr>Accretion of Features</vt:lpstr>
      <vt:lpstr>Shifting Business Requirements</vt:lpstr>
      <vt:lpstr>Developer Turnover and Knowledge Loss</vt:lpstr>
      <vt:lpstr>Tooling and Dependency Rot</vt:lpstr>
      <vt:lpstr>Safe Brownfield Coding</vt:lpstr>
      <vt:lpstr>Essential Safety Measures</vt:lpstr>
      <vt:lpstr>Backup &amp; Rollback Strategies</vt:lpstr>
      <vt:lpstr>Confidence Frameworks</vt:lpstr>
      <vt:lpstr>Change Review Processes</vt:lpstr>
      <vt:lpstr>Incremental Change Methodology</vt:lpstr>
      <vt:lpstr>Keeping Change Sets Small</vt:lpstr>
      <vt:lpstr>Building Safety Nets</vt:lpstr>
      <vt:lpstr>Protecting Brownfield Codebases</vt:lpstr>
      <vt:lpstr>Leveraging AI Code Reviews</vt:lpstr>
      <vt:lpstr>Effective Human Code Reviews</vt:lpstr>
      <vt:lpstr>Course Modules</vt:lpstr>
      <vt:lpstr>AI Implementation Workflow</vt:lpstr>
      <vt:lpstr>AI Implementation Workflow</vt:lpstr>
      <vt:lpstr>Best Practice: Request a Proposal First</vt:lpstr>
      <vt:lpstr>Identify Gaps Before Execution</vt:lpstr>
      <vt:lpstr>Effective Prompts for Technical Debt</vt:lpstr>
      <vt:lpstr>Effective Prompts for Technical Debt</vt:lpstr>
      <vt:lpstr>What a Strong Technical Debt Prompt Includes</vt:lpstr>
      <vt:lpstr>Why Structured Prompts Matter</vt:lpstr>
      <vt:lpstr>Course Modules</vt:lpstr>
      <vt:lpstr>Identifying Technical Debt</vt:lpstr>
      <vt:lpstr>Identifying Technical Debt</vt:lpstr>
      <vt:lpstr>Conformance &amp; Gap Analysis</vt:lpstr>
      <vt:lpstr>Comparing Implementations Against Instruction Files</vt:lpstr>
      <vt:lpstr>Project Create Requirement Exercise</vt:lpstr>
      <vt:lpstr>Exercise: Create Project Requirement</vt:lpstr>
      <vt:lpstr>Identifying Code Outside the Guardrails</vt:lpstr>
      <vt:lpstr>Exercise: Identifying Code Outside the Guardrails</vt:lpstr>
      <vt:lpstr>Building a Technical Debt Backlog</vt:lpstr>
      <vt:lpstr>Automating the Creation of GitHub Issues</vt:lpstr>
      <vt:lpstr>GitHub Integration - Direct Issue Creation</vt:lpstr>
      <vt:lpstr>Prioritizing Technical Debt Remediation</vt:lpstr>
      <vt:lpstr>Creating Actionable Remediation Plans</vt:lpstr>
      <vt:lpstr>Backlog Issue Building</vt:lpstr>
      <vt:lpstr>Exercise: Building the Backlog</vt:lpstr>
      <vt:lpstr>Implementation Plan Prioritization</vt:lpstr>
      <vt:lpstr>AI-Assisted Prioritization: Impact vs. Effort</vt:lpstr>
      <vt:lpstr>Making Technical Debt Visible</vt:lpstr>
      <vt:lpstr>Reaching Evergreen: Quick Wins Compound</vt:lpstr>
      <vt:lpstr>Creating Implementation Plans</vt:lpstr>
      <vt:lpstr>Exercise: Create an Implementation Plan</vt:lpstr>
      <vt:lpstr>Course Modules</vt:lpstr>
      <vt:lpstr>AI-Assisted Pull Request Workflows</vt:lpstr>
      <vt:lpstr>The Pull Request Lifecycle</vt:lpstr>
      <vt:lpstr>AI-Generated PR Descriptions</vt:lpstr>
      <vt:lpstr>AI-Powered Code Review</vt:lpstr>
      <vt:lpstr>Copilot PR Summaries</vt:lpstr>
      <vt:lpstr>Responding to Review Feedback</vt:lpstr>
      <vt:lpstr>Course Modules</vt:lpstr>
      <vt:lpstr>Addressing Technical Debt with Copilot</vt:lpstr>
      <vt:lpstr>Addressing Technical Debt</vt:lpstr>
      <vt:lpstr>Prompting Copilot to Address Technical Debt</vt:lpstr>
      <vt:lpstr>Assigning Issues to Copilot</vt:lpstr>
      <vt:lpstr>What Copilot Does With Assigned Issues</vt:lpstr>
      <vt:lpstr>Prompting Copilot to Address Technical Debt</vt:lpstr>
      <vt:lpstr>Exercise: Prompt Copilot to Address Technical Debt</vt:lpstr>
      <vt:lpstr>Assigning an Issue to Copilot</vt:lpstr>
      <vt:lpstr>Exercise: Assigning an Issue to Copilot</vt:lpstr>
      <vt:lpstr>Delegating Work to Copilot</vt:lpstr>
      <vt:lpstr>Exercise: Delegating Work to Copilot</vt:lpstr>
      <vt:lpstr>Course Modules</vt:lpstr>
      <vt:lpstr>Multi-Model Implementation Comparison</vt:lpstr>
      <vt:lpstr>Multi-Model Implementation Comparison</vt:lpstr>
      <vt:lpstr>Implementing Changes With Different AI Models</vt:lpstr>
      <vt:lpstr>Comparing Approaches &amp; Outcomes</vt:lpstr>
      <vt:lpstr>Risk Assessment &amp; Quality Evaluation</vt:lpstr>
      <vt:lpstr>Prompting Multiple Models to Address Technical Debt</vt:lpstr>
      <vt:lpstr>Exercise: Prompt Multiple Models to Address Technical Debt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8</cp:revision>
  <dcterms:created xsi:type="dcterms:W3CDTF">2025-10-19T18:09:53Z</dcterms:created>
  <dcterms:modified xsi:type="dcterms:W3CDTF">2026-09-24T21:54:57Z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