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84"/>
  </p:notesMasterIdLst>
  <p:sldIdLst>
    <p:sldId id="256" r:id="rId2"/>
    <p:sldId id="257" r:id="rId3"/>
    <p:sldId id="258" r:id="rId4"/>
    <p:sldId id="343"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6" r:id="rId21"/>
    <p:sldId id="277" r:id="rId22"/>
    <p:sldId id="278" r:id="rId23"/>
    <p:sldId id="279" r:id="rId24"/>
    <p:sldId id="280" r:id="rId25"/>
    <p:sldId id="281" r:id="rId26"/>
    <p:sldId id="282" r:id="rId27"/>
    <p:sldId id="283" r:id="rId28"/>
    <p:sldId id="284" r:id="rId29"/>
    <p:sldId id="286" r:id="rId30"/>
    <p:sldId id="287" r:id="rId31"/>
    <p:sldId id="289" r:id="rId32"/>
    <p:sldId id="290"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 id="342" r:id="rId82"/>
    <p:sldId id="344"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917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opener as a confident start to the final session segment.</a:t>
            </a:r>
          </a:p>
          <a:p>
            <a:r>
              <a:t>Celebrate the week's progress and prepare the room for focused execution.</a:t>
            </a:r>
          </a:p>
          <a:p>
            <a:endParaRPr/>
          </a:p>
          <a:p>
            <a:r>
              <a:t>---</a:t>
            </a:r>
          </a:p>
          <a:p>
            <a:endParaRPr/>
          </a:p>
          <a:p>
            <a:r>
              <a:t>Source: slides\marp\welcome-back-friday.deck.md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the group and recognize cumulative effort from earlier sessions. Position the day as both reinforcement and completion of key learning goals. Encourage participants to ask practical questions tied to their own projects. Transition by highlighting the first activity and expected takeaway.</a:t>
            </a:r>
          </a:p>
          <a:p>
            <a:endParaRPr/>
          </a:p>
          <a:p>
            <a:r>
              <a:t>---</a:t>
            </a:r>
          </a:p>
          <a:p>
            <a:endParaRPr/>
          </a:p>
          <a:p>
            <a:r>
              <a:t>Source: slides\marp\welcome-back-friday.deck.md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lifecycle from left to right and keep the focus on the review gates between each AI-generated artifact. Stress that requirements are not handed directly to code generation; instead, they are refined into instruction files and then into implementation prompts, with stakeholder approval at each stage. Use the diagram to reinforce that this is a controlled pipeline where AI accelerates each step but humans still own correctness, safety, and acceptance. End by linking this workflow back to the checklist on the previous slides: foundation, automation, specialization, and integration all support this end-to-end model.</a:t>
            </a:r>
          </a:p>
          <a:p>
            <a:endParaRPr/>
          </a:p>
          <a:p>
            <a:r>
              <a:t>---</a:t>
            </a:r>
          </a:p>
          <a:p>
            <a:endParaRPr/>
          </a:p>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Open by asking participants where business requirements currently live: meeting notes, tickets, spreadsheets, email, or people's memories. Explain that AI can help turn this scattered input into a structured specification, but only the business can confirm whether the meaning is right. Set the central expectation for the session: AI accelerates analysis and drafting; stakeholders remain accountable for intent and decisions. Transition by distinguishing a useful specification from a polished document.</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the five qualities and emphasize observable behavior. A sentence such as “the system should be easy to use” may express a concern, but it does not yet define something a team can build or test. Ask the group to identify which quality is missing from one of their current requirements. Transition to the context that AI needs before it can help with this work.</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Explain that a blank prompt invites the model to fill gaps with plausible but invented assumptions. A context packet gives the model material to organize and challenge instead. Demonstrate the difference between “write requirements for a promotion system” and a prompt containing the actors, existing workflow, policy constraints, and real examples. Make clear that source material should be labeled by authority and that sensitive information should be minimized before it reaches an AI system.</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this flow as the backbone of the session. Explain that the transformations are connected: a use case without its governing rule can be incomplete, and acceptance criteria without a business outcome can optimize the wrong thing. AI is useful for extracting candidates, grouping related statements, finding contradictions, and proposing questions. It should not silently decide which interpretation is authoritative. Transition by looking at the individual building blocks.</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rules are more durable than screen descriptions because they express domain decisions. Invite participants to notice the review questions in the last column; these expose hidden assumptions that a draft requirement often misses. Ask AI to extract candidate rules with a source reference and confidence note rather than asking it to invent a complete rule set. Stress that a rule becomes implementation guidance only after the responsible subject matter expert confirms its wording and exceptions.</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Clarify that an actor is a role in the business interaction, not necessarily a software user account. Use “submit a promotion recommendation” as a quick example and ask who initiates it, who supplies evidence, who approves it, and who receives the decision. The use-case sentence captures value, while the detailed flow captures behavior and exceptions. Have AI propose missing actors and alternate flows, then ask stakeholders to confirm whether those roles and outcomes exist in the real process.</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Read the prompt pattern aloud and point out the guardrails: supplied context, source citations, explicit unknowns, and a request to challenge contradictions. This changes AI from an answer generator into a structured analysis assistant. Explain that “do not invent policy” is necessary but not sufficient; reviewers still need to inspect the result against authoritative sources. Encourage teams to save prompts alongside the resulting specification when reproducibility matters.</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~04:00</a:t>
            </a:r>
          </a:p>
          <a:p>
            <a:endParaRPr/>
          </a:p>
          <a:p>
            <a:r>
              <a:t>Contrast the vague and testable statements carefully. The second statement exposes preconditions, the action, stored facts, the resulting state, and the next responsibility. Ask participants which additional acceptance criteria are needed for an incomplete evidence set, an unauthorized submitter, and a late submission. AI can generate scenario variations, but the business owner must confirm that each scenario represents an intended outcome rather than a model-generated edge case.</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~03:00</a:t>
            </a:r>
          </a:p>
          <a:p>
            <a:endParaRPr/>
          </a:p>
          <a:p>
            <a:r>
              <a:t>Frame review as a separate activity from drafting. Ask one reviewer to look for omissions, another for contradictions and ambiguous language, and a domain owner for policy and feasibility. AI is particularly helpful as a second-pass critic when given a defined checklist and the original sources. Require every finding to include the affected statement, the reason it is a problem, and a proposed question or resolution path.</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~03:00</a:t>
            </a:r>
          </a:p>
          <a:p>
            <a:endParaRPr/>
          </a:p>
          <a:p>
            <a:r>
              <a:t>Explain that identifiers are lightweight handles, not bureaucracy for its own sake. When a policy changes, the chain helps the team find affected use cases, criteria, tests, and decisions. Ask participants to imagine changing the appeal window from 10 to 15 working days and identify what should be reviewed. AI can help maintain cross-references and detect orphaned criteria, but the source of truth must remain a controlled repository or approved requirements system.</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~04:00</a:t>
            </a:r>
          </a:p>
          <a:p>
            <a:endParaRPr/>
          </a:p>
          <a:p>
            <a:r>
              <a:t>Walk down the table and emphasize the alternating pattern of AI assistance and human decision. The workflow is intentionally iterative: discovery can reveal new context, and validation can expose a requirement that needs to be redrafted. Explain that approval should be explicit, with named owners and versioned decisions. This approach keeps acceleration without outsourcing accountability.</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~04:00</a:t>
            </a:r>
          </a:p>
          <a:p>
            <a:endParaRPr/>
          </a:p>
          <a:p>
            <a:r>
              <a:t>Give participants a short timebox to use the request and the prompt pattern from the earlier slide. Tell them not to ask for a finished requirements document; ask for a specification seed that makes uncertainty visible. During the debrief, compare which questions were prioritized and whether the proposed rules were grounded or invented. Close the exercise by having the group identify the smallest decision that would unlock the next slice of work.</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~02:00</a:t>
            </a:r>
          </a:p>
          <a:p>
            <a:endParaRPr/>
          </a:p>
          <a:p>
            <a:r>
              <a:t>Use this as a closing self-assessment rather than a lecture. Ask participants to choose one current requirement and score it against the checklist. Any “no” is useful: it identifies the next question or decision, not a failure of the process. Emphasize that readiness is about shared understanding and evidence, not document length.</a:t>
            </a:r>
          </a:p>
          <a:p>
            <a:endParaRPr/>
          </a:p>
          <a:p>
            <a:r>
              <a:t>---</a:t>
            </a:r>
          </a:p>
          <a:p>
            <a:endParaRPr/>
          </a:p>
          <a:p>
            <a:r>
              <a:t>Source: slides\marp\ai-assisted-business-requirement-specification.deck.md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~00:17</a:t>
            </a:r>
          </a:p>
          <a:p>
            <a:endParaRPr/>
          </a:p>
          <a:p>
            <a:endParaRPr/>
          </a:p>
          <a:p>
            <a:r>
              <a:t>**Prerequisites:** Access to the Greenfield branch, ability to create a personal branch, and access to the Product Manager agent plus the repository instruction files</a:t>
            </a:r>
          </a:p>
          <a:p>
            <a:endParaRPr/>
          </a:p>
          <a:p>
            <a:r>
              <a:t>Use this exercise to establish the Greenfield workflow discipline early. Start by making participants branch from Greenfield before they do any prompting so the requirements artifact has a clean ownership path and can be reviewed independently later. In the first few minutes, emphasize that the goal is not to produce a perfect PRD in one pass, but to create a usable calculator requirements document using the Product Manager agent together with repository guidance. During the clarification window, call out the common confusion points explicitly: correct repository, personal branch strategy, what to do with any existing PRD material, and that tooling differences between Visual Studio and VS Code are secondary to getting the requirements quality right. For the working block, let students operate independently, but use periodic check-ins to see whether instruction files improved the output and whether anyone is stuck on scope, branching, or prompt quality. Transition from this exercise by connecting the completed requirements document to the next Greenfield planning steps, especially technology instructions, slice planning, and implementation prompts.</a:t>
            </a:r>
          </a:p>
          <a:p>
            <a:endParaRPr/>
          </a:p>
          <a:p>
            <a:r>
              <a:t>---</a:t>
            </a:r>
          </a:p>
          <a:p>
            <a:endParaRPr/>
          </a:p>
          <a:p>
            <a:r>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Open by framing the difference between AI-assisted coding (which most attendees already know) and AI-assisted architecture, which is a less familiar but rapidly growing practice.</a:t>
            </a:r>
          </a:p>
          <a:p>
            <a:endParaRPr/>
          </a:p>
          <a:p>
            <a:r>
              <a:t>**Key Points**:</a:t>
            </a:r>
          </a:p>
          <a:p>
            <a:endParaRPr/>
          </a:p>
          <a:p>
            <a:r>
              <a:t>- Architecture decisions have longer-lasting impact than individual code changes, so AI involvement here carries more risk and more value</a:t>
            </a:r>
          </a:p>
          <a:p>
            <a:r>
              <a:t>- AI can rapidly explore tradeoff spaces (e.g., CQRS vs. CRUD, monolith vs. microservices) that would take a human hours to research</a:t>
            </a:r>
          </a:p>
          <a:p>
            <a:r>
              <a:t>- The architect's role shifts from sole author to reviewer/curator of AI-proposed options</a:t>
            </a:r>
          </a:p>
          <a:p>
            <a:endParaRPr/>
          </a:p>
          <a:p>
            <a:r>
              <a:t>**Delivery**: Ask the audience how many currently use AI only for code completion vs. design discussions. Use their answer to set expectations for this module.</a:t>
            </a:r>
          </a:p>
          <a:p>
            <a:endParaRPr/>
          </a:p>
          <a:p>
            <a:r>
              <a:t>**Transition**: "Let's look at exactly where in the architecture lifecycle AI adds value."</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table is the backbone of the module — refer back to it as later slides go deeper on each row.</a:t>
            </a:r>
          </a:p>
          <a:p>
            <a:endParaRPr/>
          </a:p>
          <a:p>
            <a:r>
              <a:t>**Key Points**:</a:t>
            </a:r>
          </a:p>
          <a:p>
            <a:endParaRPr/>
          </a:p>
          <a:p>
            <a:r>
              <a:t>- AI contribution scales with how well-specified the input is; vague requirements produce vague architecture proposals</a:t>
            </a:r>
          </a:p>
          <a:p>
            <a:r>
              <a:t>- Diagramming and ADR drafting are the fastest wins because they are largely mechanical once a decision is made</a:t>
            </a:r>
          </a:p>
          <a:p>
            <a:r>
              <a:t>- Validation (catching drift between docs and code) is an underused but high-value use case</a:t>
            </a:r>
          </a:p>
          <a:p>
            <a:endParaRPr/>
          </a:p>
          <a:p>
            <a:r>
              <a:t>**Delivery**: Walk through each row briefly, noting that later slides expand on ADRs, tradeoff analysis, and diagramming specifically.</a:t>
            </a:r>
          </a:p>
          <a:p>
            <a:endParaRPr/>
          </a:p>
          <a:p>
            <a:r>
              <a:t>**Transition**: "Let's start with architecture decision records, since that's where most teams get immediate value."</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ADRs are one of the highest-leverage places to introduce AI because the format is repetitive and well-defined.</a:t>
            </a:r>
          </a:p>
          <a:p>
            <a:endParaRPr/>
          </a:p>
          <a:p>
            <a:r>
              <a:t>**Key Points**:</a:t>
            </a:r>
          </a:p>
          <a:p>
            <a:endParaRPr/>
          </a:p>
          <a:p>
            <a:r>
              <a:t>- Emphasize the "AI drafts, humans decide" principle — this recurs throughout the module and is core to governance</a:t>
            </a:r>
          </a:p>
          <a:p>
            <a:r>
              <a:t>- A consistent ADR template lets AI later answer questions like "why did we choose CQRS over CRUD in the billing service?"</a:t>
            </a:r>
          </a:p>
          <a:p>
            <a:r>
              <a:t>- Encourage teams to store ADRs in version control alongside code so AI tooling can reference them during future design work</a:t>
            </a:r>
          </a:p>
          <a:p>
            <a:endParaRPr/>
          </a:p>
          <a:p>
            <a:r>
              <a:t>**Delivery**: Show a short example ADR title/decision pair if time allows, or reference the CQRS Architecture deck as a related example.</a:t>
            </a:r>
          </a:p>
          <a:p>
            <a:endParaRPr/>
          </a:p>
          <a:p>
            <a:r>
              <a:t>**Transition**: "Once a decision is on the table, AI can also help evaluate the tradeoffs before you commit to an ADR."</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Tradeoff analysis is where AI is most useful as a research assistant, not a decision-maker.</a:t>
            </a:r>
          </a:p>
          <a:p>
            <a:endParaRPr/>
          </a:p>
          <a:p>
            <a:r>
              <a:t>**Key Points**:</a:t>
            </a:r>
          </a:p>
          <a:p>
            <a:endParaRPr/>
          </a:p>
          <a:p>
            <a:r>
              <a:t>- AI is good at breadth — listing many options and their known tradeoffs quickly</a:t>
            </a:r>
          </a:p>
          <a:p>
            <a:r>
              <a:t>- Humans are needed for depth — judging which tradeoffs matter most in this specific organizational context</a:t>
            </a:r>
          </a:p>
          <a:p>
            <a:r>
              <a:t>- A common failure mode is accepting an AI-proposed tradeoff table without validating it against real constraints (team size, budget, compliance)</a:t>
            </a:r>
          </a:p>
          <a:p>
            <a:endParaRPr/>
          </a:p>
          <a:p>
            <a:r>
              <a:t>**Delivery**: Use a live example if possible — ask Copilot to compare two patterns relevant to the audience's domain and critique the output together.</a:t>
            </a:r>
          </a:p>
          <a:p>
            <a:endParaRPr/>
          </a:p>
          <a:p>
            <a:r>
              <a:t>**Transition**: "Let's ground this in a pattern most of you already know: vertical slice architecture."</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Connect this back to the repository's own vertical-slice.instructions.md conventions so the audience sees the pattern applied consistently.</a:t>
            </a:r>
          </a:p>
          <a:p>
            <a:endParaRPr/>
          </a:p>
          <a:p>
            <a:r>
              <a:t>**Key Points**:</a:t>
            </a:r>
          </a:p>
          <a:p>
            <a:endParaRPr/>
          </a:p>
          <a:p>
            <a:r>
              <a:t>- Vertical slices give AI a bounded context, which produces more accurate and less risky suggestions than open-ended "add a feature" prompts</a:t>
            </a:r>
          </a:p>
          <a:p>
            <a:r>
              <a:t>- Each slice can be independently tested and reviewed, which fits well with AI-generated scaffolding</a:t>
            </a:r>
          </a:p>
          <a:p>
            <a:r>
              <a:t>- This is a good pattern to introduce AI-assisted architecture gradually, one slice at a time, rather than all at once</a:t>
            </a:r>
          </a:p>
          <a:p>
            <a:endParaRPr/>
          </a:p>
          <a:p>
            <a:r>
              <a:t>**Delivery**: If the audience has seen the CQRS Architecture deck, reference it directly — CQRS and vertical slices are frequently combined.</a:t>
            </a:r>
          </a:p>
          <a:p>
            <a:endParaRPr/>
          </a:p>
          <a:p>
            <a:r>
              <a:t>**Transition**: "Speaking of CQRS, let's look at how AI assists with event-driven and CQRS-style architectures specifically."</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is a highly visual, easy-to-demo capability — use it to re-energize the room if attendee attention is fading.</a:t>
            </a:r>
          </a:p>
          <a:p>
            <a:endParaRPr/>
          </a:p>
          <a:p>
            <a:r>
              <a:t>**Key Points**:</a:t>
            </a:r>
          </a:p>
          <a:p>
            <a:endParaRPr/>
          </a:p>
          <a:p>
            <a:r>
              <a:t>- Diagrams-as-code means architecture diagrams are reviewed in pull requests just like code, catching drift early</a:t>
            </a:r>
          </a:p>
          <a:p>
            <a:r>
              <a:t>- AI-generated diagrams are a starting point, not a final artifact — always have an architect confirm accuracy</a:t>
            </a:r>
          </a:p>
          <a:p>
            <a:r>
              <a:t>- Regenerating diagrams from code is far cheaper than manually maintaining hand-drawn diagrams that go stale</a:t>
            </a:r>
          </a:p>
          <a:p>
            <a:endParaRPr/>
          </a:p>
          <a:p>
            <a:r>
              <a:t>**Delivery**: If time allows, live-generate a small Mermaid C4 diagram from a snippet of repository code.</a:t>
            </a:r>
          </a:p>
          <a:p>
            <a:endParaRPr/>
          </a:p>
          <a:p>
            <a:r>
              <a:t>**Transition**: "All of this AI involvement in architecture only works safely with proper governance — let's cover that next."</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slide ties the module back to the repository's broader AI governance policies.</a:t>
            </a:r>
          </a:p>
          <a:p>
            <a:endParaRPr/>
          </a:p>
          <a:p>
            <a:r>
              <a:t>**Key Points**:</a:t>
            </a:r>
          </a:p>
          <a:p>
            <a:endParaRPr/>
          </a:p>
          <a:p>
            <a:r>
              <a:t>- Provenance metadata (model, operator, chat log) makes AI-assisted architecture decisions auditable later</a:t>
            </a:r>
          </a:p>
          <a:p>
            <a:r>
              <a:t>- Instruction files act as guardrails — they encode organizational architecture standards the AI must follow</a:t>
            </a:r>
          </a:p>
          <a:p>
            <a:r>
              <a:t>- Emphasize that "AI-authored" does not mean "lower scrutiny" — if anything, architecture decisions warrant more review, not less</a:t>
            </a:r>
          </a:p>
          <a:p>
            <a:endParaRPr/>
          </a:p>
          <a:p>
            <a:r>
              <a:t>**Delivery**: Reference this repository's own `ai-assisted-output.instructions.md` and `copilot-instructions.md` as a working example of governance in practice.</a:t>
            </a:r>
          </a:p>
          <a:p>
            <a:endParaRPr/>
          </a:p>
          <a:p>
            <a:r>
              <a:t>**Transition**: "Governance exists because AI-assisted architecture has real failure modes — let's name them directly."</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is the actionable takeaway slide — attendees should be able to follow this sequence directly after the session.</a:t>
            </a:r>
          </a:p>
          <a:p>
            <a:endParaRPr/>
          </a:p>
          <a:p>
            <a:r>
              <a:t>**Key Points**:</a:t>
            </a:r>
          </a:p>
          <a:p>
            <a:endParaRPr/>
          </a:p>
          <a:p>
            <a:r>
              <a:t>- Step 2 is critical: always ask for multiple options, never accept a single AI-proposed answer as the only path</a:t>
            </a:r>
          </a:p>
          <a:p>
            <a:r>
              <a:t>- Step 4 is where governance and human judgment are non-negotiable</a:t>
            </a:r>
          </a:p>
          <a:p>
            <a:r>
              <a:t>- Step 6 closes the loop — architecture artifacts should never be "write once, never touch again"</a:t>
            </a:r>
          </a:p>
          <a:p>
            <a:endParaRPr/>
          </a:p>
          <a:p>
            <a:r>
              <a:t>**Delivery**: Encourage attendees to try this workflow on a small, low-risk feature first before applying it to critical systems.</a:t>
            </a:r>
          </a:p>
          <a:p>
            <a:endParaRPr/>
          </a:p>
          <a:p>
            <a:r>
              <a:t>**Transition**: "Let's wrap up with a concise checklist you can take back to your team."</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Use this as a leave-behind slide — attendees should be able to screenshot or reference this list after the session.</a:t>
            </a:r>
          </a:p>
          <a:p>
            <a:endParaRPr/>
          </a:p>
          <a:p>
            <a:r>
              <a:t>**Key Points**:</a:t>
            </a:r>
          </a:p>
          <a:p>
            <a:endParaRPr/>
          </a:p>
          <a:p>
            <a:r>
              <a:t>- This checklist consolidates every principle covered in the module into actionable items</a:t>
            </a:r>
          </a:p>
          <a:p>
            <a:r>
              <a:t>- Encourage teams to adapt this checklist into their own architecture review templates</a:t>
            </a:r>
          </a:p>
          <a:p>
            <a:r>
              <a:t>- Reinforce that the goal is faster, better-documented architecture decisions — not fewer human decisions</a:t>
            </a:r>
          </a:p>
          <a:p>
            <a:endParaRPr/>
          </a:p>
          <a:p>
            <a:r>
              <a:t>**Delivery**: Give the audience a moment to read the list, then ask which item they think their team is weakest on today.</a:t>
            </a:r>
          </a:p>
          <a:p>
            <a:endParaRPr/>
          </a:p>
          <a:p>
            <a:r>
              <a:t>**Transition**: "Let's close with the key takeaways from this module."</a:t>
            </a:r>
          </a:p>
          <a:p>
            <a:endParaRPr/>
          </a:p>
          <a:p>
            <a:r>
              <a:t>---</a:t>
            </a:r>
          </a:p>
          <a:p>
            <a:endParaRPr/>
          </a:p>
          <a:p>
            <a:r>
              <a:t>Source: slides\marp\ai-assisted-software-architecture.deck.md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 Frame this exercise as the next step after requirements specification: the team is choosing a structure that can satisfy explicit business behavior and quality attributes. Explain that AI should generate options, expose tradeoffs, and draft architecture artifacts, while the humans choose the direction and accept the consequences. Remind participants to bring the requirements document from the preceding exercise, including its unresolved questions.</a:t>
            </a:r>
          </a:p>
          <a:p>
            <a:endParaRPr/>
          </a:p>
          <a:p>
            <a:r>
              <a:t>---</a:t>
            </a:r>
          </a:p>
          <a:p>
            <a:endParaRPr/>
          </a:p>
          <a:p>
            <a:r>
              <a:t>Source: slides\marp\exercise\exercise-ai-assisted-architecture-specification.deck.md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 Have participants begin with the requirements artifact and make the AI show its evidence for every architectural driver; this catches invented constraints early. Encourage simple options such as a modular monolith to remain in the comparison so complexity has to earn its place. During ADR review, inspect consequences and rejected alternatives because those sections reveal whether a real decision occurred. Finish by rendering the diagram and tracing its boundaries back to requirements identifiers, then record any open architecture questions instead of hiding them in the diagram.</a:t>
            </a:r>
          </a:p>
          <a:p>
            <a:endParaRPr/>
          </a:p>
          <a:p>
            <a:r>
              <a:t>---</a:t>
            </a:r>
          </a:p>
          <a:p>
            <a:endParaRPr/>
          </a:p>
          <a:p>
            <a:r>
              <a:t>Source: slides\marp\exercise\exercise-ai-assisted-architecture-specification.deck.md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 Ask participants to perform a short peer review using the five checks on this slide. The most important question is whether the architecture is a response to the requirements or merely a familiar pattern selected by the model. Require reviewers to point to a concrete requirement, decision, or consequence when they raise an issue. Close by explaining that the ADR and diagram are living specification artifacts that should be updated when requirements or implementation evidence changes.</a:t>
            </a:r>
          </a:p>
          <a:p>
            <a:endParaRPr/>
          </a:p>
          <a:p>
            <a:r>
              <a:t>---</a:t>
            </a:r>
          </a:p>
          <a:p>
            <a:endParaRPr/>
          </a:p>
          <a:p>
            <a:r>
              <a:t>Source: slides\marp\exercise\exercise-ai-assisted-architecture-specification.deck.md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~00:17</a:t>
            </a:r>
          </a:p>
          <a:p>
            <a:endParaRPr/>
          </a:p>
          <a:p>
            <a:r>
              <a:t>Frame this section as part of the greenfield foundation work rather than a documentation side quest. Explain that instruction files help the AI and the team align on standards before implementation begins, which reduces drift and rework later. Transition by asking what should exist before anyone prompts for technology-specific instructions.</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instruction files are most valuable when they reflect the actual technology choices and constraints of the project. If the requirements are vague, the generated guidance will also be vague, so the stack definition has to come first. Transition by showing the simple prompting pattern used to produce the first draft.</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Make the point that the initial prompt does not need to be elaborate to be useful. What matters is that it clearly names the technologies and asks for standards that map to real development concerns like semantics, accessibility, and runtime performance. Transition by moving from prompt generation to what a good instruction file should contain.</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review is what turns an acceptable draft into a dependable working standard. Teams should inspect whether the file is actionable for the AI, readable for humans, and explicit enough to guide consistent output across sessions. Transition by introducing the role of multiple models in improving quality.</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Close by connecting technology instruction files to the larger greenfield workflow. These files are foundational because they shape the quality of later prompts, implementation plans, and generated code, especially when multiple people and multiple models are involved. End by suggesting that every new stack choice should trigger the question, what instruction file do we need before we start building?</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the vertical slicing architecture introduction. This section explains why organizing code by feature can make complex systems easier to understand, extend, and maintain.</a:t>
            </a:r>
          </a:p>
          <a:p>
            <a:endParaRPr/>
          </a:p>
          <a:p>
            <a:r>
              <a:t>Open by asking how many people have had to change a feature by touching controllers, services, repositories, and models in four different folders.</a:t>
            </a:r>
          </a:p>
          <a:p>
            <a:endParaRPr/>
          </a:p>
          <a:p>
            <a:r>
              <a:t>Emphasize that vertical slicing is not just a folder rename. It changes how teams think about boundaries, ownership, and end-to-end feature delivery.</a:t>
            </a:r>
          </a:p>
          <a:p>
            <a:endParaRPr/>
          </a:p>
          <a:p>
            <a:r>
              <a:t>Transition with: "Let's define the pattern first, then compare it to the layered structure most teams already know."</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idea for the section, so spend roughly three minutes here. Explain that a slice is a full path through the system for one business capability, such as user registration or order checkout.</a:t>
            </a:r>
          </a:p>
          <a:p>
            <a:endParaRPr/>
          </a:p>
          <a:p>
            <a:r>
              <a:t>Point out that the goal is strong feature boundaries. A developer should be able to open one folder and understand most of what matters for that feature without navigating the whole solution.</a:t>
            </a:r>
          </a:p>
          <a:p>
            <a:endParaRPr/>
          </a:p>
          <a:p>
            <a:r>
              <a:t>Call out the independence rule explicitly: features should not directly reference each other. Shared abstractions can exist, but the feature itself should remain loosely coupled.</a:t>
            </a:r>
          </a:p>
          <a:p>
            <a:endParaRPr/>
          </a:p>
          <a:p>
            <a:r>
              <a:t>Transition with: "That definition becomes clearer when we compare the file structure side by side."</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about three minutes here and walk the audience through the diagram from left to right. In the layered view, explain that user registration logic is split across multiple folders, which creates navigation overhead and makes changes feel scattered.</a:t>
            </a:r>
          </a:p>
          <a:p>
            <a:endParaRPr/>
          </a:p>
          <a:p>
            <a:r>
              <a:t>Then move to the vertical slice view and show how each feature becomes a mini-application. The `Features/UserRegistration` folder contains the command, handler, validator, and any related response or data access pieces in one place.</a:t>
            </a:r>
          </a:p>
          <a:p>
            <a:endParaRPr/>
          </a:p>
          <a:p>
            <a:r>
              <a:t>This is a good moment to mention that enhancing one feature becomes easier because the impact area is much more visible. The file structure starts reflecting business capabilities instead of technical plumbing.</a:t>
            </a:r>
          </a:p>
          <a:p>
            <a:endParaRPr/>
          </a:p>
          <a:p>
            <a:r>
              <a:t>Transition with: "Once the structure changes, the day-to-day developer experience changes too."</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 Describe the common experience of implementing a new feature in a layered system, where developers bounce between folders just to follow one request from start to finish.</a:t>
            </a:r>
          </a:p>
          <a:p>
            <a:endParaRPr/>
          </a:p>
          <a:p>
            <a:r>
              <a:t>Contrast that with a vertical slice where the work stays mostly inside one feature folder. That reduces cognitive load and makes it easier for a developer to reason about the full behavior before they edit anything.</a:t>
            </a:r>
          </a:p>
          <a:p>
            <a:endParaRPr/>
          </a:p>
          <a:p>
            <a:r>
              <a:t>For maintainability, stress that the architecture makes the blast radius of a change smaller. When the boundary is clear, debugging and refactoring become safer and faster.</a:t>
            </a:r>
          </a:p>
          <a:p>
            <a:endParaRPr/>
          </a:p>
          <a:p>
            <a:r>
              <a:t>Transition with: "Those same boundaries also help teams collaborate and test more effectively."</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about two to three minutes on this slide. Explain that feature folders create natural seams for parallel work, so two developers can often build different slices without changing the same files.</a:t>
            </a:r>
          </a:p>
          <a:p>
            <a:endParaRPr/>
          </a:p>
          <a:p>
            <a:r>
              <a:t>In testing, highlight that the unit of reasoning becomes the feature, not a service class in isolation. That leads to tests that better reflect user behavior and system outcomes.</a:t>
            </a:r>
          </a:p>
          <a:p>
            <a:endParaRPr/>
          </a:p>
          <a:p>
            <a:r>
              <a:t>You can also mention that mocking is still useful, but it tends to happen at boundaries instead of inside every technical layer. That usually produces simpler tests with clearer intent.</a:t>
            </a:r>
          </a:p>
          <a:p>
            <a:endParaRPr/>
          </a:p>
          <a:p>
            <a:r>
              <a:t>Transition with: "Vertical slices also pair naturally with another pattern many teams use: CQRS."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framing this section as the bridge between architecture guidance and actual delivery planning.</a:t>
            </a:r>
          </a:p>
          <a:p>
            <a:endParaRPr/>
          </a:p>
          <a:p>
            <a:r>
              <a:t>Explain that vertical slices are not just a coding pattern; they are also a planning tool. The point of the section is to help the audience see how to move from requirements to a buildable roadmap.</a:t>
            </a:r>
          </a:p>
          <a:p>
            <a:endParaRPr/>
          </a:p>
          <a:p>
            <a:r>
              <a:t>Spend a few seconds previewing the three parts of the talk: reviewing the planning instruction file, generating implementation plans with AI, and improving those plans through multi-model evaluation.</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instruction file as the planning playbook. It tells both humans and AI how to reason about a feature before code is written.</a:t>
            </a:r>
          </a:p>
          <a:p>
            <a:endParaRPr/>
          </a:p>
          <a:p>
            <a:r>
              <a:t>Call out that a strong instruction file improves consistency. Instead of every plan starting from scratch, the team gets a repeatable way to identify slices, document dependencies, and define an implementation sequence.</a:t>
            </a:r>
          </a:p>
          <a:p>
            <a:endParaRPr/>
          </a:p>
          <a:p>
            <a:r>
              <a:t>Mention that the file is valuable even when AI is not involved because it clarifies how the team wants work decomposed.</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five strategies and explain that no single strategy is always correct. The right one depends on the kind of behavior being modeled.</a:t>
            </a:r>
          </a:p>
          <a:p>
            <a:endParaRPr/>
          </a:p>
          <a:p>
            <a:r>
              <a:t>For user action decomposition, use an example like "submit order" or "reset password." For CRUD, use admin maintenance screens. For workflow stages, mention onboarding or approvals. For business events, use order placed or payment failed. For CQRS, explain separating queries from commands when reads and writes differ significantly.</a:t>
            </a:r>
          </a:p>
          <a:p>
            <a:endParaRPr/>
          </a:p>
          <a:p>
            <a:r>
              <a:t>Stress that the planning file helps choose a strategy rather than forcing one pattern onto every feature.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defines the quality bar for a slice. Explain that a slice should deliver one meaningful capability and contain everything needed to implement that capability end to end.</a:t>
            </a:r>
          </a:p>
          <a:p>
            <a:endParaRPr/>
          </a:p>
          <a:p>
            <a:r>
              <a:t>Clarify "no horizontal sharing" by contrasting a real slice with a layer-based task such as "build all repositories first." Horizontal work may still exist, but it should not become the primary planning unit.</a:t>
            </a:r>
          </a:p>
          <a:p>
            <a:endParaRPr/>
          </a:p>
          <a:p>
            <a:r>
              <a:t>Use the phrase "valuable and manageable" more than once. That is the balance teams often miss when they either create giant epics or tiny technical chores that produce no user value.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slicing is not just naming features. It requires examining data dependencies and service dependencies before locking in the plan.</a:t>
            </a:r>
          </a:p>
          <a:p>
            <a:endParaRPr/>
          </a:p>
          <a:p>
            <a:r>
              <a:t>Walk through the decision aid from left to right. Start with the flow, then look at dependency boundaries, then check whether the proposed slice is too large or too fragmented, and finally place it into an execution sequence.</a:t>
            </a:r>
          </a:p>
          <a:p>
            <a:endParaRPr/>
          </a:p>
          <a:p>
            <a:r>
              <a:t>This is a good moment to remind the audience that planning errors often come from ignoring dependencies until implementation begins.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prompt works because it combines two inputs: the planning instructions and the actual feature requirements. Without both, the output is usually too generic.</a:t>
            </a:r>
          </a:p>
          <a:p>
            <a:endParaRPr/>
          </a:p>
          <a:p>
            <a:r>
              <a:t>Point out that this is where AI becomes a planning accelerator. Instead of starting from a blank page, the team gets a draft plan containing slices, dependencies, sequencing, and potential sprint structure.</a:t>
            </a:r>
          </a:p>
          <a:p>
            <a:endParaRPr/>
          </a:p>
          <a:p>
            <a:r>
              <a:t>Also note that the prompt is intentionally simple. The quality comes from the instruction file and source requirements, not from a complicated prompt.</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define evaluation criteria for AI-generated plans. The audience should leave knowing what "good" looks like, not just that AI can produce something.</a:t>
            </a:r>
          </a:p>
          <a:p>
            <a:endParaRPr/>
          </a:p>
          <a:p>
            <a:r>
              <a:t>Explain that different models may emphasize different aspects. One might provide stronger rationale, another might produce cleaner sequencing, and another might be better at summarizing requirements.</a:t>
            </a:r>
          </a:p>
          <a:p>
            <a:endParaRPr/>
          </a:p>
          <a:p>
            <a:r>
              <a:t>Encourage the audience to compare outputs rather than assuming the first plan is correct. This leads naturally into the multi-model review exercise.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Translate the abstract process into a concrete example. Use the calculator scenario because it is simple enough to understand quickly while still showing real decomposition choices.</a:t>
            </a:r>
          </a:p>
          <a:p>
            <a:endParaRPr/>
          </a:p>
          <a:p>
            <a:r>
              <a:t>Mention that one model may group input and validation together, while another may separate them. One may treat history as a later slice because it depends on completed calculations. These are exactly the kinds of planning differences worth discussing.</a:t>
            </a:r>
          </a:p>
          <a:p>
            <a:endParaRPr/>
          </a:p>
          <a:p>
            <a:r>
              <a:t>Reinforce that the output is not just a list of tasks. It is a roadmap with ordering logic.</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repeatable workflow. This gives the audience a practical method they can adopt immediately.</a:t>
            </a:r>
          </a:p>
          <a:p>
            <a:endParaRPr/>
          </a:p>
          <a:p>
            <a:r>
              <a:t>Emphasize that the instruction file is the stable asset, AI provides the first draft, and multi-model review improves quality. Over time, the planning assets themselves get better, which improves every future plan.</a:t>
            </a:r>
          </a:p>
          <a:p>
            <a:endParaRPr/>
          </a:p>
          <a:p>
            <a:r>
              <a:t>End by connecting this section to execution: once the slices and roadmap are solid, implementation becomes faster, safer, and easier to parallelize.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Introduce this section as the point where planning becomes executable rather than aspirational. Explain that dependency analysis helps the team decide what must be built first, what can safely wait, and what can happen in parallel without creating blockers.  Transition by showing a simple dependency graph and explaining how to read it.</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a dependency graph is a visual map of implementation order, not just a picture of the system. Root nodes such as foundation setup are important because they unlock other work, while downstream nodes cannot start safely until their prerequisites exist.  Transition by asking which path through the graph will determine overall progress.</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not every task has the same scheduling weight. The chain from foundation through Slice 1 and Slice 2 to release readiness is the critical path because a delay anywhere in that line affects the final delivery date.  Transition by showing that some branches can still be parallelized once the right prerequisites are in place.</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parallelization is useful, but only after the common enabling work is complete. In this example, Slice 1 and Slice 2 can move at the same time, yet the integration slice must wait until both are finished, so sequencing still matters.  Transition by separating foundational work from dependent features so the audience can see how to prioritize the backlog.</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Clarify that foundational work is valuable because it unlocks many downstream slices, not because it is glamorous. Dependent features usually deliver visible business value, but they become risky or inefficient if the core infrastructure they need is missing or unstable.  Transition by summarizing a lightweight planning process the team can repeat for every implementation plan.</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by turning the concept into a repeatable planning workflow. The audience should leave with the idea that dependency analysis is a small upfront investment that prevents scheduling confusion, blocked development, and unrealistic sequencing later.  End by connecting this back to vertical slices, where smart sequencing makes incremental delivery much easier.</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~00:22</a:t>
            </a:r>
          </a:p>
          <a:p>
            <a:endParaRPr/>
          </a:p>
          <a:p>
            <a:r>
              <a:t>Introduce this section as the bridge between planning and actual implementation. The audience should understand that a slice plan becomes much more useful when it is converted into a precise prompt that tells the AI what to build, how to verify it, and how to demonstrate it.  Transition by asking what information a good implementation prompt must capture before any code is generated.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the best implementation prompts are intentionally narrow. Rather than asking for an entire application, the team picks one slice from the plan and turns that into a focused request that can be reviewed and tested independently.  Transition by showing what the actual prompt needs to contain once the slice is chosen.</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Frame this slide around prompt construction, not just prompt wording. The important move is that the request names the slice, points to the governing instructions, and asks for more than code generation by explicitly requiring verification and demonstration guidance.  Transition by breaking down the expected deliverables inside the generated prompt file.</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the prompt output as if you are reviewing a generated file with the class. The goal is not merely to list filenames, but to show that the prompt should describe what each file is responsible for and how the pieces fit together.  Transition by moving from implementation detail to the checks that prove the slice actually works.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verification should be authored before or alongside implementation, not after the fact. The checks on this slide are strong examples because they cover default state, observable behavior, and accessibility requirements in a way that reviewers and demonstrators can both understand.  Transition by showing how showcase instructions differ from verification even though the two are related.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Make the distinction between proving correctness and presenting value. Verification asks whether the slice works; showcase guidance tells a human demonstrator how to walk stakeholders through what appears on screen, what changes, and why they should care.  Transition by expanding from one slice to the broader roadmap of multiple prompts.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by connecting the single-slice example to the full delivery workflow. Each prompt becomes a reusable unit of work that can be re-run, refined, and audited over time, which is especially useful when implementation spans multiple sessions or contributors.  End by encouraging the audience to treat prompt files as versioned implementation assets, not disposable chat text.</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deck as a practical delivery workflow, not just an architecture concept. Emphasize that each vertical slice includes API, domain logic, persistence, and tests. Mention that parallel work is possible only after dependency analysis confirms slice independence.</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Call out that Foundation might include authentication baseline, shared contracts, and CI setup. Then point to slices A, B, and C as intentionally parallel lanes. Close by explaining that integration hardening is a separate explicit phase.</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team coordination practices. Explain that parallel work fails when contracts are ambiguous. Recommend daily integration checks and a lightweight dependency board to catch collisions early.</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controlled convergence, not a big bang merge. Point out that each slice already passed its own checks, so this phase focuses on system behavior and production readiness. Encourage using release checklists to avoid late surprises.</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OBS: Slides</a:t>
            </a:r>
            <a:br>
              <a:rPr lang="en-US" dirty="0"/>
            </a:br>
            <a:endParaRPr lang="en-US" dirty="0"/>
          </a:p>
          <a:p>
            <a:r>
              <a:rPr dirty="0"/>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endParaRPr dirty="0"/>
          </a:p>
          <a:p>
            <a:r>
              <a:rPr dirty="0"/>
              <a:t>- [AI Practitioner Resources](codemag.com/</a:t>
            </a:r>
            <a:r>
              <a:rPr dirty="0" err="1"/>
              <a:t>aipractitioner</a:t>
            </a:r>
            <a:r>
              <a:rPr dirty="0"/>
              <a:t>)</a:t>
            </a:r>
          </a:p>
          <a:p>
            <a:endParaRPr dirty="0"/>
          </a:p>
          <a:p>
            <a:r>
              <a:rPr dirty="0"/>
              <a:t>---</a:t>
            </a:r>
          </a:p>
          <a:p>
            <a:endParaRPr dirty="0"/>
          </a:p>
          <a:p>
            <a:r>
              <a:rPr dirty="0"/>
              <a:t>Source: slides\marp\instructors\jMM-Software-Archaeologist.deck.md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Friday Finish Strong</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Happy to have everyone back and ready to close out the week</a:t>
            </a:r>
            <a:endParaRPr sz="2800" b="0" i="0">
              <a:latin typeface="Arial"/>
            </a:endParaRPr>
          </a:p>
          <a:p>
            <a:r>
              <a:rPr sz="2800" b="0" i="0" u="none"/>
              <a:t>We will connect today's work to everything we have practiced so far</a:t>
            </a:r>
            <a:endParaRPr sz="2800" b="0" i="0">
              <a:latin typeface="Arial"/>
            </a:endParaRPr>
          </a:p>
          <a:p>
            <a:r>
              <a:rPr sz="2800" b="0" i="0" u="none"/>
              <a:t>Your participation helps turn concepts into usable skills</a:t>
            </a:r>
            <a:endParaRPr sz="2800" b="0" i="0">
              <a:latin typeface="Arial"/>
            </a:endParaRPr>
          </a:p>
          <a:p>
            <a:r>
              <a:rPr sz="2800" b="1" i="0" u="none"/>
              <a:t>Keep the questions coming throughout - curiosity drives the best outcomes.</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1" i="0" u="none"/>
              <a:t>▶ Specification Driven Software Development</a:t>
            </a:r>
          </a:p>
          <a:p>
            <a:r>
              <a:rPr sz="2750" b="0" i="0" u="none"/>
              <a:t>Architecture Specification</a:t>
            </a:r>
          </a:p>
          <a:p>
            <a:r>
              <a:rPr sz="2750" b="0" i="0" u="none"/>
              <a:t>Technology Specification</a:t>
            </a:r>
          </a:p>
          <a:p>
            <a:r>
              <a:rPr sz="2750" b="0" i="0" u="none"/>
              <a:t>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B1B64-17D3-C514-0AD5-0992A94EB9D3}"/>
              </a:ext>
            </a:extLst>
          </p:cNvPr>
          <p:cNvSpPr>
            <a:spLocks noGrp="1"/>
          </p:cNvSpPr>
          <p:nvPr>
            <p:ph type="title"/>
          </p:nvPr>
        </p:nvSpPr>
        <p:spPr/>
        <p:txBody>
          <a:bodyPr/>
          <a:lstStyle/>
          <a:p>
            <a:r>
              <a:rPr lang="en-US" dirty="0"/>
              <a:t>But first…</a:t>
            </a:r>
          </a:p>
        </p:txBody>
      </p:sp>
      <p:sp>
        <p:nvSpPr>
          <p:cNvPr id="3" name="Content Placeholder 2">
            <a:extLst>
              <a:ext uri="{FF2B5EF4-FFF2-40B4-BE49-F238E27FC236}">
                <a16:creationId xmlns:a16="http://schemas.microsoft.com/office/drawing/2014/main" id="{EEBD0013-F610-09B5-5807-44E2B7307AC1}"/>
              </a:ext>
            </a:extLst>
          </p:cNvPr>
          <p:cNvSpPr>
            <a:spLocks noGrp="1"/>
          </p:cNvSpPr>
          <p:nvPr>
            <p:ph idx="1"/>
          </p:nvPr>
        </p:nvSpPr>
        <p:spPr/>
        <p:txBody>
          <a:bodyPr/>
          <a:lstStyle/>
          <a:p>
            <a:r>
              <a:rPr lang="en-US" dirty="0"/>
              <a:t>https://github.com/j0hnnymiller/20260921-aiasd-green</a:t>
            </a:r>
          </a:p>
        </p:txBody>
      </p:sp>
    </p:spTree>
    <p:extLst>
      <p:ext uri="{BB962C8B-B14F-4D97-AF65-F5344CB8AC3E}">
        <p14:creationId xmlns:p14="http://schemas.microsoft.com/office/powerpoint/2010/main" val="41485427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Getting Started Checklist</a:t>
            </a:r>
          </a:p>
        </p:txBody>
      </p:sp>
      <p:sp>
        <p:nvSpPr>
          <p:cNvPr id="3" name="Subtitle 2"/>
          <p:cNvSpPr>
            <a:spLocks noGrp="1"/>
          </p:cNvSpPr>
          <p:nvPr>
            <p:ph type="subTitle" idx="1"/>
          </p:nvPr>
        </p:nvSpPr>
        <p:spPr/>
        <p:txBody>
          <a:bodyPr wrap="square">
            <a:normAutofit/>
          </a:bodyPr>
          <a:lstStyle/>
          <a:p>
            <a:pPr>
              <a:buNone/>
            </a:pPr>
            <a:r>
              <a:rPr b="0" i="0" u="none"/>
              <a:t>The Recipe Before the Meal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High Level AI Assisted Workflow</a:t>
            </a:r>
          </a:p>
        </p:txBody>
      </p:sp>
      <p:sp>
        <p:nvSpPr>
          <p:cNvPr id="3" name="Content Placeholder 2"/>
          <p:cNvSpPr>
            <a:spLocks noGrp="1"/>
          </p:cNvSpPr>
          <p:nvPr>
            <p:ph idx="1"/>
          </p:nvPr>
        </p:nvSpPr>
        <p:spPr/>
        <p:txBody>
          <a:bodyPr wrap="square">
            <a:normAutofit/>
          </a:bodyPr>
          <a:lstStyle/>
          <a:p>
            <a:pPr>
              <a:buNone/>
            </a:pPr>
            <a:r>
              <a:rPr sz="1700" b="1" i="0" u="none"/>
              <a:t>From Requirements to a Solution</a:t>
            </a:r>
            <a:endParaRPr sz="1700" b="0" i="0">
              <a:latin typeface="Arial"/>
            </a:endParaRPr>
          </a:p>
          <a:p>
            <a:pPr>
              <a:buNone/>
            </a:pPr>
            <a:endParaRPr sz="1700" b="0" i="0">
              <a:latin typeface="Arial"/>
            </a:endParaRPr>
          </a:p>
          <a:p>
            <a:r>
              <a:rPr sz="1700" b="0" i="0" u="none"/>
              <a:t>Stakeholders such as SMEs, architects, SREs, and DBAs define the requirements with AI assistance.</a:t>
            </a:r>
            <a:endParaRPr sz="1700" b="0" i="0">
              <a:latin typeface="Arial"/>
            </a:endParaRPr>
          </a:p>
          <a:p>
            <a:pPr lvl="1"/>
            <a:r>
              <a:rPr sz="1700" b="0" i="0" u="none"/>
              <a:t>AI transforms the requirements into implementation instruction files that guide the work.</a:t>
            </a:r>
            <a:endParaRPr sz="1700" b="0" i="0">
              <a:latin typeface="Arial"/>
            </a:endParaRPr>
          </a:p>
          <a:p>
            <a:r>
              <a:rPr sz="1700" b="0" i="0" u="none"/>
              <a:t>Stakeholders review, improve, and approve the instruction files.</a:t>
            </a:r>
            <a:endParaRPr sz="1700" b="0" i="0">
              <a:latin typeface="Arial"/>
            </a:endParaRPr>
          </a:p>
          <a:p>
            <a:pPr lvl="1"/>
            <a:r>
              <a:rPr sz="1700" b="0" i="0" u="none"/>
              <a:t>AI uses those instruction files to create prompts that implement the business requirements.</a:t>
            </a:r>
            <a:endParaRPr sz="1700" b="0" i="0">
              <a:latin typeface="Arial"/>
            </a:endParaRPr>
          </a:p>
          <a:p>
            <a:pPr lvl="1"/>
            <a:r>
              <a:rPr sz="1700" b="0" i="0" u="none"/>
              <a:t>Implementation prompts explain how the feature should be built and how acceptance criteria should be verified.</a:t>
            </a:r>
            <a:endParaRPr sz="1700" b="0" i="0">
              <a:latin typeface="Arial"/>
            </a:endParaRPr>
          </a:p>
          <a:p>
            <a:r>
              <a:rPr sz="1700" b="0" i="0" u="none"/>
              <a:t>Stakeholders review, improve, and approve the implementation prompts.</a:t>
            </a:r>
            <a:endParaRPr sz="1700" b="0" i="0">
              <a:latin typeface="Arial"/>
            </a:endParaRPr>
          </a:p>
          <a:p>
            <a:pPr lvl="1"/>
            <a:r>
              <a:rPr sz="1700" b="0" i="0" u="none"/>
              <a:t>Submitting the implementation prompts produces an implementation that conforms to the instruction files and meets the acceptance criteria.</a:t>
            </a:r>
            <a:endParaRPr sz="1700" b="0" i="0">
              <a:latin typeface="Arial"/>
            </a:endParaRPr>
          </a:p>
          <a:p>
            <a:r>
              <a:rPr sz="1700" b="0" i="0" u="none"/>
              <a:t>Stakeholders review and approve the resulting implementation.</a:t>
            </a:r>
            <a:endParaRPr sz="170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AI-Assisted Business Requirement Specification</a:t>
            </a:r>
          </a:p>
        </p:txBody>
      </p:sp>
      <p:sp>
        <p:nvSpPr>
          <p:cNvPr id="3" name="Content Placeholder 2"/>
          <p:cNvSpPr>
            <a:spLocks noGrp="1"/>
          </p:cNvSpPr>
          <p:nvPr>
            <p:ph idx="1"/>
          </p:nvPr>
        </p:nvSpPr>
        <p:spPr/>
        <p:txBody>
          <a:bodyPr wrap="square">
            <a:normAutofit/>
          </a:bodyPr>
          <a:lstStyle/>
          <a:p>
            <a:pPr>
              <a:buNone/>
            </a:pPr>
            <a:r>
              <a:rPr sz="2800" b="1" i="0" u="none"/>
              <a:t>From Conversations to Verifiable Intent</a:t>
            </a:r>
            <a:endParaRPr sz="2800" b="0" i="0">
              <a:latin typeface="Arial"/>
            </a:endParaRPr>
          </a:p>
          <a:p>
            <a:pPr>
              <a:buNone/>
            </a:pPr>
            <a:endParaRPr sz="2800" b="0" i="0">
              <a:latin typeface="Arial"/>
            </a:endParaRPr>
          </a:p>
          <a:p>
            <a:pPr>
              <a:buNone/>
            </a:pPr>
            <a:r>
              <a:rPr sz="2800" b="1" i="0" u="none"/>
              <a:t>The goal is not more documentation.</a:t>
            </a:r>
            <a:endParaRPr sz="2800" b="0" i="0">
              <a:latin typeface="Arial"/>
            </a:endParaRPr>
          </a:p>
          <a:p>
            <a:pPr>
              <a:buNone/>
            </a:pPr>
            <a:endParaRPr sz="2800" b="0" i="0">
              <a:latin typeface="Arial"/>
            </a:endParaRPr>
          </a:p>
          <a:p>
            <a:pPr>
              <a:buNone/>
            </a:pPr>
            <a:r>
              <a:rPr sz="2800" b="0" i="0" u="none"/>
              <a:t>The goal is shared understanding that can guide design, implementation, and acceptance.</a:t>
            </a:r>
            <a:endParaRPr sz="280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What Makes a Requirement Useful?</a:t>
            </a:r>
          </a:p>
        </p:txBody>
      </p:sp>
      <p:sp>
        <p:nvSpPr>
          <p:cNvPr id="3" name="Content Placeholder 2"/>
          <p:cNvSpPr>
            <a:spLocks noGrp="1"/>
          </p:cNvSpPr>
          <p:nvPr>
            <p:ph idx="1"/>
          </p:nvPr>
        </p:nvSpPr>
        <p:spPr/>
        <p:txBody>
          <a:bodyPr wrap="square">
            <a:normAutofit/>
          </a:bodyPr>
          <a:lstStyle/>
          <a:p>
            <a:pPr>
              <a:buNone/>
            </a:pPr>
            <a:r>
              <a:rPr sz="2100" b="0" i="0" u="none"/>
              <a:t>A useful requirement is:</a:t>
            </a:r>
            <a:endParaRPr sz="2100" b="0" i="0">
              <a:latin typeface="Arial"/>
            </a:endParaRPr>
          </a:p>
          <a:p>
            <a:pPr>
              <a:buNone/>
            </a:pPr>
            <a:endParaRPr sz="2100" b="0" i="0">
              <a:latin typeface="Arial"/>
            </a:endParaRPr>
          </a:p>
          <a:p>
            <a:r>
              <a:rPr sz="2100" b="1" i="0" u="none"/>
              <a:t>Bounded</a:t>
            </a:r>
            <a:r>
              <a:rPr sz="2100" b="0" i="0" u="none"/>
              <a:t> — names the business capability and its scope</a:t>
            </a:r>
            <a:endParaRPr sz="2100" b="0" i="0">
              <a:latin typeface="Arial"/>
            </a:endParaRPr>
          </a:p>
          <a:p>
            <a:r>
              <a:rPr sz="2100" b="1" i="0" u="none"/>
              <a:t>Observable</a:t>
            </a:r>
            <a:r>
              <a:rPr sz="2100" b="0" i="0" u="none"/>
              <a:t> — describes behavior someone can verify</a:t>
            </a:r>
            <a:endParaRPr sz="2100" b="0" i="0">
              <a:latin typeface="Arial"/>
            </a:endParaRPr>
          </a:p>
          <a:p>
            <a:r>
              <a:rPr sz="2100" b="1" i="0" u="none"/>
              <a:t>Traceable</a:t>
            </a:r>
            <a:r>
              <a:rPr sz="2100" b="0" i="0" u="none"/>
              <a:t> — connects intent to rules, use cases, and acceptance criteria</a:t>
            </a:r>
            <a:endParaRPr sz="2100" b="0" i="0">
              <a:latin typeface="Arial"/>
            </a:endParaRPr>
          </a:p>
          <a:p>
            <a:r>
              <a:rPr sz="2100" b="1" i="0" u="none"/>
              <a:t>Prioritized</a:t>
            </a:r>
            <a:r>
              <a:rPr sz="2100" b="0" i="0" u="none"/>
              <a:t> — makes value and tradeoffs visible</a:t>
            </a:r>
            <a:endParaRPr sz="2100" b="0" i="0">
              <a:latin typeface="Arial"/>
            </a:endParaRPr>
          </a:p>
          <a:p>
            <a:r>
              <a:rPr sz="2100" b="1" i="0" u="none"/>
              <a:t>Owned</a:t>
            </a:r>
            <a:r>
              <a:rPr sz="2100" b="0" i="0" u="none"/>
              <a:t> — identifies who can confirm or change it</a:t>
            </a:r>
            <a:endParaRPr sz="2100" b="0" i="0">
              <a:latin typeface="Arial"/>
            </a:endParaRPr>
          </a:p>
          <a:p>
            <a:pPr>
              <a:buNone/>
            </a:pPr>
            <a:endParaRPr sz="2100" b="0" i="0">
              <a:latin typeface="Arial"/>
            </a:endParaRPr>
          </a:p>
          <a:p>
            <a:pPr>
              <a:buNone/>
            </a:pPr>
            <a:r>
              <a:rPr sz="2100" b="0" i="1" u="none"/>
              <a:t>If two reasonable readers can implement different behaviors, the requirement is not finished.</a:t>
            </a:r>
            <a:endParaRPr sz="21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00" b="0" i="0" u="none"/>
              <a:t>Start With Business Context, Not a Blank Prompt</a:t>
            </a:r>
          </a:p>
        </p:txBody>
      </p:sp>
      <p:sp>
        <p:nvSpPr>
          <p:cNvPr id="3" name="Content Placeholder 2"/>
          <p:cNvSpPr>
            <a:spLocks noGrp="1"/>
          </p:cNvSpPr>
          <p:nvPr>
            <p:ph idx="1"/>
          </p:nvPr>
        </p:nvSpPr>
        <p:spPr/>
        <p:txBody>
          <a:bodyPr wrap="square">
            <a:normAutofit/>
          </a:bodyPr>
          <a:lstStyle/>
          <a:p>
            <a:pPr>
              <a:buNone/>
            </a:pPr>
            <a:r>
              <a:rPr sz="1750" b="0" i="0" u="none"/>
              <a:t>Before asking AI to draft requirements, collect:</a:t>
            </a:r>
            <a:endParaRPr sz="1750" b="0" i="0">
              <a:latin typeface="Consolas"/>
            </a:endParaRPr>
          </a:p>
          <a:p>
            <a:pPr>
              <a:buNone/>
            </a:pPr>
            <a:endParaRPr sz="1750" b="0" i="0">
              <a:latin typeface="Consolas"/>
            </a:endParaRPr>
          </a:p>
          <a:p>
            <a:r>
              <a:rPr sz="1750" b="1" i="0" u="none"/>
              <a:t>Outcome</a:t>
            </a:r>
            <a:r>
              <a:rPr sz="1750" b="0" i="0" u="none"/>
              <a:t> — what business result should improve?</a:t>
            </a:r>
            <a:endParaRPr sz="1750" b="0" i="0">
              <a:latin typeface="Consolas"/>
            </a:endParaRPr>
          </a:p>
          <a:p>
            <a:r>
              <a:rPr sz="1750" b="1" i="0" u="none"/>
              <a:t>Actors</a:t>
            </a:r>
            <a:r>
              <a:rPr sz="1750" b="0" i="0" u="none"/>
              <a:t> — who performs, receives, approves, or is affected?</a:t>
            </a:r>
            <a:endParaRPr sz="1750" b="0" i="0">
              <a:latin typeface="Consolas"/>
            </a:endParaRPr>
          </a:p>
          <a:p>
            <a:r>
              <a:rPr sz="1750" b="1" i="0" u="none"/>
              <a:t>Current state</a:t>
            </a:r>
            <a:r>
              <a:rPr sz="1750" b="0" i="0" u="none"/>
              <a:t> — how does the work happen today?</a:t>
            </a:r>
            <a:endParaRPr sz="1750" b="0" i="0">
              <a:latin typeface="Consolas"/>
            </a:endParaRPr>
          </a:p>
          <a:p>
            <a:r>
              <a:rPr sz="1750" b="1" i="0" u="none"/>
              <a:t>Constraints</a:t>
            </a:r>
            <a:r>
              <a:rPr sz="1750" b="0" i="0" u="none"/>
              <a:t> — policy, legal, timing, budget, technology, or organizational limits</a:t>
            </a:r>
            <a:endParaRPr sz="1750" b="0" i="0">
              <a:latin typeface="Consolas"/>
            </a:endParaRPr>
          </a:p>
          <a:p>
            <a:r>
              <a:rPr sz="1750" b="1" i="0" u="none"/>
              <a:t>Evidence</a:t>
            </a:r>
            <a:r>
              <a:rPr sz="1750" b="0" i="0" u="none"/>
              <a:t> — source documents, examples, measures, decisions, and open questions</a:t>
            </a:r>
            <a:endParaRPr sz="1750" b="0" i="0">
              <a:latin typeface="Consolas"/>
            </a:endParaRPr>
          </a:p>
          <a:p>
            <a:pPr>
              <a:buNone/>
            </a:pPr>
            <a:endParaRPr sz="1750" b="0" i="0">
              <a:latin typeface="Consolas"/>
            </a:endParaRPr>
          </a:p>
          <a:p>
            <a:pPr>
              <a:buNone/>
            </a:pPr>
            <a:r>
              <a:rPr sz="1750" b="1" i="0" u="none"/>
              <a:t>Context packet</a:t>
            </a:r>
            <a:endParaRPr sz="1750" b="0" i="0">
              <a:latin typeface="Consolas"/>
            </a:endParaRPr>
          </a:p>
          <a:p>
            <a:pPr>
              <a:buNone/>
            </a:pPr>
            <a:endParaRPr sz="1750" b="0" i="0">
              <a:latin typeface="Consolas"/>
            </a:endParaRPr>
          </a:p>
          <a:p>
            <a:pPr>
              <a:buNone/>
            </a:pPr>
            <a:r>
              <a:rPr sz="1750" b="0" i="0" u="none">
                <a:latin typeface="Consolas"/>
              </a:rPr>
              <a:t>purpose</a:t>
            </a:r>
            <a:r>
              <a:rPr sz="1750" b="0" i="0" u="none"/>
              <a:t> + </a:t>
            </a:r>
            <a:r>
              <a:rPr sz="1750" b="0" i="0" u="none">
                <a:latin typeface="Consolas"/>
              </a:rPr>
              <a:t>domain vocabulary</a:t>
            </a:r>
            <a:r>
              <a:rPr sz="1750" b="0" i="0" u="none"/>
              <a:t> + </a:t>
            </a:r>
            <a:r>
              <a:rPr sz="1750" b="0" i="0" u="none">
                <a:latin typeface="Consolas"/>
              </a:rPr>
              <a:t>current workflow</a:t>
            </a:r>
            <a:r>
              <a:rPr sz="1750" b="0" i="0" u="none"/>
              <a:t> + </a:t>
            </a:r>
            <a:r>
              <a:rPr sz="1750" b="0" i="0" u="none">
                <a:latin typeface="Consolas"/>
              </a:rPr>
              <a:t>known constraints</a:t>
            </a:r>
            <a:r>
              <a:rPr sz="1750" b="0" i="0" u="none"/>
              <a:t> + </a:t>
            </a:r>
            <a:r>
              <a:rPr sz="1750" b="0" i="0" u="none">
                <a:latin typeface="Consolas"/>
              </a:rPr>
              <a:t>questions</a:t>
            </a:r>
            <a:endParaRPr sz="1750" b="0" i="0">
              <a:latin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From Narrative to Requirement Model</a:t>
            </a:r>
          </a:p>
        </p:txBody>
      </p:sp>
      <p:sp>
        <p:nvSpPr>
          <p:cNvPr id="3" name="Content Placeholder 2"/>
          <p:cNvSpPr>
            <a:spLocks noGrp="1"/>
          </p:cNvSpPr>
          <p:nvPr>
            <p:ph idx="1"/>
          </p:nvPr>
        </p:nvSpPr>
        <p:spPr/>
        <p:txBody>
          <a:bodyPr wrap="square">
            <a:normAutofit/>
          </a:bodyPr>
          <a:lstStyle/>
          <a:p>
            <a:pPr>
              <a:buNone/>
            </a:pPr>
            <a:r>
              <a:rPr sz="2800" b="0" i="0" u="none"/>
              <a:t>AI can accelerate each transformation, but every arrow needs review.</a:t>
            </a:r>
            <a:endParaRPr sz="2800" b="0" i="0">
              <a:latin typeface="Arial"/>
            </a:endParaRPr>
          </a:p>
        </p:txBody>
      </p:sp>
      <p:pic>
        <p:nvPicPr>
          <p:cNvPr id="4" name="Picture 3" descr="cf25efd6442e82ddaf1e53d4c6aaa2c030d7a8b4.png"/>
          <p:cNvPicPr>
            <a:picLocks noChangeAspect="1"/>
          </p:cNvPicPr>
          <p:nvPr/>
        </p:nvPicPr>
        <p:blipFill>
          <a:blip r:embed="rId3"/>
          <a:stretch>
            <a:fillRect/>
          </a:stretch>
        </p:blipFill>
        <p:spPr>
          <a:xfrm>
            <a:off x="238664" y="3380197"/>
            <a:ext cx="11714672" cy="6434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Extract Business Rules Explicitly</a:t>
            </a:r>
          </a:p>
        </p:txBody>
      </p:sp>
      <p:graphicFrame>
        <p:nvGraphicFramePr>
          <p:cNvPr id="3" name="Table 2"/>
          <p:cNvGraphicFramePr>
            <a:graphicFrameLocks noGrp="1"/>
          </p:cNvGraphicFramePr>
          <p:nvPr/>
        </p:nvGraphicFramePr>
        <p:xfrm>
          <a:off x="1219200" y="1828800"/>
          <a:ext cx="9753600" cy="33528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Rule type</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tc>
                  <a:txBody>
                    <a:bodyPr/>
                    <a:lstStyle/>
                    <a:p>
                      <a:pPr>
                        <a:buNone/>
                        <a:defRPr sz="1600" b="1">
                          <a:solidFill>
                            <a:schemeClr val="bg1"/>
                          </a:solidFill>
                        </a:defRPr>
                      </a:pPr>
                      <a:r>
                        <a:rPr sz="1600" b="0" i="0" u="none"/>
                        <a:t>Review question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Eligibility</a:t>
                      </a:r>
                    </a:p>
                  </a:txBody>
                  <a:tcPr>
                    <a:solidFill>
                      <a:schemeClr val="accent4">
                        <a:lumMod val="20000"/>
                        <a:lumOff val="80000"/>
                      </a:schemeClr>
                    </a:solidFill>
                  </a:tcPr>
                </a:tc>
                <a:tc>
                  <a:txBody>
                    <a:bodyPr/>
                    <a:lstStyle/>
                    <a:p>
                      <a:pPr>
                        <a:buNone/>
                        <a:defRPr sz="1600" b="0">
                          <a:solidFill>
                            <a:schemeClr val="tx1"/>
                          </a:solidFill>
                        </a:defRPr>
                      </a:pPr>
                      <a:r>
                        <a:rPr sz="1600" b="0" i="0" u="none"/>
                        <a:t>An academic must complete probation before promotion</a:t>
                      </a:r>
                    </a:p>
                  </a:txBody>
                  <a:tcPr>
                    <a:solidFill>
                      <a:schemeClr val="accent4">
                        <a:lumMod val="20000"/>
                        <a:lumOff val="80000"/>
                      </a:schemeClr>
                    </a:solidFill>
                  </a:tcPr>
                </a:tc>
                <a:tc>
                  <a:txBody>
                    <a:bodyPr/>
                    <a:lstStyle/>
                    <a:p>
                      <a:pPr>
                        <a:buNone/>
                        <a:defRPr sz="1600" b="0">
                          <a:solidFill>
                            <a:schemeClr val="tx1"/>
                          </a:solidFill>
                        </a:defRPr>
                      </a:pPr>
                      <a:r>
                        <a:rPr sz="1600" b="0" i="0" u="none"/>
                        <a:t>What evidence proves eligibility?</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Calculation</a:t>
                      </a:r>
                    </a:p>
                  </a:txBody>
                  <a:tcPr>
                    <a:solidFill>
                      <a:schemeClr val="accent4">
                        <a:lumMod val="8000"/>
                        <a:lumOff val="92000"/>
                      </a:schemeClr>
                    </a:solidFill>
                  </a:tcPr>
                </a:tc>
                <a:tc>
                  <a:txBody>
                    <a:bodyPr/>
                    <a:lstStyle/>
                    <a:p>
                      <a:pPr>
                        <a:buNone/>
                        <a:defRPr sz="1600" b="0">
                          <a:solidFill>
                            <a:schemeClr val="tx1"/>
                          </a:solidFill>
                        </a:defRPr>
                      </a:pPr>
                      <a:r>
                        <a:rPr sz="1600" b="0" i="0" u="none"/>
                        <a:t>Promotion review uses the current academic year</a:t>
                      </a:r>
                    </a:p>
                  </a:txBody>
                  <a:tcPr>
                    <a:solidFill>
                      <a:schemeClr val="accent4">
                        <a:lumMod val="8000"/>
                        <a:lumOff val="92000"/>
                      </a:schemeClr>
                    </a:solidFill>
                  </a:tcPr>
                </a:tc>
                <a:tc>
                  <a:txBody>
                    <a:bodyPr/>
                    <a:lstStyle/>
                    <a:p>
                      <a:pPr>
                        <a:buNone/>
                        <a:defRPr sz="1600" b="0">
                          <a:solidFill>
                            <a:schemeClr val="tx1"/>
                          </a:solidFill>
                        </a:defRPr>
                      </a:pPr>
                      <a:r>
                        <a:rPr sz="1600" b="0" i="0" u="none"/>
                        <a:t>Which dates and exceptions apply?</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Authorization</a:t>
                      </a:r>
                    </a:p>
                  </a:txBody>
                  <a:tcPr>
                    <a:solidFill>
                      <a:schemeClr val="accent4">
                        <a:lumMod val="20000"/>
                        <a:lumOff val="80000"/>
                      </a:schemeClr>
                    </a:solidFill>
                  </a:tcPr>
                </a:tc>
                <a:tc>
                  <a:txBody>
                    <a:bodyPr/>
                    <a:lstStyle/>
                    <a:p>
                      <a:pPr>
                        <a:buNone/>
                        <a:defRPr sz="1600" b="0">
                          <a:solidFill>
                            <a:schemeClr val="tx1"/>
                          </a:solidFill>
                        </a:defRPr>
                      </a:pPr>
                      <a:r>
                        <a:rPr sz="1600" b="0" i="0" u="none"/>
                        <a:t>A department chair approves the recommendation</a:t>
                      </a:r>
                    </a:p>
                  </a:txBody>
                  <a:tcPr>
                    <a:solidFill>
                      <a:schemeClr val="accent4">
                        <a:lumMod val="20000"/>
                        <a:lumOff val="80000"/>
                      </a:schemeClr>
                    </a:solidFill>
                  </a:tcPr>
                </a:tc>
                <a:tc>
                  <a:txBody>
                    <a:bodyPr/>
                    <a:lstStyle/>
                    <a:p>
                      <a:pPr>
                        <a:buNone/>
                        <a:defRPr sz="1600" b="0">
                          <a:solidFill>
                            <a:schemeClr val="tx1"/>
                          </a:solidFill>
                        </a:defRPr>
                      </a:pPr>
                      <a:r>
                        <a:rPr sz="1600" b="0" i="0" u="none"/>
                        <a:t>Who may approve, reject, or delegate?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Timing</a:t>
                      </a:r>
                    </a:p>
                  </a:txBody>
                  <a:tcPr>
                    <a:solidFill>
                      <a:schemeClr val="accent4">
                        <a:lumMod val="8000"/>
                        <a:lumOff val="92000"/>
                      </a:schemeClr>
                    </a:solidFill>
                  </a:tcPr>
                </a:tc>
                <a:tc>
                  <a:txBody>
                    <a:bodyPr/>
                    <a:lstStyle/>
                    <a:p>
                      <a:pPr>
                        <a:buNone/>
                        <a:defRPr sz="1600" b="0">
                          <a:solidFill>
                            <a:schemeClr val="tx1"/>
                          </a:solidFill>
                        </a:defRPr>
                      </a:pPr>
                      <a:r>
                        <a:rPr sz="1600" b="0" i="0" u="none"/>
                        <a:t>An appeal must be submitted within 10 working days</a:t>
                      </a:r>
                    </a:p>
                  </a:txBody>
                  <a:tcPr>
                    <a:solidFill>
                      <a:schemeClr val="accent4">
                        <a:lumMod val="8000"/>
                        <a:lumOff val="92000"/>
                      </a:schemeClr>
                    </a:solidFill>
                  </a:tcPr>
                </a:tc>
                <a:tc>
                  <a:txBody>
                    <a:bodyPr/>
                    <a:lstStyle/>
                    <a:p>
                      <a:pPr>
                        <a:buNone/>
                        <a:defRPr sz="1600" b="0">
                          <a:solidFill>
                            <a:schemeClr val="tx1"/>
                          </a:solidFill>
                        </a:defRPr>
                      </a:pPr>
                      <a:r>
                        <a:rPr sz="1600" b="0" i="0" u="none"/>
                        <a:t>What counts as a working day?</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Integrity</a:t>
                      </a:r>
                    </a:p>
                  </a:txBody>
                  <a:tcPr>
                    <a:solidFill>
                      <a:schemeClr val="accent4">
                        <a:lumMod val="20000"/>
                        <a:lumOff val="80000"/>
                      </a:schemeClr>
                    </a:solidFill>
                  </a:tcPr>
                </a:tc>
                <a:tc>
                  <a:txBody>
                    <a:bodyPr/>
                    <a:lstStyle/>
                    <a:p>
                      <a:pPr>
                        <a:buNone/>
                        <a:defRPr sz="1600" b="0">
                          <a:solidFill>
                            <a:schemeClr val="tx1"/>
                          </a:solidFill>
                        </a:defRPr>
                      </a:pPr>
                      <a:r>
                        <a:rPr sz="1600" b="0" i="0" u="none"/>
                        <a:t>A submitted review cannot be changed without an audit trail</a:t>
                      </a:r>
                    </a:p>
                  </a:txBody>
                  <a:tcPr>
                    <a:solidFill>
                      <a:schemeClr val="accent4">
                        <a:lumMod val="20000"/>
                        <a:lumOff val="80000"/>
                      </a:schemeClr>
                    </a:solidFill>
                  </a:tcPr>
                </a:tc>
                <a:tc>
                  <a:txBody>
                    <a:bodyPr/>
                    <a:lstStyle/>
                    <a:p>
                      <a:pPr>
                        <a:buNone/>
                        <a:defRPr sz="1600" b="0">
                          <a:solidFill>
                            <a:schemeClr val="tx1"/>
                          </a:solidFill>
                        </a:defRPr>
                      </a:pPr>
                      <a:r>
                        <a:rPr sz="1600" b="0" i="0" u="none"/>
                        <a:t>What must be retained?</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 Actors and Use Cases</a:t>
            </a:r>
          </a:p>
        </p:txBody>
      </p:sp>
      <p:sp>
        <p:nvSpPr>
          <p:cNvPr id="3" name="Content Placeholder 2"/>
          <p:cNvSpPr>
            <a:spLocks noGrp="1"/>
          </p:cNvSpPr>
          <p:nvPr>
            <p:ph idx="1"/>
          </p:nvPr>
        </p:nvSpPr>
        <p:spPr/>
        <p:txBody>
          <a:bodyPr wrap="square">
            <a:normAutofit/>
          </a:bodyPr>
          <a:lstStyle/>
          <a:p>
            <a:pPr>
              <a:buNone/>
            </a:pPr>
            <a:r>
              <a:rPr sz="1350" b="1" i="0" u="none"/>
              <a:t>Actors</a:t>
            </a:r>
            <a:endParaRPr sz="1350" b="0" i="0">
              <a:latin typeface="Arial"/>
            </a:endParaRPr>
          </a:p>
          <a:p>
            <a:pPr>
              <a:buNone/>
            </a:pPr>
            <a:endParaRPr sz="1350" b="0" i="0">
              <a:latin typeface="Arial"/>
            </a:endParaRPr>
          </a:p>
          <a:p>
            <a:r>
              <a:rPr sz="1350" b="0" i="0" u="none"/>
              <a:t>Initiator: starts the business activity</a:t>
            </a:r>
            <a:endParaRPr sz="1350" b="0" i="0">
              <a:latin typeface="Arial"/>
            </a:endParaRPr>
          </a:p>
          <a:p>
            <a:r>
              <a:rPr sz="1350" b="0" i="0" u="none"/>
              <a:t>Participant: supplies information or performs a step</a:t>
            </a:r>
            <a:endParaRPr sz="1350" b="0" i="0">
              <a:latin typeface="Arial"/>
            </a:endParaRPr>
          </a:p>
          <a:p>
            <a:r>
              <a:rPr sz="1350" b="0" i="0" u="none"/>
              <a:t>Approver: makes a governed decision</a:t>
            </a:r>
            <a:endParaRPr sz="1350" b="0" i="0">
              <a:latin typeface="Arial"/>
            </a:endParaRPr>
          </a:p>
          <a:p>
            <a:r>
              <a:rPr sz="1350" b="0" i="0" u="none"/>
              <a:t>Recipient: consumes the outcome</a:t>
            </a:r>
            <a:endParaRPr sz="1350" b="0" i="0">
              <a:latin typeface="Arial"/>
            </a:endParaRPr>
          </a:p>
          <a:p>
            <a:r>
              <a:rPr sz="1350" b="0" i="0" u="none"/>
              <a:t>System or external service: exchanges information at a boundary</a:t>
            </a:r>
            <a:endParaRPr sz="1350" b="0" i="0">
              <a:latin typeface="Arial"/>
            </a:endParaRPr>
          </a:p>
          <a:p>
            <a:pPr>
              <a:buNone/>
            </a:pPr>
            <a:endParaRPr sz="1350" b="0" i="0">
              <a:latin typeface="Arial"/>
            </a:endParaRPr>
          </a:p>
          <a:p>
            <a:pPr>
              <a:buNone/>
            </a:pPr>
            <a:r>
              <a:rPr sz="1350" b="1" i="0" u="none"/>
              <a:t>Use-case shape</a:t>
            </a:r>
            <a:endParaRPr sz="1350" b="0" i="0">
              <a:latin typeface="Arial"/>
            </a:endParaRPr>
          </a:p>
          <a:p>
            <a:pPr>
              <a:buNone/>
            </a:pPr>
            <a:endParaRPr sz="1350" b="0" i="0">
              <a:latin typeface="Arial"/>
            </a:endParaRPr>
          </a:p>
          <a:p>
            <a:pPr>
              <a:buNone/>
            </a:pPr>
            <a:r>
              <a:rPr sz="1350" b="1" i="0" u="none"/>
              <a:t>As a</a:t>
            </a:r>
            <a:r>
              <a:rPr sz="1350" b="0" i="0" u="none"/>
              <a:t> [actor], </a:t>
            </a:r>
            <a:r>
              <a:rPr sz="1350" b="1" i="0" u="none"/>
              <a:t>I need to</a:t>
            </a:r>
            <a:r>
              <a:rPr sz="1350" b="0" i="0" u="none"/>
              <a:t> [capability], </a:t>
            </a:r>
            <a:r>
              <a:rPr sz="1350" b="1" i="0" u="none"/>
              <a:t>so that</a:t>
            </a:r>
            <a:r>
              <a:rPr sz="1350" b="0" i="0" u="none"/>
              <a:t> [business outcome].</a:t>
            </a:r>
            <a:endParaRPr sz="1350" b="0" i="0">
              <a:latin typeface="Arial"/>
            </a:endParaRPr>
          </a:p>
          <a:p>
            <a:pPr>
              <a:buNone/>
            </a:pPr>
            <a:endParaRPr sz="1350" b="0" i="0">
              <a:latin typeface="Arial"/>
            </a:endParaRPr>
          </a:p>
          <a:p>
            <a:pPr>
              <a:buNone/>
            </a:pPr>
            <a:r>
              <a:rPr sz="1350" b="0" i="0" u="none"/>
              <a:t>Add: trigger, preconditions, main flow, alternatives, exceptions, and result.</a:t>
            </a:r>
            <a:endParaRPr sz="135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Prompt AI to Analyze, Not to Pretend</a:t>
            </a:r>
          </a:p>
        </p:txBody>
      </p:sp>
      <p:sp>
        <p:nvSpPr>
          <p:cNvPr id="3" name="Content Placeholder 2"/>
          <p:cNvSpPr>
            <a:spLocks noGrp="1"/>
          </p:cNvSpPr>
          <p:nvPr>
            <p:ph idx="1"/>
          </p:nvPr>
        </p:nvSpPr>
        <p:spPr/>
        <p:txBody>
          <a:bodyPr wrap="square">
            <a:normAutofit/>
          </a:bodyPr>
          <a:lstStyle/>
          <a:p>
            <a:pPr>
              <a:buNone/>
            </a:pPr>
            <a:r>
              <a:rPr sz="1550" b="0" i="0" u="none"/>
              <a:t>A strong analysis prompt assigns bounded work:</a:t>
            </a:r>
            <a:endParaRPr sz="1550" b="0" i="0">
              <a:latin typeface="Consolas"/>
            </a:endParaRPr>
          </a:p>
          <a:p>
            <a:pPr>
              <a:buNone/>
            </a:pPr>
            <a:endParaRPr sz="1550" b="0" i="0">
              <a:latin typeface="Consolas"/>
            </a:endParaRPr>
          </a:p>
          <a:p>
            <a:pPr>
              <a:buNone/>
            </a:pPr>
            <a:r>
              <a:rPr sz="1550">
                <a:latin typeface="Consolas"/>
              </a:rPr>
              <a:t>You are a business analyst supporting a domain expert.</a:t>
            </a:r>
            <a:endParaRPr sz="1550" b="0" i="0">
              <a:latin typeface="Consolas"/>
            </a:endParaRPr>
          </a:p>
          <a:p>
            <a:pPr>
              <a:buNone/>
            </a:pPr>
            <a:r>
              <a:rPr sz="1550">
                <a:latin typeface="Consolas"/>
              </a:rPr>
              <a:t>Using only the supplied context:</a:t>
            </a:r>
            <a:endParaRPr sz="1550" b="0" i="0">
              <a:latin typeface="Consolas"/>
            </a:endParaRPr>
          </a:p>
          <a:p>
            <a:pPr>
              <a:buNone/>
            </a:pPr>
            <a:r>
              <a:rPr sz="1550">
                <a:latin typeface="Consolas"/>
              </a:rPr>
              <a:t>1. Extract candidate business rules and cite each source.</a:t>
            </a:r>
            <a:endParaRPr sz="1550" b="0" i="0">
              <a:latin typeface="Consolas"/>
            </a:endParaRPr>
          </a:p>
          <a:p>
            <a:pPr>
              <a:buNone/>
            </a:pPr>
            <a:r>
              <a:rPr sz="1550">
                <a:latin typeface="Consolas"/>
              </a:rPr>
              <a:t>2. Identify actors, triggers, outcomes, and exceptions.</a:t>
            </a:r>
            <a:endParaRPr sz="1550" b="0" i="0">
              <a:latin typeface="Consolas"/>
            </a:endParaRPr>
          </a:p>
          <a:p>
            <a:pPr>
              <a:buNone/>
            </a:pPr>
            <a:r>
              <a:rPr sz="1550">
                <a:latin typeface="Consolas"/>
              </a:rPr>
              <a:t>3. Separate facts, interpretations, and open questions.</a:t>
            </a:r>
            <a:endParaRPr sz="1550" b="0" i="0">
              <a:latin typeface="Consolas"/>
            </a:endParaRPr>
          </a:p>
          <a:p>
            <a:pPr>
              <a:buNone/>
            </a:pPr>
            <a:r>
              <a:rPr sz="1550">
                <a:latin typeface="Consolas"/>
              </a:rPr>
              <a:t>4. Flag contradictions and missing decisions.</a:t>
            </a:r>
            <a:endParaRPr sz="1550" b="0" i="0">
              <a:latin typeface="Consolas"/>
            </a:endParaRPr>
          </a:p>
          <a:p>
            <a:pPr>
              <a:buNone/>
            </a:pPr>
            <a:r>
              <a:rPr sz="1550">
                <a:latin typeface="Consolas"/>
              </a:rPr>
              <a:t>5. Do not invent policy. Mark unknowns as [NEEDS DECISION].</a:t>
            </a:r>
            <a:endParaRPr sz="1550" b="0" i="0">
              <a:latin typeface="Consolas"/>
            </a:endParaRPr>
          </a:p>
          <a:p>
            <a:pPr>
              <a:buNone/>
            </a:pPr>
            <a:r>
              <a:rPr sz="1550">
                <a:latin typeface="Consolas"/>
              </a:rPr>
              <a:t>Return a structured draft for stakeholder review.</a:t>
            </a:r>
            <a:endParaRPr sz="1550" b="0" i="0">
              <a:latin typeface="Consolas"/>
            </a:endParaRPr>
          </a:p>
          <a:p>
            <a:pPr>
              <a:buNone/>
            </a:pPr>
            <a:endParaRPr sz="1550" b="0" i="0">
              <a:latin typeface="Consolas"/>
            </a:endParaRPr>
          </a:p>
          <a:p>
            <a:pPr>
              <a:buNone/>
            </a:pPr>
            <a:r>
              <a:rPr sz="1550" b="1" i="0" u="none"/>
              <a:t>The discipline: ground, label, challenge</a:t>
            </a:r>
            <a:endParaRPr sz="1550" b="0" i="0">
              <a:latin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Make Requirements Testable</a:t>
            </a:r>
          </a:p>
        </p:txBody>
      </p:sp>
      <p:sp>
        <p:nvSpPr>
          <p:cNvPr id="3" name="Content Placeholder 2"/>
          <p:cNvSpPr>
            <a:spLocks noGrp="1"/>
          </p:cNvSpPr>
          <p:nvPr>
            <p:ph idx="1"/>
          </p:nvPr>
        </p:nvSpPr>
        <p:spPr/>
        <p:txBody>
          <a:bodyPr wrap="square">
            <a:normAutofit lnSpcReduction="10000"/>
          </a:bodyPr>
          <a:lstStyle/>
          <a:p>
            <a:pPr>
              <a:buNone/>
            </a:pPr>
            <a:r>
              <a:rPr sz="1200" b="0" i="0" u="none"/>
              <a:t>Convert intent into acceptance criteria that describe observable outcomes.</a:t>
            </a:r>
            <a:endParaRPr sz="1200" b="0" i="0">
              <a:latin typeface="Arial"/>
            </a:endParaRPr>
          </a:p>
          <a:p>
            <a:pPr>
              <a:buNone/>
            </a:pPr>
            <a:endParaRPr sz="1200" b="0" i="0">
              <a:latin typeface="Arial"/>
            </a:endParaRPr>
          </a:p>
          <a:p>
            <a:pPr>
              <a:buNone/>
            </a:pPr>
            <a:r>
              <a:rPr sz="1200" b="1" i="0" u="none"/>
              <a:t>Example</a:t>
            </a:r>
            <a:endParaRPr sz="1200" b="0" i="0">
              <a:latin typeface="Arial"/>
            </a:endParaRPr>
          </a:p>
          <a:p>
            <a:pPr>
              <a:buNone/>
            </a:pPr>
            <a:endParaRPr sz="1200" b="0" i="0">
              <a:latin typeface="Arial"/>
            </a:endParaRPr>
          </a:p>
          <a:p>
            <a:pPr>
              <a:buNone/>
            </a:pPr>
            <a:r>
              <a:rPr sz="1200" b="1" i="0" u="none"/>
              <a:t>Vague:</a:t>
            </a:r>
            <a:r>
              <a:rPr sz="1200" b="0" i="0" u="none"/>
              <a:t> The coordinator can manage promotion reviews easily.</a:t>
            </a:r>
            <a:endParaRPr sz="1200" b="0" i="0">
              <a:latin typeface="Arial"/>
            </a:endParaRPr>
          </a:p>
          <a:p>
            <a:pPr>
              <a:buNone/>
            </a:pPr>
            <a:endParaRPr sz="1200" b="0" i="0">
              <a:latin typeface="Arial"/>
            </a:endParaRPr>
          </a:p>
          <a:p>
            <a:pPr>
              <a:buNone/>
            </a:pPr>
            <a:r>
              <a:rPr sz="1200" b="1" i="0" u="none"/>
              <a:t>Testable:</a:t>
            </a:r>
            <a:r>
              <a:rPr sz="1200" b="0" i="0" u="none"/>
              <a:t> Given an eligible academic and a complete evidence set, when the coordinator submits a promotion recommendation, then the system records the submitter, timestamp, evidence references, and review status, and displays the next responsible role.</a:t>
            </a:r>
            <a:endParaRPr sz="1200" b="0" i="0">
              <a:latin typeface="Arial"/>
            </a:endParaRPr>
          </a:p>
          <a:p>
            <a:pPr>
              <a:buNone/>
            </a:pPr>
            <a:endParaRPr sz="1200" b="0" i="0">
              <a:latin typeface="Arial"/>
            </a:endParaRPr>
          </a:p>
          <a:p>
            <a:pPr>
              <a:buNone/>
            </a:pPr>
            <a:r>
              <a:rPr sz="1200" b="1" i="0" u="none"/>
              <a:t>Check for</a:t>
            </a:r>
            <a:endParaRPr sz="1200" b="0" i="0">
              <a:latin typeface="Arial"/>
            </a:endParaRPr>
          </a:p>
          <a:p>
            <a:pPr>
              <a:buNone/>
            </a:pPr>
            <a:endParaRPr sz="1200" b="0" i="0">
              <a:latin typeface="Arial"/>
            </a:endParaRPr>
          </a:p>
          <a:p>
            <a:r>
              <a:rPr sz="1200" b="0" i="0" u="none"/>
              <a:t>Given / when / then conditions</a:t>
            </a:r>
            <a:endParaRPr sz="1200" b="0" i="0">
              <a:latin typeface="Arial"/>
            </a:endParaRPr>
          </a:p>
          <a:p>
            <a:r>
              <a:rPr sz="1200" b="0" i="0" u="none"/>
              <a:t>Success and rejection paths</a:t>
            </a:r>
            <a:endParaRPr sz="1200" b="0" i="0">
              <a:latin typeface="Arial"/>
            </a:endParaRPr>
          </a:p>
          <a:p>
            <a:r>
              <a:rPr sz="1200" b="0" i="0" u="none"/>
              <a:t>Boundary values and timing rules</a:t>
            </a:r>
            <a:endParaRPr sz="1200" b="0" i="0">
              <a:latin typeface="Arial"/>
            </a:endParaRPr>
          </a:p>
          <a:p>
            <a:r>
              <a:rPr sz="1200" b="0" i="0" u="none"/>
              <a:t>Authorization and audit behavior</a:t>
            </a:r>
            <a:endParaRPr sz="12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the Draft Like a Skeptic</a:t>
            </a:r>
          </a:p>
        </p:txBody>
      </p:sp>
      <p:sp>
        <p:nvSpPr>
          <p:cNvPr id="3" name="Content Placeholder 2"/>
          <p:cNvSpPr>
            <a:spLocks noGrp="1"/>
          </p:cNvSpPr>
          <p:nvPr>
            <p:ph idx="1"/>
          </p:nvPr>
        </p:nvSpPr>
        <p:spPr/>
        <p:txBody>
          <a:bodyPr wrap="square">
            <a:normAutofit/>
          </a:bodyPr>
          <a:lstStyle/>
          <a:p>
            <a:pPr>
              <a:buNone/>
            </a:pPr>
            <a:r>
              <a:rPr sz="1950" b="0" i="0" u="none"/>
              <a:t>Use an evidence-based review pass:</a:t>
            </a:r>
            <a:endParaRPr sz="1950" b="0" i="0">
              <a:latin typeface="Arial"/>
            </a:endParaRPr>
          </a:p>
          <a:p>
            <a:pPr>
              <a:buNone/>
            </a:pPr>
            <a:endParaRPr sz="1950" b="0" i="0">
              <a:latin typeface="Arial"/>
            </a:endParaRPr>
          </a:p>
          <a:p>
            <a:pPr>
              <a:buNone/>
            </a:pPr>
            <a:r>
              <a:rPr sz="1950" b="0" i="0" u="none"/>
              <a:t>1. </a:t>
            </a:r>
            <a:r>
              <a:rPr sz="1950" b="1" i="0" u="none"/>
              <a:t>Completeness</a:t>
            </a:r>
            <a:r>
              <a:rPr sz="1950" b="0" i="0" u="none"/>
              <a:t> — what important actor, rule, flow, or exception is absent?</a:t>
            </a:r>
            <a:endParaRPr sz="1950" b="0" i="0">
              <a:latin typeface="Arial"/>
            </a:endParaRPr>
          </a:p>
          <a:p>
            <a:pPr>
              <a:buNone/>
            </a:pPr>
            <a:r>
              <a:rPr sz="1950" b="0" i="0" u="none"/>
              <a:t>2. </a:t>
            </a:r>
            <a:r>
              <a:rPr sz="1950" b="1" i="0" u="none"/>
              <a:t>Consistency</a:t>
            </a:r>
            <a:r>
              <a:rPr sz="1950" b="0" i="0" u="none"/>
              <a:t> — do terms, states, dates, and rules agree?</a:t>
            </a:r>
            <a:endParaRPr sz="1950" b="0" i="0">
              <a:latin typeface="Arial"/>
            </a:endParaRPr>
          </a:p>
          <a:p>
            <a:pPr>
              <a:buNone/>
            </a:pPr>
            <a:r>
              <a:rPr sz="1950" b="0" i="0" u="none"/>
              <a:t>3. </a:t>
            </a:r>
            <a:r>
              <a:rPr sz="1950" b="1" i="0" u="none"/>
              <a:t>Ambiguity</a:t>
            </a:r>
            <a:r>
              <a:rPr sz="1950" b="0" i="0" u="none"/>
              <a:t> — which words permit multiple interpretations?</a:t>
            </a:r>
            <a:endParaRPr sz="1950" b="0" i="0">
              <a:latin typeface="Arial"/>
            </a:endParaRPr>
          </a:p>
          <a:p>
            <a:pPr>
              <a:buNone/>
            </a:pPr>
            <a:r>
              <a:rPr sz="1950" b="0" i="0" u="none"/>
              <a:t>4. </a:t>
            </a:r>
            <a:r>
              <a:rPr sz="1950" b="1" i="0" u="none"/>
              <a:t>Feasibility</a:t>
            </a:r>
            <a:r>
              <a:rPr sz="1950" b="0" i="0" u="none"/>
              <a:t> — can the organization provide the data, authority, and process?</a:t>
            </a:r>
            <a:endParaRPr sz="1950" b="0" i="0">
              <a:latin typeface="Arial"/>
            </a:endParaRPr>
          </a:p>
          <a:p>
            <a:pPr>
              <a:buNone/>
            </a:pPr>
            <a:r>
              <a:rPr sz="1950" b="0" i="0" u="none"/>
              <a:t>5. </a:t>
            </a:r>
            <a:r>
              <a:rPr sz="1950" b="1" i="0" u="none"/>
              <a:t>Traceability</a:t>
            </a:r>
            <a:r>
              <a:rPr sz="1950" b="0" i="0" u="none"/>
              <a:t> — can every requirement point back to intent and forward to validation?</a:t>
            </a:r>
            <a:endParaRPr sz="1950" b="0" i="0">
              <a:latin typeface="Arial"/>
            </a:endParaRPr>
          </a:p>
          <a:p>
            <a:pPr>
              <a:buNone/>
            </a:pPr>
            <a:r>
              <a:rPr sz="1950" b="0" i="0" u="none"/>
              <a:t>6. </a:t>
            </a:r>
            <a:r>
              <a:rPr sz="1950" b="1" i="0" u="none"/>
              <a:t>Risk</a:t>
            </a:r>
            <a:r>
              <a:rPr sz="1950" b="0" i="0" u="none"/>
              <a:t> — what could harm people, policy compliance, privacy, or operations?</a:t>
            </a:r>
            <a:endParaRPr sz="1950" b="0" i="0">
              <a:latin typeface="Arial"/>
            </a:endParaRPr>
          </a:p>
          <a:p>
            <a:pPr>
              <a:buNone/>
            </a:pPr>
            <a:endParaRPr sz="1950" b="0" i="0">
              <a:latin typeface="Arial"/>
            </a:endParaRPr>
          </a:p>
          <a:p>
            <a:pPr>
              <a:buNone/>
            </a:pPr>
            <a:r>
              <a:rPr sz="1950" b="0" i="1" u="none"/>
              <a:t>A confident draft is not evidence of a correct draft.</a:t>
            </a:r>
            <a:endParaRPr sz="195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Keep a Traceability Chain</a:t>
            </a:r>
          </a:p>
        </p:txBody>
      </p:sp>
      <p:sp>
        <p:nvSpPr>
          <p:cNvPr id="3" name="Content Placeholder 2"/>
          <p:cNvSpPr>
            <a:spLocks noGrp="1"/>
          </p:cNvSpPr>
          <p:nvPr>
            <p:ph sz="half" idx="1"/>
          </p:nvPr>
        </p:nvSpPr>
        <p:spPr>
          <a:xfrm>
            <a:off x="838200" y="1463752"/>
            <a:ext cx="5181600" cy="4351338"/>
          </a:xfrm>
        </p:spPr>
        <p:txBody>
          <a:bodyPr>
            <a:normAutofit/>
          </a:bodyPr>
          <a:lstStyle/>
          <a:p>
            <a:pPr>
              <a:buNone/>
            </a:pPr>
            <a:r>
              <a:rPr lang="en-US" b="1" i="0" u="none"/>
              <a:t>Useful identifiers</a:t>
            </a:r>
            <a:endParaRPr lang="en-US" b="0" i="0"/>
          </a:p>
          <a:p>
            <a:pPr>
              <a:buNone/>
            </a:pPr>
            <a:endParaRPr lang="en-US" b="0" i="0"/>
          </a:p>
          <a:p>
            <a:pPr>
              <a:buNone/>
            </a:pPr>
            <a:r>
              <a:rPr lang="en-US" b="0" i="0" u="none"/>
              <a:t>BR-004 · UC-012 · AC-012-03 · DEC-007</a:t>
            </a:r>
            <a:endParaRPr lang="en-US" b="0" i="0"/>
          </a:p>
          <a:p>
            <a:pPr>
              <a:buNone/>
            </a:pPr>
            <a:endParaRPr lang="en-US" b="0" i="0"/>
          </a:p>
          <a:p>
            <a:pPr>
              <a:buNone/>
            </a:pPr>
            <a:r>
              <a:rPr lang="en-US" b="0" i="0" u="none"/>
              <a:t>Traceability makes change impact and review gaps visible.</a:t>
            </a:r>
            <a:endParaRPr lang="en-US" b="0" i="0"/>
          </a:p>
        </p:txBody>
      </p:sp>
      <p:pic>
        <p:nvPicPr>
          <p:cNvPr id="4" name="Picture 3" descr="0a5bb94f8c56ac25a0d0a98b61dc51b02a60375e.png"/>
          <p:cNvPicPr>
            <a:picLocks noChangeAspect="1"/>
          </p:cNvPicPr>
          <p:nvPr/>
        </p:nvPicPr>
        <p:blipFill>
          <a:blip r:embed="rId3"/>
          <a:stretch>
            <a:fillRect/>
          </a:stretch>
        </p:blipFill>
        <p:spPr>
          <a:xfrm>
            <a:off x="7283545" y="1463752"/>
            <a:ext cx="2958910" cy="4351338"/>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A Repeatable AI-Assisted Workflow</a:t>
            </a:r>
          </a:p>
        </p:txBody>
      </p:sp>
      <p:graphicFrame>
        <p:nvGraphicFramePr>
          <p:cNvPr id="3" name="Table 2"/>
          <p:cNvGraphicFramePr>
            <a:graphicFrameLocks noGrp="1"/>
          </p:cNvGraphicFramePr>
          <p:nvPr/>
        </p:nvGraphicFramePr>
        <p:xfrm>
          <a:off x="1219200" y="1828800"/>
          <a:ext cx="9753600" cy="393192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Stage</a:t>
                      </a:r>
                    </a:p>
                  </a:txBody>
                  <a:tcPr>
                    <a:solidFill>
                      <a:schemeClr val="accent4"/>
                    </a:solidFill>
                  </a:tcPr>
                </a:tc>
                <a:tc>
                  <a:txBody>
                    <a:bodyPr/>
                    <a:lstStyle/>
                    <a:p>
                      <a:pPr>
                        <a:buNone/>
                        <a:defRPr sz="1600" b="1">
                          <a:solidFill>
                            <a:schemeClr val="bg1"/>
                          </a:solidFill>
                        </a:defRPr>
                      </a:pPr>
                      <a:r>
                        <a:rPr sz="1600" b="0" i="0" u="none"/>
                        <a:t>Human responsibility</a:t>
                      </a:r>
                    </a:p>
                  </a:txBody>
                  <a:tcPr>
                    <a:solidFill>
                      <a:schemeClr val="accent4"/>
                    </a:solidFill>
                  </a:tcPr>
                </a:tc>
                <a:tc>
                  <a:txBody>
                    <a:bodyPr/>
                    <a:lstStyle/>
                    <a:p>
                      <a:pPr>
                        <a:buNone/>
                        <a:defRPr sz="1600" b="1">
                          <a:solidFill>
                            <a:schemeClr val="bg1"/>
                          </a:solidFill>
                        </a:defRPr>
                      </a:pPr>
                      <a:r>
                        <a:rPr sz="1600" b="0" i="0" u="none"/>
                        <a:t>AI assistance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Discover</a:t>
                      </a:r>
                    </a:p>
                  </a:txBody>
                  <a:tcPr>
                    <a:solidFill>
                      <a:schemeClr val="accent4">
                        <a:lumMod val="20000"/>
                        <a:lumOff val="80000"/>
                      </a:schemeClr>
                    </a:solidFill>
                  </a:tcPr>
                </a:tc>
                <a:tc>
                  <a:txBody>
                    <a:bodyPr/>
                    <a:lstStyle/>
                    <a:p>
                      <a:pPr>
                        <a:buNone/>
                        <a:defRPr sz="1600" b="0">
                          <a:solidFill>
                            <a:schemeClr val="tx1"/>
                          </a:solidFill>
                        </a:defRPr>
                      </a:pPr>
                      <a:r>
                        <a:rPr sz="1600" b="0" i="0" u="none"/>
                        <a:t>Provide context and identify authorities</a:t>
                      </a:r>
                    </a:p>
                  </a:txBody>
                  <a:tcPr>
                    <a:solidFill>
                      <a:schemeClr val="accent4">
                        <a:lumMod val="20000"/>
                        <a:lumOff val="80000"/>
                      </a:schemeClr>
                    </a:solidFill>
                  </a:tcPr>
                </a:tc>
                <a:tc>
                  <a:txBody>
                    <a:bodyPr/>
                    <a:lstStyle/>
                    <a:p>
                      <a:pPr>
                        <a:buNone/>
                        <a:defRPr sz="1600" b="0">
                          <a:solidFill>
                            <a:schemeClr val="tx1"/>
                          </a:solidFill>
                        </a:defRPr>
                      </a:pPr>
                      <a:r>
                        <a:rPr sz="1600" b="0" i="0" u="none"/>
                        <a:t>Organize notes and extract vocabulary</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Model</a:t>
                      </a:r>
                    </a:p>
                  </a:txBody>
                  <a:tcPr>
                    <a:solidFill>
                      <a:schemeClr val="accent4">
                        <a:lumMod val="8000"/>
                        <a:lumOff val="92000"/>
                      </a:schemeClr>
                    </a:solidFill>
                  </a:tcPr>
                </a:tc>
                <a:tc>
                  <a:txBody>
                    <a:bodyPr/>
                    <a:lstStyle/>
                    <a:p>
                      <a:pPr>
                        <a:buNone/>
                        <a:defRPr sz="1600" b="0">
                          <a:solidFill>
                            <a:schemeClr val="tx1"/>
                          </a:solidFill>
                        </a:defRPr>
                      </a:pPr>
                      <a:r>
                        <a:rPr sz="1600" b="0" i="0" u="none"/>
                        <a:t>Confirm actors, rules, and boundaries</a:t>
                      </a:r>
                    </a:p>
                  </a:txBody>
                  <a:tcPr>
                    <a:solidFill>
                      <a:schemeClr val="accent4">
                        <a:lumMod val="8000"/>
                        <a:lumOff val="92000"/>
                      </a:schemeClr>
                    </a:solidFill>
                  </a:tcPr>
                </a:tc>
                <a:tc>
                  <a:txBody>
                    <a:bodyPr/>
                    <a:lstStyle/>
                    <a:p>
                      <a:pPr>
                        <a:buNone/>
                        <a:defRPr sz="1600" b="0">
                          <a:solidFill>
                            <a:schemeClr val="tx1"/>
                          </a:solidFill>
                        </a:defRPr>
                      </a:pPr>
                      <a:r>
                        <a:rPr sz="1600" b="0" i="0" u="none"/>
                        <a:t>Propose structure and relationships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Draft</a:t>
                      </a:r>
                    </a:p>
                  </a:txBody>
                  <a:tcPr>
                    <a:solidFill>
                      <a:schemeClr val="accent4">
                        <a:lumMod val="20000"/>
                        <a:lumOff val="80000"/>
                      </a:schemeClr>
                    </a:solidFill>
                  </a:tcPr>
                </a:tc>
                <a:tc>
                  <a:txBody>
                    <a:bodyPr/>
                    <a:lstStyle/>
                    <a:p>
                      <a:pPr>
                        <a:buNone/>
                        <a:defRPr sz="1600" b="0">
                          <a:solidFill>
                            <a:schemeClr val="tx1"/>
                          </a:solidFill>
                        </a:defRPr>
                      </a:pPr>
                      <a:r>
                        <a:rPr sz="1600" b="0" i="0" u="none"/>
                        <a:t>Decide intended behavior</a:t>
                      </a:r>
                    </a:p>
                  </a:txBody>
                  <a:tcPr>
                    <a:solidFill>
                      <a:schemeClr val="accent4">
                        <a:lumMod val="20000"/>
                        <a:lumOff val="80000"/>
                      </a:schemeClr>
                    </a:solidFill>
                  </a:tcPr>
                </a:tc>
                <a:tc>
                  <a:txBody>
                    <a:bodyPr/>
                    <a:lstStyle/>
                    <a:p>
                      <a:pPr>
                        <a:buNone/>
                        <a:defRPr sz="1600" b="0">
                          <a:solidFill>
                            <a:schemeClr val="tx1"/>
                          </a:solidFill>
                        </a:defRPr>
                      </a:pPr>
                      <a:r>
                        <a:rPr sz="1600" b="0" i="0" u="none"/>
                        <a:t>Write candidate requirements and scenarios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Challenge</a:t>
                      </a:r>
                    </a:p>
                  </a:txBody>
                  <a:tcPr>
                    <a:solidFill>
                      <a:schemeClr val="accent4">
                        <a:lumMod val="8000"/>
                        <a:lumOff val="92000"/>
                      </a:schemeClr>
                    </a:solidFill>
                  </a:tcPr>
                </a:tc>
                <a:tc>
                  <a:txBody>
                    <a:bodyPr/>
                    <a:lstStyle/>
                    <a:p>
                      <a:pPr>
                        <a:buNone/>
                        <a:defRPr sz="1600" b="0">
                          <a:solidFill>
                            <a:schemeClr val="tx1"/>
                          </a:solidFill>
                        </a:defRPr>
                      </a:pPr>
                      <a:r>
                        <a:rPr sz="1600" b="0" i="0" u="none"/>
                        <a:t>Resolve ambiguity and contradictions</a:t>
                      </a:r>
                    </a:p>
                  </a:txBody>
                  <a:tcPr>
                    <a:solidFill>
                      <a:schemeClr val="accent4">
                        <a:lumMod val="8000"/>
                        <a:lumOff val="92000"/>
                      </a:schemeClr>
                    </a:solidFill>
                  </a:tcPr>
                </a:tc>
                <a:tc>
                  <a:txBody>
                    <a:bodyPr/>
                    <a:lstStyle/>
                    <a:p>
                      <a:pPr>
                        <a:buNone/>
                        <a:defRPr sz="1600" b="0">
                          <a:solidFill>
                            <a:schemeClr val="tx1"/>
                          </a:solidFill>
                        </a:defRPr>
                      </a:pPr>
                      <a:r>
                        <a:rPr sz="1600" b="0" i="0" u="none"/>
                        <a:t>Run review checklists and find gaps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Validate</a:t>
                      </a:r>
                    </a:p>
                  </a:txBody>
                  <a:tcPr>
                    <a:solidFill>
                      <a:schemeClr val="accent4">
                        <a:lumMod val="20000"/>
                        <a:lumOff val="80000"/>
                      </a:schemeClr>
                    </a:solidFill>
                  </a:tcPr>
                </a:tc>
                <a:tc>
                  <a:txBody>
                    <a:bodyPr/>
                    <a:lstStyle/>
                    <a:p>
                      <a:pPr>
                        <a:buNone/>
                        <a:defRPr sz="1600" b="0">
                          <a:solidFill>
                            <a:schemeClr val="tx1"/>
                          </a:solidFill>
                        </a:defRPr>
                      </a:pPr>
                      <a:r>
                        <a:rPr sz="1600" b="0" i="0" u="none"/>
                        <a:t>Approve acceptance criteria</a:t>
                      </a:r>
                    </a:p>
                  </a:txBody>
                  <a:tcPr>
                    <a:solidFill>
                      <a:schemeClr val="accent4">
                        <a:lumMod val="20000"/>
                        <a:lumOff val="80000"/>
                      </a:schemeClr>
                    </a:solidFill>
                  </a:tcPr>
                </a:tc>
                <a:tc>
                  <a:txBody>
                    <a:bodyPr/>
                    <a:lstStyle/>
                    <a:p>
                      <a:pPr>
                        <a:buNone/>
                        <a:defRPr sz="1600" b="0">
                          <a:solidFill>
                            <a:schemeClr val="tx1"/>
                          </a:solidFill>
                        </a:defRPr>
                      </a:pPr>
                      <a:r>
                        <a:rPr sz="1600" b="0" i="0" u="none"/>
                        <a:t>Generate scenario variations and trace links</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Baseline</a:t>
                      </a:r>
                    </a:p>
                  </a:txBody>
                  <a:tcPr>
                    <a:solidFill>
                      <a:schemeClr val="accent4">
                        <a:lumMod val="8000"/>
                        <a:lumOff val="92000"/>
                      </a:schemeClr>
                    </a:solidFill>
                  </a:tcPr>
                </a:tc>
                <a:tc>
                  <a:txBody>
                    <a:bodyPr/>
                    <a:lstStyle/>
                    <a:p>
                      <a:pPr>
                        <a:buNone/>
                        <a:defRPr sz="1600" b="0">
                          <a:solidFill>
                            <a:schemeClr val="tx1"/>
                          </a:solidFill>
                        </a:defRPr>
                      </a:pPr>
                      <a:r>
                        <a:rPr sz="1600" b="0" i="0" u="none"/>
                        <a:t>Own the version and decisions</a:t>
                      </a:r>
                    </a:p>
                  </a:txBody>
                  <a:tcPr>
                    <a:solidFill>
                      <a:schemeClr val="accent4">
                        <a:lumMod val="8000"/>
                        <a:lumOff val="92000"/>
                      </a:schemeClr>
                    </a:solidFill>
                  </a:tcPr>
                </a:tc>
                <a:tc>
                  <a:txBody>
                    <a:bodyPr/>
                    <a:lstStyle/>
                    <a:p>
                      <a:pPr>
                        <a:buNone/>
                        <a:defRPr sz="1600" b="0">
                          <a:solidFill>
                            <a:schemeClr val="tx1"/>
                          </a:solidFill>
                        </a:defRPr>
                      </a:pPr>
                      <a:r>
                        <a:rPr sz="1600" b="0" i="0" u="none"/>
                        <a:t>Summarize changes and impacted artifacts</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Practice: Turn a Request Into a Specification Seed</a:t>
            </a:r>
          </a:p>
        </p:txBody>
      </p:sp>
      <p:sp>
        <p:nvSpPr>
          <p:cNvPr id="3" name="Content Placeholder 2"/>
          <p:cNvSpPr>
            <a:spLocks noGrp="1"/>
          </p:cNvSpPr>
          <p:nvPr>
            <p:ph idx="1"/>
          </p:nvPr>
        </p:nvSpPr>
        <p:spPr/>
        <p:txBody>
          <a:bodyPr wrap="square">
            <a:normAutofit lnSpcReduction="10000"/>
          </a:bodyPr>
          <a:lstStyle/>
          <a:p>
            <a:pPr>
              <a:buNone/>
            </a:pPr>
            <a:r>
              <a:rPr sz="1200" b="1" i="0" u="none"/>
              <a:t>Request</a:t>
            </a:r>
            <a:endParaRPr sz="1200" b="0" i="0">
              <a:latin typeface="Consolas"/>
            </a:endParaRPr>
          </a:p>
          <a:p>
            <a:pPr>
              <a:buNone/>
            </a:pPr>
            <a:endParaRPr sz="1200" b="0" i="0">
              <a:latin typeface="Consolas"/>
            </a:endParaRPr>
          </a:p>
          <a:p>
            <a:pPr>
              <a:buNone/>
            </a:pPr>
            <a:r>
              <a:rPr sz="1200" b="0" i="1" u="none"/>
              <a:t>“We need to improve the way faculty promotion reviews are handled.”</a:t>
            </a:r>
            <a:endParaRPr sz="1200" b="0" i="0">
              <a:latin typeface="Consolas"/>
            </a:endParaRPr>
          </a:p>
          <a:p>
            <a:pPr>
              <a:buNone/>
            </a:pPr>
            <a:endParaRPr sz="1200" b="0" i="0">
              <a:latin typeface="Consolas"/>
            </a:endParaRPr>
          </a:p>
          <a:p>
            <a:pPr>
              <a:buNone/>
            </a:pPr>
            <a:r>
              <a:rPr sz="1200" b="1" i="0" u="none"/>
              <a:t>Ask AI to produce</a:t>
            </a:r>
            <a:endParaRPr sz="1200" b="0" i="0">
              <a:latin typeface="Consolas"/>
            </a:endParaRPr>
          </a:p>
          <a:p>
            <a:pPr>
              <a:buNone/>
            </a:pPr>
            <a:endParaRPr sz="1200" b="0" i="0">
              <a:latin typeface="Consolas"/>
            </a:endParaRPr>
          </a:p>
          <a:p>
            <a:r>
              <a:rPr sz="1200" b="0" i="0" u="none"/>
              <a:t>Five clarifying questions, prioritized by risk</a:t>
            </a:r>
            <a:endParaRPr sz="1200" b="0" i="0">
              <a:latin typeface="Consolas"/>
            </a:endParaRPr>
          </a:p>
          <a:p>
            <a:r>
              <a:rPr sz="1200" b="0" i="0" u="none"/>
              <a:t>Candidate actors and one end-to-end use case</a:t>
            </a:r>
            <a:endParaRPr sz="1200" b="0" i="0">
              <a:latin typeface="Consolas"/>
            </a:endParaRPr>
          </a:p>
          <a:p>
            <a:r>
              <a:rPr sz="1200" b="0" i="0" u="none"/>
              <a:t>Candidate rules, each labeled </a:t>
            </a:r>
            <a:r>
              <a:rPr sz="1200" b="0" i="0" u="none">
                <a:latin typeface="Consolas"/>
              </a:rPr>
              <a:t>FACT</a:t>
            </a:r>
            <a:r>
              <a:rPr sz="1200" b="0" i="0" u="none"/>
              <a:t>, </a:t>
            </a:r>
            <a:r>
              <a:rPr sz="1200" b="0" i="0" u="none">
                <a:latin typeface="Consolas"/>
              </a:rPr>
              <a:t>INTERPRETATION</a:t>
            </a:r>
            <a:r>
              <a:rPr sz="1200" b="0" i="0" u="none"/>
              <a:t>, or </a:t>
            </a:r>
            <a:r>
              <a:rPr sz="1200" b="0" i="0" u="none">
                <a:latin typeface="Consolas"/>
              </a:rPr>
              <a:t>NEEDS DECISION</a:t>
            </a:r>
            <a:endParaRPr sz="1200" b="0" i="0">
              <a:latin typeface="Consolas"/>
            </a:endParaRPr>
          </a:p>
          <a:p>
            <a:r>
              <a:rPr sz="1200" b="0" i="0" u="none"/>
              <a:t>Three acceptance criteria, including one rejection path</a:t>
            </a:r>
            <a:endParaRPr sz="1200" b="0" i="0">
              <a:latin typeface="Consolas"/>
            </a:endParaRPr>
          </a:p>
          <a:p>
            <a:r>
              <a:rPr sz="1200" b="0" i="0" u="none"/>
              <a:t>A list of evidence still required from stakeholders</a:t>
            </a:r>
            <a:endParaRPr sz="1200" b="0" i="0">
              <a:latin typeface="Consolas"/>
            </a:endParaRPr>
          </a:p>
          <a:p>
            <a:pPr>
              <a:buNone/>
            </a:pPr>
            <a:endParaRPr sz="1200" b="0" i="0">
              <a:latin typeface="Consolas"/>
            </a:endParaRPr>
          </a:p>
          <a:p>
            <a:pPr>
              <a:buNone/>
            </a:pPr>
            <a:r>
              <a:rPr sz="1200" b="1" i="0" u="none"/>
              <a:t>Deliverable</a:t>
            </a:r>
            <a:endParaRPr sz="1200" b="0" i="0">
              <a:latin typeface="Consolas"/>
            </a:endParaRPr>
          </a:p>
          <a:p>
            <a:pPr>
              <a:buNone/>
            </a:pPr>
            <a:endParaRPr sz="1200" b="0" i="0">
              <a:latin typeface="Consolas"/>
            </a:endParaRPr>
          </a:p>
          <a:p>
            <a:pPr>
              <a:buNone/>
            </a:pPr>
            <a:r>
              <a:rPr sz="1200" b="0" i="0" u="none"/>
              <a:t>A one-page draft that a domain expert can correct.</a:t>
            </a:r>
            <a:endParaRPr sz="1200" b="0" i="0">
              <a:latin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The Specification Readiness Check</a:t>
            </a:r>
          </a:p>
        </p:txBody>
      </p:sp>
      <p:sp>
        <p:nvSpPr>
          <p:cNvPr id="3" name="Content Placeholder 2"/>
          <p:cNvSpPr>
            <a:spLocks noGrp="1"/>
          </p:cNvSpPr>
          <p:nvPr>
            <p:ph idx="1"/>
          </p:nvPr>
        </p:nvSpPr>
        <p:spPr/>
        <p:txBody>
          <a:bodyPr wrap="square">
            <a:normAutofit/>
          </a:bodyPr>
          <a:lstStyle/>
          <a:p>
            <a:pPr>
              <a:buNone/>
            </a:pPr>
            <a:r>
              <a:rPr sz="2350" b="0" i="0" u="none"/>
              <a:t>Before implementation, can the team answer </a:t>
            </a:r>
            <a:r>
              <a:rPr sz="2350" b="1" i="0" u="none"/>
              <a:t>yes</a:t>
            </a:r>
            <a:r>
              <a:rPr sz="2350" b="0" i="0" u="none"/>
              <a:t>?</a:t>
            </a:r>
            <a:endParaRPr sz="2350" b="0" i="0">
              <a:latin typeface="Arial"/>
            </a:endParaRPr>
          </a:p>
          <a:p>
            <a:pPr>
              <a:buNone/>
            </a:pPr>
            <a:endParaRPr sz="2350" b="0" i="0">
              <a:latin typeface="Arial"/>
            </a:endParaRPr>
          </a:p>
          <a:p>
            <a:r>
              <a:rPr sz="2350" b="0" i="0" u="none"/>
              <a:t>Do we know the business outcome and scope?</a:t>
            </a:r>
            <a:endParaRPr sz="2350" b="0" i="0">
              <a:latin typeface="Arial"/>
            </a:endParaRPr>
          </a:p>
          <a:p>
            <a:r>
              <a:rPr sz="2350" b="0" i="0" u="none"/>
              <a:t>Are actors, rules, states, and exceptions explicit?</a:t>
            </a:r>
            <a:endParaRPr sz="2350" b="0" i="0">
              <a:latin typeface="Arial"/>
            </a:endParaRPr>
          </a:p>
          <a:p>
            <a:r>
              <a:rPr sz="2350" b="0" i="0" u="none"/>
              <a:t>Are unknowns and decisions clearly labeled?</a:t>
            </a:r>
            <a:endParaRPr sz="2350" b="0" i="0">
              <a:latin typeface="Arial"/>
            </a:endParaRPr>
          </a:p>
          <a:p>
            <a:r>
              <a:rPr sz="2350" b="0" i="0" u="none"/>
              <a:t>Can each requirement be validated by observable evidence?</a:t>
            </a:r>
            <a:endParaRPr sz="2350" b="0" i="0">
              <a:latin typeface="Arial"/>
            </a:endParaRPr>
          </a:p>
          <a:p>
            <a:r>
              <a:rPr sz="2350" b="0" i="0" u="none"/>
              <a:t>Can we trace it to source intent and forward to acceptance?</a:t>
            </a:r>
            <a:endParaRPr sz="2350" b="0" i="0">
              <a:latin typeface="Arial"/>
            </a:endParaRPr>
          </a:p>
          <a:p>
            <a:r>
              <a:rPr sz="2350" b="0" i="0" u="none"/>
              <a:t>Has the accountable domain owner approved the behavior?</a:t>
            </a:r>
            <a:endParaRPr sz="2350" b="0" i="0">
              <a:latin typeface="Arial"/>
            </a:endParaRPr>
          </a:p>
          <a:p>
            <a:r>
              <a:rPr sz="2350" b="0" i="0" u="none"/>
              <a:t>Are privacy, security, accessibility, and operational risks addressed?</a:t>
            </a:r>
            <a:endParaRPr sz="235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Business Requirements Generation</a:t>
            </a:r>
          </a:p>
        </p:txBody>
      </p:sp>
      <p:sp>
        <p:nvSpPr>
          <p:cNvPr id="3" name="Subtitle 2"/>
          <p:cNvSpPr>
            <a:spLocks noGrp="1"/>
          </p:cNvSpPr>
          <p:nvPr>
            <p:ph type="subTitle" idx="1"/>
          </p:nvPr>
        </p:nvSpPr>
        <p:spPr/>
        <p:txBody>
          <a:bodyPr wrap="square">
            <a:normAutofit/>
          </a:bodyPr>
          <a:lstStyle/>
          <a:p>
            <a:pPr>
              <a:buNone/>
            </a:pPr>
            <a:r>
              <a:rPr b="0" i="0" u="none"/>
              <a:t>Let the AI Write the Requirements for Once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Exercise: Business Requirements Generation</a:t>
            </a:r>
          </a:p>
        </p:txBody>
      </p:sp>
      <p:sp>
        <p:nvSpPr>
          <p:cNvPr id="3" name="Content Placeholder 2"/>
          <p:cNvSpPr>
            <a:spLocks noGrp="1"/>
          </p:cNvSpPr>
          <p:nvPr>
            <p:ph sz="half" idx="1"/>
          </p:nvPr>
        </p:nvSpPr>
        <p:spPr/>
        <p:txBody>
          <a:bodyPr wrap="square">
            <a:normAutofit/>
          </a:bodyPr>
          <a:lstStyle/>
          <a:p>
            <a:pPr>
              <a:buNone/>
            </a:pPr>
            <a:r>
              <a:rPr sz="1350" b="0" i="0" u="none"/>
              <a:t>Objectives</a:t>
            </a:r>
            <a:endParaRPr sz="1350" b="0" i="0">
              <a:latin typeface="Arial"/>
            </a:endParaRPr>
          </a:p>
          <a:p>
            <a:pPr lvl="1"/>
            <a:r>
              <a:rPr sz="1350" b="0" i="0" u="none"/>
              <a:t>Create a business requirements document for the calculator project</a:t>
            </a:r>
            <a:endParaRPr sz="1350" b="0" i="0">
              <a:latin typeface="Arial"/>
            </a:endParaRPr>
          </a:p>
          <a:p>
            <a:pPr lvl="1"/>
            <a:r>
              <a:rPr sz="1350" b="0" i="0" u="none"/>
              <a:t>Use the Product Manager agent with existing instruction files</a:t>
            </a:r>
            <a:endParaRPr sz="1350" b="0" i="0">
              <a:latin typeface="Arial"/>
            </a:endParaRPr>
          </a:p>
          <a:p>
            <a:pPr lvl="1"/>
            <a:r>
              <a:rPr sz="1350" b="0" i="0" u="none"/>
              <a:t>Apply the expected branch and repository workflow for Greenfield work</a:t>
            </a:r>
            <a:endParaRPr sz="1350" b="0" i="0">
              <a:latin typeface="Arial"/>
            </a:endParaRPr>
          </a:p>
          <a:p>
            <a:pPr lvl="1"/>
            <a:r>
              <a:rPr sz="1350" b="0" i="0" u="none"/>
              <a:t>Validate the requirements draft through review, clarification, and independent iteration</a:t>
            </a:r>
            <a:endParaRPr sz="1350" b="0" i="0">
              <a:latin typeface="Arial"/>
            </a:endParaRPr>
          </a:p>
          <a:p>
            <a:pPr>
              <a:buNone/>
            </a:pPr>
            <a:endParaRPr sz="1350" b="0" i="0">
              <a:latin typeface="Arial"/>
            </a:endParaRPr>
          </a:p>
          <a:p>
            <a:pPr>
              <a:buNone/>
            </a:pPr>
            <a:r>
              <a:rPr sz="1350" b="0" i="0" u="none"/>
              <a:t>Activities</a:t>
            </a:r>
            <a:endParaRPr sz="1350" b="0" i="0">
              <a:latin typeface="Arial"/>
            </a:endParaRPr>
          </a:p>
          <a:p>
            <a:pPr lvl="1">
              <a:buNone/>
            </a:pPr>
            <a:r>
              <a:rPr sz="1350" b="0" i="0" u="none"/>
              <a:t>  1. Create a personal branch from the main branch in the Greenfield class repository.</a:t>
            </a:r>
            <a:endParaRPr sz="1350" b="0" i="0">
              <a:latin typeface="Arial"/>
            </a:endParaRPr>
          </a:p>
          <a:p>
            <a:pPr lvl="1">
              <a:buNone/>
            </a:pPr>
            <a:r>
              <a:rPr sz="1350" b="0" i="0" u="none"/>
              <a:t>  2. Use the Product Manager agent to generate a calculator requirements document.</a:t>
            </a:r>
            <a:endParaRPr sz="1350" b="0" i="0">
              <a:latin typeface="Arial"/>
            </a:endParaRPr>
          </a:p>
          <a:p>
            <a:pPr lvl="1">
              <a:buNone/>
            </a:pPr>
            <a:r>
              <a:rPr sz="1350" b="0" i="0" u="none"/>
              <a:t>  3. Apply the existing instruction files to improve scope, structure, and consistency.</a:t>
            </a:r>
            <a:endParaRPr sz="135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dirty="0"/>
              <a:t>4. Confirm repository choice, branching strategy, and how to handle any existing PRD content before continuing.</a:t>
            </a:r>
            <a:endParaRPr lang="en-US" sz="2200" dirty="0">
              <a:latin typeface="Arial"/>
            </a:endParaRPr>
          </a:p>
          <a:p>
            <a:pPr>
              <a:buNone/>
            </a:pPr>
            <a:r>
              <a:rPr sz="1400" b="0" i="0" u="none" dirty="0"/>
              <a:t>5. Work independently on the requirements document while the instructor provides check-ins and support.</a:t>
            </a:r>
            <a:endParaRPr sz="2200" b="0" i="0" dirty="0">
              <a:latin typeface="Arial"/>
            </a:endParaRPr>
          </a:p>
          <a:p>
            <a:pPr>
              <a:buNone/>
            </a:pPr>
            <a:endParaRPr sz="2200" b="0" i="0" dirty="0">
              <a:latin typeface="Arial"/>
            </a:endParaRPr>
          </a:p>
          <a:p>
            <a:pPr>
              <a:buNone/>
            </a:pPr>
            <a:r>
              <a:rPr sz="1400" b="0" i="0" u="none" dirty="0"/>
              <a:t>Success Criteria</a:t>
            </a:r>
            <a:endParaRPr sz="2200" b="0" i="0" dirty="0">
              <a:latin typeface="Arial"/>
            </a:endParaRPr>
          </a:p>
          <a:p>
            <a:pPr lvl="1"/>
            <a:r>
              <a:rPr sz="1400" b="0" i="0" u="none" dirty="0"/>
              <a:t>A calculator business requirements document exists on the correct personal branch</a:t>
            </a:r>
            <a:endParaRPr sz="2200" b="0" i="0" dirty="0">
              <a:latin typeface="Arial"/>
            </a:endParaRPr>
          </a:p>
          <a:p>
            <a:pPr lvl="1"/>
            <a:r>
              <a:rPr sz="1400" b="0" i="0" u="none" dirty="0"/>
              <a:t>The Product Manager agent and instruction files are both used effectively</a:t>
            </a:r>
            <a:endParaRPr sz="2200" b="0" i="0" dirty="0">
              <a:latin typeface="Arial"/>
            </a:endParaRPr>
          </a:p>
          <a:p>
            <a:pPr lvl="1"/>
            <a:r>
              <a:rPr sz="1400" b="0" i="0" u="none" dirty="0"/>
              <a:t>Repository and branching decisions are applied correctly and consistently</a:t>
            </a:r>
            <a:endParaRPr sz="2200" b="0" i="0" dirty="0">
              <a:latin typeface="Arial"/>
            </a:endParaRPr>
          </a:p>
          <a:p>
            <a:pPr lvl="1"/>
            <a:r>
              <a:rPr sz="1400" b="0" i="0" u="none" dirty="0"/>
              <a:t>Participants can explain what changed after clarifications and independent refinement</a:t>
            </a:r>
            <a:endParaRPr sz="2200" b="0" i="0" dirty="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1" i="0" u="none"/>
              <a:t>▶ Architecture Specification</a:t>
            </a:r>
          </a:p>
          <a:p>
            <a:r>
              <a:rPr sz="2750" b="0" i="0" u="none"/>
              <a:t>Technology Specification</a:t>
            </a:r>
          </a:p>
          <a:p>
            <a:r>
              <a:rPr sz="2750" b="0" i="0" u="none"/>
              <a:t>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AI-Assisted Software Architecture</a:t>
            </a:r>
          </a:p>
        </p:txBody>
      </p:sp>
      <p:sp>
        <p:nvSpPr>
          <p:cNvPr id="3" name="Subtitle 2"/>
          <p:cNvSpPr>
            <a:spLocks noGrp="1"/>
          </p:cNvSpPr>
          <p:nvPr>
            <p:ph type="subTitle" idx="1"/>
          </p:nvPr>
        </p:nvSpPr>
        <p:spPr/>
        <p:txBody>
          <a:bodyPr wrap="square">
            <a:normAutofit/>
          </a:bodyPr>
          <a:lstStyle/>
          <a:p>
            <a:pPr>
              <a:buNone/>
            </a:pPr>
            <a:r>
              <a:rPr b="0" i="0" u="none"/>
              <a:t>Designing Systems with an AI Co-Architect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00" b="0" i="0" u="none"/>
              <a:t>What Is AI-Assisted Software Architecture?</a:t>
            </a:r>
          </a:p>
        </p:txBody>
      </p:sp>
      <p:sp>
        <p:nvSpPr>
          <p:cNvPr id="3" name="Content Placeholder 2"/>
          <p:cNvSpPr>
            <a:spLocks noGrp="1"/>
          </p:cNvSpPr>
          <p:nvPr>
            <p:ph idx="1"/>
          </p:nvPr>
        </p:nvSpPr>
        <p:spPr/>
        <p:txBody>
          <a:bodyPr wrap="square">
            <a:normAutofit/>
          </a:bodyPr>
          <a:lstStyle/>
          <a:p>
            <a:r>
              <a:rPr sz="2800" b="0" i="0" u="none"/>
              <a:t>Using AI as a collaborator across architectural decision-making, not just code generation</a:t>
            </a:r>
            <a:endParaRPr sz="2800" b="0" i="0">
              <a:latin typeface="Arial"/>
            </a:endParaRPr>
          </a:p>
          <a:p>
            <a:r>
              <a:rPr sz="2800" b="0" i="0" u="none"/>
              <a:t>AI participates in requirements analysis, pattern selection, tradeoff evaluation, and diagramming</a:t>
            </a:r>
            <a:endParaRPr sz="2800" b="0" i="0">
              <a:latin typeface="Arial"/>
            </a:endParaRPr>
          </a:p>
          <a:p>
            <a:r>
              <a:rPr sz="2800" b="0" i="0" u="none"/>
              <a:t>Human architects remain accountable for final decisions and system integrity</a:t>
            </a:r>
            <a:endParaRPr sz="2800" b="0" i="0">
              <a:latin typeface="Arial"/>
            </a:endParaRPr>
          </a:p>
          <a:p>
            <a:r>
              <a:rPr sz="2800" b="0" i="0" u="none"/>
              <a:t>Distinct from AI writing code: this is AI reasoning about structure, boundaries, and quality attributes</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Where AI Fits in the Architecture Lifecycle</a:t>
            </a:r>
          </a:p>
        </p:txBody>
      </p:sp>
      <p:graphicFrame>
        <p:nvGraphicFramePr>
          <p:cNvPr id="3" name="Table 2"/>
          <p:cNvGraphicFramePr>
            <a:graphicFrameLocks noGrp="1"/>
          </p:cNvGraphicFramePr>
          <p:nvPr/>
        </p:nvGraphicFramePr>
        <p:xfrm>
          <a:off x="1219200" y="1828800"/>
          <a:ext cx="9753600" cy="33528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Lifecycle Stage</a:t>
                      </a:r>
                    </a:p>
                  </a:txBody>
                  <a:tcPr>
                    <a:solidFill>
                      <a:schemeClr val="accent4"/>
                    </a:solidFill>
                  </a:tcPr>
                </a:tc>
                <a:tc>
                  <a:txBody>
                    <a:bodyPr/>
                    <a:lstStyle/>
                    <a:p>
                      <a:pPr>
                        <a:buNone/>
                        <a:defRPr sz="1600" b="1">
                          <a:solidFill>
                            <a:schemeClr val="bg1"/>
                          </a:solidFill>
                        </a:defRPr>
                      </a:pPr>
                      <a:r>
                        <a:rPr sz="1600" b="0" i="0" u="none"/>
                        <a:t>AI Contribution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Requirements analysis</a:t>
                      </a:r>
                    </a:p>
                  </a:txBody>
                  <a:tcPr>
                    <a:solidFill>
                      <a:schemeClr val="accent4">
                        <a:lumMod val="20000"/>
                        <a:lumOff val="80000"/>
                      </a:schemeClr>
                    </a:solidFill>
                  </a:tcPr>
                </a:tc>
                <a:tc>
                  <a:txBody>
                    <a:bodyPr/>
                    <a:lstStyle/>
                    <a:p>
                      <a:pPr>
                        <a:buNone/>
                        <a:defRPr sz="1600" b="0">
                          <a:solidFill>
                            <a:schemeClr val="tx1"/>
                          </a:solidFill>
                        </a:defRPr>
                      </a:pPr>
                      <a:r>
                        <a:rPr sz="1600" b="0" i="0" u="none"/>
                        <a:t>Extracts business rules, identifies ambiguity, drafts acceptance criteria</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Pattern selection</a:t>
                      </a:r>
                    </a:p>
                  </a:txBody>
                  <a:tcPr>
                    <a:solidFill>
                      <a:schemeClr val="accent4">
                        <a:lumMod val="8000"/>
                        <a:lumOff val="92000"/>
                      </a:schemeClr>
                    </a:solidFill>
                  </a:tcPr>
                </a:tc>
                <a:tc>
                  <a:txBody>
                    <a:bodyPr/>
                    <a:lstStyle/>
                    <a:p>
                      <a:pPr>
                        <a:buNone/>
                        <a:defRPr sz="1600" b="0">
                          <a:solidFill>
                            <a:schemeClr val="tx1"/>
                          </a:solidFill>
                        </a:defRPr>
                      </a:pPr>
                      <a:r>
                        <a:rPr sz="1600" b="0" i="0" u="none"/>
                        <a:t>Proposes candidate patterns (CQRS, event-driven, layered) with tradeoffs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Decision records</a:t>
                      </a:r>
                    </a:p>
                  </a:txBody>
                  <a:tcPr>
                    <a:solidFill>
                      <a:schemeClr val="accent4">
                        <a:lumMod val="20000"/>
                        <a:lumOff val="80000"/>
                      </a:schemeClr>
                    </a:solidFill>
                  </a:tcPr>
                </a:tc>
                <a:tc>
                  <a:txBody>
                    <a:bodyPr/>
                    <a:lstStyle/>
                    <a:p>
                      <a:pPr>
                        <a:buNone/>
                        <a:defRPr sz="1600" b="0">
                          <a:solidFill>
                            <a:schemeClr val="tx1"/>
                          </a:solidFill>
                        </a:defRPr>
                      </a:pPr>
                      <a:r>
                        <a:rPr sz="1600" b="0" i="0" u="none"/>
                        <a:t>Drafts ADRs, documents alternatives considered and rejected</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Diagramming</a:t>
                      </a:r>
                    </a:p>
                  </a:txBody>
                  <a:tcPr>
                    <a:solidFill>
                      <a:schemeClr val="accent4">
                        <a:lumMod val="8000"/>
                        <a:lumOff val="92000"/>
                      </a:schemeClr>
                    </a:solidFill>
                  </a:tcPr>
                </a:tc>
                <a:tc>
                  <a:txBody>
                    <a:bodyPr/>
                    <a:lstStyle/>
                    <a:p>
                      <a:pPr>
                        <a:buNone/>
                        <a:defRPr sz="1600" b="0">
                          <a:solidFill>
                            <a:schemeClr val="tx1"/>
                          </a:solidFill>
                        </a:defRPr>
                      </a:pPr>
                      <a:r>
                        <a:rPr sz="1600" b="0" i="0" u="none"/>
                        <a:t>Generates C4/Mermaid diagrams from code or descriptions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Validation</a:t>
                      </a:r>
                    </a:p>
                  </a:txBody>
                  <a:tcPr>
                    <a:solidFill>
                      <a:schemeClr val="accent4">
                        <a:lumMod val="20000"/>
                        <a:lumOff val="80000"/>
                      </a:schemeClr>
                    </a:solidFill>
                  </a:tcPr>
                </a:tc>
                <a:tc>
                  <a:txBody>
                    <a:bodyPr/>
                    <a:lstStyle/>
                    <a:p>
                      <a:pPr>
                        <a:buNone/>
                        <a:defRPr sz="1600" b="0">
                          <a:solidFill>
                            <a:schemeClr val="tx1"/>
                          </a:solidFill>
                        </a:defRPr>
                      </a:pPr>
                      <a:r>
                        <a:rPr sz="1600" b="0" i="0" u="none"/>
                        <a:t>Flags inconsistencies between docs, diagrams, and implementation</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50" b="0" i="0" u="none"/>
              <a:t>AI for Architecture Decision Records (ADRs)</a:t>
            </a:r>
          </a:p>
        </p:txBody>
      </p:sp>
      <p:sp>
        <p:nvSpPr>
          <p:cNvPr id="3" name="Content Placeholder 2"/>
          <p:cNvSpPr>
            <a:spLocks noGrp="1"/>
          </p:cNvSpPr>
          <p:nvPr>
            <p:ph idx="1"/>
          </p:nvPr>
        </p:nvSpPr>
        <p:spPr/>
        <p:txBody>
          <a:bodyPr wrap="square">
            <a:normAutofit/>
          </a:bodyPr>
          <a:lstStyle/>
          <a:p>
            <a:r>
              <a:rPr sz="2800" b="0" i="0" u="none"/>
              <a:t>AI drafts the standard ADR sections: Context, Decision, Consequences, Alternatives Considered</a:t>
            </a:r>
            <a:endParaRPr sz="2800" b="0" i="0">
              <a:latin typeface="Arial"/>
            </a:endParaRPr>
          </a:p>
          <a:p>
            <a:r>
              <a:rPr sz="2800" b="0" i="0" u="none"/>
              <a:t>Prompts can pull directly from instruction files, requirements docs, or existing code</a:t>
            </a:r>
            <a:endParaRPr sz="2800" b="0" i="0">
              <a:latin typeface="Arial"/>
            </a:endParaRPr>
          </a:p>
          <a:p>
            <a:r>
              <a:rPr sz="2800" b="0" i="0" u="none"/>
              <a:t>Human architect reviews and edits before the ADR is merged — AI drafts, humans decide</a:t>
            </a:r>
            <a:endParaRPr sz="2800" b="0" i="0">
              <a:latin typeface="Arial"/>
            </a:endParaRPr>
          </a:p>
          <a:p>
            <a:r>
              <a:rPr sz="2800" b="0" i="0" u="none"/>
              <a:t>Consistent ADR format makes AI-assisted history mining possible later (e.g., "why did we choose X?")</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AI-Assisted Tradeoff Analysis</a:t>
            </a:r>
          </a:p>
        </p:txBody>
      </p:sp>
      <p:sp>
        <p:nvSpPr>
          <p:cNvPr id="3" name="Content Placeholder 2"/>
          <p:cNvSpPr>
            <a:spLocks noGrp="1"/>
          </p:cNvSpPr>
          <p:nvPr>
            <p:ph sz="half" idx="1"/>
          </p:nvPr>
        </p:nvSpPr>
        <p:spPr/>
        <p:txBody>
          <a:bodyPr wrap="square">
            <a:normAutofit/>
          </a:bodyPr>
          <a:lstStyle/>
          <a:p>
            <a:pPr>
              <a:buNone/>
            </a:pPr>
            <a:r>
              <a:rPr sz="1400" b="1" i="0" u="none"/>
              <a:t>Where AI Helps</a:t>
            </a:r>
            <a:endParaRPr sz="2800" b="0" i="0">
              <a:latin typeface="Arial"/>
            </a:endParaRPr>
          </a:p>
          <a:p>
            <a:pPr>
              <a:buNone/>
            </a:pPr>
            <a:endParaRPr sz="2800" b="0" i="0">
              <a:latin typeface="Arial"/>
            </a:endParaRPr>
          </a:p>
          <a:p>
            <a:r>
              <a:rPr sz="1400" b="0" i="0" u="none"/>
              <a:t>Enumerating pros/cons for competing patterns</a:t>
            </a:r>
            <a:endParaRPr sz="2800" b="0" i="0">
              <a:latin typeface="Arial"/>
            </a:endParaRPr>
          </a:p>
          <a:p>
            <a:r>
              <a:rPr sz="1400" b="0" i="0" u="none"/>
              <a:t>Surfacing non-functional requirements (scalability, consistency, latency)</a:t>
            </a:r>
            <a:endParaRPr sz="2800" b="0" i="0">
              <a:latin typeface="Arial"/>
            </a:endParaRPr>
          </a:p>
          <a:p>
            <a:r>
              <a:rPr sz="1400" b="0" i="0" u="none"/>
              <a:t>Identifying hidden coupling or shared-state risks</a:t>
            </a:r>
            <a:endParaRPr sz="2800" b="0" i="0">
              <a:latin typeface="Arial"/>
            </a:endParaRPr>
          </a:p>
          <a:p>
            <a:r>
              <a:rPr sz="1400" b="0" i="0" u="none"/>
              <a:t>Estimating relative implementation complexity</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Where Humans Must Lead</a:t>
            </a:r>
            <a:endParaRPr sz="2800" b="0" i="0">
              <a:latin typeface="Arial"/>
            </a:endParaRPr>
          </a:p>
          <a:p>
            <a:pPr>
              <a:buNone/>
            </a:pPr>
            <a:endParaRPr sz="2800" b="0" i="0">
              <a:latin typeface="Arial"/>
            </a:endParaRPr>
          </a:p>
          <a:p>
            <a:r>
              <a:rPr sz="1400" b="0" i="0" u="none"/>
              <a:t>Weighing business priorities and organizational constraints</a:t>
            </a:r>
            <a:endParaRPr sz="2800" b="0" i="0">
              <a:latin typeface="Arial"/>
            </a:endParaRPr>
          </a:p>
          <a:p>
            <a:r>
              <a:rPr sz="1400" b="0" i="0" u="none"/>
              <a:t>Final risk tolerance decisions (e.g., eventual consistency acceptable?)</a:t>
            </a:r>
            <a:endParaRPr sz="2800" b="0" i="0">
              <a:latin typeface="Arial"/>
            </a:endParaRPr>
          </a:p>
          <a:p>
            <a:r>
              <a:rPr sz="1400" b="0" i="0" u="none"/>
              <a:t>Judging team skill and operational maturity</a:t>
            </a:r>
            <a:endParaRPr sz="2800" b="0" i="0">
              <a:latin typeface="Arial"/>
            </a:endParaRPr>
          </a:p>
          <a:p>
            <a:r>
              <a:rPr sz="1400" b="0" i="0" u="none"/>
              <a:t>Approving irreversible or costly architectural commitments</a:t>
            </a:r>
            <a:endParaRPr sz="2800"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Vertical Slice Architecture + AI</a:t>
            </a:r>
          </a:p>
        </p:txBody>
      </p:sp>
      <p:sp>
        <p:nvSpPr>
          <p:cNvPr id="3" name="Content Placeholder 2"/>
          <p:cNvSpPr>
            <a:spLocks noGrp="1"/>
          </p:cNvSpPr>
          <p:nvPr>
            <p:ph idx="1"/>
          </p:nvPr>
        </p:nvSpPr>
        <p:spPr/>
        <p:txBody>
          <a:bodyPr wrap="square">
            <a:normAutofit/>
          </a:bodyPr>
          <a:lstStyle/>
          <a:p>
            <a:r>
              <a:rPr sz="2800" b="0" i="0" u="none"/>
              <a:t>AI-assisted architecture pairs naturally with vertical slices: each slice is a self-contained unit AI can reason about end-to-end</a:t>
            </a:r>
            <a:endParaRPr sz="2800" b="0" i="0">
              <a:latin typeface="Arial"/>
            </a:endParaRPr>
          </a:p>
          <a:p>
            <a:r>
              <a:rPr sz="2800" b="0" i="0" u="none"/>
              <a:t>AI can scaffold a new slice (command, handler, validation, tests) from a single feature description</a:t>
            </a:r>
            <a:endParaRPr sz="2800" b="0" i="0">
              <a:latin typeface="Arial"/>
            </a:endParaRPr>
          </a:p>
          <a:p>
            <a:r>
              <a:rPr sz="2800" b="0" i="0" u="none"/>
              <a:t>Slice boundaries constrain AI's blast radius — changes stay contained to one feature at a time</a:t>
            </a:r>
            <a:endParaRPr sz="2800" b="0" i="0">
              <a:latin typeface="Arial"/>
            </a:endParaRPr>
          </a:p>
          <a:p>
            <a:r>
              <a:rPr sz="2800" b="0" i="0" u="none"/>
              <a:t>Reduces the risk of AI introducing cross-cutting architectural drift</a:t>
            </a:r>
            <a:endParaRPr sz="280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550" b="0" i="0" u="none"/>
              <a:t>Generating and Validating Architecture Diagrams with AI</a:t>
            </a:r>
          </a:p>
        </p:txBody>
      </p:sp>
      <p:sp>
        <p:nvSpPr>
          <p:cNvPr id="3" name="Content Placeholder 2"/>
          <p:cNvSpPr>
            <a:spLocks noGrp="1"/>
          </p:cNvSpPr>
          <p:nvPr>
            <p:ph idx="1"/>
          </p:nvPr>
        </p:nvSpPr>
        <p:spPr/>
        <p:txBody>
          <a:bodyPr wrap="square">
            <a:normAutofit/>
          </a:bodyPr>
          <a:lstStyle/>
          <a:p>
            <a:r>
              <a:rPr sz="2800" b="0" i="0" u="none"/>
              <a:t>AI generates C4 and Mermaid diagrams directly from code, requirements, or verbal descriptions</a:t>
            </a:r>
            <a:endParaRPr sz="2800" b="0" i="0">
              <a:latin typeface="Arial"/>
            </a:endParaRPr>
          </a:p>
          <a:p>
            <a:r>
              <a:rPr sz="2800" b="0" i="0" u="none"/>
              <a:t>Diagrams can be regenerated on demand, keeping documentation closer to the current state of the system</a:t>
            </a:r>
            <a:endParaRPr sz="2800" b="0" i="0">
              <a:latin typeface="Arial"/>
            </a:endParaRPr>
          </a:p>
          <a:p>
            <a:r>
              <a:rPr sz="2800" b="0" i="0" u="none"/>
              <a:t>AI can compare a diagram against the actual codebase and flag drift (missing components, stale relationships)</a:t>
            </a:r>
            <a:endParaRPr sz="2800" b="0" i="0">
              <a:latin typeface="Arial"/>
            </a:endParaRPr>
          </a:p>
          <a:p>
            <a:r>
              <a:rPr sz="2800" b="0" i="0" u="none"/>
              <a:t>Diagrams-as-code (Mermaid in Markdown) keep architecture visuals version-controlled alongside source</a:t>
            </a:r>
            <a:endParaRPr sz="28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350" b="0" i="0" u="none"/>
              <a:t>Governance: Provenance, Guardrails, and Human-in-the-Loop</a:t>
            </a:r>
          </a:p>
        </p:txBody>
      </p:sp>
      <p:sp>
        <p:nvSpPr>
          <p:cNvPr id="3" name="Content Placeholder 2"/>
          <p:cNvSpPr>
            <a:spLocks noGrp="1"/>
          </p:cNvSpPr>
          <p:nvPr>
            <p:ph idx="1"/>
          </p:nvPr>
        </p:nvSpPr>
        <p:spPr/>
        <p:txBody>
          <a:bodyPr wrap="square">
            <a:normAutofit/>
          </a:bodyPr>
          <a:lstStyle/>
          <a:p>
            <a:r>
              <a:rPr sz="1800" b="0" i="0" u="none"/>
              <a:t>Every AI-assisted architecture artifact (ADR, diagram, tradeoff analysis) should carry provenance metadata</a:t>
            </a:r>
            <a:endParaRPr sz="1800" b="0" i="0">
              <a:latin typeface="Consolas"/>
            </a:endParaRPr>
          </a:p>
          <a:p>
            <a:r>
              <a:rPr sz="1800" b="0" i="0" u="none"/>
              <a:t>Instruction files and chat modes constrain how AI proposes architecture changes (see </a:t>
            </a:r>
            <a:r>
              <a:rPr sz="1800" b="0" i="0" u="none">
                <a:latin typeface="Consolas"/>
              </a:rPr>
              <a:t>.github/instructions/</a:t>
            </a:r>
            <a:r>
              <a:rPr sz="1800" b="0" i="0" u="none"/>
              <a:t>)</a:t>
            </a:r>
            <a:endParaRPr sz="1800" b="0" i="0">
              <a:latin typeface="Consolas"/>
            </a:endParaRPr>
          </a:p>
          <a:p>
            <a:r>
              <a:rPr sz="1800" b="0" i="0" u="none"/>
              <a:t>Human-in-the-loop review is mandatory before any AI-proposed architecture decision is merged</a:t>
            </a:r>
            <a:endParaRPr sz="1800" b="0" i="0">
              <a:latin typeface="Consolas"/>
            </a:endParaRPr>
          </a:p>
          <a:p>
            <a:r>
              <a:rPr sz="1800" b="0" i="0" u="none"/>
              <a:t>Architecture review boards should treat AI-authored ADRs the same as human-authored ones — same scrutiny, same sign-off</a:t>
            </a:r>
            <a:endParaRPr sz="1800" b="0" i="0">
              <a:latin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50" b="0" i="0" u="none"/>
              <a:t>Practical Workflow: From Requirements to Architecture</a:t>
            </a:r>
          </a:p>
        </p:txBody>
      </p:sp>
      <p:sp>
        <p:nvSpPr>
          <p:cNvPr id="3" name="Content Placeholder 2"/>
          <p:cNvSpPr>
            <a:spLocks noGrp="1"/>
          </p:cNvSpPr>
          <p:nvPr>
            <p:ph idx="1"/>
          </p:nvPr>
        </p:nvSpPr>
        <p:spPr/>
        <p:txBody>
          <a:bodyPr wrap="square">
            <a:normAutofit/>
          </a:bodyPr>
          <a:lstStyle/>
          <a:p>
            <a:pPr>
              <a:buNone/>
            </a:pPr>
            <a:r>
              <a:rPr sz="2150" b="0" i="0" u="none"/>
              <a:t>1. Capture requirements and constraints in a structured document (business rules, NFRs, constraints)</a:t>
            </a:r>
            <a:endParaRPr sz="2150" b="0" i="0">
              <a:latin typeface="Arial"/>
            </a:endParaRPr>
          </a:p>
          <a:p>
            <a:pPr>
              <a:buNone/>
            </a:pPr>
            <a:r>
              <a:rPr sz="2150" b="0" i="0" u="none"/>
              <a:t>2. Ask AI to propose 2-3 candidate architecture patterns with tradeoffs, not a single answer</a:t>
            </a:r>
            <a:endParaRPr sz="2150" b="0" i="0">
              <a:latin typeface="Arial"/>
            </a:endParaRPr>
          </a:p>
          <a:p>
            <a:pPr>
              <a:buNone/>
            </a:pPr>
            <a:r>
              <a:rPr sz="2150" b="0" i="0" u="none"/>
              <a:t>3. Human architect selects a direction and asks AI to draft the ADR and initial diagram</a:t>
            </a:r>
            <a:endParaRPr sz="2150" b="0" i="0">
              <a:latin typeface="Arial"/>
            </a:endParaRPr>
          </a:p>
          <a:p>
            <a:pPr>
              <a:buNone/>
            </a:pPr>
            <a:r>
              <a:rPr sz="2150" b="0" i="0" u="none"/>
              <a:t>4. Review ADR and diagram against real constraints (team skill, budget, compliance, timeline)</a:t>
            </a:r>
            <a:endParaRPr sz="2150" b="0" i="0">
              <a:latin typeface="Arial"/>
            </a:endParaRPr>
          </a:p>
          <a:p>
            <a:pPr>
              <a:buNone/>
            </a:pPr>
            <a:r>
              <a:rPr sz="2150" b="0" i="0" u="none"/>
              <a:t>5. Use AI to scaffold the first vertical slice implementing the chosen pattern</a:t>
            </a:r>
            <a:endParaRPr sz="2150" b="0" i="0">
              <a:latin typeface="Arial"/>
            </a:endParaRPr>
          </a:p>
          <a:p>
            <a:pPr>
              <a:buNone/>
            </a:pPr>
            <a:r>
              <a:rPr sz="2150" b="0" i="0" u="none"/>
              <a:t>6. Validate the implementation against the ADR and diagram; regenerate diagrams as the system evolves</a:t>
            </a:r>
            <a:endParaRPr sz="215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Best Practices Checklist</a:t>
            </a:r>
          </a:p>
        </p:txBody>
      </p:sp>
      <p:sp>
        <p:nvSpPr>
          <p:cNvPr id="3" name="Content Placeholder 2"/>
          <p:cNvSpPr>
            <a:spLocks noGrp="1"/>
          </p:cNvSpPr>
          <p:nvPr>
            <p:ph idx="1"/>
          </p:nvPr>
        </p:nvSpPr>
        <p:spPr/>
        <p:txBody>
          <a:bodyPr wrap="square">
            <a:normAutofit/>
          </a:bodyPr>
          <a:lstStyle/>
          <a:p>
            <a:pPr>
              <a:buNone/>
            </a:pPr>
            <a:r>
              <a:rPr sz="2100" b="0" i="0" u="none"/>
              <a:t>[ ] Always request multiple architecture options from AI, not a single recommendation</a:t>
            </a:r>
            <a:endParaRPr sz="2100" b="0" i="0">
              <a:latin typeface="Arial"/>
            </a:endParaRPr>
          </a:p>
          <a:p>
            <a:pPr>
              <a:buNone/>
            </a:pPr>
            <a:r>
              <a:rPr sz="2100" b="0" i="0" u="none"/>
              <a:t>[ ] Store ADRs, diagrams, and tradeoff analyses in version control with provenance metadata</a:t>
            </a:r>
            <a:endParaRPr sz="2100" b="0" i="0">
              <a:latin typeface="Arial"/>
            </a:endParaRPr>
          </a:p>
          <a:p>
            <a:pPr>
              <a:buNone/>
            </a:pPr>
            <a:r>
              <a:rPr sz="2100" b="0" i="0" u="none"/>
              <a:t>[ ] Require human sign-off on every AI-proposed architecture decision</a:t>
            </a:r>
            <a:endParaRPr sz="2100" b="0" i="0">
              <a:latin typeface="Arial"/>
            </a:endParaRPr>
          </a:p>
          <a:p>
            <a:pPr>
              <a:buNone/>
            </a:pPr>
            <a:r>
              <a:rPr sz="2100" b="0" i="0" u="none"/>
              <a:t>[ ] Validate AI-generated diagrams against the actual codebase before publishing</a:t>
            </a:r>
            <a:endParaRPr sz="2100" b="0" i="0">
              <a:latin typeface="Arial"/>
            </a:endParaRPr>
          </a:p>
          <a:p>
            <a:pPr>
              <a:buNone/>
            </a:pPr>
            <a:r>
              <a:rPr sz="2100" b="0" i="0" u="none"/>
              <a:t>[ ] Prefer vertical slices to bound AI's reasoning and limit blast radius</a:t>
            </a:r>
            <a:endParaRPr sz="2100" b="0" i="0">
              <a:latin typeface="Arial"/>
            </a:endParaRPr>
          </a:p>
          <a:p>
            <a:pPr>
              <a:buNone/>
            </a:pPr>
            <a:r>
              <a:rPr sz="2100" b="0" i="0" u="none"/>
              <a:t>[ ] Regenerate diagrams and ADRs as the system evolves — treat them as living artifacts</a:t>
            </a:r>
            <a:endParaRPr sz="2100" b="0" i="0">
              <a:latin typeface="Arial"/>
            </a:endParaRPr>
          </a:p>
          <a:p>
            <a:pPr>
              <a:buNone/>
            </a:pPr>
            <a:r>
              <a:rPr sz="2100" b="0" i="0" u="none"/>
              <a:t>[ ] Watch for over-engineering; ask AI to justify complexity, not just propose it</a:t>
            </a:r>
            <a:endParaRPr sz="2100" b="0" i="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Exercise: AI-Assisted Architecture Specification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550" b="0" i="0" u="none"/>
              <a:t>Exercise: From Requirements to an Architecture Decision</a:t>
            </a:r>
          </a:p>
        </p:txBody>
      </p:sp>
      <p:sp>
        <p:nvSpPr>
          <p:cNvPr id="3" name="Content Placeholder 2"/>
          <p:cNvSpPr>
            <a:spLocks noGrp="1"/>
          </p:cNvSpPr>
          <p:nvPr>
            <p:ph sz="half" idx="1"/>
          </p:nvPr>
        </p:nvSpPr>
        <p:spPr/>
        <p:txBody>
          <a:bodyPr wrap="square">
            <a:normAutofit fontScale="55000" lnSpcReduction="20000"/>
          </a:bodyPr>
          <a:lstStyle/>
          <a:p>
            <a:pPr>
              <a:buNone/>
            </a:pPr>
            <a:r>
              <a:rPr sz="1200" b="1" i="0" u="none"/>
              <a:t>Setup and Objectives</a:t>
            </a:r>
            <a:endParaRPr sz="1200" b="0" i="0">
              <a:latin typeface="Arial"/>
            </a:endParaRPr>
          </a:p>
          <a:p>
            <a:pPr>
              <a:buNone/>
            </a:pPr>
            <a:endParaRPr sz="1200" b="0" i="0">
              <a:latin typeface="Arial"/>
            </a:endParaRPr>
          </a:p>
          <a:p>
            <a:pPr>
              <a:buNone/>
            </a:pPr>
            <a:r>
              <a:rPr sz="1200" b="0" i="0" u="none"/>
              <a:t>Prerequisites</a:t>
            </a:r>
            <a:endParaRPr sz="1200" b="0" i="0">
              <a:latin typeface="Arial"/>
            </a:endParaRPr>
          </a:p>
          <a:p>
            <a:pPr>
              <a:buNone/>
            </a:pPr>
            <a:endParaRPr sz="1200" b="0" i="0">
              <a:latin typeface="Arial"/>
            </a:endParaRPr>
          </a:p>
          <a:p>
            <a:r>
              <a:rPr sz="1200" b="0" i="0" u="none"/>
              <a:t>A reviewed requirements specification from the preceding exercise</a:t>
            </a:r>
            <a:endParaRPr sz="1200" b="0" i="0">
              <a:latin typeface="Arial"/>
            </a:endParaRPr>
          </a:p>
          <a:p>
            <a:r>
              <a:rPr sz="1200" b="0" i="0" u="none"/>
              <a:t>Repository technology constraints and any architecture instruction files</a:t>
            </a:r>
            <a:endParaRPr sz="1200" b="0" i="0">
              <a:latin typeface="Arial"/>
            </a:endParaRPr>
          </a:p>
          <a:p>
            <a:r>
              <a:rPr sz="1200" b="0" i="0" u="none"/>
              <a:t>An AI assistant and a Mermaid-capable Markdown preview</a:t>
            </a:r>
            <a:endParaRPr sz="1200" b="0" i="0">
              <a:latin typeface="Arial"/>
            </a:endParaRPr>
          </a:p>
          <a:p>
            <a:pPr>
              <a:buNone/>
            </a:pPr>
            <a:endParaRPr sz="1200" b="0" i="0">
              <a:latin typeface="Arial"/>
            </a:endParaRPr>
          </a:p>
          <a:p>
            <a:pPr>
              <a:buNone/>
            </a:pPr>
            <a:r>
              <a:rPr sz="1200" b="0" i="0" u="none"/>
              <a:t>Objectives</a:t>
            </a:r>
            <a:endParaRPr sz="1200" b="0" i="0">
              <a:latin typeface="Arial"/>
            </a:endParaRPr>
          </a:p>
          <a:p>
            <a:pPr>
              <a:buNone/>
            </a:pPr>
            <a:endParaRPr sz="1200" b="0" i="0">
              <a:latin typeface="Arial"/>
            </a:endParaRPr>
          </a:p>
          <a:p>
            <a:r>
              <a:rPr sz="1200" b="0" i="0" u="none"/>
              <a:t>Translate requirements into quality attributes, boundaries, and constraints</a:t>
            </a:r>
            <a:endParaRPr sz="1200" b="0" i="0">
              <a:latin typeface="Arial"/>
            </a:endParaRPr>
          </a:p>
          <a:p>
            <a:r>
              <a:rPr sz="1200" b="0" i="0" u="none"/>
              <a:t>Compare multiple architecture options instead of accepting a single AI answer</a:t>
            </a:r>
            <a:endParaRPr sz="1200" b="0" i="0">
              <a:latin typeface="Arial"/>
            </a:endParaRPr>
          </a:p>
          <a:p>
            <a:r>
              <a:rPr sz="1200" b="0" i="0" u="none"/>
              <a:t>Produce a reviewable ADR and an architecture diagram grounded in the requirements</a:t>
            </a:r>
            <a:endParaRPr sz="1200" b="0" i="0">
              <a:latin typeface="Arial"/>
            </a:endParaRPr>
          </a:p>
        </p:txBody>
      </p:sp>
      <p:sp>
        <p:nvSpPr>
          <p:cNvPr id="4" name="Content Placeholder 3"/>
          <p:cNvSpPr>
            <a:spLocks noGrp="1"/>
          </p:cNvSpPr>
          <p:nvPr>
            <p:ph sz="half" idx="2"/>
          </p:nvPr>
        </p:nvSpPr>
        <p:spPr/>
        <p:txBody>
          <a:bodyPr wrap="square">
            <a:normAutofit fontScale="55000" lnSpcReduction="20000"/>
          </a:bodyPr>
          <a:lstStyle/>
          <a:p>
            <a:pPr>
              <a:buNone/>
            </a:pPr>
            <a:r>
              <a:rPr sz="1200" b="1" i="0" u="none"/>
              <a:t>Activities and Success Criteria</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a:buNone/>
            </a:pPr>
            <a:endParaRPr sz="1200" b="0" i="0">
              <a:latin typeface="Arial"/>
            </a:endParaRPr>
          </a:p>
          <a:p>
            <a:pPr>
              <a:buNone/>
            </a:pPr>
            <a:r>
              <a:rPr sz="1200" b="0" i="0" u="none"/>
              <a:t>1. Ask AI to extract quality attributes, architectural drivers, constraints, and measurable risks from the requirements document; flag anything unsupported.</a:t>
            </a:r>
            <a:endParaRPr sz="1200" b="0" i="0">
              <a:latin typeface="Arial"/>
            </a:endParaRPr>
          </a:p>
          <a:p>
            <a:pPr>
              <a:buNone/>
            </a:pPr>
            <a:r>
              <a:rPr sz="1200" b="0" i="0" u="none"/>
              <a:t>2. Ask for two or three candidate architectures for the calculator project, with explicit tradeoffs for simplicity, testability, change isolation, observability, and deployment.</a:t>
            </a:r>
            <a:endParaRPr sz="1200" b="0" i="0">
              <a:latin typeface="Arial"/>
            </a:endParaRPr>
          </a:p>
          <a:p>
            <a:pPr>
              <a:buNone/>
            </a:pPr>
            <a:r>
              <a:rPr sz="1200" b="0" i="0" u="none"/>
              <a:t>3. Challenge the options: ask which requirement each option satisfies, what it makes harder, and what assumption could invalidate it.</a:t>
            </a:r>
            <a:endParaRPr sz="1200" b="0" i="0">
              <a:latin typeface="Arial"/>
            </a:endParaRPr>
          </a:p>
          <a:p>
            <a:pPr>
              <a:buNone/>
            </a:pPr>
            <a:r>
              <a:rPr sz="1200" b="0" i="0" u="none"/>
              <a:t>4. Select an option with the team, then ask AI to draft an ADR containing context, decision, alternatives considered, consequences, and rejected assumptions.</a:t>
            </a:r>
            <a:endParaRPr sz="1200" b="0" i="0">
              <a:latin typeface="Arial"/>
            </a:endParaRPr>
          </a:p>
          <a:p>
            <a:pPr>
              <a:buNone/>
            </a:pPr>
            <a:r>
              <a:rPr sz="1200" b="0" i="0" u="none"/>
              <a:t>5. Ask AI to create a Mermaid container or component diagram from the selected ADR; compare every node and relationship with the requirements and repository constraints.</a:t>
            </a:r>
            <a:endParaRPr sz="1200" b="0" i="0">
              <a:latin typeface="Arial"/>
            </a:endParaRPr>
          </a:p>
          <a:p>
            <a:pPr>
              <a:buNone/>
            </a:pPr>
            <a:r>
              <a:rPr sz="1200" b="0" i="0" u="none"/>
              <a:t>6. Revise the ADR and diagram until another reviewer can trace the design back to the requirements.</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a:buNone/>
            </a:pPr>
            <a:endParaRPr sz="1200" b="0" i="0">
              <a:latin typeface="Arial"/>
            </a:endParaRPr>
          </a:p>
          <a:p>
            <a:r>
              <a:rPr sz="1200" b="0" i="0" u="none"/>
              <a:t>At least two architecture options are compared against named quality attributes</a:t>
            </a:r>
            <a:endParaRPr sz="1200" b="0" i="0">
              <a:latin typeface="Arial"/>
            </a:endParaRPr>
          </a:p>
          <a:p>
            <a:r>
              <a:rPr sz="1200" b="0" i="0" u="none"/>
              <a:t>The selected decision has a human owner and records consequences and rejected alternatives</a:t>
            </a:r>
            <a:endParaRPr sz="1200" b="0" i="0">
              <a:latin typeface="Arial"/>
            </a:endParaRPr>
          </a:p>
          <a:p>
            <a:r>
              <a:rPr sz="1200" b="0" i="0" u="none"/>
              <a:t>The Mermaid diagram renders and matches the chosen boundaries and relationships</a:t>
            </a:r>
            <a:endParaRPr sz="1200" b="0" i="0">
              <a:latin typeface="Arial"/>
            </a:endParaRPr>
          </a:p>
          <a:p>
            <a:r>
              <a:rPr sz="1200" b="0" i="0" u="none"/>
              <a:t>Every major component or dependency has a stated responsibility and reason to exist</a:t>
            </a:r>
            <a:endParaRPr sz="1200" b="0" i="0">
              <a:latin typeface="Arial"/>
            </a:endParaRPr>
          </a:p>
          <a:p>
            <a:r>
              <a:rPr sz="1200" b="0" i="0" u="none"/>
              <a:t>At least one risk, one validation approach, and one future change pressure are documented</a:t>
            </a:r>
            <a:endParaRPr sz="120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Architecture Review Gate</a:t>
            </a:r>
          </a:p>
        </p:txBody>
      </p:sp>
      <p:sp>
        <p:nvSpPr>
          <p:cNvPr id="3" name="Content Placeholder 2"/>
          <p:cNvSpPr>
            <a:spLocks noGrp="1"/>
          </p:cNvSpPr>
          <p:nvPr>
            <p:ph idx="1"/>
          </p:nvPr>
        </p:nvSpPr>
        <p:spPr/>
        <p:txBody>
          <a:bodyPr wrap="square">
            <a:normAutofit/>
          </a:bodyPr>
          <a:lstStyle/>
          <a:p>
            <a:r>
              <a:rPr sz="2650" b="1" i="0" u="none"/>
              <a:t>Grounded</a:t>
            </a:r>
            <a:r>
              <a:rPr sz="2650" b="0" i="0" u="none"/>
              <a:t>: drivers and constraints trace to approved requirements or evidence</a:t>
            </a:r>
            <a:endParaRPr sz="2650" b="0" i="0">
              <a:latin typeface="Arial"/>
            </a:endParaRPr>
          </a:p>
          <a:p>
            <a:r>
              <a:rPr sz="2650" b="1" i="0" u="none"/>
              <a:t>Proportional</a:t>
            </a:r>
            <a:r>
              <a:rPr sz="2650" b="0" i="0" u="none"/>
              <a:t>: complexity is justified by business and quality needs</a:t>
            </a:r>
            <a:endParaRPr sz="2650" b="0" i="0">
              <a:latin typeface="Arial"/>
            </a:endParaRPr>
          </a:p>
          <a:p>
            <a:r>
              <a:rPr sz="2650" b="1" i="0" u="none"/>
              <a:t>Explicit</a:t>
            </a:r>
            <a:r>
              <a:rPr sz="2650" b="0" i="0" u="none"/>
              <a:t>: alternatives, consequences, risks, and ownership are recorded</a:t>
            </a:r>
            <a:endParaRPr sz="2650" b="0" i="0">
              <a:latin typeface="Arial"/>
            </a:endParaRPr>
          </a:p>
          <a:p>
            <a:r>
              <a:rPr sz="2650" b="1" i="0" u="none"/>
              <a:t>Coherent</a:t>
            </a:r>
            <a:r>
              <a:rPr sz="2650" b="0" i="0" u="none"/>
              <a:t>: ADR, diagram, terminology, and requirements agree</a:t>
            </a:r>
            <a:endParaRPr sz="2650" b="0" i="0">
              <a:latin typeface="Arial"/>
            </a:endParaRPr>
          </a:p>
          <a:p>
            <a:r>
              <a:rPr sz="2650" b="1" i="0" u="none"/>
              <a:t>Verifiable</a:t>
            </a:r>
            <a:r>
              <a:rPr sz="2650" b="0" i="0" u="none"/>
              <a:t>: the design names tests, measurements, or experiments for risky claims</a:t>
            </a:r>
            <a:endParaRPr sz="265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1" i="0" u="none"/>
              <a:t>▶ Technology Specification</a:t>
            </a:r>
          </a:p>
          <a:p>
            <a:r>
              <a:rPr sz="2750" b="0" i="0" u="none"/>
              <a:t>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Technology Stack Instruction Files</a:t>
            </a:r>
          </a:p>
        </p:txBody>
      </p:sp>
      <p:sp>
        <p:nvSpPr>
          <p:cNvPr id="3" name="Subtitle 2"/>
          <p:cNvSpPr>
            <a:spLocks noGrp="1"/>
          </p:cNvSpPr>
          <p:nvPr>
            <p:ph type="subTitle" idx="1"/>
          </p:nvPr>
        </p:nvSpPr>
        <p:spPr/>
        <p:txBody>
          <a:bodyPr wrap="square">
            <a:normAutofit/>
          </a:bodyPr>
          <a:lstStyle/>
          <a:p>
            <a:pPr>
              <a:buNone/>
            </a:pPr>
            <a:r>
              <a:rPr b="0" i="0" u="none"/>
              <a:t>Teaching Your AI the House Rules for Every Room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Technology Stack Instruction Files</a:t>
            </a:r>
          </a:p>
        </p:txBody>
      </p:sp>
      <p:sp>
        <p:nvSpPr>
          <p:cNvPr id="3" name="Content Placeholder 2"/>
          <p:cNvSpPr>
            <a:spLocks noGrp="1"/>
          </p:cNvSpPr>
          <p:nvPr>
            <p:ph idx="1"/>
          </p:nvPr>
        </p:nvSpPr>
        <p:spPr/>
        <p:txBody>
          <a:bodyPr wrap="square">
            <a:normAutofit/>
          </a:bodyPr>
          <a:lstStyle/>
          <a:p>
            <a:r>
              <a:rPr sz="2800" b="0" i="0" u="none"/>
              <a:t>Turning requirements into tech-specific guidance</a:t>
            </a:r>
            <a:endParaRPr sz="2800" b="0" i="0">
              <a:latin typeface="Arial"/>
            </a:endParaRPr>
          </a:p>
          <a:p>
            <a:r>
              <a:rPr sz="2800" b="0" i="0" u="none"/>
              <a:t>Show how teams generate, review, and improve instruction files</a:t>
            </a:r>
            <a:endParaRPr sz="280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with the Requirements</a:t>
            </a:r>
          </a:p>
        </p:txBody>
      </p:sp>
      <p:sp>
        <p:nvSpPr>
          <p:cNvPr id="3" name="Content Placeholder 2"/>
          <p:cNvSpPr>
            <a:spLocks noGrp="1"/>
          </p:cNvSpPr>
          <p:nvPr>
            <p:ph sz="half" idx="1"/>
          </p:nvPr>
        </p:nvSpPr>
        <p:spPr/>
        <p:txBody>
          <a:bodyPr wrap="square">
            <a:normAutofit/>
          </a:bodyPr>
          <a:lstStyle/>
          <a:p>
            <a:r>
              <a:rPr sz="1400" b="0" i="0" u="none"/>
              <a:t>Review the requirements document before generating any instruction file</a:t>
            </a:r>
            <a:endParaRPr sz="2800" b="0" i="0">
              <a:latin typeface="Arial"/>
            </a:endParaRPr>
          </a:p>
          <a:p>
            <a:r>
              <a:rPr sz="1400" b="0" i="0" u="none"/>
              <a:t>Identify the front-end and implementation technologies explicitly in scope</a:t>
            </a:r>
            <a:endParaRPr sz="2800" b="0" i="0">
              <a:latin typeface="Arial"/>
            </a:endParaRPr>
          </a:p>
          <a:p>
            <a:r>
              <a:rPr sz="1400" b="0" i="0" u="none"/>
              <a:t>Decide on the tech stack</a:t>
            </a:r>
            <a:endParaRPr sz="2800" b="0" i="0">
              <a:latin typeface="Arial"/>
            </a:endParaRPr>
          </a:p>
          <a:p>
            <a:r>
              <a:rPr sz="1400" b="0" i="0" u="none"/>
              <a:t>Use the requirements to anchor standards, constraints, accessibility, and security expectations</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341c7d0144315c22cf173585b2ffddd165666338.png"/>
          <p:cNvPicPr>
            <a:picLocks noChangeAspect="1"/>
          </p:cNvPicPr>
          <p:nvPr/>
        </p:nvPicPr>
        <p:blipFill>
          <a:blip r:embed="rId3"/>
          <a:stretch>
            <a:fillRect/>
          </a:stretch>
        </p:blipFill>
        <p:spPr>
          <a:xfrm>
            <a:off x="7346751" y="1509472"/>
            <a:ext cx="2832497" cy="425989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Generate the First Draft Quickly</a:t>
            </a:r>
          </a:p>
        </p:txBody>
      </p:sp>
      <p:sp>
        <p:nvSpPr>
          <p:cNvPr id="3" name="Content Placeholder 2"/>
          <p:cNvSpPr>
            <a:spLocks noGrp="1"/>
          </p:cNvSpPr>
          <p:nvPr>
            <p:ph idx="1"/>
          </p:nvPr>
        </p:nvSpPr>
        <p:spPr/>
        <p:txBody>
          <a:bodyPr wrap="square">
            <a:normAutofit/>
          </a:bodyPr>
          <a:lstStyle/>
          <a:p>
            <a:r>
              <a:rPr sz="2300" b="0" i="0" u="none"/>
              <a:t>Use a direct prompt such as: </a:t>
            </a:r>
            <a:r>
              <a:rPr sz="2300" b="1" i="0" u="none"/>
              <a:t>Create instruction files for the following technologies</a:t>
            </a:r>
            <a:endParaRPr sz="2300" b="0" i="0">
              <a:latin typeface="Arial"/>
            </a:endParaRPr>
          </a:p>
          <a:p>
            <a:r>
              <a:rPr sz="2300" b="0" i="0" u="none"/>
              <a:t>Name the stack clearly</a:t>
            </a:r>
            <a:endParaRPr sz="2300" b="0" i="0">
              <a:latin typeface="Arial"/>
            </a:endParaRPr>
          </a:p>
          <a:p>
            <a:r>
              <a:rPr sz="2300" b="0" i="0" u="none"/>
              <a:t>Ask for guidance on:</a:t>
            </a:r>
            <a:endParaRPr sz="2300" b="0" i="0">
              <a:latin typeface="Arial"/>
            </a:endParaRPr>
          </a:p>
          <a:p>
            <a:pPr lvl="1"/>
            <a:r>
              <a:rPr sz="2300" b="0" i="0" u="none"/>
              <a:t>semantic markup</a:t>
            </a:r>
            <a:endParaRPr sz="2300" b="0" i="0">
              <a:latin typeface="Arial"/>
            </a:endParaRPr>
          </a:p>
          <a:p>
            <a:pPr lvl="1"/>
            <a:r>
              <a:rPr sz="2300" b="0" i="0" u="none"/>
              <a:t>accessibility</a:t>
            </a:r>
            <a:endParaRPr sz="2300" b="0" i="0">
              <a:latin typeface="Arial"/>
            </a:endParaRPr>
          </a:p>
          <a:p>
            <a:pPr lvl="1"/>
            <a:r>
              <a:rPr sz="2300" b="0" i="0" u="none"/>
              <a:t>modern CSS practices</a:t>
            </a:r>
            <a:endParaRPr sz="2300" b="0" i="0">
              <a:latin typeface="Arial"/>
            </a:endParaRPr>
          </a:p>
          <a:p>
            <a:pPr lvl="1"/>
            <a:r>
              <a:rPr sz="2300" b="0" i="0" u="none"/>
              <a:t>security</a:t>
            </a:r>
            <a:endParaRPr sz="2300" b="0" i="0">
              <a:latin typeface="Arial"/>
            </a:endParaRPr>
          </a:p>
          <a:p>
            <a:pPr lvl="1"/>
            <a:r>
              <a:rPr sz="2300" b="0" i="0" u="none"/>
              <a:t>performance</a:t>
            </a:r>
            <a:endParaRPr sz="2300" b="0" i="0">
              <a:latin typeface="Arial"/>
            </a:endParaRPr>
          </a:p>
          <a:p>
            <a:r>
              <a:rPr sz="2300" b="0" i="0" u="none"/>
              <a:t>Treat the first output as a draft, not as final policy</a:t>
            </a:r>
            <a:endParaRPr sz="23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Review the Generated File Critically</a:t>
            </a:r>
          </a:p>
        </p:txBody>
      </p:sp>
      <p:sp>
        <p:nvSpPr>
          <p:cNvPr id="3" name="Content Placeholder 2"/>
          <p:cNvSpPr>
            <a:spLocks noGrp="1"/>
          </p:cNvSpPr>
          <p:nvPr>
            <p:ph sz="half" idx="1"/>
          </p:nvPr>
        </p:nvSpPr>
        <p:spPr/>
        <p:txBody>
          <a:bodyPr wrap="square">
            <a:normAutofit/>
          </a:bodyPr>
          <a:lstStyle/>
          <a:p>
            <a:r>
              <a:rPr sz="1400" b="0" i="0" u="none"/>
              <a:t>Check the file structure, scope, and clarity</a:t>
            </a:r>
            <a:endParaRPr sz="2800" b="0" i="0">
              <a:latin typeface="Arial"/>
            </a:endParaRPr>
          </a:p>
          <a:p>
            <a:r>
              <a:rPr sz="1400" b="0" i="0" u="none"/>
              <a:t>Ensure a validation checklist is included</a:t>
            </a:r>
            <a:endParaRPr sz="2800" b="0" i="0">
              <a:latin typeface="Arial"/>
            </a:endParaRPr>
          </a:p>
          <a:p>
            <a:r>
              <a:rPr sz="1400" b="0" i="0" u="none"/>
              <a:t>Confirm the primary audience is </a:t>
            </a:r>
            <a:r>
              <a:rPr sz="1400" b="1" i="0" u="none"/>
              <a:t>AI assistants</a:t>
            </a:r>
            <a:r>
              <a:rPr sz="1400" b="0" i="0" u="none"/>
              <a:t> and the secondary audience is </a:t>
            </a:r>
            <a:r>
              <a:rPr sz="1400" b="1" i="0" u="none"/>
              <a:t>developers</a:t>
            </a:r>
            <a:endParaRPr sz="2800" b="0" i="0">
              <a:latin typeface="Arial"/>
            </a:endParaRPr>
          </a:p>
          <a:p>
            <a:r>
              <a:rPr sz="1400" b="0" i="0" u="none"/>
              <a:t>Verify security and performance guidance is concrete</a:t>
            </a:r>
            <a:endParaRPr sz="2800" b="0" i="0">
              <a:latin typeface="Arial"/>
            </a:endParaRPr>
          </a:p>
          <a:p>
            <a:r>
              <a:rPr sz="1400" b="0" i="0" u="none"/>
              <a:t>Confirm related documentation references are present and accurate</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2cdfba148f0d928b1eb6daef1523c58fcb03eaa1.png"/>
          <p:cNvPicPr>
            <a:picLocks noChangeAspect="1"/>
          </p:cNvPicPr>
          <p:nvPr/>
        </p:nvPicPr>
        <p:blipFill>
          <a:blip r:embed="rId3"/>
          <a:stretch>
            <a:fillRect/>
          </a:stretch>
        </p:blipFill>
        <p:spPr>
          <a:xfrm>
            <a:off x="6217920" y="3122574"/>
            <a:ext cx="5090160" cy="103369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Why This Matters in the Foundation Phase</a:t>
            </a:r>
          </a:p>
        </p:txBody>
      </p:sp>
      <p:sp>
        <p:nvSpPr>
          <p:cNvPr id="3" name="Content Placeholder 2"/>
          <p:cNvSpPr>
            <a:spLocks noGrp="1"/>
          </p:cNvSpPr>
          <p:nvPr>
            <p:ph idx="1"/>
          </p:nvPr>
        </p:nvSpPr>
        <p:spPr/>
        <p:txBody>
          <a:bodyPr wrap="square">
            <a:normAutofit/>
          </a:bodyPr>
          <a:lstStyle/>
          <a:p>
            <a:pPr>
              <a:buNone/>
            </a:pPr>
            <a:r>
              <a:rPr sz="2550" b="0" i="0" u="none"/>
              <a:t>1. Establish technology standards early</a:t>
            </a:r>
            <a:endParaRPr sz="2550" b="0" i="0">
              <a:latin typeface="Arial"/>
            </a:endParaRPr>
          </a:p>
          <a:p>
            <a:pPr>
              <a:buNone/>
            </a:pPr>
            <a:r>
              <a:rPr sz="2550" b="0" i="0" u="none"/>
              <a:t>2. Reduce inconsistency before implementation begins</a:t>
            </a:r>
            <a:endParaRPr sz="2550" b="0" i="0">
              <a:latin typeface="Arial"/>
            </a:endParaRPr>
          </a:p>
          <a:p>
            <a:pPr>
              <a:buNone/>
            </a:pPr>
            <a:r>
              <a:rPr sz="2550" b="0" i="0" u="none"/>
              <a:t>3. Give AI assistants reusable, repo-specific guidance</a:t>
            </a:r>
            <a:endParaRPr sz="2550" b="0" i="0">
              <a:latin typeface="Arial"/>
            </a:endParaRPr>
          </a:p>
          <a:p>
            <a:pPr>
              <a:buNone/>
            </a:pPr>
            <a:r>
              <a:rPr sz="2550" b="0" i="0" u="none"/>
              <a:t>4. Create artifacts the team can iterate on and version-control</a:t>
            </a:r>
            <a:endParaRPr sz="2550" b="0" i="0">
              <a:latin typeface="Arial"/>
            </a:endParaRPr>
          </a:p>
          <a:p>
            <a:pPr>
              <a:buNone/>
            </a:pPr>
            <a:r>
              <a:rPr sz="2550" b="0" i="0" u="none"/>
              <a:t>5. Build a stronger base for later slice planning and implementation prompts</a:t>
            </a:r>
            <a:endParaRPr sz="2550" b="0" i="0">
              <a:latin typeface="Arial"/>
            </a:endParaRPr>
          </a:p>
          <a:p>
            <a:pPr>
              <a:buNone/>
            </a:pPr>
            <a:endParaRPr sz="2550" b="0" i="0">
              <a:latin typeface="Arial"/>
            </a:endParaRPr>
          </a:p>
          <a:p>
            <a:pPr>
              <a:buNone/>
            </a:pPr>
            <a:r>
              <a:rPr sz="2550" b="1" i="0" u="none"/>
              <a:t>Bottom line</a:t>
            </a:r>
            <a:r>
              <a:rPr sz="2550" b="0" i="0" u="none"/>
              <a:t>: better instruction files lead to more reliable implementation output.</a:t>
            </a:r>
            <a:endParaRPr sz="255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1" i="0" u="none"/>
              <a:t>▶ Implementation Specification</a:t>
            </a:r>
          </a:p>
          <a:p>
            <a:r>
              <a:rPr sz="2750" b="0" i="0" u="none"/>
              <a:t>Implementation Planning</a:t>
            </a:r>
          </a:p>
          <a:p>
            <a:r>
              <a:rPr sz="2750" b="0" i="0" u="none"/>
              <a:t>Implementation Prompts</a:t>
            </a:r>
          </a:p>
          <a:p>
            <a:r>
              <a:rPr sz="2750" b="0" i="0" u="none"/>
              <a:t>Vertical Slice Implementation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Vertical Slicing Architecture Introduction</a:t>
            </a:r>
          </a:p>
        </p:txBody>
      </p:sp>
      <p:sp>
        <p:nvSpPr>
          <p:cNvPr id="3" name="Subtitle 2"/>
          <p:cNvSpPr>
            <a:spLocks noGrp="1"/>
          </p:cNvSpPr>
          <p:nvPr>
            <p:ph type="subTitle" idx="1"/>
          </p:nvPr>
        </p:nvSpPr>
        <p:spPr/>
        <p:txBody>
          <a:bodyPr wrap="square">
            <a:normAutofit/>
          </a:bodyPr>
          <a:lstStyle/>
          <a:p>
            <a:pPr>
              <a:buNone/>
            </a:pPr>
            <a:r>
              <a:rPr b="0" i="0" u="none"/>
              <a:t>Features Go Vertical. Layers Go Home.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a vertical slice?</a:t>
            </a:r>
          </a:p>
        </p:txBody>
      </p:sp>
      <p:sp>
        <p:nvSpPr>
          <p:cNvPr id="3" name="Content Placeholder 2"/>
          <p:cNvSpPr>
            <a:spLocks noGrp="1"/>
          </p:cNvSpPr>
          <p:nvPr>
            <p:ph idx="1"/>
          </p:nvPr>
        </p:nvSpPr>
        <p:spPr/>
        <p:txBody>
          <a:bodyPr wrap="square">
            <a:normAutofit/>
          </a:bodyPr>
          <a:lstStyle/>
          <a:p>
            <a:pPr>
              <a:buNone/>
            </a:pPr>
            <a:r>
              <a:rPr sz="2200" b="1" i="0" u="none"/>
              <a:t>A vertical slice organizes code by business feature, not by technical layer.</a:t>
            </a:r>
            <a:endParaRPr sz="2200" b="0" i="0">
              <a:latin typeface="Arial"/>
            </a:endParaRPr>
          </a:p>
          <a:p>
            <a:pPr>
              <a:buNone/>
            </a:pPr>
            <a:endParaRPr sz="2200" b="0" i="0">
              <a:latin typeface="Arial"/>
            </a:endParaRPr>
          </a:p>
          <a:p>
            <a:r>
              <a:rPr sz="2200" b="0" i="0" u="none"/>
              <a:t>Each feature spans UI, validation, logic, and data access</a:t>
            </a:r>
            <a:endParaRPr sz="2200" b="0" i="0">
              <a:latin typeface="Arial"/>
            </a:endParaRPr>
          </a:p>
          <a:p>
            <a:r>
              <a:rPr sz="2200" b="0" i="0" u="none"/>
              <a:t>Everything needed for the feature lives together</a:t>
            </a:r>
            <a:endParaRPr sz="2200" b="0" i="0">
              <a:latin typeface="Arial"/>
            </a:endParaRPr>
          </a:p>
          <a:p>
            <a:r>
              <a:rPr sz="2200" b="0" i="0" u="none"/>
              <a:t>Slices are self-contained and intentionally independent</a:t>
            </a:r>
            <a:endParaRPr sz="2200" b="0" i="0">
              <a:latin typeface="Arial"/>
            </a:endParaRPr>
          </a:p>
          <a:p>
            <a:r>
              <a:rPr sz="2200" b="0" i="0" u="none"/>
              <a:t>Features avoid direct references to other features</a:t>
            </a:r>
            <a:endParaRPr sz="2200" b="0" i="0">
              <a:latin typeface="Arial"/>
            </a:endParaRPr>
          </a:p>
          <a:p>
            <a:r>
              <a:rPr sz="2200" b="0" i="0" u="none"/>
              <a:t>Changes stay localized, which improves maintainability</a:t>
            </a:r>
            <a:endParaRPr sz="2200" b="0" i="0">
              <a:latin typeface="Arial"/>
            </a:endParaRPr>
          </a:p>
          <a:p>
            <a:pPr>
              <a:buNone/>
            </a:pPr>
            <a:endParaRPr sz="2200" b="0" i="0">
              <a:latin typeface="Arial"/>
            </a:endParaRPr>
          </a:p>
          <a:p>
            <a:pPr>
              <a:buNone/>
            </a:pPr>
            <a:r>
              <a:rPr sz="2200" b="0" i="1" u="none"/>
              <a:t>Think in complete user capabilities, not shared technical buckets.</a:t>
            </a:r>
            <a:endParaRPr sz="22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Layered folders vs. feature folders</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1" i="0" u="none"/>
              <a:t>Layered:</a:t>
            </a:r>
            <a:r>
              <a:rPr sz="1400" b="0" i="0" u="none"/>
              <a:t> related code is separated by technical type.</a:t>
            </a:r>
            <a:endParaRPr sz="2800" b="0" i="0">
              <a:latin typeface="Arial"/>
            </a:endParaRPr>
          </a:p>
          <a:p>
            <a:pPr>
              <a:buNone/>
            </a:pPr>
            <a:endParaRPr sz="2800" b="0" i="0">
              <a:latin typeface="Arial"/>
            </a:endParaRPr>
          </a:p>
          <a:p>
            <a:pPr>
              <a:buNone/>
            </a:pPr>
            <a:r>
              <a:rPr sz="1400" b="1" i="0" u="none"/>
              <a:t>Vertical slices:</a:t>
            </a:r>
            <a:r>
              <a:rPr sz="1400" b="0" i="0" u="none"/>
              <a:t> all code for a feature is kept in one place.</a:t>
            </a:r>
            <a:endParaRPr sz="2800" b="0" i="0">
              <a:latin typeface="Arial"/>
            </a:endParaRPr>
          </a:p>
        </p:txBody>
      </p:sp>
      <p:pic>
        <p:nvPicPr>
          <p:cNvPr id="5" name="Picture 4" descr="561abd507ce3d347fb9ee474029941865e204bcf.png"/>
          <p:cNvPicPr>
            <a:picLocks noChangeAspect="1"/>
          </p:cNvPicPr>
          <p:nvPr/>
        </p:nvPicPr>
        <p:blipFill>
          <a:blip r:embed="rId3"/>
          <a:stretch>
            <a:fillRect/>
          </a:stretch>
        </p:blipFill>
        <p:spPr>
          <a:xfrm>
            <a:off x="883920" y="2212273"/>
            <a:ext cx="5090160" cy="285429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Why developers like this approach</a:t>
            </a:r>
          </a:p>
        </p:txBody>
      </p:sp>
      <p:sp>
        <p:nvSpPr>
          <p:cNvPr id="3" name="Content Placeholder 2"/>
          <p:cNvSpPr>
            <a:spLocks noGrp="1"/>
          </p:cNvSpPr>
          <p:nvPr>
            <p:ph idx="1"/>
          </p:nvPr>
        </p:nvSpPr>
        <p:spPr/>
        <p:txBody>
          <a:bodyPr wrap="square">
            <a:normAutofit/>
          </a:bodyPr>
          <a:lstStyle/>
          <a:p>
            <a:pPr>
              <a:buNone/>
            </a:pPr>
            <a:r>
              <a:rPr sz="2100" b="0" i="0" u="none"/>
              <a:t>Developer experience</a:t>
            </a:r>
            <a:endParaRPr sz="2100" b="0" i="0">
              <a:latin typeface="Arial"/>
            </a:endParaRPr>
          </a:p>
          <a:p>
            <a:pPr lvl="1"/>
            <a:r>
              <a:rPr sz="2100" b="0" i="0" u="none"/>
              <a:t>Faster feature development</a:t>
            </a:r>
            <a:endParaRPr sz="2100" b="0" i="0">
              <a:latin typeface="Arial"/>
            </a:endParaRPr>
          </a:p>
          <a:p>
            <a:pPr lvl="1"/>
            <a:r>
              <a:rPr sz="2100" b="0" i="0" u="none"/>
              <a:t>All related code in one location</a:t>
            </a:r>
            <a:endParaRPr sz="2100" b="0" i="0">
              <a:latin typeface="Arial"/>
            </a:endParaRPr>
          </a:p>
          <a:p>
            <a:pPr lvl="1"/>
            <a:r>
              <a:rPr sz="2100" b="0" i="0" u="none"/>
              <a:t>Less folder jumping during implementation</a:t>
            </a:r>
            <a:endParaRPr sz="2100" b="0" i="0">
              <a:latin typeface="Arial"/>
            </a:endParaRPr>
          </a:p>
          <a:p>
            <a:pPr lvl="1"/>
            <a:r>
              <a:rPr sz="2100" b="0" i="0" u="none"/>
              <a:t>New features are less likely to disturb existing ones</a:t>
            </a:r>
            <a:endParaRPr sz="2100" b="0" i="0">
              <a:latin typeface="Arial"/>
            </a:endParaRPr>
          </a:p>
          <a:p>
            <a:pPr>
              <a:buNone/>
            </a:pPr>
            <a:endParaRPr sz="2100" b="0" i="0">
              <a:latin typeface="Arial"/>
            </a:endParaRPr>
          </a:p>
          <a:p>
            <a:pPr>
              <a:buNone/>
            </a:pPr>
            <a:r>
              <a:rPr sz="2100" b="0" i="0" u="none"/>
              <a:t>Maintainability</a:t>
            </a:r>
            <a:endParaRPr sz="2100" b="0" i="0">
              <a:latin typeface="Arial"/>
            </a:endParaRPr>
          </a:p>
          <a:p>
            <a:pPr lvl="1"/>
            <a:r>
              <a:rPr sz="2100" b="0" i="0" u="none"/>
              <a:t>Localized changes</a:t>
            </a:r>
            <a:endParaRPr sz="2100" b="0" i="0">
              <a:latin typeface="Arial"/>
            </a:endParaRPr>
          </a:p>
          <a:p>
            <a:pPr lvl="1"/>
            <a:r>
              <a:rPr sz="2100" b="0" i="0" u="none"/>
              <a:t>Clear boundaries reduce accidental bugs</a:t>
            </a:r>
            <a:endParaRPr sz="2100" b="0" i="0">
              <a:latin typeface="Arial"/>
            </a:endParaRPr>
          </a:p>
          <a:p>
            <a:pPr lvl="1"/>
            <a:r>
              <a:rPr sz="2100" b="0" i="0" u="none"/>
              <a:t>Refactoring happens inside the feature more often than across the whole app</a:t>
            </a:r>
            <a:endParaRPr sz="21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Collaboration and testing benefits</a:t>
            </a:r>
          </a:p>
        </p:txBody>
      </p:sp>
      <p:sp>
        <p:nvSpPr>
          <p:cNvPr id="3" name="Content Placeholder 2"/>
          <p:cNvSpPr>
            <a:spLocks noGrp="1"/>
          </p:cNvSpPr>
          <p:nvPr>
            <p:ph idx="1"/>
          </p:nvPr>
        </p:nvSpPr>
        <p:spPr/>
        <p:txBody>
          <a:bodyPr wrap="square">
            <a:normAutofit/>
          </a:bodyPr>
          <a:lstStyle/>
          <a:p>
            <a:pPr>
              <a:buNone/>
            </a:pPr>
            <a:r>
              <a:rPr sz="2300" b="0" i="0" u="none"/>
              <a:t>Team collaboration</a:t>
            </a:r>
            <a:endParaRPr sz="2300" b="0" i="0">
              <a:latin typeface="Arial"/>
            </a:endParaRPr>
          </a:p>
          <a:p>
            <a:pPr lvl="1"/>
            <a:r>
              <a:rPr sz="2300" b="0" i="0" u="none"/>
              <a:t>Teams can build features in parallel</a:t>
            </a:r>
            <a:endParaRPr sz="2300" b="0" i="0">
              <a:latin typeface="Arial"/>
            </a:endParaRPr>
          </a:p>
          <a:p>
            <a:pPr lvl="1"/>
            <a:r>
              <a:rPr sz="2300" b="0" i="0" u="none"/>
              <a:t>Clear boundaries mean fewer merge conflicts</a:t>
            </a:r>
            <a:endParaRPr sz="2300" b="0" i="0">
              <a:latin typeface="Arial"/>
            </a:endParaRPr>
          </a:p>
          <a:p>
            <a:pPr lvl="1"/>
            <a:r>
              <a:rPr sz="2300" b="0" i="0" u="none"/>
              <a:t>Ownership and responsibility are easier to assign</a:t>
            </a:r>
            <a:endParaRPr sz="2300" b="0" i="0">
              <a:latin typeface="Arial"/>
            </a:endParaRPr>
          </a:p>
          <a:p>
            <a:pPr>
              <a:buNone/>
            </a:pPr>
            <a:endParaRPr sz="2300" b="0" i="0">
              <a:latin typeface="Arial"/>
            </a:endParaRPr>
          </a:p>
          <a:p>
            <a:pPr>
              <a:buNone/>
            </a:pPr>
            <a:r>
              <a:rPr sz="2300" b="0" i="0" u="none"/>
              <a:t>Testing approach</a:t>
            </a:r>
            <a:endParaRPr sz="2300" b="0" i="0">
              <a:latin typeface="Arial"/>
            </a:endParaRPr>
          </a:p>
          <a:p>
            <a:pPr lvl="1"/>
            <a:r>
              <a:rPr sz="2300" b="0" i="0" u="none"/>
              <a:t>Test complete features, not isolated layers</a:t>
            </a:r>
            <a:endParaRPr sz="2300" b="0" i="0">
              <a:latin typeface="Arial"/>
            </a:endParaRPr>
          </a:p>
          <a:p>
            <a:pPr lvl="1"/>
            <a:r>
              <a:rPr sz="2300" b="0" i="0" u="none"/>
              <a:t>Mock at feature boundaries</a:t>
            </a:r>
            <a:endParaRPr sz="2300" b="0" i="0">
              <a:latin typeface="Arial"/>
            </a:endParaRPr>
          </a:p>
          <a:p>
            <a:pPr lvl="1"/>
            <a:r>
              <a:rPr sz="2300" b="0" i="0" u="none"/>
              <a:t>Integration becomes more straightforward</a:t>
            </a:r>
            <a:endParaRPr sz="2300" b="0" i="0">
              <a:latin typeface="Arial"/>
            </a:endParaRPr>
          </a:p>
          <a:p>
            <a:pPr lvl="1"/>
            <a:r>
              <a:rPr sz="2300" b="0" i="0" u="none"/>
              <a:t>Independent development is easier with mocked dependencies</a:t>
            </a:r>
            <a:endParaRPr sz="230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0" i="0" u="none"/>
              <a:t>Implementation Specification</a:t>
            </a:r>
          </a:p>
          <a:p>
            <a:r>
              <a:rPr sz="2750" b="1" i="0" u="none"/>
              <a:t>▶ Implementation Planning</a:t>
            </a:r>
          </a:p>
          <a:p>
            <a:r>
              <a:rPr sz="2750" b="0" i="0" u="none"/>
              <a:t>Implementation Prompts</a:t>
            </a:r>
          </a:p>
          <a:p>
            <a:r>
              <a:rPr sz="2750" b="0" i="0" u="none"/>
              <a:t>Vertical Slice Implementation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Vertical Slice Implementation Plans</a:t>
            </a:r>
          </a:p>
        </p:txBody>
      </p:sp>
      <p:sp>
        <p:nvSpPr>
          <p:cNvPr id="3" name="Subtitle 2"/>
          <p:cNvSpPr>
            <a:spLocks noGrp="1"/>
          </p:cNvSpPr>
          <p:nvPr>
            <p:ph type="subTitle" idx="1"/>
          </p:nvPr>
        </p:nvSpPr>
        <p:spPr/>
        <p:txBody>
          <a:bodyPr wrap="square">
            <a:normAutofit/>
          </a:bodyPr>
          <a:lstStyle/>
          <a:p>
            <a:pPr>
              <a:buNone/>
            </a:pPr>
            <a:r>
              <a:rPr b="0" i="0" u="none"/>
              <a:t>The Blueprint Before the Blueprint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Creating Vertical Slice Implementation Plans</a:t>
            </a:r>
          </a:p>
        </p:txBody>
      </p:sp>
      <p:sp>
        <p:nvSpPr>
          <p:cNvPr id="3" name="Content Placeholder 2"/>
          <p:cNvSpPr>
            <a:spLocks noGrp="1"/>
          </p:cNvSpPr>
          <p:nvPr>
            <p:ph idx="1"/>
          </p:nvPr>
        </p:nvSpPr>
        <p:spPr/>
        <p:txBody>
          <a:bodyPr wrap="square">
            <a:normAutofit/>
          </a:bodyPr>
          <a:lstStyle/>
          <a:p>
            <a:r>
              <a:rPr sz="2800" b="0" i="0" u="none"/>
              <a:t>Focus: how to plan before implementation</a:t>
            </a:r>
            <a:endParaRPr sz="2800" b="0" i="0">
              <a:latin typeface="Arial"/>
            </a:endParaRPr>
          </a:p>
          <a:p>
            <a:r>
              <a:rPr sz="2800" b="0" i="0" u="none"/>
              <a:t>Goal: turn requirements into executable slices</a:t>
            </a:r>
            <a:endParaRPr sz="28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the planning instructions</a:t>
            </a:r>
          </a:p>
        </p:txBody>
      </p:sp>
      <p:sp>
        <p:nvSpPr>
          <p:cNvPr id="3" name="Content Placeholder 2"/>
          <p:cNvSpPr>
            <a:spLocks noGrp="1"/>
          </p:cNvSpPr>
          <p:nvPr>
            <p:ph idx="1"/>
          </p:nvPr>
        </p:nvSpPr>
        <p:spPr/>
        <p:txBody>
          <a:bodyPr wrap="square">
            <a:normAutofit/>
          </a:bodyPr>
          <a:lstStyle/>
          <a:p>
            <a:pPr>
              <a:buNone/>
            </a:pPr>
            <a:r>
              <a:rPr sz="1800" b="0" i="0" u="none"/>
              <a:t>Reference point:</a:t>
            </a:r>
            <a:endParaRPr sz="1800" b="0" i="0">
              <a:latin typeface="Consolas"/>
            </a:endParaRPr>
          </a:p>
          <a:p>
            <a:pPr>
              <a:buNone/>
            </a:pPr>
            <a:endParaRPr sz="1800" b="0" i="0">
              <a:latin typeface="Consolas"/>
            </a:endParaRPr>
          </a:p>
          <a:p>
            <a:pPr>
              <a:buNone/>
            </a:pPr>
            <a:r>
              <a:rPr sz="1800" b="0" i="0" u="none">
                <a:latin typeface="Consolas"/>
              </a:rPr>
              <a:t>.github/instructions/vertical-slice-planning.instructions.md</a:t>
            </a:r>
            <a:endParaRPr sz="1800" b="0" i="0">
              <a:latin typeface="Consolas"/>
            </a:endParaRPr>
          </a:p>
          <a:p>
            <a:pPr>
              <a:buNone/>
            </a:pPr>
            <a:endParaRPr sz="1800" b="0" i="0">
              <a:latin typeface="Consolas"/>
            </a:endParaRPr>
          </a:p>
          <a:p>
            <a:pPr>
              <a:buNone/>
            </a:pPr>
            <a:r>
              <a:rPr sz="1800" b="0" i="0" u="none"/>
              <a:t>What it provides:</a:t>
            </a:r>
            <a:endParaRPr sz="1800" b="0" i="0">
              <a:latin typeface="Consolas"/>
            </a:endParaRPr>
          </a:p>
          <a:p>
            <a:pPr>
              <a:buNone/>
            </a:pPr>
            <a:endParaRPr sz="1800" b="0" i="0">
              <a:latin typeface="Consolas"/>
            </a:endParaRPr>
          </a:p>
          <a:p>
            <a:r>
              <a:rPr sz="1800" b="0" i="0" u="none"/>
              <a:t>Strategy selection guidance</a:t>
            </a:r>
            <a:endParaRPr sz="1800" b="0" i="0">
              <a:latin typeface="Consolas"/>
            </a:endParaRPr>
          </a:p>
          <a:p>
            <a:r>
              <a:rPr sz="1800" b="0" i="0" u="none"/>
              <a:t>Decomposition rules</a:t>
            </a:r>
            <a:endParaRPr sz="1800" b="0" i="0">
              <a:latin typeface="Consolas"/>
            </a:endParaRPr>
          </a:p>
          <a:p>
            <a:r>
              <a:rPr sz="1800" b="0" i="0" u="none"/>
              <a:t>Dependency analysis prompts</a:t>
            </a:r>
            <a:endParaRPr sz="1800" b="0" i="0">
              <a:latin typeface="Consolas"/>
            </a:endParaRPr>
          </a:p>
          <a:p>
            <a:r>
              <a:rPr sz="1800" b="0" i="0" u="none"/>
              <a:t>Slice definition templates</a:t>
            </a:r>
            <a:endParaRPr sz="1800" b="0" i="0">
              <a:latin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Slice identification strategies</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Strategy</a:t>
                      </a:r>
                    </a:p>
                  </a:txBody>
                  <a:tcPr>
                    <a:solidFill>
                      <a:schemeClr val="accent4"/>
                    </a:solidFill>
                  </a:tcPr>
                </a:tc>
                <a:tc>
                  <a:txBody>
                    <a:bodyPr/>
                    <a:lstStyle/>
                    <a:p>
                      <a:pPr>
                        <a:buNone/>
                        <a:defRPr sz="1600" b="1">
                          <a:solidFill>
                            <a:schemeClr val="bg1"/>
                          </a:solidFill>
                        </a:defRPr>
                      </a:pPr>
                      <a:r>
                        <a:rPr sz="1600" b="0" i="0" u="none"/>
                        <a:t>Best fit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User action decomposition</a:t>
                      </a:r>
                    </a:p>
                  </a:txBody>
                  <a:tcPr>
                    <a:solidFill>
                      <a:schemeClr val="accent4">
                        <a:lumMod val="20000"/>
                        <a:lumOff val="80000"/>
                      </a:schemeClr>
                    </a:solidFill>
                  </a:tcPr>
                </a:tc>
                <a:tc>
                  <a:txBody>
                    <a:bodyPr/>
                    <a:lstStyle/>
                    <a:p>
                      <a:pPr>
                        <a:buNone/>
                        <a:defRPr sz="1600" b="0">
                          <a:solidFill>
                            <a:schemeClr val="tx1"/>
                          </a:solidFill>
                        </a:defRPr>
                      </a:pPr>
                      <a:r>
                        <a:rPr sz="1600" b="0" i="0" u="none"/>
                        <a:t>End-to-end user flows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Entity CRUD operations</a:t>
                      </a:r>
                    </a:p>
                  </a:txBody>
                  <a:tcPr>
                    <a:solidFill>
                      <a:schemeClr val="accent4">
                        <a:lumMod val="8000"/>
                        <a:lumOff val="92000"/>
                      </a:schemeClr>
                    </a:solidFill>
                  </a:tcPr>
                </a:tc>
                <a:tc>
                  <a:txBody>
                    <a:bodyPr/>
                    <a:lstStyle/>
                    <a:p>
                      <a:pPr>
                        <a:buNone/>
                        <a:defRPr sz="1600" b="0">
                          <a:solidFill>
                            <a:schemeClr val="tx1"/>
                          </a:solidFill>
                        </a:defRPr>
                      </a:pPr>
                      <a:r>
                        <a:rPr sz="1600" b="0" i="0" u="none"/>
                        <a:t>Simple data management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Workflow stage decomposition</a:t>
                      </a:r>
                    </a:p>
                  </a:txBody>
                  <a:tcPr>
                    <a:solidFill>
                      <a:schemeClr val="accent4">
                        <a:lumMod val="20000"/>
                        <a:lumOff val="80000"/>
                      </a:schemeClr>
                    </a:solidFill>
                  </a:tcPr>
                </a:tc>
                <a:tc>
                  <a:txBody>
                    <a:bodyPr/>
                    <a:lstStyle/>
                    <a:p>
                      <a:pPr>
                        <a:buNone/>
                        <a:defRPr sz="1600" b="0">
                          <a:solidFill>
                            <a:schemeClr val="tx1"/>
                          </a:solidFill>
                        </a:defRPr>
                      </a:pPr>
                      <a:r>
                        <a:rPr sz="1600" b="0" i="0" u="none"/>
                        <a:t>Multi-step processes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Business event decomposition</a:t>
                      </a:r>
                    </a:p>
                  </a:txBody>
                  <a:tcPr>
                    <a:solidFill>
                      <a:schemeClr val="accent4">
                        <a:lumMod val="8000"/>
                        <a:lumOff val="92000"/>
                      </a:schemeClr>
                    </a:solidFill>
                  </a:tcPr>
                </a:tc>
                <a:tc>
                  <a:txBody>
                    <a:bodyPr/>
                    <a:lstStyle/>
                    <a:p>
                      <a:pPr>
                        <a:buNone/>
                        <a:defRPr sz="1600" b="0">
                          <a:solidFill>
                            <a:schemeClr val="tx1"/>
                          </a:solidFill>
                        </a:defRPr>
                      </a:pPr>
                      <a:r>
                        <a:rPr sz="1600" b="0" i="0" u="none"/>
                        <a:t>Event-driven behavior</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CQRS-optimized slicing</a:t>
                      </a:r>
                    </a:p>
                  </a:txBody>
                  <a:tcPr>
                    <a:solidFill>
                      <a:schemeClr val="accent4">
                        <a:lumMod val="20000"/>
                        <a:lumOff val="80000"/>
                      </a:schemeClr>
                    </a:solidFill>
                  </a:tcPr>
                </a:tc>
                <a:tc>
                  <a:txBody>
                    <a:bodyPr/>
                    <a:lstStyle/>
                    <a:p>
                      <a:pPr>
                        <a:buNone/>
                        <a:defRPr sz="1600" b="0">
                          <a:solidFill>
                            <a:schemeClr val="tx1"/>
                          </a:solidFill>
                        </a:defRPr>
                      </a:pPr>
                      <a:r>
                        <a:rPr sz="1600" b="0" i="0" u="none"/>
                        <a:t>Distinct read/write paths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Decomposition principles</a:t>
            </a:r>
          </a:p>
        </p:txBody>
      </p:sp>
      <p:sp>
        <p:nvSpPr>
          <p:cNvPr id="3" name="Content Placeholder 2"/>
          <p:cNvSpPr>
            <a:spLocks noGrp="1"/>
          </p:cNvSpPr>
          <p:nvPr>
            <p:ph idx="1"/>
          </p:nvPr>
        </p:nvSpPr>
        <p:spPr/>
        <p:txBody>
          <a:bodyPr wrap="square">
            <a:normAutofit/>
          </a:bodyPr>
          <a:lstStyle/>
          <a:p>
            <a:r>
              <a:rPr sz="2350" b="1" i="0" u="none"/>
              <a:t>Single responsibility</a:t>
            </a:r>
            <a:r>
              <a:rPr sz="2350" b="0" i="0" u="none"/>
              <a:t> per slice</a:t>
            </a:r>
            <a:endParaRPr sz="2350" b="0" i="0">
              <a:latin typeface="Arial"/>
            </a:endParaRPr>
          </a:p>
          <a:p>
            <a:r>
              <a:rPr sz="2350" b="1" i="0" u="none"/>
              <a:t>Complete vertical stack</a:t>
            </a:r>
            <a:r>
              <a:rPr sz="2350" b="0" i="0" u="none"/>
              <a:t> from UI/API to data</a:t>
            </a:r>
            <a:endParaRPr sz="2350" b="0" i="0">
              <a:latin typeface="Arial"/>
            </a:endParaRPr>
          </a:p>
          <a:p>
            <a:r>
              <a:rPr sz="2350" b="1" i="0" u="none"/>
              <a:t>No horizontal sharing</a:t>
            </a:r>
            <a:r>
              <a:rPr sz="2350" b="0" i="0" u="none"/>
              <a:t> as the unit of delivery</a:t>
            </a:r>
            <a:endParaRPr sz="2350" b="0" i="0">
              <a:latin typeface="Arial"/>
            </a:endParaRPr>
          </a:p>
          <a:p>
            <a:r>
              <a:rPr sz="2350" b="1" i="0" u="none"/>
              <a:t>Minimize external dependencies</a:t>
            </a:r>
            <a:endParaRPr sz="2350" b="0" i="0">
              <a:latin typeface="Arial"/>
            </a:endParaRPr>
          </a:p>
          <a:p>
            <a:r>
              <a:rPr sz="2350" b="0" i="0" u="none"/>
              <a:t>Size slices to be </a:t>
            </a:r>
            <a:r>
              <a:rPr sz="2350" b="1" i="0" u="none"/>
              <a:t>valuable and manageable</a:t>
            </a:r>
            <a:endParaRPr sz="2350" b="0" i="0">
              <a:latin typeface="Arial"/>
            </a:endParaRPr>
          </a:p>
          <a:p>
            <a:pPr>
              <a:buNone/>
            </a:pPr>
            <a:endParaRPr sz="2350" b="0" i="0">
              <a:latin typeface="Arial"/>
            </a:endParaRPr>
          </a:p>
          <a:p>
            <a:pPr>
              <a:buNone/>
            </a:pPr>
            <a:r>
              <a:rPr sz="2350" b="1" i="0" u="none"/>
              <a:t>Rule of thumb</a:t>
            </a:r>
            <a:endParaRPr sz="2350" b="0" i="0">
              <a:latin typeface="Arial"/>
            </a:endParaRPr>
          </a:p>
          <a:p>
            <a:pPr>
              <a:buNone/>
            </a:pPr>
            <a:endParaRPr sz="2350" b="0" i="0">
              <a:latin typeface="Arial"/>
            </a:endParaRPr>
          </a:p>
          <a:p>
            <a:pPr>
              <a:buNone/>
            </a:pPr>
            <a:r>
              <a:rPr sz="2350" b="0" i="0" u="none"/>
              <a:t>Avoid slices that are too big to finish or too small to matter.</a:t>
            </a:r>
            <a:endParaRPr sz="235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Analyze before you slice</a:t>
            </a:r>
          </a:p>
        </p:txBody>
      </p:sp>
      <p:sp>
        <p:nvSpPr>
          <p:cNvPr id="3" name="Content Placeholder 2"/>
          <p:cNvSpPr>
            <a:spLocks noGrp="1"/>
          </p:cNvSpPr>
          <p:nvPr>
            <p:ph sz="half" idx="1"/>
          </p:nvPr>
        </p:nvSpPr>
        <p:spPr/>
        <p:txBody>
          <a:bodyPr wrap="square">
            <a:normAutofit/>
          </a:bodyPr>
          <a:lstStyle/>
          <a:p>
            <a:pPr>
              <a:buNone/>
            </a:pPr>
            <a:r>
              <a:rPr sz="1400" b="0" i="0" u="none"/>
              <a:t>Ask these questions first:</a:t>
            </a:r>
            <a:endParaRPr sz="2800" b="0" i="0">
              <a:latin typeface="Arial"/>
            </a:endParaRPr>
          </a:p>
          <a:p>
            <a:pPr>
              <a:buNone/>
            </a:pPr>
            <a:endParaRPr sz="2800" b="0" i="0">
              <a:latin typeface="Arial"/>
            </a:endParaRPr>
          </a:p>
          <a:p>
            <a:r>
              <a:rPr sz="1400" b="0" i="0" u="none"/>
              <a:t>What data does this slice read or change?</a:t>
            </a:r>
            <a:endParaRPr sz="2800" b="0" i="0">
              <a:latin typeface="Arial"/>
            </a:endParaRPr>
          </a:p>
          <a:p>
            <a:r>
              <a:rPr sz="1400" b="0" i="0" u="none"/>
              <a:t>What services or APIs does it depend on?</a:t>
            </a:r>
            <a:endParaRPr sz="2800" b="0" i="0">
              <a:latin typeface="Arial"/>
            </a:endParaRPr>
          </a:p>
          <a:p>
            <a:r>
              <a:rPr sz="1400" b="0" i="0" u="none"/>
              <a:t>Can it be deployed independently?</a:t>
            </a:r>
            <a:endParaRPr sz="2800" b="0" i="0">
              <a:latin typeface="Arial"/>
            </a:endParaRPr>
          </a:p>
          <a:p>
            <a:r>
              <a:rPr sz="1400" b="0" i="0" u="none"/>
              <a:t>Does a different strategy fit better?</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473118ddebb26f71ba36277e805f0add6ec91855.png"/>
          <p:cNvPicPr>
            <a:picLocks noChangeAspect="1"/>
          </p:cNvPicPr>
          <p:nvPr/>
        </p:nvPicPr>
        <p:blipFill>
          <a:blip r:embed="rId3"/>
          <a:stretch>
            <a:fillRect/>
          </a:stretch>
        </p:blipFill>
        <p:spPr>
          <a:xfrm>
            <a:off x="7792814" y="1509472"/>
            <a:ext cx="1940372" cy="425989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Generate plans with AI</a:t>
            </a:r>
          </a:p>
        </p:txBody>
      </p:sp>
      <p:sp>
        <p:nvSpPr>
          <p:cNvPr id="3" name="Content Placeholder 2"/>
          <p:cNvSpPr>
            <a:spLocks noGrp="1"/>
          </p:cNvSpPr>
          <p:nvPr>
            <p:ph idx="1"/>
          </p:nvPr>
        </p:nvSpPr>
        <p:spPr/>
        <p:txBody>
          <a:bodyPr wrap="square">
            <a:normAutofit/>
          </a:bodyPr>
          <a:lstStyle/>
          <a:p>
            <a:pPr>
              <a:buNone/>
            </a:pPr>
            <a:r>
              <a:rPr sz="2000" b="0" i="0" u="none"/>
              <a:t>Example prompt:</a:t>
            </a:r>
            <a:endParaRPr sz="2000" b="0" i="0">
              <a:latin typeface="Arial"/>
            </a:endParaRPr>
          </a:p>
          <a:p>
            <a:pPr>
              <a:buNone/>
            </a:pPr>
            <a:endParaRPr sz="2000" b="0" i="0">
              <a:latin typeface="Arial"/>
            </a:endParaRPr>
          </a:p>
          <a:p>
            <a:pPr>
              <a:buNone/>
            </a:pPr>
            <a:r>
              <a:rPr sz="2000" b="0" i="1" u="none"/>
              <a:t>Using vertical slice planning instructions and web calculator requirements, create implementation plan using vertical slices.</a:t>
            </a:r>
            <a:endParaRPr sz="2000" b="0" i="0">
              <a:latin typeface="Arial"/>
            </a:endParaRPr>
          </a:p>
          <a:p>
            <a:pPr>
              <a:buNone/>
            </a:pPr>
            <a:endParaRPr sz="2000" b="0" i="0">
              <a:latin typeface="Arial"/>
            </a:endParaRPr>
          </a:p>
          <a:p>
            <a:pPr>
              <a:buNone/>
            </a:pPr>
            <a:r>
              <a:rPr sz="2000" b="0" i="0" u="none"/>
              <a:t>AI can generate:</a:t>
            </a:r>
            <a:endParaRPr sz="2000" b="0" i="0">
              <a:latin typeface="Arial"/>
            </a:endParaRPr>
          </a:p>
          <a:p>
            <a:pPr lvl="1"/>
            <a:r>
              <a:rPr sz="2000" b="0" i="0" u="none"/>
              <a:t>Requirements summary</a:t>
            </a:r>
            <a:endParaRPr sz="2000" b="0" i="0">
              <a:latin typeface="Arial"/>
            </a:endParaRPr>
          </a:p>
          <a:p>
            <a:pPr lvl="1"/>
            <a:r>
              <a:rPr sz="2000" b="0" i="0" u="none"/>
              <a:t>Slice decomposition</a:t>
            </a:r>
            <a:endParaRPr sz="2000" b="0" i="0">
              <a:latin typeface="Arial"/>
            </a:endParaRPr>
          </a:p>
          <a:p>
            <a:pPr lvl="1"/>
            <a:r>
              <a:rPr sz="2000" b="0" i="0" u="none"/>
              <a:t>Dependency diagram</a:t>
            </a:r>
            <a:endParaRPr sz="2000" b="0" i="0">
              <a:latin typeface="Arial"/>
            </a:endParaRPr>
          </a:p>
          <a:p>
            <a:pPr lvl="1"/>
            <a:r>
              <a:rPr sz="2000" b="0" i="0" u="none"/>
              <a:t>Implementation order</a:t>
            </a:r>
            <a:endParaRPr sz="2000" b="0" i="0">
              <a:latin typeface="Arial"/>
            </a:endParaRPr>
          </a:p>
          <a:p>
            <a:pPr lvl="1"/>
            <a:r>
              <a:rPr sz="2000" b="0" i="0" u="none"/>
              <a:t>Sprint organization</a:t>
            </a:r>
            <a:endParaRPr sz="200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What a good AI plan should include</a:t>
            </a:r>
          </a:p>
        </p:txBody>
      </p:sp>
      <p:sp>
        <p:nvSpPr>
          <p:cNvPr id="3" name="Content Placeholder 2"/>
          <p:cNvSpPr>
            <a:spLocks noGrp="1"/>
          </p:cNvSpPr>
          <p:nvPr>
            <p:ph idx="1"/>
          </p:nvPr>
        </p:nvSpPr>
        <p:spPr/>
        <p:txBody>
          <a:bodyPr wrap="square">
            <a:normAutofit/>
          </a:bodyPr>
          <a:lstStyle/>
          <a:p>
            <a:pPr>
              <a:buNone/>
            </a:pPr>
            <a:r>
              <a:rPr sz="2150" b="0" i="0" u="none"/>
              <a:t>1. Clear summary of requirements</a:t>
            </a:r>
            <a:endParaRPr sz="2150" b="0" i="0">
              <a:latin typeface="Arial"/>
            </a:endParaRPr>
          </a:p>
          <a:p>
            <a:pPr>
              <a:buNone/>
            </a:pPr>
            <a:r>
              <a:rPr sz="2150" b="0" i="0" u="none"/>
              <a:t>2. Identified slices with rationale</a:t>
            </a:r>
            <a:endParaRPr sz="2150" b="0" i="0">
              <a:latin typeface="Arial"/>
            </a:endParaRPr>
          </a:p>
          <a:p>
            <a:pPr>
              <a:buNone/>
            </a:pPr>
            <a:r>
              <a:rPr sz="2150" b="0" i="0" u="none"/>
              <a:t>3. Dependency relationships</a:t>
            </a:r>
            <a:endParaRPr sz="2150" b="0" i="0">
              <a:latin typeface="Arial"/>
            </a:endParaRPr>
          </a:p>
          <a:p>
            <a:pPr>
              <a:buNone/>
            </a:pPr>
            <a:r>
              <a:rPr sz="2150" b="0" i="0" u="none"/>
              <a:t>4. Proposed implementation sequence</a:t>
            </a:r>
            <a:endParaRPr sz="2150" b="0" i="0">
              <a:latin typeface="Arial"/>
            </a:endParaRPr>
          </a:p>
          <a:p>
            <a:pPr>
              <a:buNone/>
            </a:pPr>
            <a:r>
              <a:rPr sz="2150" b="0" i="0" u="none"/>
              <a:t>5. Sprint or milestone grouping</a:t>
            </a:r>
            <a:endParaRPr sz="2150" b="0" i="0">
              <a:latin typeface="Arial"/>
            </a:endParaRPr>
          </a:p>
          <a:p>
            <a:pPr>
              <a:buNone/>
            </a:pPr>
            <a:endParaRPr sz="2150" b="0" i="0">
              <a:latin typeface="Arial"/>
            </a:endParaRPr>
          </a:p>
          <a:p>
            <a:pPr>
              <a:buNone/>
            </a:pPr>
            <a:r>
              <a:rPr sz="2150" b="0" i="0" u="none"/>
              <a:t>Watch for model differences</a:t>
            </a:r>
            <a:endParaRPr sz="2150" b="0" i="0">
              <a:latin typeface="Arial"/>
            </a:endParaRPr>
          </a:p>
          <a:p>
            <a:pPr lvl="1"/>
            <a:r>
              <a:rPr sz="2150" b="0" i="0" u="none"/>
              <a:t>More detail vs. more concise output</a:t>
            </a:r>
            <a:endParaRPr sz="2150" b="0" i="0">
              <a:latin typeface="Arial"/>
            </a:endParaRPr>
          </a:p>
          <a:p>
            <a:pPr lvl="1"/>
            <a:r>
              <a:rPr sz="2150" b="0" i="0" u="none"/>
              <a:t>Different naming and grouping choices</a:t>
            </a:r>
            <a:endParaRPr sz="2150" b="0" i="0">
              <a:latin typeface="Arial"/>
            </a:endParaRPr>
          </a:p>
          <a:p>
            <a:pPr lvl="1"/>
            <a:r>
              <a:rPr sz="2150" b="0" i="0" u="none"/>
              <a:t>Different sequencing assumptions</a:t>
            </a:r>
            <a:endParaRPr sz="215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planning flow</a:t>
            </a:r>
          </a:p>
        </p:txBody>
      </p:sp>
      <p:sp>
        <p:nvSpPr>
          <p:cNvPr id="3" name="Content Placeholder 2"/>
          <p:cNvSpPr>
            <a:spLocks noGrp="1"/>
          </p:cNvSpPr>
          <p:nvPr>
            <p:ph idx="1"/>
          </p:nvPr>
        </p:nvSpPr>
        <p:spPr/>
        <p:txBody>
          <a:bodyPr wrap="square">
            <a:normAutofit/>
          </a:bodyPr>
          <a:lstStyle/>
          <a:p>
            <a:pPr>
              <a:buNone/>
            </a:pPr>
            <a:r>
              <a:rPr sz="2800" b="0" i="0" u="none"/>
              <a:t>Web calculator example</a:t>
            </a:r>
            <a:endParaRPr sz="2800" b="0" i="0">
              <a:latin typeface="Arial"/>
            </a:endParaRPr>
          </a:p>
          <a:p>
            <a:pPr lvl="1">
              <a:buNone/>
            </a:pPr>
            <a:r>
              <a:rPr sz="2800" b="0" i="0" u="none"/>
              <a:t>  1. Summarize calculator requirements</a:t>
            </a:r>
            <a:endParaRPr sz="2800" b="0" i="0">
              <a:latin typeface="Arial"/>
            </a:endParaRPr>
          </a:p>
          <a:p>
            <a:pPr lvl="1">
              <a:buNone/>
            </a:pPr>
            <a:r>
              <a:rPr sz="2800" b="0" i="0" u="none"/>
              <a:t>  2. Identify slices such as input, operations, history, validation</a:t>
            </a:r>
            <a:endParaRPr sz="2800" b="0" i="0">
              <a:latin typeface="Arial"/>
            </a:endParaRPr>
          </a:p>
          <a:p>
            <a:pPr lvl="1">
              <a:buNone/>
            </a:pPr>
            <a:r>
              <a:rPr sz="2800" b="0" i="0" u="none"/>
              <a:t>  3. Map data and service dependencies</a:t>
            </a:r>
            <a:endParaRPr sz="2800" b="0" i="0">
              <a:latin typeface="Arial"/>
            </a:endParaRPr>
          </a:p>
          <a:p>
            <a:pPr lvl="1">
              <a:buNone/>
            </a:pPr>
            <a:r>
              <a:rPr sz="2800" b="0" i="0" u="none"/>
              <a:t>  4. Sequence foundational slices before enhancements</a:t>
            </a:r>
            <a:endParaRPr sz="2800" b="0" i="0">
              <a:latin typeface="Arial"/>
            </a:endParaRPr>
          </a:p>
          <a:p>
            <a:pPr lvl="1">
              <a:buNone/>
            </a:pPr>
            <a:r>
              <a:rPr sz="2800" b="0" i="0" u="none"/>
              <a:t>  5. Group slices into sprints</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Start with a strong planning instruction file</a:t>
            </a:r>
            <a:endParaRPr sz="2800" b="0" i="0">
              <a:latin typeface="Arial"/>
            </a:endParaRPr>
          </a:p>
          <a:p>
            <a:r>
              <a:rPr sz="1400" b="0" i="0" u="none"/>
              <a:t>Generate an initial vertical slice plan</a:t>
            </a:r>
            <a:endParaRPr sz="2800" b="0" i="0">
              <a:latin typeface="Arial"/>
            </a:endParaRPr>
          </a:p>
          <a:p>
            <a:r>
              <a:rPr sz="1400" b="0" i="0" u="none"/>
              <a:t>Compare outputs across models when useful</a:t>
            </a:r>
            <a:endParaRPr sz="2800" b="0" i="0">
              <a:latin typeface="Arial"/>
            </a:endParaRPr>
          </a:p>
          <a:p>
            <a:r>
              <a:rPr sz="1400" b="0" i="0" u="none"/>
              <a:t>Improve templates and examples over time</a:t>
            </a:r>
            <a:endParaRPr sz="2800" b="0" i="0">
              <a:latin typeface="Arial"/>
            </a:endParaRPr>
          </a:p>
        </p:txBody>
      </p:sp>
      <p:pic>
        <p:nvPicPr>
          <p:cNvPr id="5" name="Picture 4" descr="23b332e7af5730643777eab00f2984e5f9a4ae37.png"/>
          <p:cNvPicPr>
            <a:picLocks noChangeAspect="1"/>
          </p:cNvPicPr>
          <p:nvPr/>
        </p:nvPicPr>
        <p:blipFill>
          <a:blip r:embed="rId3"/>
          <a:stretch>
            <a:fillRect/>
          </a:stretch>
        </p:blipFill>
        <p:spPr>
          <a:xfrm>
            <a:off x="2847107" y="1509472"/>
            <a:ext cx="1163786" cy="425989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Dependency Analysis and Planning</a:t>
            </a:r>
          </a:p>
        </p:txBody>
      </p:sp>
      <p:sp>
        <p:nvSpPr>
          <p:cNvPr id="3" name="Subtitle 2"/>
          <p:cNvSpPr>
            <a:spLocks noGrp="1"/>
          </p:cNvSpPr>
          <p:nvPr>
            <p:ph type="subTitle" idx="1"/>
          </p:nvPr>
        </p:nvSpPr>
        <p:spPr/>
        <p:txBody>
          <a:bodyPr wrap="square">
            <a:normAutofit/>
          </a:bodyPr>
          <a:lstStyle/>
          <a:p>
            <a:pPr>
              <a:buNone/>
            </a:pPr>
            <a:r>
              <a:rPr b="0" i="0" u="none"/>
              <a:t>Everything Depends on This Slide (Literally)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Dependency Analysis and Planning</a:t>
            </a:r>
          </a:p>
        </p:txBody>
      </p:sp>
      <p:sp>
        <p:nvSpPr>
          <p:cNvPr id="3" name="Content Placeholder 2"/>
          <p:cNvSpPr>
            <a:spLocks noGrp="1"/>
          </p:cNvSpPr>
          <p:nvPr>
            <p:ph idx="1"/>
          </p:nvPr>
        </p:nvSpPr>
        <p:spPr/>
        <p:txBody>
          <a:bodyPr wrap="square">
            <a:normAutofit/>
          </a:bodyPr>
          <a:lstStyle/>
          <a:p>
            <a:r>
              <a:rPr sz="2800" b="0" i="0" u="none"/>
              <a:t>Section focus: using dependency graphs to sequence vertical slice implementation</a:t>
            </a:r>
            <a:endParaRPr sz="2800" b="0" i="0">
              <a:latin typeface="Arial"/>
            </a:endParaRPr>
          </a:p>
          <a:p>
            <a:r>
              <a:rPr sz="2800" b="0" i="0" u="none"/>
              <a:t>Outcome: show how teams identify prerequisites, parallel work, and the critical path</a:t>
            </a:r>
            <a:endParaRPr sz="28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Read the Dependency Diagram</a:t>
            </a:r>
          </a:p>
        </p:txBody>
      </p:sp>
      <p:sp>
        <p:nvSpPr>
          <p:cNvPr id="3" name="Content Placeholder 2"/>
          <p:cNvSpPr>
            <a:spLocks noGrp="1"/>
          </p:cNvSpPr>
          <p:nvPr>
            <p:ph sz="half" idx="1"/>
          </p:nvPr>
        </p:nvSpPr>
        <p:spPr/>
        <p:txBody>
          <a:bodyPr wrap="square">
            <a:normAutofit/>
          </a:bodyPr>
          <a:lstStyle/>
          <a:p>
            <a:r>
              <a:rPr sz="1400" b="0" i="0" u="none"/>
              <a:t>Nodes represent slices, features, or enabling work</a:t>
            </a:r>
            <a:endParaRPr sz="2800" b="0" i="0">
              <a:latin typeface="Arial"/>
            </a:endParaRPr>
          </a:p>
          <a:p>
            <a:r>
              <a:rPr sz="1400" b="0" i="0" u="none"/>
              <a:t>Arrows show that one item depends on another being complete first</a:t>
            </a:r>
            <a:endParaRPr sz="2800" b="0" i="0">
              <a:latin typeface="Arial"/>
            </a:endParaRPr>
          </a:p>
          <a:p>
            <a:r>
              <a:rPr sz="1400" b="0" i="0" u="none"/>
              <a:t>Read from left to right or top to bottom to understand sequencing</a:t>
            </a:r>
            <a:endParaRPr sz="2800" b="0" i="0">
              <a:latin typeface="Arial"/>
            </a:endParaRPr>
          </a:p>
          <a:p>
            <a:r>
              <a:rPr sz="1400" b="0" i="0" u="none"/>
              <a:t>Look for root nodes with no prerequisites</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0bad88e76dc6d001f06d195762ae082ca73c7268.png"/>
          <p:cNvPicPr>
            <a:picLocks noChangeAspect="1"/>
          </p:cNvPicPr>
          <p:nvPr/>
        </p:nvPicPr>
        <p:blipFill>
          <a:blip r:embed="rId3"/>
          <a:stretch>
            <a:fillRect/>
          </a:stretch>
        </p:blipFill>
        <p:spPr>
          <a:xfrm>
            <a:off x="6515960" y="1509472"/>
            <a:ext cx="4494080" cy="4259898"/>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 the Critical Path</a:t>
            </a:r>
          </a:p>
        </p:txBody>
      </p:sp>
      <p:sp>
        <p:nvSpPr>
          <p:cNvPr id="3" name="Content Placeholder 2"/>
          <p:cNvSpPr>
            <a:spLocks noGrp="1"/>
          </p:cNvSpPr>
          <p:nvPr>
            <p:ph sz="half" idx="1"/>
          </p:nvPr>
        </p:nvSpPr>
        <p:spPr/>
        <p:txBody>
          <a:bodyPr wrap="square">
            <a:normAutofit/>
          </a:bodyPr>
          <a:lstStyle/>
          <a:p>
            <a:r>
              <a:rPr sz="1400" b="0" i="0" u="none"/>
              <a:t>The </a:t>
            </a:r>
            <a:r>
              <a:rPr sz="1400" b="1" i="0" u="none"/>
              <a:t>critical path</a:t>
            </a:r>
            <a:r>
              <a:rPr sz="1400" b="0" i="0" u="none"/>
              <a:t> is the longest chain of dependent work</a:t>
            </a:r>
            <a:endParaRPr sz="2800" b="0" i="0">
              <a:latin typeface="Arial"/>
            </a:endParaRPr>
          </a:p>
          <a:p>
            <a:r>
              <a:rPr sz="1400" b="0" i="0" u="none"/>
              <a:t>Delays on that path delay the overall implementation plan</a:t>
            </a:r>
            <a:endParaRPr sz="2800" b="0" i="0">
              <a:latin typeface="Arial"/>
            </a:endParaRPr>
          </a:p>
          <a:p>
            <a:r>
              <a:rPr sz="1400" b="0" i="0" u="none"/>
              <a:t>Independent branches matter, but they do not all block delivery equally</a:t>
            </a:r>
            <a:endParaRPr sz="2800" b="0" i="0">
              <a:latin typeface="Arial"/>
            </a:endParaRPr>
          </a:p>
          <a:p>
            <a:r>
              <a:rPr sz="1400" b="0" i="0" u="none"/>
              <a:t>Focus coordination and risk management on the path that controls completion</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f2e773cb2ff1c910b67ee96dbcf82f92e4199c95.png"/>
          <p:cNvPicPr>
            <a:picLocks noChangeAspect="1"/>
          </p:cNvPicPr>
          <p:nvPr/>
        </p:nvPicPr>
        <p:blipFill>
          <a:blip r:embed="rId3"/>
          <a:stretch>
            <a:fillRect/>
          </a:stretch>
        </p:blipFill>
        <p:spPr>
          <a:xfrm>
            <a:off x="6217920" y="1521293"/>
            <a:ext cx="5090160" cy="423625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Sequence First, Parallelize Second</a:t>
            </a:r>
          </a:p>
        </p:txBody>
      </p:sp>
      <p:sp>
        <p:nvSpPr>
          <p:cNvPr id="3" name="Content Placeholder 2"/>
          <p:cNvSpPr>
            <a:spLocks noGrp="1"/>
          </p:cNvSpPr>
          <p:nvPr>
            <p:ph sz="half" idx="1"/>
          </p:nvPr>
        </p:nvSpPr>
        <p:spPr/>
        <p:txBody>
          <a:bodyPr wrap="square">
            <a:normAutofit/>
          </a:bodyPr>
          <a:lstStyle/>
          <a:p>
            <a:r>
              <a:rPr sz="1400" b="0" i="0" u="none"/>
              <a:t>Some slices are strictly sequential because they share prerequisites</a:t>
            </a:r>
            <a:endParaRPr sz="2800" b="0" i="0">
              <a:latin typeface="Arial"/>
            </a:endParaRPr>
          </a:p>
          <a:p>
            <a:r>
              <a:rPr sz="1400" b="0" i="0" u="none"/>
              <a:t>Other slices can run in parallel after the same foundation is done</a:t>
            </a:r>
            <a:endParaRPr sz="2800" b="0" i="0">
              <a:latin typeface="Arial"/>
            </a:endParaRPr>
          </a:p>
          <a:p>
            <a:r>
              <a:rPr sz="1400" b="0" i="0" u="none"/>
              <a:t>Parallel work increases speed only when dependencies are already satisfied</a:t>
            </a:r>
            <a:endParaRPr sz="2800" b="0" i="0">
              <a:latin typeface="Arial"/>
            </a:endParaRPr>
          </a:p>
          <a:p>
            <a:r>
              <a:rPr sz="1400" b="0" i="0" u="none"/>
              <a:t>Planning should prevent teams from starting blocked work too early</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74ffa58220e5299f380d734a2ce9956b00d60ed6.png"/>
          <p:cNvPicPr>
            <a:picLocks noChangeAspect="1"/>
          </p:cNvPicPr>
          <p:nvPr/>
        </p:nvPicPr>
        <p:blipFill>
          <a:blip r:embed="rId3"/>
          <a:stretch>
            <a:fillRect/>
          </a:stretch>
        </p:blipFill>
        <p:spPr>
          <a:xfrm>
            <a:off x="6809371" y="1509472"/>
            <a:ext cx="3907257" cy="425989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Distinguish Foundational and Dependent Features</a:t>
            </a:r>
          </a:p>
        </p:txBody>
      </p:sp>
      <p:sp>
        <p:nvSpPr>
          <p:cNvPr id="3" name="Content Placeholder 2"/>
          <p:cNvSpPr>
            <a:spLocks noGrp="1"/>
          </p:cNvSpPr>
          <p:nvPr>
            <p:ph idx="1"/>
          </p:nvPr>
        </p:nvSpPr>
        <p:spPr/>
        <p:txBody>
          <a:bodyPr wrap="square">
            <a:normAutofit/>
          </a:bodyPr>
          <a:lstStyle/>
          <a:p>
            <a:pPr>
              <a:buNone/>
            </a:pPr>
            <a:r>
              <a:rPr sz="2800" b="1" i="0" u="none"/>
              <a:t>Foundational work</a:t>
            </a:r>
            <a:endParaRPr sz="2800" b="0" i="0">
              <a:latin typeface="Arial"/>
            </a:endParaRPr>
          </a:p>
          <a:p>
            <a:pPr lvl="1"/>
            <a:r>
              <a:rPr sz="2800" b="0" i="0" u="none"/>
              <a:t>environments, shared components, core models, base services</a:t>
            </a:r>
            <a:endParaRPr sz="2800" b="0" i="0">
              <a:latin typeface="Arial"/>
            </a:endParaRPr>
          </a:p>
          <a:p>
            <a:pPr>
              <a:buNone/>
            </a:pPr>
            <a:r>
              <a:rPr sz="2800" b="1" i="0" u="none"/>
              <a:t>Dependent features</a:t>
            </a:r>
            <a:endParaRPr sz="2800" b="0" i="0">
              <a:latin typeface="Arial"/>
            </a:endParaRPr>
          </a:p>
          <a:p>
            <a:pPr lvl="1"/>
            <a:r>
              <a:rPr sz="2800" b="0" i="0" u="none"/>
              <a:t>user-facing slices that rely on those shared capabilities</a:t>
            </a:r>
            <a:endParaRPr sz="2800" b="0" i="0">
              <a:latin typeface="Arial"/>
            </a:endParaRPr>
          </a:p>
          <a:p>
            <a:pPr>
              <a:buNone/>
            </a:pPr>
            <a:r>
              <a:rPr sz="2800" b="1" i="0" u="none"/>
              <a:t>Planning rule</a:t>
            </a:r>
            <a:endParaRPr sz="2800" b="0" i="0">
              <a:latin typeface="Arial"/>
            </a:endParaRPr>
          </a:p>
          <a:p>
            <a:pPr lvl="1"/>
            <a:r>
              <a:rPr sz="2800" b="0" i="0" u="none"/>
              <a:t>finish enabling work first when many later slices depend on it</a:t>
            </a:r>
            <a:endParaRPr sz="280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Use Dependency Analysis to Plan the Roadmap</a:t>
            </a:r>
          </a:p>
        </p:txBody>
      </p:sp>
      <p:sp>
        <p:nvSpPr>
          <p:cNvPr id="3" name="Content Placeholder 2"/>
          <p:cNvSpPr>
            <a:spLocks noGrp="1"/>
          </p:cNvSpPr>
          <p:nvPr>
            <p:ph idx="1"/>
          </p:nvPr>
        </p:nvSpPr>
        <p:spPr/>
        <p:txBody>
          <a:bodyPr wrap="square">
            <a:normAutofit/>
          </a:bodyPr>
          <a:lstStyle/>
          <a:p>
            <a:pPr>
              <a:buNone/>
            </a:pPr>
            <a:r>
              <a:rPr sz="2800" b="0" i="0" u="none"/>
              <a:t>1. List slices and enabling work</a:t>
            </a:r>
            <a:endParaRPr sz="2800" b="0" i="0">
              <a:latin typeface="Arial"/>
            </a:endParaRPr>
          </a:p>
          <a:p>
            <a:pPr>
              <a:buNone/>
            </a:pPr>
            <a:r>
              <a:rPr sz="2800" b="0" i="0" u="none"/>
              <a:t>2. Draw the dependency relationships</a:t>
            </a:r>
            <a:endParaRPr sz="2800" b="0" i="0">
              <a:latin typeface="Arial"/>
            </a:endParaRPr>
          </a:p>
          <a:p>
            <a:pPr>
              <a:buNone/>
            </a:pPr>
            <a:r>
              <a:rPr sz="2800" b="0" i="0" u="none"/>
              <a:t>3. Identify the critical path</a:t>
            </a:r>
            <a:endParaRPr sz="2800" b="0" i="0">
              <a:latin typeface="Arial"/>
            </a:endParaRPr>
          </a:p>
          <a:p>
            <a:pPr>
              <a:buNone/>
            </a:pPr>
            <a:r>
              <a:rPr sz="2800" b="0" i="0" u="none"/>
              <a:t>4. Mark which branches can run in parallel</a:t>
            </a:r>
            <a:endParaRPr sz="2800" b="0" i="0">
              <a:latin typeface="Arial"/>
            </a:endParaRPr>
          </a:p>
          <a:p>
            <a:pPr>
              <a:buNone/>
            </a:pPr>
            <a:r>
              <a:rPr sz="2800" b="0" i="0" u="none"/>
              <a:t>5. Schedule foundational work before dependent features</a:t>
            </a:r>
            <a:endParaRPr sz="2800" b="0" i="0">
              <a:latin typeface="Arial"/>
            </a:endParaRPr>
          </a:p>
          <a:p>
            <a:pPr>
              <a:buNone/>
            </a:pPr>
            <a:endParaRPr sz="2800" b="0" i="0">
              <a:latin typeface="Arial"/>
            </a:endParaRPr>
          </a:p>
          <a:p>
            <a:pPr>
              <a:buNone/>
            </a:pPr>
            <a:r>
              <a:rPr sz="2800" b="1" i="0" u="none"/>
              <a:t>Bottom line</a:t>
            </a:r>
            <a:r>
              <a:rPr sz="2800" b="0" i="0" u="none"/>
              <a:t>: dependency graphs turn a feature list into a realistic implementation sequence.</a:t>
            </a:r>
            <a:endParaRPr sz="280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0" i="0" u="none"/>
              <a:t>Implementation Specification</a:t>
            </a:r>
          </a:p>
          <a:p>
            <a:r>
              <a:rPr sz="2750" b="0" i="0" u="none"/>
              <a:t>Implementation Planning</a:t>
            </a:r>
          </a:p>
          <a:p>
            <a:r>
              <a:rPr sz="2750" b="1" i="0" u="none"/>
              <a:t>▶ Implementation Prompts</a:t>
            </a:r>
          </a:p>
          <a:p>
            <a:r>
              <a:rPr sz="2750" b="0" i="0" u="none"/>
              <a:t>Vertical Slice Implementation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Implementation Prompts and Verification</a:t>
            </a:r>
          </a:p>
        </p:txBody>
      </p:sp>
      <p:sp>
        <p:nvSpPr>
          <p:cNvPr id="3" name="Subtitle 2"/>
          <p:cNvSpPr>
            <a:spLocks noGrp="1"/>
          </p:cNvSpPr>
          <p:nvPr>
            <p:ph type="subTitle" idx="1"/>
          </p:nvPr>
        </p:nvSpPr>
        <p:spPr/>
        <p:txBody>
          <a:bodyPr wrap="square">
            <a:normAutofit/>
          </a:bodyPr>
          <a:lstStyle/>
          <a:p>
            <a:pPr>
              <a:buNone/>
            </a:pPr>
            <a:r>
              <a:rPr sz="2400" b="0" i="0" u="none"/>
              <a:t>The Prompt That Does the Implementation (With a Checklist)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Implementation Prompts and Verification</a:t>
            </a:r>
          </a:p>
        </p:txBody>
      </p:sp>
      <p:sp>
        <p:nvSpPr>
          <p:cNvPr id="3" name="Content Placeholder 2"/>
          <p:cNvSpPr>
            <a:spLocks noGrp="1"/>
          </p:cNvSpPr>
          <p:nvPr>
            <p:ph idx="1"/>
          </p:nvPr>
        </p:nvSpPr>
        <p:spPr/>
        <p:txBody>
          <a:bodyPr wrap="square">
            <a:normAutofit/>
          </a:bodyPr>
          <a:lstStyle/>
          <a:p>
            <a:r>
              <a:rPr sz="2800" b="0" i="0" u="none"/>
              <a:t>Section focus: turning slice plans into actionable build prompts</a:t>
            </a:r>
            <a:endParaRPr sz="2800" b="0" i="0">
              <a:latin typeface="Arial"/>
            </a:endParaRPr>
          </a:p>
          <a:p>
            <a:r>
              <a:rPr sz="2800" b="0" i="0" u="none"/>
              <a:t>Outcome: show how to generate slice-specific prompts, verify behavior, and prepare stakeholder demos</a:t>
            </a:r>
            <a:endParaRPr sz="2800" b="0" i="0">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from a Single Slice</a:t>
            </a:r>
          </a:p>
        </p:txBody>
      </p:sp>
      <p:sp>
        <p:nvSpPr>
          <p:cNvPr id="3" name="Content Placeholder 2"/>
          <p:cNvSpPr>
            <a:spLocks noGrp="1"/>
          </p:cNvSpPr>
          <p:nvPr>
            <p:ph sz="half" idx="1"/>
          </p:nvPr>
        </p:nvSpPr>
        <p:spPr/>
        <p:txBody>
          <a:bodyPr wrap="square">
            <a:normAutofit/>
          </a:bodyPr>
          <a:lstStyle/>
          <a:p>
            <a:r>
              <a:rPr sz="1400" b="0" i="0" u="none"/>
              <a:t>Choose one slice from the implementation plan</a:t>
            </a:r>
            <a:endParaRPr sz="2800" b="0" i="0">
              <a:latin typeface="Arial"/>
            </a:endParaRPr>
          </a:p>
          <a:p>
            <a:r>
              <a:rPr sz="1400" b="0" i="0" u="none"/>
              <a:t>Example: </a:t>
            </a:r>
            <a:r>
              <a:rPr sz="1400" b="1" i="0" u="none"/>
              <a:t>Slice 1 - Display Current Value</a:t>
            </a:r>
            <a:endParaRPr sz="2800" b="0" i="0">
              <a:latin typeface="Arial"/>
            </a:endParaRPr>
          </a:p>
          <a:p>
            <a:r>
              <a:rPr sz="1400" b="0" i="0" u="none"/>
              <a:t>Use the slice instructions plus the implementation plan as source context</a:t>
            </a:r>
            <a:endParaRPr sz="2800" b="0" i="0">
              <a:latin typeface="Arial"/>
            </a:endParaRPr>
          </a:p>
          <a:p>
            <a:r>
              <a:rPr sz="1400" b="0" i="0" u="none"/>
              <a:t>Write one prompt file per slice so scope stays narrow and testable</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076adbc362079a746164e172c9dd578d34e74c61.png"/>
          <p:cNvPicPr>
            <a:picLocks noChangeAspect="1"/>
          </p:cNvPicPr>
          <p:nvPr/>
        </p:nvPicPr>
        <p:blipFill>
          <a:blip r:embed="rId3"/>
          <a:stretch>
            <a:fillRect/>
          </a:stretch>
        </p:blipFill>
        <p:spPr>
          <a:xfrm>
            <a:off x="7346751" y="1509472"/>
            <a:ext cx="2832497" cy="425989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What the Implementation Prompt Should Say</a:t>
            </a:r>
          </a:p>
        </p:txBody>
      </p:sp>
      <p:sp>
        <p:nvSpPr>
          <p:cNvPr id="3" name="Content Placeholder 2"/>
          <p:cNvSpPr>
            <a:spLocks noGrp="1"/>
          </p:cNvSpPr>
          <p:nvPr>
            <p:ph idx="1"/>
          </p:nvPr>
        </p:nvSpPr>
        <p:spPr/>
        <p:txBody>
          <a:bodyPr wrap="square">
            <a:normAutofit/>
          </a:bodyPr>
          <a:lstStyle/>
          <a:p>
            <a:r>
              <a:rPr sz="2200" b="0" i="0" u="none"/>
              <a:t>Reference the slice instructions and the implementation plan directly</a:t>
            </a:r>
            <a:endParaRPr sz="2200" b="0" i="0">
              <a:latin typeface="Arial"/>
            </a:endParaRPr>
          </a:p>
          <a:p>
            <a:r>
              <a:rPr sz="2200" b="0" i="0" u="none"/>
              <a:t>Ask the model to implement the selected slice</a:t>
            </a:r>
            <a:endParaRPr sz="2200" b="0" i="0">
              <a:latin typeface="Arial"/>
            </a:endParaRPr>
          </a:p>
          <a:p>
            <a:r>
              <a:rPr sz="2200" b="0" i="0" u="none"/>
              <a:t>Require </a:t>
            </a:r>
            <a:r>
              <a:rPr sz="2200" b="1" i="0" u="none"/>
              <a:t>verification steps</a:t>
            </a:r>
            <a:r>
              <a:rPr sz="2200" b="0" i="0" u="none"/>
              <a:t> in the output</a:t>
            </a:r>
            <a:endParaRPr sz="2200" b="0" i="0">
              <a:latin typeface="Arial"/>
            </a:endParaRPr>
          </a:p>
          <a:p>
            <a:r>
              <a:rPr sz="2200" b="0" i="0" u="none"/>
              <a:t>Require </a:t>
            </a:r>
            <a:r>
              <a:rPr sz="2200" b="1" i="0" u="none"/>
              <a:t>showcase instructions</a:t>
            </a:r>
            <a:r>
              <a:rPr sz="2200" b="0" i="0" u="none"/>
              <a:t> for stakeholder demonstration</a:t>
            </a:r>
            <a:endParaRPr sz="2200" b="0" i="0">
              <a:latin typeface="Arial"/>
            </a:endParaRPr>
          </a:p>
          <a:p>
            <a:pPr>
              <a:buNone/>
            </a:pPr>
            <a:endParaRPr sz="2200" b="0" i="0">
              <a:latin typeface="Arial"/>
            </a:endParaRPr>
          </a:p>
          <a:p>
            <a:pPr>
              <a:buNone/>
            </a:pPr>
            <a:r>
              <a:rPr sz="2200" b="1" i="0" u="none"/>
              <a:t>Prompt pattern</a:t>
            </a:r>
            <a:endParaRPr sz="2200" b="0" i="0">
              <a:latin typeface="Arial"/>
            </a:endParaRPr>
          </a:p>
          <a:p>
            <a:pPr>
              <a:buNone/>
            </a:pPr>
            <a:endParaRPr sz="2200" b="0" i="0">
              <a:latin typeface="Arial"/>
            </a:endParaRPr>
          </a:p>
          <a:p>
            <a:pPr>
              <a:buNone/>
            </a:pPr>
            <a:r>
              <a:rPr sz="2200" b="0" i="1" u="none"/>
              <a:t>Using slice X instructions and implementation plan, create a prompt file that implements slice 1. Include verification steps and showcase instructions that demonstrate the functionality to stakeholders.</a:t>
            </a:r>
            <a:endParaRPr sz="22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Expected Deliverables Inside the Prompt File</a:t>
            </a:r>
          </a:p>
        </p:txBody>
      </p:sp>
      <p:sp>
        <p:nvSpPr>
          <p:cNvPr id="3" name="Content Placeholder 2"/>
          <p:cNvSpPr>
            <a:spLocks noGrp="1"/>
          </p:cNvSpPr>
          <p:nvPr>
            <p:ph idx="1"/>
          </p:nvPr>
        </p:nvSpPr>
        <p:spPr/>
        <p:txBody>
          <a:bodyPr wrap="square">
            <a:normAutofit/>
          </a:bodyPr>
          <a:lstStyle/>
          <a:p>
            <a:pPr>
              <a:buNone/>
            </a:pPr>
            <a:r>
              <a:rPr sz="1550" b="1" i="0" u="none"/>
              <a:t>Files to create</a:t>
            </a:r>
            <a:endParaRPr sz="1550" b="0" i="0">
              <a:latin typeface="Consolas"/>
            </a:endParaRPr>
          </a:p>
          <a:p>
            <a:pPr>
              <a:buNone/>
            </a:pPr>
            <a:endParaRPr sz="1550" b="0" i="0">
              <a:latin typeface="Consolas"/>
            </a:endParaRPr>
          </a:p>
          <a:p>
            <a:r>
              <a:rPr sz="1550" b="0" i="0" u="none">
                <a:latin typeface="Consolas"/>
              </a:rPr>
              <a:t>index.html</a:t>
            </a:r>
            <a:endParaRPr sz="1550" b="0" i="0">
              <a:latin typeface="Consolas"/>
            </a:endParaRPr>
          </a:p>
          <a:p>
            <a:r>
              <a:rPr sz="1550" b="0" i="0" u="none">
                <a:latin typeface="Consolas"/>
              </a:rPr>
              <a:t>styles.css</a:t>
            </a:r>
            <a:endParaRPr sz="1550" b="0" i="0">
              <a:latin typeface="Consolas"/>
            </a:endParaRPr>
          </a:p>
          <a:p>
            <a:r>
              <a:rPr sz="1550" b="0" i="0" u="none">
                <a:latin typeface="Consolas"/>
              </a:rPr>
              <a:t>main.js</a:t>
            </a:r>
            <a:endParaRPr sz="1550" b="0" i="0">
              <a:latin typeface="Consolas"/>
            </a:endParaRPr>
          </a:p>
          <a:p>
            <a:pPr>
              <a:buNone/>
            </a:pPr>
            <a:endParaRPr sz="1550" b="0" i="0">
              <a:latin typeface="Consolas"/>
            </a:endParaRPr>
          </a:p>
          <a:p>
            <a:pPr>
              <a:buNone/>
            </a:pPr>
            <a:r>
              <a:rPr sz="1550" b="1" i="0" u="none"/>
              <a:t>Specifications to include</a:t>
            </a:r>
            <a:endParaRPr sz="1550" b="0" i="0">
              <a:latin typeface="Consolas"/>
            </a:endParaRPr>
          </a:p>
          <a:p>
            <a:pPr>
              <a:buNone/>
            </a:pPr>
            <a:endParaRPr sz="1550" b="0" i="0">
              <a:latin typeface="Consolas"/>
            </a:endParaRPr>
          </a:p>
          <a:p>
            <a:r>
              <a:rPr sz="1550" b="0" i="0" u="none"/>
              <a:t>HTML structure requirements</a:t>
            </a:r>
            <a:endParaRPr sz="1550" b="0" i="0">
              <a:latin typeface="Consolas"/>
            </a:endParaRPr>
          </a:p>
          <a:p>
            <a:r>
              <a:rPr sz="1550" b="0" i="0" u="none"/>
              <a:t>CSS colors, fonts, spacing, and layout</a:t>
            </a:r>
            <a:endParaRPr sz="1550" b="0" i="0">
              <a:latin typeface="Consolas"/>
            </a:endParaRPr>
          </a:p>
          <a:p>
            <a:r>
              <a:rPr sz="1550" b="0" i="0" u="none"/>
              <a:t>JavaScript behavior for current value, display object, and update function</a:t>
            </a:r>
            <a:endParaRPr sz="1550" b="0" i="0">
              <a:latin typeface="Consolas"/>
            </a:endParaRPr>
          </a:p>
          <a:p>
            <a:r>
              <a:rPr sz="1550" b="0" i="0" u="none"/>
              <a:t>File structure and component organization</a:t>
            </a:r>
            <a:endParaRPr sz="1550" b="0" i="0">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Build Verification into the Prompt</a:t>
            </a:r>
          </a:p>
        </p:txBody>
      </p:sp>
      <p:sp>
        <p:nvSpPr>
          <p:cNvPr id="3" name="Content Placeholder 2"/>
          <p:cNvSpPr>
            <a:spLocks noGrp="1"/>
          </p:cNvSpPr>
          <p:nvPr>
            <p:ph sz="half" idx="1"/>
          </p:nvPr>
        </p:nvSpPr>
        <p:spPr/>
        <p:txBody>
          <a:bodyPr wrap="square">
            <a:normAutofit/>
          </a:bodyPr>
          <a:lstStyle/>
          <a:p>
            <a:r>
              <a:rPr sz="1400" b="1" i="0" u="none"/>
              <a:t>Initial state</a:t>
            </a:r>
            <a:r>
              <a:rPr sz="1400" b="0" i="0" u="none"/>
              <a:t>: calculator displays </a:t>
            </a:r>
            <a:r>
              <a:rPr sz="1400" b="0" i="0" u="none">
                <a:latin typeface="Consolas"/>
              </a:rPr>
              <a:t>0</a:t>
            </a:r>
            <a:r>
              <a:rPr sz="1400" b="0" i="0" u="none"/>
              <a:t> on page load</a:t>
            </a:r>
            <a:endParaRPr sz="1800" b="0" i="0">
              <a:latin typeface="Consolas"/>
            </a:endParaRPr>
          </a:p>
          <a:p>
            <a:r>
              <a:rPr sz="1400" b="1" i="0" u="none"/>
              <a:t>State update</a:t>
            </a:r>
            <a:r>
              <a:rPr sz="1400" b="0" i="0" u="none"/>
              <a:t>: changing the value in the console updates the display</a:t>
            </a:r>
            <a:endParaRPr sz="1800" b="0" i="0">
              <a:latin typeface="Consolas"/>
            </a:endParaRPr>
          </a:p>
          <a:p>
            <a:r>
              <a:rPr sz="1400" b="1" i="0" u="none"/>
              <a:t>Accessibility</a:t>
            </a:r>
            <a:r>
              <a:rPr sz="1400" b="0" i="0" u="none"/>
              <a:t>: contrast ratio &gt;= 4.5:1 and font size &gt;= </a:t>
            </a:r>
            <a:r>
              <a:rPr sz="1400" b="0" i="0" u="none">
                <a:latin typeface="Consolas"/>
              </a:rPr>
              <a:t>2rem</a:t>
            </a:r>
            <a:endParaRPr sz="1800" b="0" i="0">
              <a:latin typeface="Consolas"/>
            </a:endParaRPr>
          </a:p>
          <a:p>
            <a:r>
              <a:rPr sz="1400" b="0" i="0" u="none"/>
              <a:t>Include both automated testing guidance and manual verification steps</a:t>
            </a:r>
            <a:endParaRPr sz="1800" b="0" i="0">
              <a:latin typeface="Consolas"/>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70e2c7938aba606ee17c9cf58f12193420bc62a7.png"/>
          <p:cNvPicPr>
            <a:picLocks noChangeAspect="1"/>
          </p:cNvPicPr>
          <p:nvPr/>
        </p:nvPicPr>
        <p:blipFill>
          <a:blip r:embed="rId3"/>
          <a:stretch>
            <a:fillRect/>
          </a:stretch>
        </p:blipFill>
        <p:spPr>
          <a:xfrm>
            <a:off x="6217920" y="2640082"/>
            <a:ext cx="5090160" cy="1998678"/>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Showcase Instructions Should Target Humans</a:t>
            </a:r>
          </a:p>
        </p:txBody>
      </p:sp>
      <p:sp>
        <p:nvSpPr>
          <p:cNvPr id="3" name="Content Placeholder 2"/>
          <p:cNvSpPr>
            <a:spLocks noGrp="1"/>
          </p:cNvSpPr>
          <p:nvPr>
            <p:ph idx="1"/>
          </p:nvPr>
        </p:nvSpPr>
        <p:spPr/>
        <p:txBody>
          <a:bodyPr wrap="square">
            <a:normAutofit/>
          </a:bodyPr>
          <a:lstStyle/>
          <a:p>
            <a:r>
              <a:rPr sz="1750" b="0" i="0" u="none"/>
              <a:t>Do more than paste a code snippet</a:t>
            </a:r>
            <a:endParaRPr sz="1750" b="0" i="0">
              <a:latin typeface="Arial"/>
            </a:endParaRPr>
          </a:p>
          <a:p>
            <a:r>
              <a:rPr sz="1750" b="0" i="0" u="none"/>
              <a:t>Describe what users </a:t>
            </a:r>
            <a:r>
              <a:rPr sz="1750" b="1" i="0" u="none"/>
              <a:t>see</a:t>
            </a:r>
            <a:r>
              <a:rPr sz="1750" b="0" i="0" u="none"/>
              <a:t> and what they can </a:t>
            </a:r>
            <a:r>
              <a:rPr sz="1750" b="1" i="0" u="none"/>
              <a:t>do</a:t>
            </a:r>
            <a:endParaRPr sz="1750" b="0" i="0">
              <a:latin typeface="Arial"/>
            </a:endParaRPr>
          </a:p>
          <a:p>
            <a:r>
              <a:rPr sz="1750" b="0" i="0" u="none"/>
              <a:t>Call out the behavior the demonstrator should point to</a:t>
            </a:r>
            <a:endParaRPr sz="1750" b="0" i="0">
              <a:latin typeface="Arial"/>
            </a:endParaRPr>
          </a:p>
          <a:p>
            <a:r>
              <a:rPr sz="1750" b="0" i="0" u="none"/>
              <a:t>Provide an interactive demo path for stakeholders</a:t>
            </a:r>
            <a:endParaRPr sz="1750" b="0" i="0">
              <a:latin typeface="Arial"/>
            </a:endParaRPr>
          </a:p>
          <a:p>
            <a:pPr>
              <a:buNone/>
            </a:pPr>
            <a:endParaRPr sz="1750" b="0" i="0">
              <a:latin typeface="Arial"/>
            </a:endParaRPr>
          </a:p>
          <a:p>
            <a:pPr>
              <a:buNone/>
            </a:pPr>
            <a:r>
              <a:rPr sz="1750" b="1" i="0" u="none"/>
              <a:t>Good showcase guidance includes</a:t>
            </a:r>
            <a:endParaRPr sz="1750" b="0" i="0">
              <a:latin typeface="Arial"/>
            </a:endParaRPr>
          </a:p>
          <a:p>
            <a:pPr>
              <a:buNone/>
            </a:pPr>
            <a:endParaRPr sz="1750" b="0" i="0">
              <a:latin typeface="Arial"/>
            </a:endParaRPr>
          </a:p>
          <a:p>
            <a:pPr>
              <a:buNone/>
            </a:pPr>
            <a:r>
              <a:rPr sz="1750" b="0" i="0" u="none"/>
              <a:t>1. starting state on screen</a:t>
            </a:r>
            <a:endParaRPr sz="1750" b="0" i="0">
              <a:latin typeface="Arial"/>
            </a:endParaRPr>
          </a:p>
          <a:p>
            <a:pPr>
              <a:buNone/>
            </a:pPr>
            <a:r>
              <a:rPr sz="1750" b="0" i="0" u="none"/>
              <a:t>2. action to take</a:t>
            </a:r>
            <a:endParaRPr sz="1750" b="0" i="0">
              <a:latin typeface="Arial"/>
            </a:endParaRPr>
          </a:p>
          <a:p>
            <a:pPr>
              <a:buNone/>
            </a:pPr>
            <a:r>
              <a:rPr sz="1750" b="0" i="0" u="none"/>
              <a:t>3. visible result</a:t>
            </a:r>
            <a:endParaRPr sz="1750" b="0" i="0">
              <a:latin typeface="Arial"/>
            </a:endParaRPr>
          </a:p>
          <a:p>
            <a:pPr>
              <a:buNone/>
            </a:pPr>
            <a:r>
              <a:rPr sz="1750" b="0" i="0" u="none"/>
              <a:t>4. why it matters to the audience</a:t>
            </a:r>
            <a:endParaRPr sz="175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Repeat the Pattern Across All Slices</a:t>
            </a:r>
          </a:p>
        </p:txBody>
      </p:sp>
      <p:sp>
        <p:nvSpPr>
          <p:cNvPr id="3" name="Content Placeholder 2"/>
          <p:cNvSpPr>
            <a:spLocks noGrp="1"/>
          </p:cNvSpPr>
          <p:nvPr>
            <p:ph idx="1"/>
          </p:nvPr>
        </p:nvSpPr>
        <p:spPr/>
        <p:txBody>
          <a:bodyPr wrap="square">
            <a:normAutofit/>
          </a:bodyPr>
          <a:lstStyle/>
          <a:p>
            <a:r>
              <a:rPr sz="2450" b="0" i="0" u="none"/>
              <a:t>Create additional prompt files for Slice 2, Slice 3, and so on</a:t>
            </a:r>
            <a:endParaRPr sz="2450" b="0" i="0">
              <a:latin typeface="Arial"/>
            </a:endParaRPr>
          </a:p>
          <a:p>
            <a:r>
              <a:rPr sz="2450" b="0" i="0" u="none"/>
              <a:t>Version-control each prompt so changes stay traceable</a:t>
            </a:r>
            <a:endParaRPr sz="2450" b="0" i="0">
              <a:latin typeface="Arial"/>
            </a:endParaRPr>
          </a:p>
          <a:p>
            <a:r>
              <a:rPr sz="2450" b="0" i="0" u="none"/>
              <a:t>Reuse prompts later for revisions or follow-on work</a:t>
            </a:r>
            <a:endParaRPr sz="2450" b="0" i="0">
              <a:latin typeface="Arial"/>
            </a:endParaRPr>
          </a:p>
          <a:p>
            <a:r>
              <a:rPr sz="2450" b="0" i="0" u="none"/>
              <a:t>Execute slices sequentially and review each result before moving on</a:t>
            </a:r>
            <a:endParaRPr sz="2450" b="0" i="0">
              <a:latin typeface="Arial"/>
            </a:endParaRPr>
          </a:p>
          <a:p>
            <a:r>
              <a:rPr sz="2450" b="0" i="0" u="none"/>
              <a:t>Build a complete implementation roadmap with systematic verification</a:t>
            </a:r>
            <a:endParaRPr sz="2450" b="0" i="0">
              <a:latin typeface="Arial"/>
            </a:endParaRPr>
          </a:p>
          <a:p>
            <a:pPr>
              <a:buNone/>
            </a:pPr>
            <a:endParaRPr sz="2450" b="0" i="0">
              <a:latin typeface="Arial"/>
            </a:endParaRPr>
          </a:p>
          <a:p>
            <a:pPr>
              <a:buNone/>
            </a:pPr>
            <a:r>
              <a:rPr sz="2450" b="1" i="0" u="none"/>
              <a:t>Bottom line</a:t>
            </a:r>
            <a:r>
              <a:rPr sz="2450" b="0" i="0" u="none"/>
              <a:t>: slice-specific prompts create a repeatable path from plan to implementation to review.</a:t>
            </a:r>
            <a:endParaRPr sz="245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Specification Driven Software Development</a:t>
            </a:r>
          </a:p>
          <a:p>
            <a:r>
              <a:rPr sz="2750" b="0" i="0" u="none"/>
              <a:t>Architecture Specification</a:t>
            </a:r>
          </a:p>
          <a:p>
            <a:r>
              <a:rPr sz="2750" b="0" i="0" u="none"/>
              <a:t>Technology Specification</a:t>
            </a:r>
          </a:p>
          <a:p>
            <a:r>
              <a:rPr sz="2750" b="0" i="0" u="none"/>
              <a:t>Implementation Specification</a:t>
            </a:r>
          </a:p>
          <a:p>
            <a:r>
              <a:rPr sz="2750" b="0" i="0" u="none"/>
              <a:t>Implementation Planning</a:t>
            </a:r>
          </a:p>
          <a:p>
            <a:r>
              <a:rPr sz="2750" b="0" i="0" u="none"/>
              <a:t>Implementation Prompts</a:t>
            </a:r>
          </a:p>
          <a:p>
            <a:r>
              <a:rPr sz="2750" b="1" i="0" u="none"/>
              <a:t>▶ Vertical Slice Implementation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Basic Vertical Slice Workflow</a:t>
            </a:r>
          </a:p>
        </p:txBody>
      </p:sp>
      <p:sp>
        <p:nvSpPr>
          <p:cNvPr id="3" name="Subtitle 2"/>
          <p:cNvSpPr>
            <a:spLocks noGrp="1"/>
          </p:cNvSpPr>
          <p:nvPr>
            <p:ph type="subTitle" idx="1"/>
          </p:nvPr>
        </p:nvSpPr>
        <p:spPr/>
        <p:txBody>
          <a:bodyPr wrap="square">
            <a:normAutofit/>
          </a:bodyPr>
          <a:lstStyle/>
          <a:p>
            <a:pPr>
              <a:buNone/>
            </a:pPr>
            <a:r>
              <a:rPr b="0" i="0" u="none"/>
              <a:t>Thin Slices, Big Results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Basic Vertical Slice Implementation Workflow</a:t>
            </a:r>
          </a:p>
        </p:txBody>
      </p:sp>
      <p:sp>
        <p:nvSpPr>
          <p:cNvPr id="3" name="Content Placeholder 2"/>
          <p:cNvSpPr>
            <a:spLocks noGrp="1"/>
          </p:cNvSpPr>
          <p:nvPr>
            <p:ph idx="1"/>
          </p:nvPr>
        </p:nvSpPr>
        <p:spPr/>
        <p:txBody>
          <a:bodyPr wrap="square">
            <a:normAutofit/>
          </a:bodyPr>
          <a:lstStyle/>
          <a:p>
            <a:r>
              <a:rPr sz="2800" b="0" i="0" u="none"/>
              <a:t>Goal: deliver working software in thin, end-to-end slices</a:t>
            </a:r>
            <a:endParaRPr sz="2800" b="0" i="0">
              <a:latin typeface="Arial"/>
            </a:endParaRPr>
          </a:p>
          <a:p>
            <a:r>
              <a:rPr sz="2800" b="0" i="0" u="none"/>
              <a:t>Pattern: plan dependencies first, then parallelize safe slices</a:t>
            </a:r>
            <a:endParaRPr sz="2800" b="0" i="0">
              <a:latin typeface="Arial"/>
            </a:endParaRPr>
          </a:p>
          <a:p>
            <a:r>
              <a:rPr sz="2800" b="0" i="0" u="none"/>
              <a:t>Outcome: faster feedback and lower integration risk</a:t>
            </a:r>
            <a:endParaRPr sz="2800" b="0" i="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Follow the Implementation Plan</a:t>
            </a:r>
          </a:p>
        </p:txBody>
      </p:sp>
      <p:sp>
        <p:nvSpPr>
          <p:cNvPr id="3" name="Content Placeholder 2"/>
          <p:cNvSpPr>
            <a:spLocks noGrp="1"/>
          </p:cNvSpPr>
          <p:nvPr>
            <p:ph sz="half" idx="1"/>
          </p:nvPr>
        </p:nvSpPr>
        <p:spPr/>
        <p:txBody>
          <a:bodyPr wrap="square">
            <a:normAutofit/>
          </a:bodyPr>
          <a:lstStyle/>
          <a:p>
            <a:r>
              <a:rPr sz="1400" b="0" i="0" u="none"/>
              <a:t>Use dependency chain</a:t>
            </a:r>
            <a:endParaRPr sz="2800" b="0" i="0">
              <a:latin typeface="Arial"/>
            </a:endParaRPr>
          </a:p>
          <a:p>
            <a:r>
              <a:rPr sz="1400" b="0" i="0" u="none"/>
              <a:t>Implement slices:</a:t>
            </a:r>
            <a:endParaRPr sz="2800" b="0" i="0">
              <a:latin typeface="Arial"/>
            </a:endParaRPr>
          </a:p>
          <a:p>
            <a:pPr lvl="1"/>
            <a:r>
              <a:rPr sz="1400" b="0" i="0" u="none"/>
              <a:t>Foundation (must go first)</a:t>
            </a:r>
            <a:endParaRPr sz="2800" b="0" i="0">
              <a:latin typeface="Arial"/>
            </a:endParaRPr>
          </a:p>
          <a:p>
            <a:pPr lvl="1"/>
            <a:r>
              <a:rPr sz="1400" b="0" i="0" u="none"/>
              <a:t>Parallel-ready (can run together)</a:t>
            </a:r>
            <a:endParaRPr sz="2800" b="0" i="0">
              <a:latin typeface="Arial"/>
            </a:endParaRPr>
          </a:p>
          <a:p>
            <a:pPr lvl="1"/>
            <a:r>
              <a:rPr sz="1400" b="0" i="0" u="none"/>
              <a:t>Integration/cleanup (must go last)</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e06ca818b29e7295d71bfe5c491a28197e38f47b.png"/>
          <p:cNvPicPr>
            <a:picLocks noChangeAspect="1"/>
          </p:cNvPicPr>
          <p:nvPr/>
        </p:nvPicPr>
        <p:blipFill>
          <a:blip r:embed="rId3"/>
          <a:stretch>
            <a:fillRect/>
          </a:stretch>
        </p:blipFill>
        <p:spPr>
          <a:xfrm>
            <a:off x="6217920" y="1802836"/>
            <a:ext cx="5090160" cy="367316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Execute Slices in Parallel</a:t>
            </a:r>
          </a:p>
        </p:txBody>
      </p:sp>
      <p:sp>
        <p:nvSpPr>
          <p:cNvPr id="3" name="Content Placeholder 2"/>
          <p:cNvSpPr>
            <a:spLocks noGrp="1"/>
          </p:cNvSpPr>
          <p:nvPr>
            <p:ph idx="1"/>
          </p:nvPr>
        </p:nvSpPr>
        <p:spPr/>
        <p:txBody>
          <a:bodyPr wrap="square">
            <a:normAutofit/>
          </a:bodyPr>
          <a:lstStyle/>
          <a:p>
            <a:r>
              <a:rPr sz="2000" b="0" i="0" u="none"/>
              <a:t>Assign owners per slice lane</a:t>
            </a:r>
            <a:endParaRPr sz="2000" b="0" i="0">
              <a:latin typeface="Arial"/>
            </a:endParaRPr>
          </a:p>
          <a:p>
            <a:r>
              <a:rPr sz="2000" b="0" i="0" u="none"/>
              <a:t>Use trunk-based integration with short-lived branches</a:t>
            </a:r>
            <a:endParaRPr sz="2000" b="0" i="0">
              <a:latin typeface="Arial"/>
            </a:endParaRPr>
          </a:p>
          <a:p>
            <a:r>
              <a:rPr sz="2000" b="0" i="0" u="none"/>
              <a:t>Keep contracts stable and versioned</a:t>
            </a:r>
            <a:endParaRPr sz="2000" b="0" i="0">
              <a:latin typeface="Arial"/>
            </a:endParaRPr>
          </a:p>
          <a:p>
            <a:r>
              <a:rPr sz="2000" b="0" i="0" u="none"/>
              <a:t>Demo each slice as soon as done</a:t>
            </a:r>
            <a:endParaRPr sz="2000" b="0" i="0">
              <a:latin typeface="Arial"/>
            </a:endParaRPr>
          </a:p>
          <a:p>
            <a:pPr>
              <a:buNone/>
            </a:pPr>
            <a:endParaRPr sz="2000" b="0" i="0">
              <a:latin typeface="Arial"/>
            </a:endParaRPr>
          </a:p>
          <a:p>
            <a:pPr>
              <a:buNone/>
            </a:pPr>
            <a:r>
              <a:rPr sz="2000" b="0" i="0" u="none"/>
              <a:t>Parallel execution guardrails:</a:t>
            </a:r>
            <a:endParaRPr sz="2000" b="0" i="0">
              <a:latin typeface="Arial"/>
            </a:endParaRPr>
          </a:p>
          <a:p>
            <a:pPr>
              <a:buNone/>
            </a:pPr>
            <a:endParaRPr sz="2000" b="0" i="0">
              <a:latin typeface="Arial"/>
            </a:endParaRPr>
          </a:p>
          <a:p>
            <a:r>
              <a:rPr sz="2000" b="0" i="0" u="none"/>
              <a:t>No hidden cross-slice dependencies</a:t>
            </a:r>
            <a:endParaRPr sz="2000" b="0" i="0">
              <a:latin typeface="Arial"/>
            </a:endParaRPr>
          </a:p>
          <a:p>
            <a:r>
              <a:rPr sz="2000" b="0" i="0" u="none"/>
              <a:t>Shared schema changes reviewed early</a:t>
            </a:r>
            <a:endParaRPr sz="2000" b="0" i="0">
              <a:latin typeface="Arial"/>
            </a:endParaRPr>
          </a:p>
          <a:p>
            <a:r>
              <a:rPr sz="2000" b="0" i="0" u="none"/>
              <a:t>Contract tests required before merge</a:t>
            </a:r>
            <a:endParaRPr sz="20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Integrate, Validate, and Stabilize</a:t>
            </a:r>
          </a:p>
        </p:txBody>
      </p:sp>
      <p:sp>
        <p:nvSpPr>
          <p:cNvPr id="3" name="Content Placeholder 2"/>
          <p:cNvSpPr>
            <a:spLocks noGrp="1"/>
          </p:cNvSpPr>
          <p:nvPr>
            <p:ph idx="1"/>
          </p:nvPr>
        </p:nvSpPr>
        <p:spPr/>
        <p:txBody>
          <a:bodyPr wrap="square">
            <a:normAutofit/>
          </a:bodyPr>
          <a:lstStyle/>
          <a:p>
            <a:r>
              <a:rPr sz="2800" b="0" i="0" u="none"/>
              <a:t>Run full end-to-end and regression tests</a:t>
            </a:r>
            <a:endParaRPr sz="2800" b="0" i="0">
              <a:latin typeface="Arial"/>
            </a:endParaRPr>
          </a:p>
          <a:p>
            <a:r>
              <a:rPr sz="2800" b="0" i="0" u="none"/>
              <a:t>Validate non-functional requirements:</a:t>
            </a:r>
            <a:endParaRPr sz="2800" b="0" i="0">
              <a:latin typeface="Arial"/>
            </a:endParaRPr>
          </a:p>
          <a:p>
            <a:pPr lvl="1"/>
            <a:r>
              <a:rPr sz="2800" b="0" i="0" u="none"/>
              <a:t>Performance</a:t>
            </a:r>
            <a:endParaRPr sz="2800" b="0" i="0">
              <a:latin typeface="Arial"/>
            </a:endParaRPr>
          </a:p>
          <a:p>
            <a:pPr lvl="1"/>
            <a:r>
              <a:rPr sz="2800" b="0" i="0" u="none"/>
              <a:t>Security</a:t>
            </a:r>
            <a:endParaRPr sz="2800" b="0" i="0">
              <a:latin typeface="Arial"/>
            </a:endParaRPr>
          </a:p>
          <a:p>
            <a:pPr lvl="1"/>
            <a:r>
              <a:rPr sz="2800" b="0" i="0" u="none"/>
              <a:t>Observability</a:t>
            </a:r>
            <a:endParaRPr sz="2800" b="0" i="0">
              <a:latin typeface="Arial"/>
            </a:endParaRPr>
          </a:p>
          <a:p>
            <a:r>
              <a:rPr sz="2800" b="0" i="0" u="none"/>
              <a:t>Close documentation and operational runbooks</a:t>
            </a:r>
            <a:endParaRPr sz="2800" b="0" i="0">
              <a:latin typeface="Arial"/>
            </a:endParaRPr>
          </a:p>
          <a:p>
            <a:r>
              <a:rPr sz="2800" b="0" i="0" u="none"/>
              <a:t>Freeze only when release criteria are met</a:t>
            </a:r>
            <a:endParaRPr sz="2800" b="0" i="0">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John Michael Miller</a:t>
            </a:r>
          </a:p>
        </p:txBody>
      </p:sp>
      <p:sp>
        <p:nvSpPr>
          <p:cNvPr id="4" name="Content Placeholder 3"/>
          <p:cNvSpPr>
            <a:spLocks noGrp="1"/>
          </p:cNvSpPr>
          <p:nvPr>
            <p:ph sz="half" idx="2"/>
          </p:nvPr>
        </p:nvSpPr>
        <p:spPr>
          <a:xfrm>
            <a:off x="4583502" y="1463752"/>
            <a:ext cx="6770298" cy="4351338"/>
          </a:xfrm>
        </p:spPr>
        <p:txBody>
          <a:bodyPr>
            <a:normAutofit/>
          </a:bodyPr>
          <a:lstStyle/>
          <a:p>
            <a:pPr>
              <a:lnSpc>
                <a:spcPct val="90000"/>
              </a:lnSpc>
              <a:buNone/>
            </a:pPr>
            <a:r>
              <a:rPr lang="en-US" sz="1800" b="1" i="0" u="none" dirty="0"/>
              <a:t>Principal Software Archaeologist/Architect/Engineer</a:t>
            </a:r>
          </a:p>
          <a:p>
            <a:pPr>
              <a:lnSpc>
                <a:spcPct val="90000"/>
              </a:lnSpc>
              <a:buNone/>
            </a:pPr>
            <a:r>
              <a:rPr lang="en-US" sz="1800" b="0" i="0" u="none" dirty="0"/>
              <a:t>Played roles of developer, architect, </a:t>
            </a:r>
            <a:r>
              <a:rPr lang="en-US" sz="1800" b="0" i="0" u="none" dirty="0" err="1"/>
              <a:t>devops</a:t>
            </a:r>
            <a:r>
              <a:rPr lang="en-US" sz="1800" b="0" i="0" u="none" dirty="0"/>
              <a:t> engineer, platform engineer, test architect, release manager</a:t>
            </a:r>
          </a:p>
          <a:p>
            <a:pPr>
              <a:lnSpc>
                <a:spcPct val="90000"/>
              </a:lnSpc>
              <a:buNone/>
            </a:pPr>
            <a:r>
              <a:rPr lang="en-US" sz="1800" b="0" i="0" u="none" dirty="0"/>
              <a:t>AI Practitioner and advocate for effectively using AI to write code</a:t>
            </a:r>
          </a:p>
          <a:p>
            <a:pPr>
              <a:lnSpc>
                <a:spcPct val="90000"/>
              </a:lnSpc>
              <a:buNone/>
            </a:pPr>
            <a:endParaRPr lang="en-US" sz="1800" b="0" i="0" u="none" dirty="0"/>
          </a:p>
          <a:p>
            <a:pPr>
              <a:lnSpc>
                <a:spcPct val="90000"/>
              </a:lnSpc>
            </a:pPr>
            <a:r>
              <a:rPr lang="en-US" sz="1800" b="0" i="0" u="none" dirty="0"/>
              <a:t>LinkedIn: www.linkedin.com/in/johnmichaelmiller</a:t>
            </a:r>
          </a:p>
          <a:p>
            <a:pPr>
              <a:lnSpc>
                <a:spcPct val="90000"/>
              </a:lnSpc>
            </a:pPr>
            <a:r>
              <a:rPr lang="en-US" sz="1800" b="0" i="0" u="none" dirty="0"/>
              <a:t>Email: john.miller@codegroup.io</a:t>
            </a:r>
          </a:p>
          <a:p>
            <a:pPr>
              <a:lnSpc>
                <a:spcPct val="90000"/>
              </a:lnSpc>
            </a:pPr>
            <a:r>
              <a:rPr lang="en-US" sz="1800" b="0" i="0" u="none" dirty="0"/>
              <a:t>Blog: codemag.com/blog/</a:t>
            </a:r>
            <a:r>
              <a:rPr lang="en-US" sz="1800" b="0" i="0" u="none" dirty="0" err="1"/>
              <a:t>AIPractitioner</a:t>
            </a:r>
            <a:endParaRPr lang="en-US" sz="1800" b="0" i="0" u="none" dirty="0"/>
          </a:p>
        </p:txBody>
      </p:sp>
      <p:pic>
        <p:nvPicPr>
          <p:cNvPr id="10" name="Content Placeholder 9">
            <a:extLst>
              <a:ext uri="{FF2B5EF4-FFF2-40B4-BE49-F238E27FC236}">
                <a16:creationId xmlns:a16="http://schemas.microsoft.com/office/drawing/2014/main" id="{A38FD211-6BF8-7012-5D87-44D20FB241D2}"/>
              </a:ext>
            </a:extLst>
          </p:cNvPr>
          <p:cNvPicPr>
            <a:picLocks noGrp="1" noChangeAspect="1"/>
          </p:cNvPicPr>
          <p:nvPr>
            <p:ph sz="half" idx="1"/>
          </p:nvPr>
        </p:nvPicPr>
        <p:blipFill>
          <a:blip r:embed="rId3"/>
          <a:srcRect/>
          <a:stretch>
            <a:fillRect/>
          </a:stretch>
        </p:blipFill>
        <p:spPr>
          <a:xfrm>
            <a:off x="966158" y="1239387"/>
            <a:ext cx="3324535" cy="4986803"/>
          </a:xfrm>
          <a:prstGeom prst="rect">
            <a:avLst/>
          </a:prstGeom>
          <a:effectLst>
            <a:outerShdw blurRad="50800" dist="38100" dir="2700000" algn="tl" rotWithShape="0">
              <a:prstClr val="black">
                <a:alpha val="40000"/>
              </a:prstClr>
            </a:outerShdw>
          </a:effectLst>
        </p:spPr>
      </p:pic>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343</TotalTime>
  <Words>10866</Words>
  <Application>Microsoft Office PowerPoint</Application>
  <PresentationFormat>Widescreen</PresentationFormat>
  <Paragraphs>1249</Paragraphs>
  <Slides>82</Slides>
  <Notes>81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Arial</vt:lpstr>
      <vt:lpstr>Calibri</vt:lpstr>
      <vt:lpstr>Consolas</vt:lpstr>
      <vt:lpstr>Noto Sans</vt:lpstr>
      <vt:lpstr>Victor Mono</vt:lpstr>
      <vt:lpstr>CODE Training</vt:lpstr>
      <vt:lpstr>Friday Finish Strong</vt:lpstr>
      <vt:lpstr>Welcome Back to AI-Assisted Software Development</vt:lpstr>
      <vt:lpstr>Course Modules</vt:lpstr>
      <vt:lpstr>But first…</vt:lpstr>
      <vt:lpstr>Getting Started Checklist</vt:lpstr>
      <vt:lpstr>High Level AI Assisted Workflow</vt:lpstr>
      <vt:lpstr>AI-Assisted Business Requirement Specification</vt:lpstr>
      <vt:lpstr>What Makes a Requirement Useful?</vt:lpstr>
      <vt:lpstr>Start With Business Context, Not a Blank Prompt</vt:lpstr>
      <vt:lpstr>From Narrative to Requirement Model</vt:lpstr>
      <vt:lpstr>Extract Business Rules Explicitly</vt:lpstr>
      <vt:lpstr>Identify Actors and Use Cases</vt:lpstr>
      <vt:lpstr>Prompt AI to Analyze, Not to Pretend</vt:lpstr>
      <vt:lpstr>Make Requirements Testable</vt:lpstr>
      <vt:lpstr>Review the Draft Like a Skeptic</vt:lpstr>
      <vt:lpstr>Keep a Traceability Chain</vt:lpstr>
      <vt:lpstr>A Repeatable AI-Assisted Workflow</vt:lpstr>
      <vt:lpstr>Practice: Turn a Request Into a Specification Seed</vt:lpstr>
      <vt:lpstr>The Specification Readiness Check</vt:lpstr>
      <vt:lpstr>Exercise: Business Requirements Generation</vt:lpstr>
      <vt:lpstr>Exercise: Business Requirements Generation</vt:lpstr>
      <vt:lpstr>Course Modules</vt:lpstr>
      <vt:lpstr>AI-Assisted Software Architecture</vt:lpstr>
      <vt:lpstr>What Is AI-Assisted Software Architecture?</vt:lpstr>
      <vt:lpstr>Where AI Fits in the Architecture Lifecycle</vt:lpstr>
      <vt:lpstr>AI for Architecture Decision Records (ADRs)</vt:lpstr>
      <vt:lpstr>AI-Assisted Tradeoff Analysis</vt:lpstr>
      <vt:lpstr>Vertical Slice Architecture + AI</vt:lpstr>
      <vt:lpstr>Generating and Validating Architecture Diagrams with AI</vt:lpstr>
      <vt:lpstr>Governance: Provenance, Guardrails, and Human-in-the-Loop</vt:lpstr>
      <vt:lpstr>Practical Workflow: From Requirements to Architecture</vt:lpstr>
      <vt:lpstr>Best Practices Checklist</vt:lpstr>
      <vt:lpstr>Exercise: AI-Assisted Architecture Specification</vt:lpstr>
      <vt:lpstr>Exercise: From Requirements to an Architecture Decision</vt:lpstr>
      <vt:lpstr>Architecture Review Gate</vt:lpstr>
      <vt:lpstr>Course Modules</vt:lpstr>
      <vt:lpstr>Technology Stack Instruction Files</vt:lpstr>
      <vt:lpstr>Technology Stack Instruction Files</vt:lpstr>
      <vt:lpstr>Start with the Requirements</vt:lpstr>
      <vt:lpstr>Generate the First Draft Quickly</vt:lpstr>
      <vt:lpstr>Review the Generated File Critically</vt:lpstr>
      <vt:lpstr>Why This Matters in the Foundation Phase</vt:lpstr>
      <vt:lpstr>Course Modules</vt:lpstr>
      <vt:lpstr>Vertical Slicing Architecture Introduction</vt:lpstr>
      <vt:lpstr>What is a vertical slice?</vt:lpstr>
      <vt:lpstr>Layered folders vs. feature folders</vt:lpstr>
      <vt:lpstr>Why developers like this approach</vt:lpstr>
      <vt:lpstr>Collaboration and testing benefits</vt:lpstr>
      <vt:lpstr>Course Modules</vt:lpstr>
      <vt:lpstr>Vertical Slice Implementation Plans</vt:lpstr>
      <vt:lpstr>Creating Vertical Slice Implementation Plans</vt:lpstr>
      <vt:lpstr>Review the planning instructions</vt:lpstr>
      <vt:lpstr>Slice identification strategies</vt:lpstr>
      <vt:lpstr>Decomposition principles</vt:lpstr>
      <vt:lpstr>Analyze before you slice</vt:lpstr>
      <vt:lpstr>Generate plans with AI</vt:lpstr>
      <vt:lpstr>What a good AI plan should include</vt:lpstr>
      <vt:lpstr>Example planning flow</vt:lpstr>
      <vt:lpstr>Key takeaway</vt:lpstr>
      <vt:lpstr>Dependency Analysis and Planning</vt:lpstr>
      <vt:lpstr>Dependency Analysis and Planning</vt:lpstr>
      <vt:lpstr>Read the Dependency Diagram</vt:lpstr>
      <vt:lpstr>Find the Critical Path</vt:lpstr>
      <vt:lpstr>Sequence First, Parallelize Second</vt:lpstr>
      <vt:lpstr>Distinguish Foundational and Dependent Features</vt:lpstr>
      <vt:lpstr>Use Dependency Analysis to Plan the Roadmap</vt:lpstr>
      <vt:lpstr>Course Modules</vt:lpstr>
      <vt:lpstr>Implementation Prompts and Verification</vt:lpstr>
      <vt:lpstr>Implementation Prompts and Verification</vt:lpstr>
      <vt:lpstr>Start from a Single Slice</vt:lpstr>
      <vt:lpstr>What the Implementation Prompt Should Say</vt:lpstr>
      <vt:lpstr>Expected Deliverables Inside the Prompt File</vt:lpstr>
      <vt:lpstr>Build Verification into the Prompt</vt:lpstr>
      <vt:lpstr>Showcase Instructions Should Target Humans</vt:lpstr>
      <vt:lpstr>Repeat the Pattern Across All Slices</vt:lpstr>
      <vt:lpstr>Course Modules</vt:lpstr>
      <vt:lpstr>Basic Vertical Slice Workflow</vt:lpstr>
      <vt:lpstr>Basic Vertical Slice Implementation Workflow</vt:lpstr>
      <vt:lpstr>Follow the Implementation Plan</vt:lpstr>
      <vt:lpstr>Execute Slices in Parallel</vt:lpstr>
      <vt:lpstr>Integrate, Validate, and Stabilize</vt:lpstr>
      <vt:lpstr>John Michael Miller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9</cp:revision>
  <dcterms:created xsi:type="dcterms:W3CDTF">2025-10-19T18:09:53Z</dcterms:created>
  <dcterms:modified xsi:type="dcterms:W3CDTF">2026-09-25T20:16:22Z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